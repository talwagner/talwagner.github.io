
<file path=[Content_Types].xml><?xml version="1.0" encoding="utf-8"?>
<Types xmlns="http://schemas.openxmlformats.org/package/2006/content-types">
  <Default Extension="fntdata" ContentType="application/x-fontdata"/>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3" r:id="rId1"/>
  </p:sldMasterIdLst>
  <p:notesMasterIdLst>
    <p:notesMasterId r:id="rId201"/>
  </p:notesMasterIdLst>
  <p:sldIdLst>
    <p:sldId id="256" r:id="rId2"/>
    <p:sldId id="257" r:id="rId3"/>
    <p:sldId id="340" r:id="rId4"/>
    <p:sldId id="258" r:id="rId5"/>
    <p:sldId id="259" r:id="rId6"/>
    <p:sldId id="390" r:id="rId7"/>
    <p:sldId id="393" r:id="rId8"/>
    <p:sldId id="391" r:id="rId9"/>
    <p:sldId id="392" r:id="rId10"/>
    <p:sldId id="261" r:id="rId11"/>
    <p:sldId id="262" r:id="rId12"/>
    <p:sldId id="396" r:id="rId13"/>
    <p:sldId id="263" r:id="rId14"/>
    <p:sldId id="395" r:id="rId15"/>
    <p:sldId id="394" r:id="rId16"/>
    <p:sldId id="405" r:id="rId17"/>
    <p:sldId id="304" r:id="rId18"/>
    <p:sldId id="305" r:id="rId19"/>
    <p:sldId id="306" r:id="rId20"/>
    <p:sldId id="307" r:id="rId21"/>
    <p:sldId id="309" r:id="rId22"/>
    <p:sldId id="264" r:id="rId23"/>
    <p:sldId id="265" r:id="rId24"/>
    <p:sldId id="266" r:id="rId25"/>
    <p:sldId id="267" r:id="rId26"/>
    <p:sldId id="372" r:id="rId27"/>
    <p:sldId id="373" r:id="rId28"/>
    <p:sldId id="272" r:id="rId29"/>
    <p:sldId id="325" r:id="rId30"/>
    <p:sldId id="369" r:id="rId31"/>
    <p:sldId id="370" r:id="rId32"/>
    <p:sldId id="371" r:id="rId33"/>
    <p:sldId id="273" r:id="rId34"/>
    <p:sldId id="274" r:id="rId35"/>
    <p:sldId id="275" r:id="rId36"/>
    <p:sldId id="276" r:id="rId37"/>
    <p:sldId id="398" r:id="rId38"/>
    <p:sldId id="388" r:id="rId39"/>
    <p:sldId id="346" r:id="rId40"/>
    <p:sldId id="389" r:id="rId41"/>
    <p:sldId id="378" r:id="rId42"/>
    <p:sldId id="379" r:id="rId43"/>
    <p:sldId id="380" r:id="rId44"/>
    <p:sldId id="381" r:id="rId45"/>
    <p:sldId id="382" r:id="rId46"/>
    <p:sldId id="383" r:id="rId47"/>
    <p:sldId id="384" r:id="rId48"/>
    <p:sldId id="385" r:id="rId49"/>
    <p:sldId id="386" r:id="rId50"/>
    <p:sldId id="387" r:id="rId51"/>
    <p:sldId id="343" r:id="rId52"/>
    <p:sldId id="406" r:id="rId53"/>
    <p:sldId id="407" r:id="rId54"/>
    <p:sldId id="271" r:id="rId55"/>
    <p:sldId id="279" r:id="rId56"/>
    <p:sldId id="280" r:id="rId57"/>
    <p:sldId id="281" r:id="rId58"/>
    <p:sldId id="283" r:id="rId59"/>
    <p:sldId id="326" r:id="rId60"/>
    <p:sldId id="328" r:id="rId61"/>
    <p:sldId id="327" r:id="rId62"/>
    <p:sldId id="329" r:id="rId63"/>
    <p:sldId id="330" r:id="rId64"/>
    <p:sldId id="367" r:id="rId65"/>
    <p:sldId id="337" r:id="rId66"/>
    <p:sldId id="336" r:id="rId67"/>
    <p:sldId id="335" r:id="rId68"/>
    <p:sldId id="334" r:id="rId69"/>
    <p:sldId id="333" r:id="rId70"/>
    <p:sldId id="338" r:id="rId71"/>
    <p:sldId id="339" r:id="rId72"/>
    <p:sldId id="368" r:id="rId73"/>
    <p:sldId id="399" r:id="rId74"/>
    <p:sldId id="310" r:id="rId75"/>
    <p:sldId id="311" r:id="rId76"/>
    <p:sldId id="341" r:id="rId77"/>
    <p:sldId id="312" r:id="rId78"/>
    <p:sldId id="313" r:id="rId79"/>
    <p:sldId id="401" r:id="rId80"/>
    <p:sldId id="404" r:id="rId81"/>
    <p:sldId id="403" r:id="rId82"/>
    <p:sldId id="402" r:id="rId83"/>
    <p:sldId id="315" r:id="rId84"/>
    <p:sldId id="316" r:id="rId85"/>
    <p:sldId id="317" r:id="rId86"/>
    <p:sldId id="318" r:id="rId87"/>
    <p:sldId id="319" r:id="rId88"/>
    <p:sldId id="320" r:id="rId89"/>
    <p:sldId id="342" r:id="rId90"/>
    <p:sldId id="464" r:id="rId91"/>
    <p:sldId id="260" r:id="rId92"/>
    <p:sldId id="409" r:id="rId93"/>
    <p:sldId id="410" r:id="rId94"/>
    <p:sldId id="411" r:id="rId95"/>
    <p:sldId id="412" r:id="rId96"/>
    <p:sldId id="413" r:id="rId97"/>
    <p:sldId id="414" r:id="rId98"/>
    <p:sldId id="415" r:id="rId99"/>
    <p:sldId id="416" r:id="rId100"/>
    <p:sldId id="268" r:id="rId101"/>
    <p:sldId id="417" r:id="rId102"/>
    <p:sldId id="269" r:id="rId103"/>
    <p:sldId id="270" r:id="rId104"/>
    <p:sldId id="418" r:id="rId105"/>
    <p:sldId id="419" r:id="rId106"/>
    <p:sldId id="420" r:id="rId107"/>
    <p:sldId id="421" r:id="rId108"/>
    <p:sldId id="422" r:id="rId109"/>
    <p:sldId id="423" r:id="rId110"/>
    <p:sldId id="344" r:id="rId111"/>
    <p:sldId id="424" r:id="rId112"/>
    <p:sldId id="345" r:id="rId113"/>
    <p:sldId id="277" r:id="rId114"/>
    <p:sldId id="278" r:id="rId115"/>
    <p:sldId id="425" r:id="rId116"/>
    <p:sldId id="426" r:id="rId117"/>
    <p:sldId id="350" r:id="rId118"/>
    <p:sldId id="348" r:id="rId119"/>
    <p:sldId id="427" r:id="rId120"/>
    <p:sldId id="347" r:id="rId121"/>
    <p:sldId id="349" r:id="rId122"/>
    <p:sldId id="351" r:id="rId123"/>
    <p:sldId id="428" r:id="rId124"/>
    <p:sldId id="352" r:id="rId125"/>
    <p:sldId id="285" r:id="rId126"/>
    <p:sldId id="353" r:id="rId127"/>
    <p:sldId id="286" r:id="rId128"/>
    <p:sldId id="355" r:id="rId129"/>
    <p:sldId id="354" r:id="rId130"/>
    <p:sldId id="356" r:id="rId131"/>
    <p:sldId id="287" r:id="rId132"/>
    <p:sldId id="288" r:id="rId133"/>
    <p:sldId id="358" r:id="rId134"/>
    <p:sldId id="357" r:id="rId135"/>
    <p:sldId id="289" r:id="rId136"/>
    <p:sldId id="290" r:id="rId137"/>
    <p:sldId id="360" r:id="rId138"/>
    <p:sldId id="362" r:id="rId139"/>
    <p:sldId id="361" r:id="rId140"/>
    <p:sldId id="365" r:id="rId141"/>
    <p:sldId id="366" r:id="rId142"/>
    <p:sldId id="364" r:id="rId143"/>
    <p:sldId id="429" r:id="rId144"/>
    <p:sldId id="430" r:id="rId145"/>
    <p:sldId id="431" r:id="rId146"/>
    <p:sldId id="296" r:id="rId147"/>
    <p:sldId id="432" r:id="rId148"/>
    <p:sldId id="433" r:id="rId149"/>
    <p:sldId id="434" r:id="rId150"/>
    <p:sldId id="465" r:id="rId151"/>
    <p:sldId id="435" r:id="rId152"/>
    <p:sldId id="298" r:id="rId153"/>
    <p:sldId id="299" r:id="rId154"/>
    <p:sldId id="300" r:id="rId155"/>
    <p:sldId id="301" r:id="rId156"/>
    <p:sldId id="302" r:id="rId157"/>
    <p:sldId id="303" r:id="rId158"/>
    <p:sldId id="436" r:id="rId159"/>
    <p:sldId id="437" r:id="rId160"/>
    <p:sldId id="438" r:id="rId161"/>
    <p:sldId id="439" r:id="rId162"/>
    <p:sldId id="440" r:id="rId163"/>
    <p:sldId id="441" r:id="rId164"/>
    <p:sldId id="308" r:id="rId165"/>
    <p:sldId id="442" r:id="rId166"/>
    <p:sldId id="443" r:id="rId167"/>
    <p:sldId id="444" r:id="rId168"/>
    <p:sldId id="445" r:id="rId169"/>
    <p:sldId id="446" r:id="rId170"/>
    <p:sldId id="314" r:id="rId171"/>
    <p:sldId id="374" r:id="rId172"/>
    <p:sldId id="376" r:id="rId173"/>
    <p:sldId id="375" r:id="rId174"/>
    <p:sldId id="447" r:id="rId175"/>
    <p:sldId id="448" r:id="rId176"/>
    <p:sldId id="377" r:id="rId177"/>
    <p:sldId id="466" r:id="rId178"/>
    <p:sldId id="516" r:id="rId179"/>
    <p:sldId id="467" r:id="rId180"/>
    <p:sldId id="449" r:id="rId181"/>
    <p:sldId id="321" r:id="rId182"/>
    <p:sldId id="322" r:id="rId183"/>
    <p:sldId id="323" r:id="rId184"/>
    <p:sldId id="324" r:id="rId185"/>
    <p:sldId id="450" r:id="rId186"/>
    <p:sldId id="451" r:id="rId187"/>
    <p:sldId id="452" r:id="rId188"/>
    <p:sldId id="453" r:id="rId189"/>
    <p:sldId id="454" r:id="rId190"/>
    <p:sldId id="455" r:id="rId191"/>
    <p:sldId id="456" r:id="rId192"/>
    <p:sldId id="457" r:id="rId193"/>
    <p:sldId id="331" r:id="rId194"/>
    <p:sldId id="332" r:id="rId195"/>
    <p:sldId id="458" r:id="rId196"/>
    <p:sldId id="459" r:id="rId197"/>
    <p:sldId id="460" r:id="rId198"/>
    <p:sldId id="461" r:id="rId199"/>
    <p:sldId id="463" r:id="rId200"/>
  </p:sldIdLst>
  <p:sldSz cx="9144000" cy="5143500" type="screen16x9"/>
  <p:notesSz cx="6858000" cy="9144000"/>
  <p:embeddedFontLst>
    <p:embeddedFont>
      <p:font typeface="Cambria Math" panose="02040503050406030204" pitchFamily="18" charset="0"/>
      <p:regular r:id="rId202"/>
    </p:embeddedFont>
    <p:embeddedFont>
      <p:font typeface="Century Gothic" panose="020B0502020202020204" pitchFamily="34" charset="0"/>
      <p:regular r:id="rId203"/>
      <p:bold r:id="rId204"/>
      <p:italic r:id="rId205"/>
      <p:boldItalic r:id="rId206"/>
    </p:embeddedFont>
    <p:embeddedFont>
      <p:font typeface="Roboto Light" panose="02000000000000000000" pitchFamily="2" charset="0"/>
      <p:regular r:id="rId207"/>
      <p:italic r:id="rId20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607A8313-7948-4317-B581-54D8B66CF1AD}">
  <a:tblStyle styleId="{607A8313-7948-4317-B581-54D8B66CF1AD}"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FBF591E5-BE68-4811-969A-81725C408E5D}" styleName="Table_1">
    <a:wholeTbl>
      <a:tcTxStyle b="off" i="off">
        <a:font>
          <a:latin typeface="Century Gothic"/>
          <a:ea typeface="Century Gothic"/>
          <a:cs typeface="Century Gothic"/>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BF5"/>
          </a:solidFill>
        </a:fill>
      </a:tcStyle>
    </a:wholeTbl>
    <a:band1H>
      <a:tcTxStyle/>
      <a:tcStyle>
        <a:tcBdr/>
        <a:fill>
          <a:solidFill>
            <a:srgbClr val="CDD4EA"/>
          </a:solidFill>
        </a:fill>
      </a:tcStyle>
    </a:band1H>
    <a:band2H>
      <a:tcTxStyle/>
      <a:tcStyle>
        <a:tcBdr/>
      </a:tcStyle>
    </a:band2H>
    <a:band1V>
      <a:tcTxStyle/>
      <a:tcStyle>
        <a:tcBdr/>
        <a:fill>
          <a:solidFill>
            <a:srgbClr val="CDD4EA"/>
          </a:solidFill>
        </a:fill>
      </a:tcStyle>
    </a:band1V>
    <a:band2V>
      <a:tcTxStyle/>
      <a:tcStyle>
        <a:tcBdr/>
      </a:tcStyle>
    </a:band2V>
    <a:lastCol>
      <a:tcTxStyle b="on" i="off">
        <a:font>
          <a:latin typeface="Century Gothic"/>
          <a:ea typeface="Century Gothic"/>
          <a:cs typeface="Century Gothic"/>
        </a:font>
        <a:schemeClr val="lt1"/>
      </a:tcTxStyle>
      <a:tcStyle>
        <a:tcBdr/>
        <a:fill>
          <a:solidFill>
            <a:schemeClr val="accent1"/>
          </a:solidFill>
        </a:fill>
      </a:tcStyle>
    </a:lastCol>
    <a:firstCol>
      <a:tcTxStyle b="on" i="off">
        <a:font>
          <a:latin typeface="Century Gothic"/>
          <a:ea typeface="Century Gothic"/>
          <a:cs typeface="Century Gothic"/>
        </a:font>
        <a:schemeClr val="lt1"/>
      </a:tcTxStyle>
      <a:tcStyle>
        <a:tcBdr/>
        <a:fill>
          <a:solidFill>
            <a:schemeClr val="accent1"/>
          </a:solidFill>
        </a:fill>
      </a:tcStyle>
    </a:firstCol>
    <a:lastRow>
      <a:tcTxStyle b="on" i="off">
        <a:font>
          <a:latin typeface="Century Gothic"/>
          <a:ea typeface="Century Gothic"/>
          <a:cs typeface="Century Gothic"/>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Century Gothic"/>
          <a:ea typeface="Century Gothic"/>
          <a:cs typeface="Century Gothic"/>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 styleId="{70C8A295-06F7-4B48-B4BD-E40A91A62E32}" styleName="Table_2">
    <a:wholeTbl>
      <a:tcTxStyle b="off" i="off">
        <a:font>
          <a:latin typeface="Century Gothic"/>
          <a:ea typeface="Century Gothic"/>
          <a:cs typeface="Century Gothic"/>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1435"/>
    <p:restoredTop sz="94645"/>
  </p:normalViewPr>
  <p:slideViewPr>
    <p:cSldViewPr snapToGrid="0">
      <p:cViewPr varScale="1">
        <p:scale>
          <a:sx n="121" d="100"/>
          <a:sy n="121" d="100"/>
        </p:scale>
        <p:origin x="176" y="6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slide" Target="slides/slide169.xml"/><Relationship Id="rId191" Type="http://schemas.openxmlformats.org/officeDocument/2006/relationships/slide" Target="slides/slide190.xml"/><Relationship Id="rId205" Type="http://schemas.openxmlformats.org/officeDocument/2006/relationships/font" Target="fonts/font4.fntdata"/><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181" Type="http://schemas.openxmlformats.org/officeDocument/2006/relationships/slide" Target="slides/slide180.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71" Type="http://schemas.openxmlformats.org/officeDocument/2006/relationships/slide" Target="slides/slide170.xml"/><Relationship Id="rId192" Type="http://schemas.openxmlformats.org/officeDocument/2006/relationships/slide" Target="slides/slide191.xml"/><Relationship Id="rId206" Type="http://schemas.openxmlformats.org/officeDocument/2006/relationships/font" Target="fonts/font5.fntdata"/><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54" Type="http://schemas.openxmlformats.org/officeDocument/2006/relationships/slide" Target="slides/slide53.xml"/><Relationship Id="rId75" Type="http://schemas.openxmlformats.org/officeDocument/2006/relationships/slide" Target="slides/slide74.xml"/><Relationship Id="rId96" Type="http://schemas.openxmlformats.org/officeDocument/2006/relationships/slide" Target="slides/slide95.xml"/><Relationship Id="rId140" Type="http://schemas.openxmlformats.org/officeDocument/2006/relationships/slide" Target="slides/slide139.xml"/><Relationship Id="rId161" Type="http://schemas.openxmlformats.org/officeDocument/2006/relationships/slide" Target="slides/slide160.xml"/><Relationship Id="rId182" Type="http://schemas.openxmlformats.org/officeDocument/2006/relationships/slide" Target="slides/slide181.xml"/><Relationship Id="rId6" Type="http://schemas.openxmlformats.org/officeDocument/2006/relationships/slide" Target="slides/slide5.xml"/><Relationship Id="rId23" Type="http://schemas.openxmlformats.org/officeDocument/2006/relationships/slide" Target="slides/slide22.xml"/><Relationship Id="rId119" Type="http://schemas.openxmlformats.org/officeDocument/2006/relationships/slide" Target="slides/slide118.xml"/><Relationship Id="rId44" Type="http://schemas.openxmlformats.org/officeDocument/2006/relationships/slide" Target="slides/slide43.xml"/><Relationship Id="rId65" Type="http://schemas.openxmlformats.org/officeDocument/2006/relationships/slide" Target="slides/slide64.xml"/><Relationship Id="rId86" Type="http://schemas.openxmlformats.org/officeDocument/2006/relationships/slide" Target="slides/slide85.xml"/><Relationship Id="rId130" Type="http://schemas.openxmlformats.org/officeDocument/2006/relationships/slide" Target="slides/slide129.xml"/><Relationship Id="rId151" Type="http://schemas.openxmlformats.org/officeDocument/2006/relationships/slide" Target="slides/slide150.xml"/><Relationship Id="rId172" Type="http://schemas.openxmlformats.org/officeDocument/2006/relationships/slide" Target="slides/slide171.xml"/><Relationship Id="rId193" Type="http://schemas.openxmlformats.org/officeDocument/2006/relationships/slide" Target="slides/slide192.xml"/><Relationship Id="rId207" Type="http://schemas.openxmlformats.org/officeDocument/2006/relationships/font" Target="fonts/font6.fntdata"/><Relationship Id="rId13" Type="http://schemas.openxmlformats.org/officeDocument/2006/relationships/slide" Target="slides/slide12.xml"/><Relationship Id="rId109" Type="http://schemas.openxmlformats.org/officeDocument/2006/relationships/slide" Target="slides/slide108.xml"/><Relationship Id="rId34" Type="http://schemas.openxmlformats.org/officeDocument/2006/relationships/slide" Target="slides/slide33.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20" Type="http://schemas.openxmlformats.org/officeDocument/2006/relationships/slide" Target="slides/slide119.xml"/><Relationship Id="rId141" Type="http://schemas.openxmlformats.org/officeDocument/2006/relationships/slide" Target="slides/slide140.xml"/><Relationship Id="rId7" Type="http://schemas.openxmlformats.org/officeDocument/2006/relationships/slide" Target="slides/slide6.xml"/><Relationship Id="rId162" Type="http://schemas.openxmlformats.org/officeDocument/2006/relationships/slide" Target="slides/slide161.xml"/><Relationship Id="rId183" Type="http://schemas.openxmlformats.org/officeDocument/2006/relationships/slide" Target="slides/slide182.xml"/><Relationship Id="rId24" Type="http://schemas.openxmlformats.org/officeDocument/2006/relationships/slide" Target="slides/slide23.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31" Type="http://schemas.openxmlformats.org/officeDocument/2006/relationships/slide" Target="slides/slide130.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73" Type="http://schemas.openxmlformats.org/officeDocument/2006/relationships/slide" Target="slides/slide172.xml"/><Relationship Id="rId194" Type="http://schemas.openxmlformats.org/officeDocument/2006/relationships/slide" Target="slides/slide193.xml"/><Relationship Id="rId199" Type="http://schemas.openxmlformats.org/officeDocument/2006/relationships/slide" Target="slides/slide198.xml"/><Relationship Id="rId203" Type="http://schemas.openxmlformats.org/officeDocument/2006/relationships/font" Target="fonts/font2.fntdata"/><Relationship Id="rId208" Type="http://schemas.openxmlformats.org/officeDocument/2006/relationships/font" Target="fonts/font7.fntdata"/><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slide" Target="slides/slide183.xml"/><Relationship Id="rId189" Type="http://schemas.openxmlformats.org/officeDocument/2006/relationships/slide" Target="slides/slide188.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79" Type="http://schemas.openxmlformats.org/officeDocument/2006/relationships/slide" Target="slides/slide178.xml"/><Relationship Id="rId195" Type="http://schemas.openxmlformats.org/officeDocument/2006/relationships/slide" Target="slides/slide194.xml"/><Relationship Id="rId209" Type="http://schemas.openxmlformats.org/officeDocument/2006/relationships/presProps" Target="presProps.xml"/><Relationship Id="rId190" Type="http://schemas.openxmlformats.org/officeDocument/2006/relationships/slide" Target="slides/slide189.xml"/><Relationship Id="rId204" Type="http://schemas.openxmlformats.org/officeDocument/2006/relationships/font" Target="fonts/font3.fntdata"/><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slide" Target="slides/slide168.xml"/><Relationship Id="rId185" Type="http://schemas.openxmlformats.org/officeDocument/2006/relationships/slide" Target="slides/slide184.xml"/><Relationship Id="rId4" Type="http://schemas.openxmlformats.org/officeDocument/2006/relationships/slide" Target="slides/slide3.xml"/><Relationship Id="rId9" Type="http://schemas.openxmlformats.org/officeDocument/2006/relationships/slide" Target="slides/slide8.xml"/><Relationship Id="rId180" Type="http://schemas.openxmlformats.org/officeDocument/2006/relationships/slide" Target="slides/slide179.xml"/><Relationship Id="rId210" Type="http://schemas.openxmlformats.org/officeDocument/2006/relationships/viewProps" Target="viewProps.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196" Type="http://schemas.openxmlformats.org/officeDocument/2006/relationships/slide" Target="slides/slide195.xml"/><Relationship Id="rId200" Type="http://schemas.openxmlformats.org/officeDocument/2006/relationships/slide" Target="slides/slide199.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186" Type="http://schemas.openxmlformats.org/officeDocument/2006/relationships/slide" Target="slides/slide185.xml"/><Relationship Id="rId211" Type="http://schemas.openxmlformats.org/officeDocument/2006/relationships/theme" Target="theme/theme1.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slide" Target="slides/slide175.xml"/><Relationship Id="rId197" Type="http://schemas.openxmlformats.org/officeDocument/2006/relationships/slide" Target="slides/slide196.xml"/><Relationship Id="rId201" Type="http://schemas.openxmlformats.org/officeDocument/2006/relationships/notesMaster" Target="notesMasters/notesMaster1.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 Id="rId187" Type="http://schemas.openxmlformats.org/officeDocument/2006/relationships/slide" Target="slides/slide186.xml"/><Relationship Id="rId1" Type="http://schemas.openxmlformats.org/officeDocument/2006/relationships/slideMaster" Target="slideMasters/slideMaster1.xml"/><Relationship Id="rId212" Type="http://schemas.openxmlformats.org/officeDocument/2006/relationships/tableStyles" Target="tableStyles.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60" Type="http://schemas.openxmlformats.org/officeDocument/2006/relationships/slide" Target="slides/slide59.xml"/><Relationship Id="rId81" Type="http://schemas.openxmlformats.org/officeDocument/2006/relationships/slide" Target="slides/slide80.xml"/><Relationship Id="rId135" Type="http://schemas.openxmlformats.org/officeDocument/2006/relationships/slide" Target="slides/slide134.xml"/><Relationship Id="rId156" Type="http://schemas.openxmlformats.org/officeDocument/2006/relationships/slide" Target="slides/slide155.xml"/><Relationship Id="rId177" Type="http://schemas.openxmlformats.org/officeDocument/2006/relationships/slide" Target="slides/slide176.xml"/><Relationship Id="rId198" Type="http://schemas.openxmlformats.org/officeDocument/2006/relationships/slide" Target="slides/slide197.xml"/><Relationship Id="rId202" Type="http://schemas.openxmlformats.org/officeDocument/2006/relationships/font" Target="fonts/font1.fntdata"/><Relationship Id="rId18" Type="http://schemas.openxmlformats.org/officeDocument/2006/relationships/slide" Target="slides/slide17.xml"/><Relationship Id="rId39" Type="http://schemas.openxmlformats.org/officeDocument/2006/relationships/slide" Target="slides/slide38.xml"/><Relationship Id="rId50" Type="http://schemas.openxmlformats.org/officeDocument/2006/relationships/slide" Target="slides/slide49.xml"/><Relationship Id="rId104" Type="http://schemas.openxmlformats.org/officeDocument/2006/relationships/slide" Target="slides/slide103.xml"/><Relationship Id="rId125" Type="http://schemas.openxmlformats.org/officeDocument/2006/relationships/slide" Target="slides/slide124.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slide" Target="slides/slide187.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40" Type="http://schemas.openxmlformats.org/officeDocument/2006/relationships/slide" Target="slides/slide39.xml"/><Relationship Id="rId115" Type="http://schemas.openxmlformats.org/officeDocument/2006/relationships/slide" Target="slides/slide114.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3" Type="http://schemas.openxmlformats.org/officeDocument/2006/relationships/hyperlink" Target="https://stats.stackexchange.com/questions/177905/should-i-normalize-word2vecs-word-vectors-before-using-them" TargetMode="External"/><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48.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49.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52.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53.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54.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55.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56.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57.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159.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160.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161.xml"/><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2" Type="http://schemas.openxmlformats.org/officeDocument/2006/relationships/slide" Target="../slides/slide162.xml"/><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2" Type="http://schemas.openxmlformats.org/officeDocument/2006/relationships/slide" Target="../slides/slide163.xml"/><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2" Type="http://schemas.openxmlformats.org/officeDocument/2006/relationships/slide" Target="../slides/slide164.xml"/><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2" Type="http://schemas.openxmlformats.org/officeDocument/2006/relationships/slide" Target="../slides/slide165.xml"/><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2" Type="http://schemas.openxmlformats.org/officeDocument/2006/relationships/slide" Target="../slides/slide166.xml"/><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2" Type="http://schemas.openxmlformats.org/officeDocument/2006/relationships/slide" Target="../slides/slide167.xml"/><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2" Type="http://schemas.openxmlformats.org/officeDocument/2006/relationships/slide" Target="../slides/slide168.xml"/><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2" Type="http://schemas.openxmlformats.org/officeDocument/2006/relationships/slide" Target="../slides/slide169.xml"/><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2" Type="http://schemas.openxmlformats.org/officeDocument/2006/relationships/slide" Target="../slides/slide170.xml"/><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2" Type="http://schemas.openxmlformats.org/officeDocument/2006/relationships/slide" Target="../slides/slide171.xml"/><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2" Type="http://schemas.openxmlformats.org/officeDocument/2006/relationships/slide" Target="../slides/slide172.xml"/><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2" Type="http://schemas.openxmlformats.org/officeDocument/2006/relationships/slide" Target="../slides/slide173.xml"/><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2" Type="http://schemas.openxmlformats.org/officeDocument/2006/relationships/slide" Target="../slides/slide174.xml"/><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2" Type="http://schemas.openxmlformats.org/officeDocument/2006/relationships/slide" Target="../slides/slide175.xml"/><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2" Type="http://schemas.openxmlformats.org/officeDocument/2006/relationships/slide" Target="../slides/slide180.xml"/><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2" Type="http://schemas.openxmlformats.org/officeDocument/2006/relationships/slide" Target="../slides/slide181.xml"/><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2" Type="http://schemas.openxmlformats.org/officeDocument/2006/relationships/slide" Target="../slides/slide182.xml"/><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2" Type="http://schemas.openxmlformats.org/officeDocument/2006/relationships/slide" Target="../slides/slide183.xml"/><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2" Type="http://schemas.openxmlformats.org/officeDocument/2006/relationships/slide" Target="../slides/slide184.xml"/><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2" Type="http://schemas.openxmlformats.org/officeDocument/2006/relationships/slide" Target="../slides/slide185.xml"/><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2" Type="http://schemas.openxmlformats.org/officeDocument/2006/relationships/slide" Target="../slides/slide186.xml"/><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2" Type="http://schemas.openxmlformats.org/officeDocument/2006/relationships/slide" Target="../slides/slide187.xml"/><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2" Type="http://schemas.openxmlformats.org/officeDocument/2006/relationships/slide" Target="../slides/slide188.xml"/><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2" Type="http://schemas.openxmlformats.org/officeDocument/2006/relationships/slide" Target="../slides/slide189.xml"/><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2" Type="http://schemas.openxmlformats.org/officeDocument/2006/relationships/slide" Target="../slides/slide190.xml"/><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2" Type="http://schemas.openxmlformats.org/officeDocument/2006/relationships/slide" Target="../slides/slide191.xml"/><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2" Type="http://schemas.openxmlformats.org/officeDocument/2006/relationships/slide" Target="../slides/slide192.xml"/><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2" Type="http://schemas.openxmlformats.org/officeDocument/2006/relationships/slide" Target="../slides/slide193.xml"/><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2" Type="http://schemas.openxmlformats.org/officeDocument/2006/relationships/slide" Target="../slides/slide194.xml"/><Relationship Id="rId1" Type="http://schemas.openxmlformats.org/officeDocument/2006/relationships/notesMaster" Target="../notesMasters/notesMaster1.xml"/></Relationships>
</file>

<file path=ppt/notesSlides/_rels/notesSlide157.xml.rels><?xml version="1.0" encoding="UTF-8" standalone="yes"?>
<Relationships xmlns="http://schemas.openxmlformats.org/package/2006/relationships"><Relationship Id="rId2" Type="http://schemas.openxmlformats.org/officeDocument/2006/relationships/slide" Target="../slides/slide195.xml"/><Relationship Id="rId1" Type="http://schemas.openxmlformats.org/officeDocument/2006/relationships/notesMaster" Target="../notesMasters/notesMaster1.xml"/></Relationships>
</file>

<file path=ppt/notesSlides/_rels/notesSlide158.xml.rels><?xml version="1.0" encoding="UTF-8" standalone="yes"?>
<Relationships xmlns="http://schemas.openxmlformats.org/package/2006/relationships"><Relationship Id="rId2" Type="http://schemas.openxmlformats.org/officeDocument/2006/relationships/slide" Target="../slides/slide196.xml"/><Relationship Id="rId1" Type="http://schemas.openxmlformats.org/officeDocument/2006/relationships/notesMaster" Target="../notesMasters/notesMaster1.xml"/></Relationships>
</file>

<file path=ppt/notesSlides/_rels/notesSlide159.xml.rels><?xml version="1.0" encoding="UTF-8" standalone="yes"?>
<Relationships xmlns="http://schemas.openxmlformats.org/package/2006/relationships"><Relationship Id="rId3" Type="http://schemas.openxmlformats.org/officeDocument/2006/relationships/hyperlink" Target="https://tau.cloud.panopto.eu/Panopto/Pages/Viewer.aspx?id=f5c955a3-aa4b-4500-b6a7-b1a100ffa0b7" TargetMode="External"/><Relationship Id="rId2" Type="http://schemas.openxmlformats.org/officeDocument/2006/relationships/slide" Target="../slides/slide197.xml"/><Relationship Id="rId1" Type="http://schemas.openxmlformats.org/officeDocument/2006/relationships/notesMaster" Target="../notesMasters/notesMaster1.xml"/></Relationships>
</file>

<file path=ppt/notesSlides/_rels/notesSlide160.xml.rels><?xml version="1.0" encoding="UTF-8" standalone="yes"?>
<Relationships xmlns="http://schemas.openxmlformats.org/package/2006/relationships"><Relationship Id="rId2" Type="http://schemas.openxmlformats.org/officeDocument/2006/relationships/slide" Target="../slides/slide198.xml"/><Relationship Id="rId1" Type="http://schemas.openxmlformats.org/officeDocument/2006/relationships/notesMaster" Target="../notesMasters/notesMaster1.xml"/></Relationships>
</file>

<file path=ppt/notesSlides/_rels/notesSlide161.xml.rels><?xml version="1.0" encoding="UTF-8" standalone="yes"?>
<Relationships xmlns="http://schemas.openxmlformats.org/package/2006/relationships"><Relationship Id="rId2" Type="http://schemas.openxmlformats.org/officeDocument/2006/relationships/slide" Target="../slides/slide19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p:cNvGrpSpPr/>
        <p:nvPr/>
      </p:nvGrpSpPr>
      <p:grpSpPr>
        <a:xfrm>
          <a:off x="0" y="0"/>
          <a:ext cx="0" cy="0"/>
          <a:chOff x="0" y="0"/>
          <a:chExt cx="0" cy="0"/>
        </a:xfrm>
      </p:grpSpPr>
      <p:sp>
        <p:nvSpPr>
          <p:cNvPr id="70" name="Google Shape;70;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1" name="Google Shape;71;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Google Shape;80;g3066e0b36c8_0_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1" name="Google Shape;81;g3066e0b36c8_0_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GB"/>
              <a:t>Agenda</a:t>
            </a:r>
            <a:endParaRPr/>
          </a:p>
        </p:txBody>
      </p:sp>
      <p:sp>
        <p:nvSpPr>
          <p:cNvPr id="82" name="Google Shape;82;g3066e0b36c8_0_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g39d608a6ca1_0_7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9" name="Google Shape;89;g39d608a6ca1_0_7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GB"/>
              <a:t>Agenda</a:t>
            </a:r>
            <a:endParaRPr/>
          </a:p>
        </p:txBody>
      </p:sp>
      <p:sp>
        <p:nvSpPr>
          <p:cNvPr id="90" name="Google Shape;90;g39d608a6ca1_0_7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4</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g39d608a6ca1_0_6: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t>Reasonable results – not a bad baseline.</a:t>
            </a:r>
            <a:endParaRPr/>
          </a:p>
          <a:p>
            <a:pPr marL="0" lvl="0" indent="0" algn="l" rtl="0">
              <a:spcBef>
                <a:spcPts val="0"/>
              </a:spcBef>
              <a:spcAft>
                <a:spcPts val="0"/>
              </a:spcAft>
              <a:buNone/>
            </a:pPr>
            <a:r>
              <a:rPr lang="en-GB"/>
              <a:t>Other issues? Similarity between words, a word may have multiple meanings (if we predict the sentiment of a single word)</a:t>
            </a:r>
            <a:endParaRPr/>
          </a:p>
        </p:txBody>
      </p:sp>
      <p:sp>
        <p:nvSpPr>
          <p:cNvPr id="102" name="Google Shape;102;g39d608a6ca1_0_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a:extLst>
            <a:ext uri="{FF2B5EF4-FFF2-40B4-BE49-F238E27FC236}">
              <a16:creationId xmlns:a16="http://schemas.microsoft.com/office/drawing/2014/main" id="{B01B2418-F6D8-4762-2F0D-BCEDDC217F08}"/>
            </a:ext>
          </a:extLst>
        </p:cNvPr>
        <p:cNvGrpSpPr/>
        <p:nvPr/>
      </p:nvGrpSpPr>
      <p:grpSpPr>
        <a:xfrm>
          <a:off x="0" y="0"/>
          <a:ext cx="0" cy="0"/>
          <a:chOff x="0" y="0"/>
          <a:chExt cx="0" cy="0"/>
        </a:xfrm>
      </p:grpSpPr>
      <p:sp>
        <p:nvSpPr>
          <p:cNvPr id="114" name="Google Shape;114;g39afe557098_0_299:notes">
            <a:extLst>
              <a:ext uri="{FF2B5EF4-FFF2-40B4-BE49-F238E27FC236}">
                <a16:creationId xmlns:a16="http://schemas.microsoft.com/office/drawing/2014/main" id="{4827EB3C-7000-8831-C436-95A51CC21AB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39afe557098_0_299:notes">
            <a:extLst>
              <a:ext uri="{FF2B5EF4-FFF2-40B4-BE49-F238E27FC236}">
                <a16:creationId xmlns:a16="http://schemas.microsoft.com/office/drawing/2014/main" id="{1317AD0F-0B46-DC40-9476-A187BD8AF35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9350037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a:extLst>
            <a:ext uri="{FF2B5EF4-FFF2-40B4-BE49-F238E27FC236}">
              <a16:creationId xmlns:a16="http://schemas.microsoft.com/office/drawing/2014/main" id="{E94DB594-0051-5E7F-25C6-AA28DEF4591A}"/>
            </a:ext>
          </a:extLst>
        </p:cNvPr>
        <p:cNvGrpSpPr/>
        <p:nvPr/>
      </p:nvGrpSpPr>
      <p:grpSpPr>
        <a:xfrm>
          <a:off x="0" y="0"/>
          <a:ext cx="0" cy="0"/>
          <a:chOff x="0" y="0"/>
          <a:chExt cx="0" cy="0"/>
        </a:xfrm>
      </p:grpSpPr>
      <p:sp>
        <p:nvSpPr>
          <p:cNvPr id="114" name="Google Shape;114;g39afe557098_0_299:notes">
            <a:extLst>
              <a:ext uri="{FF2B5EF4-FFF2-40B4-BE49-F238E27FC236}">
                <a16:creationId xmlns:a16="http://schemas.microsoft.com/office/drawing/2014/main" id="{FC9A08F3-899C-0CEB-C667-18DC2356E14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39afe557098_0_299:notes">
            <a:extLst>
              <a:ext uri="{FF2B5EF4-FFF2-40B4-BE49-F238E27FC236}">
                <a16:creationId xmlns:a16="http://schemas.microsoft.com/office/drawing/2014/main" id="{DCC15CC2-0773-189E-78CB-07FD48CE9FD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3915946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a:extLst>
            <a:ext uri="{FF2B5EF4-FFF2-40B4-BE49-F238E27FC236}">
              <a16:creationId xmlns:a16="http://schemas.microsoft.com/office/drawing/2014/main" id="{997C44EC-5FD5-08D3-0C41-F37839E5D1E1}"/>
            </a:ext>
          </a:extLst>
        </p:cNvPr>
        <p:cNvGrpSpPr/>
        <p:nvPr/>
      </p:nvGrpSpPr>
      <p:grpSpPr>
        <a:xfrm>
          <a:off x="0" y="0"/>
          <a:ext cx="0" cy="0"/>
          <a:chOff x="0" y="0"/>
          <a:chExt cx="0" cy="0"/>
        </a:xfrm>
      </p:grpSpPr>
      <p:sp>
        <p:nvSpPr>
          <p:cNvPr id="114" name="Google Shape;114;g39afe557098_0_299:notes">
            <a:extLst>
              <a:ext uri="{FF2B5EF4-FFF2-40B4-BE49-F238E27FC236}">
                <a16:creationId xmlns:a16="http://schemas.microsoft.com/office/drawing/2014/main" id="{A78ABEDD-85CD-6CF8-5F57-9B2250ED33B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39afe557098_0_299:notes">
            <a:extLst>
              <a:ext uri="{FF2B5EF4-FFF2-40B4-BE49-F238E27FC236}">
                <a16:creationId xmlns:a16="http://schemas.microsoft.com/office/drawing/2014/main" id="{1C0934E7-1387-0657-AFAD-0B8FE77FA5E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6742794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a:extLst>
            <a:ext uri="{FF2B5EF4-FFF2-40B4-BE49-F238E27FC236}">
              <a16:creationId xmlns:a16="http://schemas.microsoft.com/office/drawing/2014/main" id="{0723C94C-CCA4-31D3-06BE-221867F7326B}"/>
            </a:ext>
          </a:extLst>
        </p:cNvPr>
        <p:cNvGrpSpPr/>
        <p:nvPr/>
      </p:nvGrpSpPr>
      <p:grpSpPr>
        <a:xfrm>
          <a:off x="0" y="0"/>
          <a:ext cx="0" cy="0"/>
          <a:chOff x="0" y="0"/>
          <a:chExt cx="0" cy="0"/>
        </a:xfrm>
      </p:grpSpPr>
      <p:sp>
        <p:nvSpPr>
          <p:cNvPr id="114" name="Google Shape;114;g39afe557098_0_299:notes">
            <a:extLst>
              <a:ext uri="{FF2B5EF4-FFF2-40B4-BE49-F238E27FC236}">
                <a16:creationId xmlns:a16="http://schemas.microsoft.com/office/drawing/2014/main" id="{BB680D8B-23CA-2B5E-CA3B-F5561DD32ED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39afe557098_0_299:notes">
            <a:extLst>
              <a:ext uri="{FF2B5EF4-FFF2-40B4-BE49-F238E27FC236}">
                <a16:creationId xmlns:a16="http://schemas.microsoft.com/office/drawing/2014/main" id="{8DF06C0E-24D2-118D-974C-F2792537888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4053631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g39afe557098_0_3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6" name="Google Shape;126;g39afe557098_0_3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g39c24569ec3_0_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5" name="Google Shape;135;g39c24569ec3_0_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a:extLst>
            <a:ext uri="{FF2B5EF4-FFF2-40B4-BE49-F238E27FC236}">
              <a16:creationId xmlns:a16="http://schemas.microsoft.com/office/drawing/2014/main" id="{E66DB053-70F2-67AD-D187-65DB3EA75648}"/>
            </a:ext>
          </a:extLst>
        </p:cNvPr>
        <p:cNvGrpSpPr/>
        <p:nvPr/>
      </p:nvGrpSpPr>
      <p:grpSpPr>
        <a:xfrm>
          <a:off x="0" y="0"/>
          <a:ext cx="0" cy="0"/>
          <a:chOff x="0" y="0"/>
          <a:chExt cx="0" cy="0"/>
        </a:xfrm>
      </p:grpSpPr>
      <p:sp>
        <p:nvSpPr>
          <p:cNvPr id="154" name="Google Shape;154;g39afe557098_0_380:notes">
            <a:extLst>
              <a:ext uri="{FF2B5EF4-FFF2-40B4-BE49-F238E27FC236}">
                <a16:creationId xmlns:a16="http://schemas.microsoft.com/office/drawing/2014/main" id="{295CB185-5EDD-6359-D5AC-4BE95963278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 name="Google Shape;155;g39afe557098_0_380:notes">
            <a:extLst>
              <a:ext uri="{FF2B5EF4-FFF2-40B4-BE49-F238E27FC236}">
                <a16:creationId xmlns:a16="http://schemas.microsoft.com/office/drawing/2014/main" id="{4CF0D699-3504-A74E-911B-3FD22B4A53D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1106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g39afe557098_0_3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 name="Google Shape;155;g39afe557098_0_3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a:extLst>
            <a:ext uri="{FF2B5EF4-FFF2-40B4-BE49-F238E27FC236}">
              <a16:creationId xmlns:a16="http://schemas.microsoft.com/office/drawing/2014/main" id="{9A9CC0CC-5509-74A5-8801-8C5EBB17C359}"/>
            </a:ext>
          </a:extLst>
        </p:cNvPr>
        <p:cNvGrpSpPr/>
        <p:nvPr/>
      </p:nvGrpSpPr>
      <p:grpSpPr>
        <a:xfrm>
          <a:off x="0" y="0"/>
          <a:ext cx="0" cy="0"/>
          <a:chOff x="0" y="0"/>
          <a:chExt cx="0" cy="0"/>
        </a:xfrm>
      </p:grpSpPr>
      <p:sp>
        <p:nvSpPr>
          <p:cNvPr id="154" name="Google Shape;154;g39afe557098_0_380:notes">
            <a:extLst>
              <a:ext uri="{FF2B5EF4-FFF2-40B4-BE49-F238E27FC236}">
                <a16:creationId xmlns:a16="http://schemas.microsoft.com/office/drawing/2014/main" id="{086DF1D6-38DF-F924-3E5F-CDF81E46E5A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 name="Google Shape;155;g39afe557098_0_380:notes">
            <a:extLst>
              <a:ext uri="{FF2B5EF4-FFF2-40B4-BE49-F238E27FC236}">
                <a16:creationId xmlns:a16="http://schemas.microsoft.com/office/drawing/2014/main" id="{7D17ED0C-76E6-5A8F-7ED6-041A785AB03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4664115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a:extLst>
            <a:ext uri="{FF2B5EF4-FFF2-40B4-BE49-F238E27FC236}">
              <a16:creationId xmlns:a16="http://schemas.microsoft.com/office/drawing/2014/main" id="{50F99646-CC3A-4F06-5B2E-A792E5352478}"/>
            </a:ext>
          </a:extLst>
        </p:cNvPr>
        <p:cNvGrpSpPr/>
        <p:nvPr/>
      </p:nvGrpSpPr>
      <p:grpSpPr>
        <a:xfrm>
          <a:off x="0" y="0"/>
          <a:ext cx="0" cy="0"/>
          <a:chOff x="0" y="0"/>
          <a:chExt cx="0" cy="0"/>
        </a:xfrm>
      </p:grpSpPr>
      <p:sp>
        <p:nvSpPr>
          <p:cNvPr id="154" name="Google Shape;154;g39afe557098_0_380:notes">
            <a:extLst>
              <a:ext uri="{FF2B5EF4-FFF2-40B4-BE49-F238E27FC236}">
                <a16:creationId xmlns:a16="http://schemas.microsoft.com/office/drawing/2014/main" id="{1479CDAC-09C1-96F6-AB82-C63899D9D07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 name="Google Shape;155;g39afe557098_0_380:notes">
            <a:extLst>
              <a:ext uri="{FF2B5EF4-FFF2-40B4-BE49-F238E27FC236}">
                <a16:creationId xmlns:a16="http://schemas.microsoft.com/office/drawing/2014/main" id="{5D6B1406-3AE1-C521-26C9-2B6FF4A2845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1714964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1">
          <a:extLst>
            <a:ext uri="{FF2B5EF4-FFF2-40B4-BE49-F238E27FC236}">
              <a16:creationId xmlns:a16="http://schemas.microsoft.com/office/drawing/2014/main" id="{E5F30C7E-0821-8A23-4925-A1F836BD0FBD}"/>
            </a:ext>
          </a:extLst>
        </p:cNvPr>
        <p:cNvGrpSpPr/>
        <p:nvPr/>
      </p:nvGrpSpPr>
      <p:grpSpPr>
        <a:xfrm>
          <a:off x="0" y="0"/>
          <a:ext cx="0" cy="0"/>
          <a:chOff x="0" y="0"/>
          <a:chExt cx="0" cy="0"/>
        </a:xfrm>
      </p:grpSpPr>
      <p:sp>
        <p:nvSpPr>
          <p:cNvPr id="432" name="Google Shape;432;g33e8bbf37e2_0_9:notes">
            <a:extLst>
              <a:ext uri="{FF2B5EF4-FFF2-40B4-BE49-F238E27FC236}">
                <a16:creationId xmlns:a16="http://schemas.microsoft.com/office/drawing/2014/main" id="{6AB1250B-B0F8-13F8-4F44-95C98227E9F2}"/>
              </a:ext>
            </a:extLst>
          </p:cNvPr>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33" name="Google Shape;433;g33e8bbf37e2_0_9:notes">
            <a:extLst>
              <a:ext uri="{FF2B5EF4-FFF2-40B4-BE49-F238E27FC236}">
                <a16:creationId xmlns:a16="http://schemas.microsoft.com/office/drawing/2014/main" id="{382B3B29-ACFE-5099-96F9-92C96A66153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5587999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5"/>
        <p:cNvGrpSpPr/>
        <p:nvPr/>
      </p:nvGrpSpPr>
      <p:grpSpPr>
        <a:xfrm>
          <a:off x="0" y="0"/>
          <a:ext cx="0" cy="0"/>
          <a:chOff x="0" y="0"/>
          <a:chExt cx="0" cy="0"/>
        </a:xfrm>
      </p:grpSpPr>
      <p:sp>
        <p:nvSpPr>
          <p:cNvPr id="486" name="Google Shape;486;g3066e0b36c8_0_586: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t>Before we talk about how we compute or obtain word vectors from data, a quick reminder</a:t>
            </a:r>
            <a:endParaRPr/>
          </a:p>
        </p:txBody>
      </p:sp>
      <p:sp>
        <p:nvSpPr>
          <p:cNvPr id="487" name="Google Shape;487;g3066e0b36c8_0_58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4"/>
        <p:cNvGrpSpPr/>
        <p:nvPr/>
      </p:nvGrpSpPr>
      <p:grpSpPr>
        <a:xfrm>
          <a:off x="0" y="0"/>
          <a:ext cx="0" cy="0"/>
          <a:chOff x="0" y="0"/>
          <a:chExt cx="0" cy="0"/>
        </a:xfrm>
      </p:grpSpPr>
      <p:sp>
        <p:nvSpPr>
          <p:cNvPr id="495" name="Google Shape;495;g39afe557098_0_5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6" name="Google Shape;496;g39afe557098_0_5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1"/>
        <p:cNvGrpSpPr/>
        <p:nvPr/>
      </p:nvGrpSpPr>
      <p:grpSpPr>
        <a:xfrm>
          <a:off x="0" y="0"/>
          <a:ext cx="0" cy="0"/>
          <a:chOff x="0" y="0"/>
          <a:chExt cx="0" cy="0"/>
        </a:xfrm>
      </p:grpSpPr>
      <p:sp>
        <p:nvSpPr>
          <p:cNvPr id="502" name="Google Shape;502;g39afe557098_0_5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3" name="Google Shape;503;g39afe557098_0_5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1"/>
        <p:cNvGrpSpPr/>
        <p:nvPr/>
      </p:nvGrpSpPr>
      <p:grpSpPr>
        <a:xfrm>
          <a:off x="0" y="0"/>
          <a:ext cx="0" cy="0"/>
          <a:chOff x="0" y="0"/>
          <a:chExt cx="0" cy="0"/>
        </a:xfrm>
      </p:grpSpPr>
      <p:sp>
        <p:nvSpPr>
          <p:cNvPr id="512" name="Google Shape;512;g39d082da829_0_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3" name="Google Shape;513;g39d082da829_0_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2"/>
        <p:cNvGrpSpPr/>
        <p:nvPr/>
      </p:nvGrpSpPr>
      <p:grpSpPr>
        <a:xfrm>
          <a:off x="0" y="0"/>
          <a:ext cx="0" cy="0"/>
          <a:chOff x="0" y="0"/>
          <a:chExt cx="0" cy="0"/>
        </a:xfrm>
      </p:grpSpPr>
      <p:sp>
        <p:nvSpPr>
          <p:cNvPr id="533" name="Google Shape;533;g39afe557098_0_565: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4" name="Google Shape;534;g39afe557098_0_56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g39afe557098_0_812: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2" name="Google Shape;162;g39afe557098_0_8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g39afe557098_0_672: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3" name="Google Shape;173;g39afe557098_0_67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g39afe557098_0_769: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7" name="Google Shape;197;g39afe557098_0_76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Google Shape;209;g39afe557098_0_908: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0" name="Google Shape;210;g39afe557098_0_90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9641476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a:extLst>
            <a:ext uri="{FF2B5EF4-FFF2-40B4-BE49-F238E27FC236}">
              <a16:creationId xmlns:a16="http://schemas.microsoft.com/office/drawing/2014/main" id="{25E1E2E9-DA3A-125A-C71D-90568483BF21}"/>
            </a:ext>
          </a:extLst>
        </p:cNvPr>
        <p:cNvGrpSpPr/>
        <p:nvPr/>
      </p:nvGrpSpPr>
      <p:grpSpPr>
        <a:xfrm>
          <a:off x="0" y="0"/>
          <a:ext cx="0" cy="0"/>
          <a:chOff x="0" y="0"/>
          <a:chExt cx="0" cy="0"/>
        </a:xfrm>
      </p:grpSpPr>
      <p:sp>
        <p:nvSpPr>
          <p:cNvPr id="218" name="Google Shape;218;g39afe557098_0_1009:notes">
            <a:extLst>
              <a:ext uri="{FF2B5EF4-FFF2-40B4-BE49-F238E27FC236}">
                <a16:creationId xmlns:a16="http://schemas.microsoft.com/office/drawing/2014/main" id="{3D2418F3-DDF3-BEFD-C7A9-CCDE6EEC076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9" name="Google Shape;219;g39afe557098_0_1009:notes">
            <a:extLst>
              <a:ext uri="{FF2B5EF4-FFF2-40B4-BE49-F238E27FC236}">
                <a16:creationId xmlns:a16="http://schemas.microsoft.com/office/drawing/2014/main" id="{22A7E44C-51E9-94A4-C393-F8519164962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3421262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0">
          <a:extLst>
            <a:ext uri="{FF2B5EF4-FFF2-40B4-BE49-F238E27FC236}">
              <a16:creationId xmlns:a16="http://schemas.microsoft.com/office/drawing/2014/main" id="{0FE9BE41-A1BC-5BA6-FDAD-42ADD00E18F6}"/>
            </a:ext>
          </a:extLst>
        </p:cNvPr>
        <p:cNvGrpSpPr/>
        <p:nvPr/>
      </p:nvGrpSpPr>
      <p:grpSpPr>
        <a:xfrm>
          <a:off x="0" y="0"/>
          <a:ext cx="0" cy="0"/>
          <a:chOff x="0" y="0"/>
          <a:chExt cx="0" cy="0"/>
        </a:xfrm>
      </p:grpSpPr>
      <p:sp>
        <p:nvSpPr>
          <p:cNvPr id="241" name="Google Shape;241;g39afe557098_0_985:notes">
            <a:extLst>
              <a:ext uri="{FF2B5EF4-FFF2-40B4-BE49-F238E27FC236}">
                <a16:creationId xmlns:a16="http://schemas.microsoft.com/office/drawing/2014/main" id="{07E28D96-37E8-F813-EFE0-D82877C4DF5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2" name="Google Shape;242;g39afe557098_0_985:notes">
            <a:extLst>
              <a:ext uri="{FF2B5EF4-FFF2-40B4-BE49-F238E27FC236}">
                <a16:creationId xmlns:a16="http://schemas.microsoft.com/office/drawing/2014/main" id="{432B1F9B-F5E8-2102-C84D-9A283F4FBC0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9604863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9"/>
        <p:cNvGrpSpPr/>
        <p:nvPr/>
      </p:nvGrpSpPr>
      <p:grpSpPr>
        <a:xfrm>
          <a:off x="0" y="0"/>
          <a:ext cx="0" cy="0"/>
          <a:chOff x="0" y="0"/>
          <a:chExt cx="0" cy="0"/>
        </a:xfrm>
      </p:grpSpPr>
      <p:sp>
        <p:nvSpPr>
          <p:cNvPr id="310" name="Google Shape;310;g3066e0b36c8_0_89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11" name="Google Shape;311;g3066e0b36c8_0_89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GB"/>
              <a:t>K is often 10</a:t>
            </a:r>
            <a:endParaRPr/>
          </a:p>
          <a:p>
            <a:pPr marL="0" lvl="0" indent="0" algn="l" rtl="0">
              <a:spcBef>
                <a:spcPts val="0"/>
              </a:spcBef>
              <a:spcAft>
                <a:spcPts val="0"/>
              </a:spcAft>
              <a:buNone/>
            </a:pPr>
            <a:endParaRPr/>
          </a:p>
          <a:p>
            <a:pPr marL="0" lvl="0" indent="0" algn="l" rtl="0">
              <a:spcBef>
                <a:spcPts val="0"/>
              </a:spcBef>
              <a:spcAft>
                <a:spcPts val="0"/>
              </a:spcAft>
              <a:buNone/>
            </a:pPr>
            <a:r>
              <a:rPr lang="en-GB"/>
              <a:t>The unigram thing is to remove some of the weight from the very common words. Can also remove stopwords</a:t>
            </a:r>
            <a:endParaRPr/>
          </a:p>
          <a:p>
            <a:pPr marL="0" lvl="0" indent="0" algn="l" rtl="0">
              <a:spcBef>
                <a:spcPts val="0"/>
              </a:spcBef>
              <a:spcAft>
                <a:spcPts val="0"/>
              </a:spcAft>
              <a:buNone/>
            </a:pPr>
            <a:endParaRPr/>
          </a:p>
          <a:p>
            <a:pPr marL="0" lvl="0" indent="0" algn="l" rtl="0">
              <a:spcBef>
                <a:spcPts val="0"/>
              </a:spcBef>
              <a:spcAft>
                <a:spcPts val="0"/>
              </a:spcAft>
              <a:buNone/>
            </a:pPr>
            <a:r>
              <a:rPr lang="en-GB"/>
              <a:t>Note that increasing k takes a more considerable part of the loss signal, but helps us from overreliance on existence of some “anti words” and make sure the distinction is for EVERY word. Too large of k will slow down the training time.</a:t>
            </a:r>
            <a:endParaRPr/>
          </a:p>
          <a:p>
            <a:pPr marL="0" lvl="0" indent="0" algn="l" rtl="0">
              <a:spcBef>
                <a:spcPts val="0"/>
              </a:spcBef>
              <a:spcAft>
                <a:spcPts val="0"/>
              </a:spcAft>
              <a:buNone/>
            </a:pPr>
            <a:endParaRPr/>
          </a:p>
          <a:p>
            <a:pPr marL="0" lvl="0" indent="0" algn="l" rtl="0">
              <a:spcBef>
                <a:spcPts val="0"/>
              </a:spcBef>
              <a:spcAft>
                <a:spcPts val="0"/>
              </a:spcAft>
              <a:buNone/>
            </a:pPr>
            <a:r>
              <a:rPr lang="en-GB"/>
              <a:t>We usually do sample with stopwords but can choose to remove them</a:t>
            </a:r>
            <a:endParaRPr/>
          </a:p>
        </p:txBody>
      </p:sp>
      <p:sp>
        <p:nvSpPr>
          <p:cNvPr id="312" name="Google Shape;312;g3066e0b36c8_0_89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28</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1"/>
        <p:cNvGrpSpPr/>
        <p:nvPr/>
      </p:nvGrpSpPr>
      <p:grpSpPr>
        <a:xfrm>
          <a:off x="0" y="0"/>
          <a:ext cx="0" cy="0"/>
          <a:chOff x="0" y="0"/>
          <a:chExt cx="0" cy="0"/>
        </a:xfrm>
      </p:grpSpPr>
      <p:sp>
        <p:nvSpPr>
          <p:cNvPr id="762" name="Google Shape;762;g39afe557098_0_783: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63" name="Google Shape;763;g39afe557098_0_78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0"/>
        <p:cNvGrpSpPr/>
        <p:nvPr/>
      </p:nvGrpSpPr>
      <p:grpSpPr>
        <a:xfrm>
          <a:off x="0" y="0"/>
          <a:ext cx="0" cy="0"/>
          <a:chOff x="0" y="0"/>
          <a:chExt cx="0" cy="0"/>
        </a:xfrm>
      </p:grpSpPr>
      <p:sp>
        <p:nvSpPr>
          <p:cNvPr id="771" name="Google Shape;771;g39afe557098_0_894: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72" name="Google Shape;772;g39afe557098_0_89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2"/>
        <p:cNvGrpSpPr/>
        <p:nvPr/>
      </p:nvGrpSpPr>
      <p:grpSpPr>
        <a:xfrm>
          <a:off x="0" y="0"/>
          <a:ext cx="0" cy="0"/>
          <a:chOff x="0" y="0"/>
          <a:chExt cx="0" cy="0"/>
        </a:xfrm>
      </p:grpSpPr>
      <p:sp>
        <p:nvSpPr>
          <p:cNvPr id="783" name="Google Shape;783;g39afe557098_0_882: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84" name="Google Shape;784;g39afe557098_0_88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6"/>
        <p:cNvGrpSpPr/>
        <p:nvPr/>
      </p:nvGrpSpPr>
      <p:grpSpPr>
        <a:xfrm>
          <a:off x="0" y="0"/>
          <a:ext cx="0" cy="0"/>
          <a:chOff x="0" y="0"/>
          <a:chExt cx="0" cy="0"/>
        </a:xfrm>
      </p:grpSpPr>
      <p:sp>
        <p:nvSpPr>
          <p:cNvPr id="797" name="Google Shape;797;g39afe557098_0_870: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98" name="Google Shape;798;g39afe557098_0_87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7"/>
        <p:cNvGrpSpPr/>
        <p:nvPr/>
      </p:nvGrpSpPr>
      <p:grpSpPr>
        <a:xfrm>
          <a:off x="0" y="0"/>
          <a:ext cx="0" cy="0"/>
          <a:chOff x="0" y="0"/>
          <a:chExt cx="0" cy="0"/>
        </a:xfrm>
      </p:grpSpPr>
      <p:sp>
        <p:nvSpPr>
          <p:cNvPr id="318" name="Google Shape;318;g39d608a6ca1_0_10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19" name="Google Shape;319;g39d608a6ca1_0_10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GB"/>
              <a:t>Agenda</a:t>
            </a:r>
            <a:endParaRPr/>
          </a:p>
        </p:txBody>
      </p:sp>
      <p:sp>
        <p:nvSpPr>
          <p:cNvPr id="320" name="Google Shape;320;g39d608a6ca1_0_10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33</a:t>
            </a:fld>
            <a:endParaRPr/>
          </a:p>
        </p:txBody>
      </p:sp>
    </p:spTree>
    <p:extLst>
      <p:ext uri="{BB962C8B-B14F-4D97-AF65-F5344CB8AC3E}">
        <p14:creationId xmlns:p14="http://schemas.microsoft.com/office/powerpoint/2010/main" val="282604292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6"/>
        <p:cNvGrpSpPr/>
        <p:nvPr/>
      </p:nvGrpSpPr>
      <p:grpSpPr>
        <a:xfrm>
          <a:off x="0" y="0"/>
          <a:ext cx="0" cy="0"/>
          <a:chOff x="0" y="0"/>
          <a:chExt cx="0" cy="0"/>
        </a:xfrm>
      </p:grpSpPr>
      <p:sp>
        <p:nvSpPr>
          <p:cNvPr id="327" name="Google Shape;327;g39d608a6ca1_0_1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28" name="Google Shape;328;g39d608a6ca1_0_11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GB"/>
              <a:t>Agenda</a:t>
            </a:r>
            <a:endParaRPr/>
          </a:p>
        </p:txBody>
      </p:sp>
      <p:sp>
        <p:nvSpPr>
          <p:cNvPr id="329" name="Google Shape;329;g39d608a6ca1_0_11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34</a:t>
            </a:fld>
            <a:endParaRPr/>
          </a:p>
        </p:txBody>
      </p:sp>
    </p:spTree>
    <p:extLst>
      <p:ext uri="{BB962C8B-B14F-4D97-AF65-F5344CB8AC3E}">
        <p14:creationId xmlns:p14="http://schemas.microsoft.com/office/powerpoint/2010/main" val="166119659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4"/>
        <p:cNvGrpSpPr/>
        <p:nvPr/>
      </p:nvGrpSpPr>
      <p:grpSpPr>
        <a:xfrm>
          <a:off x="0" y="0"/>
          <a:ext cx="0" cy="0"/>
          <a:chOff x="0" y="0"/>
          <a:chExt cx="0" cy="0"/>
        </a:xfrm>
      </p:grpSpPr>
      <p:sp>
        <p:nvSpPr>
          <p:cNvPr id="335" name="Google Shape;335;g39d608a6ca1_0_18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6" name="Google Shape;336;g39d608a6ca1_0_18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GB"/>
              <a:t>Agenda</a:t>
            </a:r>
            <a:endParaRPr/>
          </a:p>
        </p:txBody>
      </p:sp>
      <p:sp>
        <p:nvSpPr>
          <p:cNvPr id="337" name="Google Shape;337;g39d608a6ca1_0_18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35</a:t>
            </a:fld>
            <a:endParaRPr/>
          </a:p>
        </p:txBody>
      </p:sp>
    </p:spTree>
    <p:extLst>
      <p:ext uri="{BB962C8B-B14F-4D97-AF65-F5344CB8AC3E}">
        <p14:creationId xmlns:p14="http://schemas.microsoft.com/office/powerpoint/2010/main" val="418551254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2"/>
        <p:cNvGrpSpPr/>
        <p:nvPr/>
      </p:nvGrpSpPr>
      <p:grpSpPr>
        <a:xfrm>
          <a:off x="0" y="0"/>
          <a:ext cx="0" cy="0"/>
          <a:chOff x="0" y="0"/>
          <a:chExt cx="0" cy="0"/>
        </a:xfrm>
      </p:grpSpPr>
      <p:sp>
        <p:nvSpPr>
          <p:cNvPr id="343" name="Google Shape;343;g39d608a6ca1_0_17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44" name="Google Shape;344;g39d608a6ca1_0_17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GB"/>
              <a:t>Agenda</a:t>
            </a:r>
            <a:endParaRPr/>
          </a:p>
        </p:txBody>
      </p:sp>
      <p:sp>
        <p:nvSpPr>
          <p:cNvPr id="345" name="Google Shape;345;g39d608a6ca1_0_17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36</a:t>
            </a:fld>
            <a:endParaRPr/>
          </a:p>
        </p:txBody>
      </p:sp>
    </p:spTree>
    <p:extLst>
      <p:ext uri="{BB962C8B-B14F-4D97-AF65-F5344CB8AC3E}">
        <p14:creationId xmlns:p14="http://schemas.microsoft.com/office/powerpoint/2010/main" val="109785372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1">
          <a:extLst>
            <a:ext uri="{FF2B5EF4-FFF2-40B4-BE49-F238E27FC236}">
              <a16:creationId xmlns:a16="http://schemas.microsoft.com/office/drawing/2014/main" id="{35D04D1E-7CB0-57E2-F0B6-AA04948BDB5F}"/>
            </a:ext>
          </a:extLst>
        </p:cNvPr>
        <p:cNvGrpSpPr/>
        <p:nvPr/>
      </p:nvGrpSpPr>
      <p:grpSpPr>
        <a:xfrm>
          <a:off x="0" y="0"/>
          <a:ext cx="0" cy="0"/>
          <a:chOff x="0" y="0"/>
          <a:chExt cx="0" cy="0"/>
        </a:xfrm>
      </p:grpSpPr>
      <p:sp>
        <p:nvSpPr>
          <p:cNvPr id="432" name="Google Shape;432;g33e8bbf37e2_0_9:notes">
            <a:extLst>
              <a:ext uri="{FF2B5EF4-FFF2-40B4-BE49-F238E27FC236}">
                <a16:creationId xmlns:a16="http://schemas.microsoft.com/office/drawing/2014/main" id="{2A9FAAF3-2972-5D44-E55C-AD3807679C08}"/>
              </a:ext>
            </a:extLst>
          </p:cNvPr>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33" name="Google Shape;433;g33e8bbf37e2_0_9:notes">
            <a:extLst>
              <a:ext uri="{FF2B5EF4-FFF2-40B4-BE49-F238E27FC236}">
                <a16:creationId xmlns:a16="http://schemas.microsoft.com/office/drawing/2014/main" id="{B566CF08-DBDD-B386-EFEE-B5206C9017E3}"/>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2289555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a:extLst>
            <a:ext uri="{FF2B5EF4-FFF2-40B4-BE49-F238E27FC236}">
              <a16:creationId xmlns:a16="http://schemas.microsoft.com/office/drawing/2014/main" id="{7FE5589A-8CE2-2375-CA1D-5E6174BAA789}"/>
            </a:ext>
          </a:extLst>
        </p:cNvPr>
        <p:cNvGrpSpPr/>
        <p:nvPr/>
      </p:nvGrpSpPr>
      <p:grpSpPr>
        <a:xfrm>
          <a:off x="0" y="0"/>
          <a:ext cx="0" cy="0"/>
          <a:chOff x="0" y="0"/>
          <a:chExt cx="0" cy="0"/>
        </a:xfrm>
      </p:grpSpPr>
      <p:sp>
        <p:nvSpPr>
          <p:cNvPr id="209" name="Google Shape;209;g39afe557098_0_908:notes">
            <a:extLst>
              <a:ext uri="{FF2B5EF4-FFF2-40B4-BE49-F238E27FC236}">
                <a16:creationId xmlns:a16="http://schemas.microsoft.com/office/drawing/2014/main" id="{4D9D19ED-7804-E5A4-4B60-97560E08A512}"/>
              </a:ext>
            </a:extLst>
          </p:cNvPr>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0" name="Google Shape;210;g39afe557098_0_908:notes">
            <a:extLst>
              <a:ext uri="{FF2B5EF4-FFF2-40B4-BE49-F238E27FC236}">
                <a16:creationId xmlns:a16="http://schemas.microsoft.com/office/drawing/2014/main" id="{2FA68C3D-8D67-92B3-E8AA-AF249CE6B01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3805837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3"/>
        <p:cNvGrpSpPr/>
        <p:nvPr/>
      </p:nvGrpSpPr>
      <p:grpSpPr>
        <a:xfrm>
          <a:off x="0" y="0"/>
          <a:ext cx="0" cy="0"/>
          <a:chOff x="0" y="0"/>
          <a:chExt cx="0" cy="0"/>
        </a:xfrm>
      </p:grpSpPr>
      <p:sp>
        <p:nvSpPr>
          <p:cNvPr id="924" name="Google Shape;924;g39d082da829_0_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25" name="Google Shape;925;g39d082da829_0_2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GB"/>
              <a:t>Sigmoid – to make it a probability between 0 and 1.</a:t>
            </a:r>
            <a:endParaRPr/>
          </a:p>
          <a:p>
            <a:pPr marL="0" lvl="0" indent="0" algn="l" rtl="0">
              <a:spcBef>
                <a:spcPts val="0"/>
              </a:spcBef>
              <a:spcAft>
                <a:spcPts val="0"/>
              </a:spcAft>
              <a:buNone/>
            </a:pPr>
            <a:r>
              <a:rPr lang="en-GB"/>
              <a:t>It has this nice property that 1-s(x) equals s(-x).</a:t>
            </a:r>
            <a:endParaRPr/>
          </a:p>
          <a:p>
            <a:pPr marL="0" lvl="0" indent="0" algn="l" rtl="0">
              <a:spcBef>
                <a:spcPts val="0"/>
              </a:spcBef>
              <a:spcAft>
                <a:spcPts val="0"/>
              </a:spcAft>
              <a:buNone/>
            </a:pPr>
            <a:r>
              <a:rPr lang="en-GB"/>
              <a:t>K is often 10</a:t>
            </a:r>
            <a:endParaRPr/>
          </a:p>
          <a:p>
            <a:pPr marL="0" lvl="0" indent="0" algn="l" rtl="0">
              <a:spcBef>
                <a:spcPts val="0"/>
              </a:spcBef>
              <a:spcAft>
                <a:spcPts val="0"/>
              </a:spcAft>
              <a:buNone/>
            </a:pPr>
            <a:endParaRPr/>
          </a:p>
          <a:p>
            <a:pPr marL="0" lvl="0" indent="0" algn="l" rtl="0">
              <a:spcBef>
                <a:spcPts val="0"/>
              </a:spcBef>
              <a:spcAft>
                <a:spcPts val="0"/>
              </a:spcAft>
              <a:buNone/>
            </a:pPr>
            <a:r>
              <a:rPr lang="en-GB"/>
              <a:t>The unigram thing is to remove some of the weight from the very common words. Can also remove stopwords</a:t>
            </a:r>
            <a:endParaRPr/>
          </a:p>
          <a:p>
            <a:pPr marL="0" lvl="0" indent="0" algn="l" rtl="0">
              <a:spcBef>
                <a:spcPts val="0"/>
              </a:spcBef>
              <a:spcAft>
                <a:spcPts val="0"/>
              </a:spcAft>
              <a:buNone/>
            </a:pPr>
            <a:endParaRPr/>
          </a:p>
          <a:p>
            <a:pPr marL="0" lvl="0" indent="0" algn="l" rtl="0">
              <a:spcBef>
                <a:spcPts val="0"/>
              </a:spcBef>
              <a:spcAft>
                <a:spcPts val="0"/>
              </a:spcAft>
              <a:buNone/>
            </a:pPr>
            <a:r>
              <a:rPr lang="en-GB"/>
              <a:t>Note that increasing k takes a more considerable part of the loss signal, but helps us from overreliance on existence of some “anti words” and make sure th edistiniction is for EVERY word. Too large of k will slow down the training time.</a:t>
            </a:r>
            <a:endParaRPr/>
          </a:p>
          <a:p>
            <a:pPr marL="0" lvl="0" indent="0" algn="l" rtl="0">
              <a:spcBef>
                <a:spcPts val="0"/>
              </a:spcBef>
              <a:spcAft>
                <a:spcPts val="0"/>
              </a:spcAft>
              <a:buNone/>
            </a:pPr>
            <a:endParaRPr/>
          </a:p>
          <a:p>
            <a:pPr marL="0" lvl="0" indent="0" algn="l" rtl="0">
              <a:spcBef>
                <a:spcPts val="0"/>
              </a:spcBef>
              <a:spcAft>
                <a:spcPts val="0"/>
              </a:spcAft>
              <a:buNone/>
            </a:pPr>
            <a:r>
              <a:rPr lang="en-GB"/>
              <a:t>We usually do sample with stopwords but can choose to remove them</a:t>
            </a:r>
            <a:endParaRPr/>
          </a:p>
        </p:txBody>
      </p:sp>
      <p:sp>
        <p:nvSpPr>
          <p:cNvPr id="926" name="Google Shape;926;g39d082da829_0_2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41</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1"/>
        <p:cNvGrpSpPr/>
        <p:nvPr/>
      </p:nvGrpSpPr>
      <p:grpSpPr>
        <a:xfrm>
          <a:off x="0" y="0"/>
          <a:ext cx="0" cy="0"/>
          <a:chOff x="0" y="0"/>
          <a:chExt cx="0" cy="0"/>
        </a:xfrm>
      </p:grpSpPr>
      <p:sp>
        <p:nvSpPr>
          <p:cNvPr id="932" name="Google Shape;932;g3066e0b36c8_0_88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33" name="Google Shape;933;g3066e0b36c8_0_88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GB"/>
              <a:t>We just know if something should appear together, we don’t update ALL the words that should not appear together</a:t>
            </a:r>
            <a:endParaRPr/>
          </a:p>
        </p:txBody>
      </p:sp>
      <p:sp>
        <p:nvSpPr>
          <p:cNvPr id="934" name="Google Shape;934;g3066e0b36c8_0_88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42</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9"/>
        <p:cNvGrpSpPr/>
        <p:nvPr/>
      </p:nvGrpSpPr>
      <p:grpSpPr>
        <a:xfrm>
          <a:off x="0" y="0"/>
          <a:ext cx="0" cy="0"/>
          <a:chOff x="0" y="0"/>
          <a:chExt cx="0" cy="0"/>
        </a:xfrm>
      </p:grpSpPr>
      <p:sp>
        <p:nvSpPr>
          <p:cNvPr id="940" name="Google Shape;940;g3066e0b36c8_2_14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41" name="Google Shape;941;g3066e0b36c8_2_14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GB"/>
              <a:t>We just know if something should appear together, we don’t update ALL the words that should not appear together</a:t>
            </a:r>
            <a:endParaRPr/>
          </a:p>
        </p:txBody>
      </p:sp>
      <p:sp>
        <p:nvSpPr>
          <p:cNvPr id="942" name="Google Shape;942;g3066e0b36c8_2_14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43</a:t>
            </a:fld>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8"/>
        <p:cNvGrpSpPr/>
        <p:nvPr/>
      </p:nvGrpSpPr>
      <p:grpSpPr>
        <a:xfrm>
          <a:off x="0" y="0"/>
          <a:ext cx="0" cy="0"/>
          <a:chOff x="0" y="0"/>
          <a:chExt cx="0" cy="0"/>
        </a:xfrm>
      </p:grpSpPr>
      <p:sp>
        <p:nvSpPr>
          <p:cNvPr id="949" name="Google Shape;949;g3066e0b36c8_2_13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50" name="Google Shape;950;g3066e0b36c8_2_13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GB"/>
              <a:t>Before we focused on things that appear together, now we also consider pairs that do not appear together. The task is different.</a:t>
            </a:r>
            <a:endParaRPr/>
          </a:p>
          <a:p>
            <a:pPr marL="0" lvl="0" indent="0" algn="l" rtl="0">
              <a:spcBef>
                <a:spcPts val="0"/>
              </a:spcBef>
              <a:spcAft>
                <a:spcPts val="0"/>
              </a:spcAft>
              <a:buNone/>
            </a:pPr>
            <a:r>
              <a:rPr lang="en-GB"/>
              <a:t>Why we need the zeros? Otherwise the model could just output that all pairs are likely to co-occur.</a:t>
            </a:r>
            <a:endParaRPr/>
          </a:p>
          <a:p>
            <a:pPr marL="0" lvl="0" indent="0" algn="l" rtl="0">
              <a:spcBef>
                <a:spcPts val="0"/>
              </a:spcBef>
              <a:spcAft>
                <a:spcPts val="0"/>
              </a:spcAft>
              <a:buNone/>
            </a:pPr>
            <a:endParaRPr/>
          </a:p>
          <a:p>
            <a:pPr marL="0" lvl="0" indent="0" algn="l" rtl="0">
              <a:spcBef>
                <a:spcPts val="0"/>
              </a:spcBef>
              <a:spcAft>
                <a:spcPts val="0"/>
              </a:spcAft>
              <a:buNone/>
            </a:pPr>
            <a:r>
              <a:rPr lang="en-GB"/>
              <a:t>We just know if something should appear together, we don’t update ALL the words that should not appear together</a:t>
            </a:r>
            <a:endParaRPr/>
          </a:p>
        </p:txBody>
      </p:sp>
      <p:sp>
        <p:nvSpPr>
          <p:cNvPr id="951" name="Google Shape;951;g3066e0b36c8_2_13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44</a:t>
            </a:fld>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9"/>
        <p:cNvGrpSpPr/>
        <p:nvPr/>
      </p:nvGrpSpPr>
      <p:grpSpPr>
        <a:xfrm>
          <a:off x="0" y="0"/>
          <a:ext cx="0" cy="0"/>
          <a:chOff x="0" y="0"/>
          <a:chExt cx="0" cy="0"/>
        </a:xfrm>
      </p:grpSpPr>
      <p:sp>
        <p:nvSpPr>
          <p:cNvPr id="960" name="Google Shape;960;g3066e0b36c8_0_89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61" name="Google Shape;961;g3066e0b36c8_0_89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GB"/>
              <a:t>K is often 10</a:t>
            </a:r>
            <a:endParaRPr/>
          </a:p>
          <a:p>
            <a:pPr marL="0" lvl="0" indent="0" algn="l" rtl="0">
              <a:spcBef>
                <a:spcPts val="0"/>
              </a:spcBef>
              <a:spcAft>
                <a:spcPts val="0"/>
              </a:spcAft>
              <a:buNone/>
            </a:pPr>
            <a:endParaRPr/>
          </a:p>
          <a:p>
            <a:pPr marL="0" lvl="0" indent="0" algn="l" rtl="0">
              <a:spcBef>
                <a:spcPts val="0"/>
              </a:spcBef>
              <a:spcAft>
                <a:spcPts val="0"/>
              </a:spcAft>
              <a:buNone/>
            </a:pPr>
            <a:r>
              <a:rPr lang="en-GB"/>
              <a:t>The unigram thing is to remove some of the weight from the very common words. Can also remove stopwords</a:t>
            </a:r>
            <a:endParaRPr/>
          </a:p>
          <a:p>
            <a:pPr marL="0" lvl="0" indent="0" algn="l" rtl="0">
              <a:spcBef>
                <a:spcPts val="0"/>
              </a:spcBef>
              <a:spcAft>
                <a:spcPts val="0"/>
              </a:spcAft>
              <a:buNone/>
            </a:pPr>
            <a:endParaRPr/>
          </a:p>
          <a:p>
            <a:pPr marL="0" lvl="0" indent="0" algn="l" rtl="0">
              <a:spcBef>
                <a:spcPts val="0"/>
              </a:spcBef>
              <a:spcAft>
                <a:spcPts val="0"/>
              </a:spcAft>
              <a:buNone/>
            </a:pPr>
            <a:r>
              <a:rPr lang="en-GB"/>
              <a:t>Note that increasing k takes a more considerable part of the loss signal, but helps us from overreliance on existence of some “anti words” and make sure the distinction is for EVERY word. Too large of k will slow down the training time.</a:t>
            </a:r>
            <a:endParaRPr/>
          </a:p>
          <a:p>
            <a:pPr marL="0" lvl="0" indent="0" algn="l" rtl="0">
              <a:spcBef>
                <a:spcPts val="0"/>
              </a:spcBef>
              <a:spcAft>
                <a:spcPts val="0"/>
              </a:spcAft>
              <a:buNone/>
            </a:pPr>
            <a:endParaRPr/>
          </a:p>
          <a:p>
            <a:pPr marL="0" lvl="0" indent="0" algn="l" rtl="0">
              <a:spcBef>
                <a:spcPts val="0"/>
              </a:spcBef>
              <a:spcAft>
                <a:spcPts val="0"/>
              </a:spcAft>
              <a:buNone/>
            </a:pPr>
            <a:r>
              <a:rPr lang="en-GB"/>
              <a:t>We usually do sample with stopwords but can choose to remove them</a:t>
            </a:r>
            <a:endParaRPr/>
          </a:p>
        </p:txBody>
      </p:sp>
      <p:sp>
        <p:nvSpPr>
          <p:cNvPr id="962" name="Google Shape;962;g3066e0b36c8_0_89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45</a:t>
            </a:fld>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8"/>
        <p:cNvGrpSpPr/>
        <p:nvPr/>
      </p:nvGrpSpPr>
      <p:grpSpPr>
        <a:xfrm>
          <a:off x="0" y="0"/>
          <a:ext cx="0" cy="0"/>
          <a:chOff x="0" y="0"/>
          <a:chExt cx="0" cy="0"/>
        </a:xfrm>
      </p:grpSpPr>
      <p:sp>
        <p:nvSpPr>
          <p:cNvPr id="969" name="Google Shape;969;g306bcad2db0_0_6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70" name="Google Shape;970;g306bcad2db0_0_6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GB"/>
              <a:t>Sigmoid – to make it a probability between 0 and 1.</a:t>
            </a:r>
            <a:endParaRPr/>
          </a:p>
          <a:p>
            <a:pPr marL="0" lvl="0" indent="0" algn="l" rtl="0">
              <a:spcBef>
                <a:spcPts val="0"/>
              </a:spcBef>
              <a:spcAft>
                <a:spcPts val="0"/>
              </a:spcAft>
              <a:buNone/>
            </a:pPr>
            <a:r>
              <a:rPr lang="en-GB"/>
              <a:t>It has this nice property that 1-s(x) equals s(-x).</a:t>
            </a:r>
            <a:endParaRPr/>
          </a:p>
          <a:p>
            <a:pPr marL="0" lvl="0" indent="0" algn="l" rtl="0">
              <a:spcBef>
                <a:spcPts val="0"/>
              </a:spcBef>
              <a:spcAft>
                <a:spcPts val="0"/>
              </a:spcAft>
              <a:buNone/>
            </a:pPr>
            <a:r>
              <a:rPr lang="en-GB"/>
              <a:t>K is often 10</a:t>
            </a:r>
            <a:endParaRPr/>
          </a:p>
          <a:p>
            <a:pPr marL="0" lvl="0" indent="0" algn="l" rtl="0">
              <a:spcBef>
                <a:spcPts val="0"/>
              </a:spcBef>
              <a:spcAft>
                <a:spcPts val="0"/>
              </a:spcAft>
              <a:buNone/>
            </a:pPr>
            <a:endParaRPr/>
          </a:p>
          <a:p>
            <a:pPr marL="0" lvl="0" indent="0" algn="l" rtl="0">
              <a:spcBef>
                <a:spcPts val="0"/>
              </a:spcBef>
              <a:spcAft>
                <a:spcPts val="0"/>
              </a:spcAft>
              <a:buNone/>
            </a:pPr>
            <a:r>
              <a:rPr lang="en-GB"/>
              <a:t>The unigram thing is to remove some of the weight from the very common words. Can also remove stopwords</a:t>
            </a:r>
            <a:endParaRPr/>
          </a:p>
          <a:p>
            <a:pPr marL="0" lvl="0" indent="0" algn="l" rtl="0">
              <a:spcBef>
                <a:spcPts val="0"/>
              </a:spcBef>
              <a:spcAft>
                <a:spcPts val="0"/>
              </a:spcAft>
              <a:buNone/>
            </a:pPr>
            <a:endParaRPr/>
          </a:p>
          <a:p>
            <a:pPr marL="0" lvl="0" indent="0" algn="l" rtl="0">
              <a:spcBef>
                <a:spcPts val="0"/>
              </a:spcBef>
              <a:spcAft>
                <a:spcPts val="0"/>
              </a:spcAft>
              <a:buNone/>
            </a:pPr>
            <a:r>
              <a:rPr lang="en-GB"/>
              <a:t>Note that increasing k takes a more considerable part of the loss signal, but helps us from overreliance on existence of some “anti words” and make sure th edistiniction is for EVERY word. Too large of k will slow down the training time.</a:t>
            </a:r>
            <a:endParaRPr/>
          </a:p>
          <a:p>
            <a:pPr marL="0" lvl="0" indent="0" algn="l" rtl="0">
              <a:spcBef>
                <a:spcPts val="0"/>
              </a:spcBef>
              <a:spcAft>
                <a:spcPts val="0"/>
              </a:spcAft>
              <a:buNone/>
            </a:pPr>
            <a:endParaRPr/>
          </a:p>
          <a:p>
            <a:pPr marL="0" lvl="0" indent="0" algn="l" rtl="0">
              <a:spcBef>
                <a:spcPts val="0"/>
              </a:spcBef>
              <a:spcAft>
                <a:spcPts val="0"/>
              </a:spcAft>
              <a:buNone/>
            </a:pPr>
            <a:r>
              <a:rPr lang="en-GB"/>
              <a:t>We usually do sample with stopwords but can choose to remove them</a:t>
            </a:r>
            <a:endParaRPr/>
          </a:p>
        </p:txBody>
      </p:sp>
      <p:sp>
        <p:nvSpPr>
          <p:cNvPr id="971" name="Google Shape;971;g306bcad2db0_0_6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46</a:t>
            </a:fld>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5"/>
        <p:cNvGrpSpPr/>
        <p:nvPr/>
      </p:nvGrpSpPr>
      <p:grpSpPr>
        <a:xfrm>
          <a:off x="0" y="0"/>
          <a:ext cx="0" cy="0"/>
          <a:chOff x="0" y="0"/>
          <a:chExt cx="0" cy="0"/>
        </a:xfrm>
      </p:grpSpPr>
      <p:sp>
        <p:nvSpPr>
          <p:cNvPr id="986" name="Google Shape;986;g306bcad2db0_0_8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87" name="Google Shape;987;g306bcad2db0_0_8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GB"/>
              <a:t>K is often 10</a:t>
            </a:r>
            <a:endParaRPr/>
          </a:p>
          <a:p>
            <a:pPr marL="0" lvl="0" indent="0" algn="l" rtl="0">
              <a:spcBef>
                <a:spcPts val="0"/>
              </a:spcBef>
              <a:spcAft>
                <a:spcPts val="0"/>
              </a:spcAft>
              <a:buNone/>
            </a:pPr>
            <a:endParaRPr/>
          </a:p>
          <a:p>
            <a:pPr marL="0" lvl="0" indent="0" algn="l" rtl="0">
              <a:spcBef>
                <a:spcPts val="0"/>
              </a:spcBef>
              <a:spcAft>
                <a:spcPts val="0"/>
              </a:spcAft>
              <a:buNone/>
            </a:pPr>
            <a:r>
              <a:rPr lang="en-GB"/>
              <a:t>The unigram thing is to remove some of the weight from the very common words. Can also remove stopwords</a:t>
            </a:r>
            <a:endParaRPr/>
          </a:p>
          <a:p>
            <a:pPr marL="0" lvl="0" indent="0" algn="l" rtl="0">
              <a:spcBef>
                <a:spcPts val="0"/>
              </a:spcBef>
              <a:spcAft>
                <a:spcPts val="0"/>
              </a:spcAft>
              <a:buNone/>
            </a:pPr>
            <a:endParaRPr/>
          </a:p>
          <a:p>
            <a:pPr marL="0" lvl="0" indent="0" algn="l" rtl="0">
              <a:spcBef>
                <a:spcPts val="0"/>
              </a:spcBef>
              <a:spcAft>
                <a:spcPts val="0"/>
              </a:spcAft>
              <a:buNone/>
            </a:pPr>
            <a:r>
              <a:rPr lang="en-GB"/>
              <a:t>Note that increasing k takes a more considerable part of the loss signal, but helps us from overreliance on existence of some “anti words” and make sure th edistiniction is for EVERY word. Too large of k will slow down the training time.</a:t>
            </a:r>
            <a:endParaRPr/>
          </a:p>
          <a:p>
            <a:pPr marL="0" lvl="0" indent="0" algn="l" rtl="0">
              <a:spcBef>
                <a:spcPts val="0"/>
              </a:spcBef>
              <a:spcAft>
                <a:spcPts val="0"/>
              </a:spcAft>
              <a:buNone/>
            </a:pPr>
            <a:endParaRPr/>
          </a:p>
          <a:p>
            <a:pPr marL="0" lvl="0" indent="0" algn="l" rtl="0">
              <a:spcBef>
                <a:spcPts val="0"/>
              </a:spcBef>
              <a:spcAft>
                <a:spcPts val="0"/>
              </a:spcAft>
              <a:buNone/>
            </a:pPr>
            <a:r>
              <a:rPr lang="en-GB"/>
              <a:t>We usually do sample with stopwords but can choose to remove them</a:t>
            </a:r>
            <a:endParaRPr/>
          </a:p>
        </p:txBody>
      </p:sp>
      <p:sp>
        <p:nvSpPr>
          <p:cNvPr id="988" name="Google Shape;988;g306bcad2db0_0_8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47</a:t>
            </a:fld>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5"/>
        <p:cNvGrpSpPr/>
        <p:nvPr/>
      </p:nvGrpSpPr>
      <p:grpSpPr>
        <a:xfrm>
          <a:off x="0" y="0"/>
          <a:ext cx="0" cy="0"/>
          <a:chOff x="0" y="0"/>
          <a:chExt cx="0" cy="0"/>
        </a:xfrm>
      </p:grpSpPr>
      <p:sp>
        <p:nvSpPr>
          <p:cNvPr id="1006" name="Google Shape;1006;g306bcad2db0_0_10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07" name="Google Shape;1007;g306bcad2db0_0_10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GB"/>
              <a:t>K is often 10</a:t>
            </a:r>
            <a:endParaRPr/>
          </a:p>
          <a:p>
            <a:pPr marL="0" lvl="0" indent="0" algn="l" rtl="0">
              <a:spcBef>
                <a:spcPts val="0"/>
              </a:spcBef>
              <a:spcAft>
                <a:spcPts val="0"/>
              </a:spcAft>
              <a:buNone/>
            </a:pPr>
            <a:endParaRPr/>
          </a:p>
          <a:p>
            <a:pPr marL="0" lvl="0" indent="0" algn="l" rtl="0">
              <a:spcBef>
                <a:spcPts val="0"/>
              </a:spcBef>
              <a:spcAft>
                <a:spcPts val="0"/>
              </a:spcAft>
              <a:buNone/>
            </a:pPr>
            <a:r>
              <a:rPr lang="en-GB"/>
              <a:t>The unigram thing is to remove some of the weight from the very common words. Can also remove stopwords</a:t>
            </a:r>
            <a:endParaRPr/>
          </a:p>
          <a:p>
            <a:pPr marL="0" lvl="0" indent="0" algn="l" rtl="0">
              <a:spcBef>
                <a:spcPts val="0"/>
              </a:spcBef>
              <a:spcAft>
                <a:spcPts val="0"/>
              </a:spcAft>
              <a:buNone/>
            </a:pPr>
            <a:endParaRPr/>
          </a:p>
          <a:p>
            <a:pPr marL="0" lvl="0" indent="0" algn="l" rtl="0">
              <a:spcBef>
                <a:spcPts val="0"/>
              </a:spcBef>
              <a:spcAft>
                <a:spcPts val="0"/>
              </a:spcAft>
              <a:buNone/>
            </a:pPr>
            <a:r>
              <a:rPr lang="en-GB"/>
              <a:t>Note that increasing k takes a more considerable part of the loss signal, but helps us from overreliance on existence of some “anti words” and make sure the distinction is for EVERY word. Too large of k will slow down the training time.</a:t>
            </a:r>
            <a:endParaRPr/>
          </a:p>
          <a:p>
            <a:pPr marL="0" lvl="0" indent="0" algn="l" rtl="0">
              <a:spcBef>
                <a:spcPts val="0"/>
              </a:spcBef>
              <a:spcAft>
                <a:spcPts val="0"/>
              </a:spcAft>
              <a:buNone/>
            </a:pPr>
            <a:endParaRPr/>
          </a:p>
          <a:p>
            <a:pPr marL="0" lvl="0" indent="0" algn="l" rtl="0">
              <a:spcBef>
                <a:spcPts val="0"/>
              </a:spcBef>
              <a:spcAft>
                <a:spcPts val="0"/>
              </a:spcAft>
              <a:buNone/>
            </a:pPr>
            <a:r>
              <a:rPr lang="en-GB"/>
              <a:t>We usually do sample with stopwords but can choose to remove them</a:t>
            </a:r>
            <a:endParaRPr/>
          </a:p>
        </p:txBody>
      </p:sp>
      <p:sp>
        <p:nvSpPr>
          <p:cNvPr id="1008" name="Google Shape;1008;g306bcad2db0_0_10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48</a:t>
            </a:fld>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9"/>
        <p:cNvGrpSpPr/>
        <p:nvPr/>
      </p:nvGrpSpPr>
      <p:grpSpPr>
        <a:xfrm>
          <a:off x="0" y="0"/>
          <a:ext cx="0" cy="0"/>
          <a:chOff x="0" y="0"/>
          <a:chExt cx="0" cy="0"/>
        </a:xfrm>
      </p:grpSpPr>
      <p:sp>
        <p:nvSpPr>
          <p:cNvPr id="1030" name="Google Shape;1030;g306bcad2db0_0_1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31" name="Google Shape;1031;g306bcad2db0_0_12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GB"/>
              <a:t>Sampling random words – we sample k outer words, a simple heuristic, we do it because we don’t know what are negative pairs, most word pairs are not likely to appear together. This is somehow works.</a:t>
            </a:r>
            <a:endParaRPr/>
          </a:p>
          <a:p>
            <a:pPr marL="0" lvl="0" indent="0" algn="l" rtl="0">
              <a:spcBef>
                <a:spcPts val="0"/>
              </a:spcBef>
              <a:spcAft>
                <a:spcPts val="0"/>
              </a:spcAft>
              <a:buNone/>
            </a:pPr>
            <a:endParaRPr/>
          </a:p>
          <a:p>
            <a:pPr marL="0" lvl="0" indent="0" algn="l" rtl="0">
              <a:spcBef>
                <a:spcPts val="0"/>
              </a:spcBef>
              <a:spcAft>
                <a:spcPts val="0"/>
              </a:spcAft>
              <a:buNone/>
            </a:pPr>
            <a:r>
              <a:rPr lang="en-GB"/>
              <a:t>Sampling uniformly could push the model to generally give low probability to rare words – not good.</a:t>
            </a:r>
            <a:endParaRPr/>
          </a:p>
          <a:p>
            <a:pPr marL="0" lvl="0" indent="0" algn="l" rtl="0">
              <a:spcBef>
                <a:spcPts val="0"/>
              </a:spcBef>
              <a:spcAft>
                <a:spcPts val="0"/>
              </a:spcAft>
              <a:buNone/>
            </a:pPr>
            <a:endParaRPr/>
          </a:p>
          <a:p>
            <a:pPr marL="0" lvl="0" indent="0" algn="l" rtl="0">
              <a:spcBef>
                <a:spcPts val="0"/>
              </a:spcBef>
              <a:spcAft>
                <a:spcPts val="0"/>
              </a:spcAft>
              <a:buNone/>
            </a:pPr>
            <a:r>
              <a:rPr lang="en-GB"/>
              <a:t>Samling from unigram distribution – very common words – also not good.</a:t>
            </a:r>
            <a:endParaRPr/>
          </a:p>
          <a:p>
            <a:pPr marL="0" lvl="0" indent="0" algn="l" rtl="0">
              <a:spcBef>
                <a:spcPts val="0"/>
              </a:spcBef>
              <a:spcAft>
                <a:spcPts val="0"/>
              </a:spcAft>
              <a:buNone/>
            </a:pPr>
            <a:endParaRPr/>
          </a:p>
          <a:p>
            <a:pPr marL="0" lvl="0" indent="0" algn="l" rtl="0">
              <a:spcBef>
                <a:spcPts val="0"/>
              </a:spcBef>
              <a:spcAft>
                <a:spcPts val="0"/>
              </a:spcAft>
              <a:buNone/>
            </a:pPr>
            <a:r>
              <a:rPr lang="en-GB"/>
              <a:t>So we push the probability from the common words to spread over the rest of the vocabulary. This works pretty well.</a:t>
            </a:r>
            <a:endParaRPr/>
          </a:p>
          <a:p>
            <a:pPr marL="0" lvl="0" indent="0" algn="l" rtl="0">
              <a:spcBef>
                <a:spcPts val="0"/>
              </a:spcBef>
              <a:spcAft>
                <a:spcPts val="0"/>
              </a:spcAft>
              <a:buNone/>
            </a:pPr>
            <a:endParaRPr/>
          </a:p>
          <a:p>
            <a:pPr marL="0" lvl="0" indent="0" algn="l" rtl="0">
              <a:spcBef>
                <a:spcPts val="0"/>
              </a:spcBef>
              <a:spcAft>
                <a:spcPts val="0"/>
              </a:spcAft>
              <a:buNone/>
            </a:pPr>
            <a:r>
              <a:rPr lang="en-GB"/>
              <a:t>K is often 10</a:t>
            </a:r>
            <a:endParaRPr/>
          </a:p>
          <a:p>
            <a:pPr marL="0" lvl="0" indent="0" algn="l" rtl="0">
              <a:spcBef>
                <a:spcPts val="0"/>
              </a:spcBef>
              <a:spcAft>
                <a:spcPts val="0"/>
              </a:spcAft>
              <a:buNone/>
            </a:pPr>
            <a:endParaRPr/>
          </a:p>
          <a:p>
            <a:pPr marL="0" lvl="0" indent="0" algn="l" rtl="0">
              <a:spcBef>
                <a:spcPts val="0"/>
              </a:spcBef>
              <a:spcAft>
                <a:spcPts val="0"/>
              </a:spcAft>
              <a:buNone/>
            </a:pPr>
            <a:r>
              <a:rPr lang="en-GB"/>
              <a:t>The unigram thing is to remove some of the weight from the very common words. Can also remove stopwords</a:t>
            </a:r>
            <a:endParaRPr/>
          </a:p>
          <a:p>
            <a:pPr marL="0" lvl="0" indent="0" algn="l" rtl="0">
              <a:spcBef>
                <a:spcPts val="0"/>
              </a:spcBef>
              <a:spcAft>
                <a:spcPts val="0"/>
              </a:spcAft>
              <a:buNone/>
            </a:pPr>
            <a:endParaRPr/>
          </a:p>
          <a:p>
            <a:pPr marL="0" lvl="0" indent="0" algn="l" rtl="0">
              <a:spcBef>
                <a:spcPts val="0"/>
              </a:spcBef>
              <a:spcAft>
                <a:spcPts val="0"/>
              </a:spcAft>
              <a:buNone/>
            </a:pPr>
            <a:r>
              <a:rPr lang="en-GB"/>
              <a:t>Note that increasing k takes a more considerable part of the loss signal, but helps us from overreliance on existence of some “anti words” and make sure the distinction is for EVERY word. Too large of k will slow down the training time.</a:t>
            </a:r>
            <a:endParaRPr/>
          </a:p>
          <a:p>
            <a:pPr marL="0" lvl="0" indent="0" algn="l" rtl="0">
              <a:spcBef>
                <a:spcPts val="0"/>
              </a:spcBef>
              <a:spcAft>
                <a:spcPts val="0"/>
              </a:spcAft>
              <a:buNone/>
            </a:pPr>
            <a:endParaRPr/>
          </a:p>
          <a:p>
            <a:pPr marL="0" lvl="0" indent="0" algn="l" rtl="0">
              <a:spcBef>
                <a:spcPts val="0"/>
              </a:spcBef>
              <a:spcAft>
                <a:spcPts val="0"/>
              </a:spcAft>
              <a:buNone/>
            </a:pPr>
            <a:r>
              <a:rPr lang="en-GB"/>
              <a:t>We usually do sample with stopwords but can choose to remove them</a:t>
            </a:r>
            <a:endParaRPr/>
          </a:p>
        </p:txBody>
      </p:sp>
      <p:sp>
        <p:nvSpPr>
          <p:cNvPr id="1032" name="Google Shape;1032;g306bcad2db0_0_12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49</a:t>
            </a:fld>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9"/>
        <p:cNvGrpSpPr/>
        <p:nvPr/>
      </p:nvGrpSpPr>
      <p:grpSpPr>
        <a:xfrm>
          <a:off x="0" y="0"/>
          <a:ext cx="0" cy="0"/>
          <a:chOff x="0" y="0"/>
          <a:chExt cx="0" cy="0"/>
        </a:xfrm>
      </p:grpSpPr>
      <p:sp>
        <p:nvSpPr>
          <p:cNvPr id="1060" name="Google Shape;1060;g306bcad2db0_0_15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61" name="Google Shape;1061;g306bcad2db0_0_15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GB"/>
              <a:t>Geometric illustration for intuition – 3 vectors, one for center word, one for positive output word, and another one for negative word.</a:t>
            </a:r>
            <a:endParaRPr/>
          </a:p>
          <a:p>
            <a:pPr marL="0" lvl="0" indent="0" algn="l" rtl="0">
              <a:spcBef>
                <a:spcPts val="0"/>
              </a:spcBef>
              <a:spcAft>
                <a:spcPts val="0"/>
              </a:spcAft>
              <a:buNone/>
            </a:pPr>
            <a:endParaRPr/>
          </a:p>
          <a:p>
            <a:pPr marL="0" lvl="0" indent="0" algn="l" rtl="0">
              <a:spcBef>
                <a:spcPts val="0"/>
              </a:spcBef>
              <a:spcAft>
                <a:spcPts val="0"/>
              </a:spcAft>
              <a:buNone/>
            </a:pPr>
            <a:r>
              <a:rPr lang="en-GB"/>
              <a:t>CLIP – a lot of images and descriptions.</a:t>
            </a:r>
            <a:endParaRPr/>
          </a:p>
        </p:txBody>
      </p:sp>
      <p:sp>
        <p:nvSpPr>
          <p:cNvPr id="1062" name="Google Shape;1062;g306bcad2db0_0_15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50</a:t>
            </a:fld>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
        <p:cNvGrpSpPr/>
        <p:nvPr/>
      </p:nvGrpSpPr>
      <p:grpSpPr>
        <a:xfrm>
          <a:off x="0" y="0"/>
          <a:ext cx="0" cy="0"/>
          <a:chOff x="0" y="0"/>
          <a:chExt cx="0" cy="0"/>
        </a:xfrm>
      </p:grpSpPr>
      <p:sp>
        <p:nvSpPr>
          <p:cNvPr id="279" name="Google Shape;279;g39d608a6ca1_0_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0" name="Google Shape;280;g39d608a6ca1_0_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1"/>
        <p:cNvGrpSpPr/>
        <p:nvPr/>
      </p:nvGrpSpPr>
      <p:grpSpPr>
        <a:xfrm>
          <a:off x="0" y="0"/>
          <a:ext cx="0" cy="0"/>
          <a:chOff x="0" y="0"/>
          <a:chExt cx="0" cy="0"/>
        </a:xfrm>
      </p:grpSpPr>
      <p:sp>
        <p:nvSpPr>
          <p:cNvPr id="382" name="Google Shape;382;g39d608a6ca1_0_19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3" name="Google Shape;383;g39d608a6ca1_0_19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9"/>
        <p:cNvGrpSpPr/>
        <p:nvPr/>
      </p:nvGrpSpPr>
      <p:grpSpPr>
        <a:xfrm>
          <a:off x="0" y="0"/>
          <a:ext cx="0" cy="0"/>
          <a:chOff x="0" y="0"/>
          <a:chExt cx="0" cy="0"/>
        </a:xfrm>
      </p:grpSpPr>
      <p:sp>
        <p:nvSpPr>
          <p:cNvPr id="390" name="Google Shape;390;g39d608a6ca1_0_19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1" name="Google Shape;391;g39d608a6ca1_0_19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5"/>
        <p:cNvGrpSpPr/>
        <p:nvPr/>
      </p:nvGrpSpPr>
      <p:grpSpPr>
        <a:xfrm>
          <a:off x="0" y="0"/>
          <a:ext cx="0" cy="0"/>
          <a:chOff x="0" y="0"/>
          <a:chExt cx="0" cy="0"/>
        </a:xfrm>
      </p:grpSpPr>
      <p:sp>
        <p:nvSpPr>
          <p:cNvPr id="406" name="Google Shape;406;g39d608a6ca1_0_28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7" name="Google Shape;407;g39d608a6ca1_0_28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1"/>
        <p:cNvGrpSpPr/>
        <p:nvPr/>
      </p:nvGrpSpPr>
      <p:grpSpPr>
        <a:xfrm>
          <a:off x="0" y="0"/>
          <a:ext cx="0" cy="0"/>
          <a:chOff x="0" y="0"/>
          <a:chExt cx="0" cy="0"/>
        </a:xfrm>
      </p:grpSpPr>
      <p:sp>
        <p:nvSpPr>
          <p:cNvPr id="432" name="Google Shape;432;g33e8bbf37e2_0_9: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33" name="Google Shape;433;g33e8bbf37e2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815925172"/>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773ECB-79E4-C5D5-ABE2-27F1BED7A5A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B5948BF-610C-F920-7966-D0CBFE85A542}"/>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00F15A31-0CC5-3204-CDDE-C3D8523E6894}"/>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199576485"/>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5F8F38-6DBD-141D-00CA-5D6E2A05F33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3EC05D9-706B-2219-F7FB-9F0C07EC3284}"/>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A99A45CF-DC30-2F5A-78D0-C68E4B00A95B}"/>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419966660"/>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5C1E22-1303-B7CC-B182-3C88152F918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D2B0AF7-2FF7-3208-E977-0A736254E708}"/>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0A78718E-8837-BA54-2483-0E7DE7CE8200}"/>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941672380"/>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2"/>
        <p:cNvGrpSpPr/>
        <p:nvPr/>
      </p:nvGrpSpPr>
      <p:grpSpPr>
        <a:xfrm>
          <a:off x="0" y="0"/>
          <a:ext cx="0" cy="0"/>
          <a:chOff x="0" y="0"/>
          <a:chExt cx="0" cy="0"/>
        </a:xfrm>
      </p:grpSpPr>
      <p:sp>
        <p:nvSpPr>
          <p:cNvPr id="763" name="Google Shape;763;g33e8bbf37e2_0_14: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64" name="Google Shape;764;g33e8bbf37e2_0_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9"/>
        <p:cNvGrpSpPr/>
        <p:nvPr/>
      </p:nvGrpSpPr>
      <p:grpSpPr>
        <a:xfrm>
          <a:off x="0" y="0"/>
          <a:ext cx="0" cy="0"/>
          <a:chOff x="0" y="0"/>
          <a:chExt cx="0" cy="0"/>
        </a:xfrm>
      </p:grpSpPr>
      <p:sp>
        <p:nvSpPr>
          <p:cNvPr id="770" name="Google Shape;770;g3066e0b36c8_0_1515: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t>How to evaluate word embeddings? We take a leap of faith that the dot product between two word embeddings represent the similarity between these words. </a:t>
            </a:r>
            <a:endParaRPr/>
          </a:p>
          <a:p>
            <a:pPr marL="0" lvl="0" indent="0" algn="l" rtl="0">
              <a:spcBef>
                <a:spcPts val="0"/>
              </a:spcBef>
              <a:spcAft>
                <a:spcPts val="0"/>
              </a:spcAft>
              <a:buNone/>
            </a:pPr>
            <a:endParaRPr/>
          </a:p>
          <a:p>
            <a:pPr marL="0" lvl="0" indent="0" algn="l" rtl="0">
              <a:spcBef>
                <a:spcPts val="0"/>
              </a:spcBef>
              <a:spcAft>
                <a:spcPts val="0"/>
              </a:spcAft>
              <a:buNone/>
            </a:pPr>
            <a:r>
              <a:rPr lang="en-GB"/>
              <a:t>Extrinsic evaluation example – go back to the toy example of sentiment classification. Sign(w*e). Extrinsic evaluation evaluates the component we trained as part of a larger system. If it doesn’t work it may be hard to say where the issue comes from. In the case of sentiment analysis – is it the pooling? Is it the training of w? Is it the embeddings?</a:t>
            </a:r>
            <a:endParaRPr/>
          </a:p>
          <a:p>
            <a:pPr marL="0" lvl="0" indent="0" algn="l" rtl="0">
              <a:spcBef>
                <a:spcPts val="0"/>
              </a:spcBef>
              <a:spcAft>
                <a:spcPts val="0"/>
              </a:spcAft>
              <a:buNone/>
            </a:pPr>
            <a:r>
              <a:rPr lang="en-GB"/>
              <a:t>But extrinsic evaluation is typically the thing we actually care about.</a:t>
            </a:r>
            <a:endParaRPr/>
          </a:p>
        </p:txBody>
      </p:sp>
      <p:sp>
        <p:nvSpPr>
          <p:cNvPr id="771" name="Google Shape;771;g3066e0b36c8_0_15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9">
          <a:extLst>
            <a:ext uri="{FF2B5EF4-FFF2-40B4-BE49-F238E27FC236}">
              <a16:creationId xmlns:a16="http://schemas.microsoft.com/office/drawing/2014/main" id="{CFFA79A5-79E8-8FBD-C859-EA3D90EED020}"/>
            </a:ext>
          </a:extLst>
        </p:cNvPr>
        <p:cNvGrpSpPr/>
        <p:nvPr/>
      </p:nvGrpSpPr>
      <p:grpSpPr>
        <a:xfrm>
          <a:off x="0" y="0"/>
          <a:ext cx="0" cy="0"/>
          <a:chOff x="0" y="0"/>
          <a:chExt cx="0" cy="0"/>
        </a:xfrm>
      </p:grpSpPr>
      <p:sp>
        <p:nvSpPr>
          <p:cNvPr id="770" name="Google Shape;770;g3066e0b36c8_0_1515:notes">
            <a:extLst>
              <a:ext uri="{FF2B5EF4-FFF2-40B4-BE49-F238E27FC236}">
                <a16:creationId xmlns:a16="http://schemas.microsoft.com/office/drawing/2014/main" id="{E75CC2FA-BF84-CC34-459C-26903BAB5C40}"/>
              </a:ext>
            </a:extLst>
          </p:cNvPr>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t>How to evaluate word embeddings? We take a leap of faith that the dot product between two word embeddings represent the similarity between these words. </a:t>
            </a:r>
            <a:endParaRPr/>
          </a:p>
          <a:p>
            <a:pPr marL="0" lvl="0" indent="0" algn="l" rtl="0">
              <a:spcBef>
                <a:spcPts val="0"/>
              </a:spcBef>
              <a:spcAft>
                <a:spcPts val="0"/>
              </a:spcAft>
              <a:buNone/>
            </a:pPr>
            <a:endParaRPr/>
          </a:p>
          <a:p>
            <a:pPr marL="0" lvl="0" indent="0" algn="l" rtl="0">
              <a:spcBef>
                <a:spcPts val="0"/>
              </a:spcBef>
              <a:spcAft>
                <a:spcPts val="0"/>
              </a:spcAft>
              <a:buNone/>
            </a:pPr>
            <a:r>
              <a:rPr lang="en-GB"/>
              <a:t>Extrinsic evaluation example – go back to the toy example of sentiment classification. Sign(w*e). Extrinsic evaluation evaluates the component we trained as part of a larger system. If it doesn’t work it may be hard to say where the issue comes from. In the case of sentiment analysis – is it the pooling? Is it the training of w? Is it the embeddings?</a:t>
            </a:r>
            <a:endParaRPr/>
          </a:p>
          <a:p>
            <a:pPr marL="0" lvl="0" indent="0" algn="l" rtl="0">
              <a:spcBef>
                <a:spcPts val="0"/>
              </a:spcBef>
              <a:spcAft>
                <a:spcPts val="0"/>
              </a:spcAft>
              <a:buNone/>
            </a:pPr>
            <a:r>
              <a:rPr lang="en-GB"/>
              <a:t>But extrinsic evaluation is typically the thing we actually care about.</a:t>
            </a:r>
            <a:endParaRPr/>
          </a:p>
        </p:txBody>
      </p:sp>
      <p:sp>
        <p:nvSpPr>
          <p:cNvPr id="771" name="Google Shape;771;g3066e0b36c8_0_1515:notes">
            <a:extLst>
              <a:ext uri="{FF2B5EF4-FFF2-40B4-BE49-F238E27FC236}">
                <a16:creationId xmlns:a16="http://schemas.microsoft.com/office/drawing/2014/main" id="{7FDC32C8-1AB3-BE0A-0747-174D9E090E5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33944698"/>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6"/>
        <p:cNvGrpSpPr/>
        <p:nvPr/>
      </p:nvGrpSpPr>
      <p:grpSpPr>
        <a:xfrm>
          <a:off x="0" y="0"/>
          <a:ext cx="0" cy="0"/>
          <a:chOff x="0" y="0"/>
          <a:chExt cx="0" cy="0"/>
        </a:xfrm>
      </p:grpSpPr>
      <p:sp>
        <p:nvSpPr>
          <p:cNvPr id="777" name="Google Shape;777;g306bcad2db0_0_5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78" name="Google Shape;778;g306bcad2db0_0_5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GB"/>
              <a:t>Solving this tells us that useful information is captured in the representations we learned.</a:t>
            </a:r>
            <a:endParaRPr/>
          </a:p>
          <a:p>
            <a:pPr marL="0" lvl="0" indent="0" algn="l" rtl="0">
              <a:spcBef>
                <a:spcPts val="0"/>
              </a:spcBef>
              <a:spcAft>
                <a:spcPts val="0"/>
              </a:spcAft>
              <a:buNone/>
            </a:pPr>
            <a:endParaRPr/>
          </a:p>
          <a:p>
            <a:pPr marL="0" lvl="0" indent="0" algn="l" rtl="0">
              <a:spcBef>
                <a:spcPts val="0"/>
              </a:spcBef>
              <a:spcAft>
                <a:spcPts val="0"/>
              </a:spcAft>
              <a:buNone/>
            </a:pPr>
            <a:r>
              <a:rPr lang="en-GB"/>
              <a:t>Normalization to 1 makes dot product and cosine similarity the same, we care mostly about the relations here.</a:t>
            </a:r>
            <a:endParaRPr/>
          </a:p>
          <a:p>
            <a:pPr marL="0" lvl="0" indent="0" algn="l" rtl="0">
              <a:spcBef>
                <a:spcPts val="0"/>
              </a:spcBef>
              <a:spcAft>
                <a:spcPts val="0"/>
              </a:spcAft>
              <a:buNone/>
            </a:pPr>
            <a:r>
              <a:rPr lang="en-GB" u="sng">
                <a:solidFill>
                  <a:schemeClr val="hlink"/>
                </a:solidFill>
                <a:hlinkClick r:id="rId3"/>
              </a:rPr>
              <a:t>https://stats.stackexchange.com/questions/177905/should-i-normalize-word2vecs-word-vectors-before-using-them</a:t>
            </a:r>
            <a:r>
              <a:rPr lang="en-GB"/>
              <a:t> </a:t>
            </a:r>
            <a:endParaRPr/>
          </a:p>
        </p:txBody>
      </p:sp>
      <p:sp>
        <p:nvSpPr>
          <p:cNvPr id="779" name="Google Shape;779;g306bcad2db0_0_5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77</a:t>
            </a:fld>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6"/>
        <p:cNvGrpSpPr/>
        <p:nvPr/>
      </p:nvGrpSpPr>
      <p:grpSpPr>
        <a:xfrm>
          <a:off x="0" y="0"/>
          <a:ext cx="0" cy="0"/>
          <a:chOff x="0" y="0"/>
          <a:chExt cx="0" cy="0"/>
        </a:xfrm>
      </p:grpSpPr>
      <p:sp>
        <p:nvSpPr>
          <p:cNvPr id="787" name="Google Shape;787;g3066e0b36c8_0_154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88" name="Google Shape;788;g3066e0b36c8_0_154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GB"/>
              <a:t>Linear relation</a:t>
            </a:r>
            <a:endParaRPr/>
          </a:p>
          <a:p>
            <a:pPr marL="0" lvl="0" indent="0" algn="l" rtl="0">
              <a:spcBef>
                <a:spcPts val="0"/>
              </a:spcBef>
              <a:spcAft>
                <a:spcPts val="0"/>
              </a:spcAft>
              <a:buNone/>
            </a:pPr>
            <a:r>
              <a:rPr lang="en-GB"/>
              <a:t>masculinity/feminine</a:t>
            </a:r>
            <a:endParaRPr/>
          </a:p>
        </p:txBody>
      </p:sp>
      <p:sp>
        <p:nvSpPr>
          <p:cNvPr id="789" name="Google Shape;789;g3066e0b36c8_0_154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78</a:t>
            </a:fld>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6">
          <a:extLst>
            <a:ext uri="{FF2B5EF4-FFF2-40B4-BE49-F238E27FC236}">
              <a16:creationId xmlns:a16="http://schemas.microsoft.com/office/drawing/2014/main" id="{322CBC7E-6652-70AA-23B1-E531AE431B04}"/>
            </a:ext>
          </a:extLst>
        </p:cNvPr>
        <p:cNvGrpSpPr/>
        <p:nvPr/>
      </p:nvGrpSpPr>
      <p:grpSpPr>
        <a:xfrm>
          <a:off x="0" y="0"/>
          <a:ext cx="0" cy="0"/>
          <a:chOff x="0" y="0"/>
          <a:chExt cx="0" cy="0"/>
        </a:xfrm>
      </p:grpSpPr>
      <p:sp>
        <p:nvSpPr>
          <p:cNvPr id="787" name="Google Shape;787;g3066e0b36c8_0_1547:notes">
            <a:extLst>
              <a:ext uri="{FF2B5EF4-FFF2-40B4-BE49-F238E27FC236}">
                <a16:creationId xmlns:a16="http://schemas.microsoft.com/office/drawing/2014/main" id="{7E73ACBF-0174-3FD6-CB11-2D17F1933CD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88" name="Google Shape;788;g3066e0b36c8_0_1547:notes">
            <a:extLst>
              <a:ext uri="{FF2B5EF4-FFF2-40B4-BE49-F238E27FC236}">
                <a16:creationId xmlns:a16="http://schemas.microsoft.com/office/drawing/2014/main" id="{5176F490-7111-7243-F168-291D5430F4CE}"/>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GB"/>
              <a:t>Linear relation</a:t>
            </a:r>
            <a:endParaRPr/>
          </a:p>
          <a:p>
            <a:pPr marL="0" lvl="0" indent="0" algn="l" rtl="0">
              <a:spcBef>
                <a:spcPts val="0"/>
              </a:spcBef>
              <a:spcAft>
                <a:spcPts val="0"/>
              </a:spcAft>
              <a:buNone/>
            </a:pPr>
            <a:r>
              <a:rPr lang="en-GB"/>
              <a:t>masculinity/feminine</a:t>
            </a:r>
            <a:endParaRPr/>
          </a:p>
        </p:txBody>
      </p:sp>
      <p:sp>
        <p:nvSpPr>
          <p:cNvPr id="789" name="Google Shape;789;g3066e0b36c8_0_1547:notes">
            <a:extLst>
              <a:ext uri="{FF2B5EF4-FFF2-40B4-BE49-F238E27FC236}">
                <a16:creationId xmlns:a16="http://schemas.microsoft.com/office/drawing/2014/main" id="{9AC9E5F6-9AC3-945C-9846-F6596D23ECAE}"/>
              </a:ext>
            </a:extLst>
          </p:cNvPr>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79</a:t>
            </a:fld>
            <a:endParaRPr/>
          </a:p>
        </p:txBody>
      </p:sp>
    </p:spTree>
    <p:extLst>
      <p:ext uri="{BB962C8B-B14F-4D97-AF65-F5344CB8AC3E}">
        <p14:creationId xmlns:p14="http://schemas.microsoft.com/office/powerpoint/2010/main" val="788804740"/>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6">
          <a:extLst>
            <a:ext uri="{FF2B5EF4-FFF2-40B4-BE49-F238E27FC236}">
              <a16:creationId xmlns:a16="http://schemas.microsoft.com/office/drawing/2014/main" id="{1FAA7344-D50D-8013-5A2A-4F457107E73C}"/>
            </a:ext>
          </a:extLst>
        </p:cNvPr>
        <p:cNvGrpSpPr/>
        <p:nvPr/>
      </p:nvGrpSpPr>
      <p:grpSpPr>
        <a:xfrm>
          <a:off x="0" y="0"/>
          <a:ext cx="0" cy="0"/>
          <a:chOff x="0" y="0"/>
          <a:chExt cx="0" cy="0"/>
        </a:xfrm>
      </p:grpSpPr>
      <p:sp>
        <p:nvSpPr>
          <p:cNvPr id="787" name="Google Shape;787;g3066e0b36c8_0_1547:notes">
            <a:extLst>
              <a:ext uri="{FF2B5EF4-FFF2-40B4-BE49-F238E27FC236}">
                <a16:creationId xmlns:a16="http://schemas.microsoft.com/office/drawing/2014/main" id="{740BA726-4690-71B4-76D2-B38AB6529951}"/>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88" name="Google Shape;788;g3066e0b36c8_0_1547:notes">
            <a:extLst>
              <a:ext uri="{FF2B5EF4-FFF2-40B4-BE49-F238E27FC236}">
                <a16:creationId xmlns:a16="http://schemas.microsoft.com/office/drawing/2014/main" id="{BC42EF49-3098-3C09-504B-4514C5AA43C7}"/>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GB"/>
              <a:t>Linear relation</a:t>
            </a:r>
            <a:endParaRPr/>
          </a:p>
          <a:p>
            <a:pPr marL="0" lvl="0" indent="0" algn="l" rtl="0">
              <a:spcBef>
                <a:spcPts val="0"/>
              </a:spcBef>
              <a:spcAft>
                <a:spcPts val="0"/>
              </a:spcAft>
              <a:buNone/>
            </a:pPr>
            <a:r>
              <a:rPr lang="en-GB"/>
              <a:t>masculinity/feminine</a:t>
            </a:r>
            <a:endParaRPr/>
          </a:p>
        </p:txBody>
      </p:sp>
      <p:sp>
        <p:nvSpPr>
          <p:cNvPr id="789" name="Google Shape;789;g3066e0b36c8_0_1547:notes">
            <a:extLst>
              <a:ext uri="{FF2B5EF4-FFF2-40B4-BE49-F238E27FC236}">
                <a16:creationId xmlns:a16="http://schemas.microsoft.com/office/drawing/2014/main" id="{BA00AEF1-F950-3382-C5F4-D83EB6A97A02}"/>
              </a:ext>
            </a:extLst>
          </p:cNvPr>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80</a:t>
            </a:fld>
            <a:endParaRPr/>
          </a:p>
        </p:txBody>
      </p:sp>
    </p:spTree>
    <p:extLst>
      <p:ext uri="{BB962C8B-B14F-4D97-AF65-F5344CB8AC3E}">
        <p14:creationId xmlns:p14="http://schemas.microsoft.com/office/powerpoint/2010/main" val="4036727949"/>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6">
          <a:extLst>
            <a:ext uri="{FF2B5EF4-FFF2-40B4-BE49-F238E27FC236}">
              <a16:creationId xmlns:a16="http://schemas.microsoft.com/office/drawing/2014/main" id="{9026287F-7C93-CED5-EF3C-4018A9C38245}"/>
            </a:ext>
          </a:extLst>
        </p:cNvPr>
        <p:cNvGrpSpPr/>
        <p:nvPr/>
      </p:nvGrpSpPr>
      <p:grpSpPr>
        <a:xfrm>
          <a:off x="0" y="0"/>
          <a:ext cx="0" cy="0"/>
          <a:chOff x="0" y="0"/>
          <a:chExt cx="0" cy="0"/>
        </a:xfrm>
      </p:grpSpPr>
      <p:sp>
        <p:nvSpPr>
          <p:cNvPr id="787" name="Google Shape;787;g3066e0b36c8_0_1547:notes">
            <a:extLst>
              <a:ext uri="{FF2B5EF4-FFF2-40B4-BE49-F238E27FC236}">
                <a16:creationId xmlns:a16="http://schemas.microsoft.com/office/drawing/2014/main" id="{DE83CBFE-D828-A6C0-2F5D-58B1B73241D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88" name="Google Shape;788;g3066e0b36c8_0_1547:notes">
            <a:extLst>
              <a:ext uri="{FF2B5EF4-FFF2-40B4-BE49-F238E27FC236}">
                <a16:creationId xmlns:a16="http://schemas.microsoft.com/office/drawing/2014/main" id="{81138F6F-F675-63BB-D189-FEA334833180}"/>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GB"/>
              <a:t>Linear relation</a:t>
            </a:r>
            <a:endParaRPr/>
          </a:p>
          <a:p>
            <a:pPr marL="0" lvl="0" indent="0" algn="l" rtl="0">
              <a:spcBef>
                <a:spcPts val="0"/>
              </a:spcBef>
              <a:spcAft>
                <a:spcPts val="0"/>
              </a:spcAft>
              <a:buNone/>
            </a:pPr>
            <a:r>
              <a:rPr lang="en-GB"/>
              <a:t>masculinity/feminine</a:t>
            </a:r>
            <a:endParaRPr/>
          </a:p>
        </p:txBody>
      </p:sp>
      <p:sp>
        <p:nvSpPr>
          <p:cNvPr id="789" name="Google Shape;789;g3066e0b36c8_0_1547:notes">
            <a:extLst>
              <a:ext uri="{FF2B5EF4-FFF2-40B4-BE49-F238E27FC236}">
                <a16:creationId xmlns:a16="http://schemas.microsoft.com/office/drawing/2014/main" id="{1344739D-FE19-C3B8-38D0-54021056A826}"/>
              </a:ext>
            </a:extLst>
          </p:cNvPr>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81</a:t>
            </a:fld>
            <a:endParaRPr/>
          </a:p>
        </p:txBody>
      </p:sp>
    </p:spTree>
    <p:extLst>
      <p:ext uri="{BB962C8B-B14F-4D97-AF65-F5344CB8AC3E}">
        <p14:creationId xmlns:p14="http://schemas.microsoft.com/office/powerpoint/2010/main" val="2046711672"/>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6">
          <a:extLst>
            <a:ext uri="{FF2B5EF4-FFF2-40B4-BE49-F238E27FC236}">
              <a16:creationId xmlns:a16="http://schemas.microsoft.com/office/drawing/2014/main" id="{EA6EF9A1-E405-4757-B867-189FBE7B36EA}"/>
            </a:ext>
          </a:extLst>
        </p:cNvPr>
        <p:cNvGrpSpPr/>
        <p:nvPr/>
      </p:nvGrpSpPr>
      <p:grpSpPr>
        <a:xfrm>
          <a:off x="0" y="0"/>
          <a:ext cx="0" cy="0"/>
          <a:chOff x="0" y="0"/>
          <a:chExt cx="0" cy="0"/>
        </a:xfrm>
      </p:grpSpPr>
      <p:sp>
        <p:nvSpPr>
          <p:cNvPr id="787" name="Google Shape;787;g3066e0b36c8_0_1547:notes">
            <a:extLst>
              <a:ext uri="{FF2B5EF4-FFF2-40B4-BE49-F238E27FC236}">
                <a16:creationId xmlns:a16="http://schemas.microsoft.com/office/drawing/2014/main" id="{CC3F29D4-DEE9-D41D-4A50-4D6ECF338597}"/>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88" name="Google Shape;788;g3066e0b36c8_0_1547:notes">
            <a:extLst>
              <a:ext uri="{FF2B5EF4-FFF2-40B4-BE49-F238E27FC236}">
                <a16:creationId xmlns:a16="http://schemas.microsoft.com/office/drawing/2014/main" id="{1AAE0669-CAEE-937F-5CBB-5FF420AC9779}"/>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GB"/>
              <a:t>Linear relation</a:t>
            </a:r>
            <a:endParaRPr/>
          </a:p>
          <a:p>
            <a:pPr marL="0" lvl="0" indent="0" algn="l" rtl="0">
              <a:spcBef>
                <a:spcPts val="0"/>
              </a:spcBef>
              <a:spcAft>
                <a:spcPts val="0"/>
              </a:spcAft>
              <a:buNone/>
            </a:pPr>
            <a:r>
              <a:rPr lang="en-GB"/>
              <a:t>masculinity/feminine</a:t>
            </a:r>
            <a:endParaRPr/>
          </a:p>
        </p:txBody>
      </p:sp>
      <p:sp>
        <p:nvSpPr>
          <p:cNvPr id="789" name="Google Shape;789;g3066e0b36c8_0_1547:notes">
            <a:extLst>
              <a:ext uri="{FF2B5EF4-FFF2-40B4-BE49-F238E27FC236}">
                <a16:creationId xmlns:a16="http://schemas.microsoft.com/office/drawing/2014/main" id="{4DBAB14C-9863-01F7-1E9D-CBE3DCB74C82}"/>
              </a:ext>
            </a:extLst>
          </p:cNvPr>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82</a:t>
            </a:fld>
            <a:endParaRPr/>
          </a:p>
        </p:txBody>
      </p:sp>
    </p:spTree>
    <p:extLst>
      <p:ext uri="{BB962C8B-B14F-4D97-AF65-F5344CB8AC3E}">
        <p14:creationId xmlns:p14="http://schemas.microsoft.com/office/powerpoint/2010/main" val="3757942323"/>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2"/>
        <p:cNvGrpSpPr/>
        <p:nvPr/>
      </p:nvGrpSpPr>
      <p:grpSpPr>
        <a:xfrm>
          <a:off x="0" y="0"/>
          <a:ext cx="0" cy="0"/>
          <a:chOff x="0" y="0"/>
          <a:chExt cx="0" cy="0"/>
        </a:xfrm>
      </p:grpSpPr>
      <p:sp>
        <p:nvSpPr>
          <p:cNvPr id="803" name="Google Shape;803;g3066e0b36c8_0_156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04" name="Google Shape;804;g3066e0b36c8_0_156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GB"/>
              <a:t>Adjective, comparative and superlative forms</a:t>
            </a:r>
            <a:endParaRPr/>
          </a:p>
          <a:p>
            <a:pPr marL="0" lvl="0" indent="0" algn="l" rtl="0">
              <a:spcBef>
                <a:spcPts val="0"/>
              </a:spcBef>
              <a:spcAft>
                <a:spcPts val="0"/>
              </a:spcAft>
              <a:buNone/>
            </a:pPr>
            <a:endParaRPr/>
          </a:p>
        </p:txBody>
      </p:sp>
      <p:sp>
        <p:nvSpPr>
          <p:cNvPr id="805" name="Google Shape;805;g3066e0b36c8_0_156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83</a:t>
            </a:fld>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0"/>
        <p:cNvGrpSpPr/>
        <p:nvPr/>
      </p:nvGrpSpPr>
      <p:grpSpPr>
        <a:xfrm>
          <a:off x="0" y="0"/>
          <a:ext cx="0" cy="0"/>
          <a:chOff x="0" y="0"/>
          <a:chExt cx="0" cy="0"/>
        </a:xfrm>
      </p:grpSpPr>
      <p:sp>
        <p:nvSpPr>
          <p:cNvPr id="811" name="Google Shape;811;g3066e0b36c8_0_157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12" name="Google Shape;812;g3066e0b36c8_0_157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GB"/>
              <a:t>Results on a benchmark for word analogies. 500 different pairs?</a:t>
            </a:r>
            <a:endParaRPr/>
          </a:p>
          <a:p>
            <a:pPr marL="0" lvl="0" indent="0" algn="l" rtl="0">
              <a:spcBef>
                <a:spcPts val="0"/>
              </a:spcBef>
              <a:spcAft>
                <a:spcPts val="0"/>
              </a:spcAft>
              <a:buNone/>
            </a:pPr>
            <a:r>
              <a:rPr lang="en-GB"/>
              <a:t>Each row is a method to get word representations</a:t>
            </a:r>
            <a:endParaRPr/>
          </a:p>
          <a:p>
            <a:pPr marL="0" lvl="0" indent="0" algn="l" rtl="0">
              <a:spcBef>
                <a:spcPts val="0"/>
              </a:spcBef>
              <a:spcAft>
                <a:spcPts val="0"/>
              </a:spcAft>
              <a:buNone/>
            </a:pPr>
            <a:r>
              <a:rPr lang="en-GB"/>
              <a:t>Size of the corpus – how many words we trained on</a:t>
            </a:r>
            <a:endParaRPr/>
          </a:p>
          <a:p>
            <a:pPr marL="0" lvl="0" indent="0" algn="l" rtl="0">
              <a:spcBef>
                <a:spcPts val="0"/>
              </a:spcBef>
              <a:spcAft>
                <a:spcPts val="0"/>
              </a:spcAft>
              <a:buNone/>
            </a:pPr>
            <a:endParaRPr/>
          </a:p>
          <a:p>
            <a:pPr marL="0" lvl="0" indent="0" algn="l" rtl="0">
              <a:spcBef>
                <a:spcPts val="0"/>
              </a:spcBef>
              <a:spcAft>
                <a:spcPts val="0"/>
              </a:spcAft>
              <a:buNone/>
            </a:pPr>
            <a:r>
              <a:rPr lang="en-GB"/>
              <a:t>Semantic meaning: men→women as king→queen</a:t>
            </a:r>
            <a:endParaRPr/>
          </a:p>
          <a:p>
            <a:pPr marL="0" lvl="0" indent="0" algn="l" rtl="0">
              <a:spcBef>
                <a:spcPts val="0"/>
              </a:spcBef>
              <a:spcAft>
                <a:spcPts val="0"/>
              </a:spcAft>
              <a:buNone/>
            </a:pPr>
            <a:r>
              <a:rPr lang="en-GB"/>
              <a:t>Syntactic meaning: the noun version of a verb</a:t>
            </a:r>
            <a:endParaRPr/>
          </a:p>
          <a:p>
            <a:pPr marL="0" lvl="0" indent="0" algn="l" rtl="0">
              <a:spcBef>
                <a:spcPts val="0"/>
              </a:spcBef>
              <a:spcAft>
                <a:spcPts val="0"/>
              </a:spcAft>
              <a:buNone/>
            </a:pPr>
            <a:r>
              <a:rPr lang="en-GB"/>
              <a:t>Tot. → average?</a:t>
            </a:r>
            <a:endParaRPr/>
          </a:p>
        </p:txBody>
      </p:sp>
      <p:sp>
        <p:nvSpPr>
          <p:cNvPr id="813" name="Google Shape;813;g3066e0b36c8_0_157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84</a:t>
            </a:fld>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9"/>
        <p:cNvGrpSpPr/>
        <p:nvPr/>
      </p:nvGrpSpPr>
      <p:grpSpPr>
        <a:xfrm>
          <a:off x="0" y="0"/>
          <a:ext cx="0" cy="0"/>
          <a:chOff x="0" y="0"/>
          <a:chExt cx="0" cy="0"/>
        </a:xfrm>
      </p:grpSpPr>
      <p:sp>
        <p:nvSpPr>
          <p:cNvPr id="820" name="Google Shape;820;g3066e0b36c8_0_157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21" name="Google Shape;821;g3066e0b36c8_0_157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GB"/>
              <a:t>Words similarity benchmark</a:t>
            </a:r>
            <a:endParaRPr/>
          </a:p>
          <a:p>
            <a:pPr marL="0" lvl="0" indent="0" algn="l" rtl="0">
              <a:spcBef>
                <a:spcPts val="0"/>
              </a:spcBef>
              <a:spcAft>
                <a:spcPts val="0"/>
              </a:spcAft>
              <a:buNone/>
            </a:pPr>
            <a:r>
              <a:rPr lang="en-GB"/>
              <a:t>How similar the two words are in a range of 1-10.</a:t>
            </a:r>
            <a:endParaRPr/>
          </a:p>
          <a:p>
            <a:pPr marL="0" lvl="0" indent="0" algn="l" rtl="0">
              <a:spcBef>
                <a:spcPts val="0"/>
              </a:spcBef>
              <a:spcAft>
                <a:spcPts val="0"/>
              </a:spcAft>
              <a:buNone/>
            </a:pPr>
            <a:r>
              <a:rPr lang="en-GB"/>
              <a:t>Expensive and subjective.</a:t>
            </a:r>
            <a:endParaRPr/>
          </a:p>
        </p:txBody>
      </p:sp>
      <p:sp>
        <p:nvSpPr>
          <p:cNvPr id="822" name="Google Shape;822;g3066e0b36c8_0_157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85</a:t>
            </a:fld>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8"/>
        <p:cNvGrpSpPr/>
        <p:nvPr/>
      </p:nvGrpSpPr>
      <p:grpSpPr>
        <a:xfrm>
          <a:off x="0" y="0"/>
          <a:ext cx="0" cy="0"/>
          <a:chOff x="0" y="0"/>
          <a:chExt cx="0" cy="0"/>
        </a:xfrm>
      </p:grpSpPr>
      <p:sp>
        <p:nvSpPr>
          <p:cNvPr id="829" name="Google Shape;829;g3066e0b36c8_0_158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30" name="Google Shape;830;g3066e0b36c8_0_158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GB"/>
              <a:t>Differences are big</a:t>
            </a:r>
            <a:endParaRPr/>
          </a:p>
        </p:txBody>
      </p:sp>
      <p:sp>
        <p:nvSpPr>
          <p:cNvPr id="831" name="Google Shape;831;g3066e0b36c8_0_158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86</a:t>
            </a:fld>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7"/>
        <p:cNvGrpSpPr/>
        <p:nvPr/>
      </p:nvGrpSpPr>
      <p:grpSpPr>
        <a:xfrm>
          <a:off x="0" y="0"/>
          <a:ext cx="0" cy="0"/>
          <a:chOff x="0" y="0"/>
          <a:chExt cx="0" cy="0"/>
        </a:xfrm>
      </p:grpSpPr>
      <p:sp>
        <p:nvSpPr>
          <p:cNvPr id="838" name="Google Shape;838;g3066e0b36c8_0_1592: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39" name="Google Shape;839;g3066e0b36c8_0_159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6"/>
        <p:cNvGrpSpPr/>
        <p:nvPr/>
      </p:nvGrpSpPr>
      <p:grpSpPr>
        <a:xfrm>
          <a:off x="0" y="0"/>
          <a:ext cx="0" cy="0"/>
          <a:chOff x="0" y="0"/>
          <a:chExt cx="0" cy="0"/>
        </a:xfrm>
      </p:grpSpPr>
      <p:sp>
        <p:nvSpPr>
          <p:cNvPr id="847" name="Google Shape;847;g3066e0b36c8_0_159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48" name="Google Shape;848;g3066e0b36c8_0_159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GB"/>
              <a:t>Differences here are actually small</a:t>
            </a:r>
            <a:endParaRPr/>
          </a:p>
          <a:p>
            <a:pPr marL="0" lvl="0" indent="0" algn="l" rtl="0">
              <a:spcBef>
                <a:spcPts val="0"/>
              </a:spcBef>
              <a:spcAft>
                <a:spcPts val="0"/>
              </a:spcAft>
              <a:buNone/>
            </a:pPr>
            <a:endParaRPr/>
          </a:p>
          <a:p>
            <a:pPr marL="0" lvl="0" indent="0" algn="l" rtl="0">
              <a:spcBef>
                <a:spcPts val="0"/>
              </a:spcBef>
              <a:spcAft>
                <a:spcPts val="0"/>
              </a:spcAft>
              <a:buNone/>
            </a:pPr>
            <a:r>
              <a:rPr lang="en-GB"/>
              <a:t>We have here the one-hot vectors as well</a:t>
            </a:r>
            <a:endParaRPr/>
          </a:p>
        </p:txBody>
      </p:sp>
      <p:sp>
        <p:nvSpPr>
          <p:cNvPr id="849" name="Google Shape;849;g3066e0b36c8_0_159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88</a:t>
            </a:fld>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g30b012314b4_0_220: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13" name="Google Shape;113;g30b012314b4_0_2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g30b012314b4_0_236: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t>Chinese room experiment</a:t>
            </a:r>
            <a:endParaRPr/>
          </a:p>
          <a:p>
            <a:pPr marL="0" lvl="0" indent="0" algn="l" rtl="0">
              <a:spcBef>
                <a:spcPts val="0"/>
              </a:spcBef>
              <a:spcAft>
                <a:spcPts val="0"/>
              </a:spcAft>
              <a:buNone/>
            </a:pPr>
            <a:endParaRPr/>
          </a:p>
          <a:p>
            <a:pPr marL="0" lvl="0" indent="0" algn="l" rtl="0">
              <a:spcBef>
                <a:spcPts val="0"/>
              </a:spcBef>
              <a:spcAft>
                <a:spcPts val="0"/>
              </a:spcAft>
              <a:buNone/>
            </a:pPr>
            <a:r>
              <a:rPr lang="en-GB"/>
              <a:t>Why useful – compare two texts</a:t>
            </a:r>
            <a:endParaRPr/>
          </a:p>
          <a:p>
            <a:pPr marL="0" lvl="0" indent="0" algn="l" rtl="0">
              <a:spcBef>
                <a:spcPts val="0"/>
              </a:spcBef>
              <a:spcAft>
                <a:spcPts val="0"/>
              </a:spcAft>
              <a:buNone/>
            </a:pPr>
            <a:r>
              <a:rPr lang="en-GB"/>
              <a:t>Can be used for generating text</a:t>
            </a:r>
            <a:endParaRPr/>
          </a:p>
          <a:p>
            <a:pPr marL="0" lvl="0" indent="0" algn="l" rtl="0">
              <a:spcBef>
                <a:spcPts val="0"/>
              </a:spcBef>
              <a:spcAft>
                <a:spcPts val="0"/>
              </a:spcAft>
              <a:buNone/>
            </a:pPr>
            <a:r>
              <a:rPr lang="en-GB"/>
              <a:t>Find mistakes in text</a:t>
            </a:r>
            <a:endParaRPr/>
          </a:p>
          <a:p>
            <a:pPr marL="0" lvl="0" indent="0" algn="l" rtl="0">
              <a:spcBef>
                <a:spcPts val="0"/>
              </a:spcBef>
              <a:spcAft>
                <a:spcPts val="0"/>
              </a:spcAft>
              <a:buNone/>
            </a:pPr>
            <a:endParaRPr/>
          </a:p>
        </p:txBody>
      </p:sp>
      <p:sp>
        <p:nvSpPr>
          <p:cNvPr id="130" name="Google Shape;130;g30b012314b4_0_23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B342BF3E-EEFC-A3B7-CC7F-40941D447D47}"/>
            </a:ext>
          </a:extLst>
        </p:cNvPr>
        <p:cNvGrpSpPr/>
        <p:nvPr/>
      </p:nvGrpSpPr>
      <p:grpSpPr>
        <a:xfrm>
          <a:off x="0" y="0"/>
          <a:ext cx="0" cy="0"/>
          <a:chOff x="0" y="0"/>
          <a:chExt cx="0" cy="0"/>
        </a:xfrm>
      </p:grpSpPr>
      <p:sp>
        <p:nvSpPr>
          <p:cNvPr id="129" name="Google Shape;129;g30b012314b4_0_236:notes">
            <a:extLst>
              <a:ext uri="{FF2B5EF4-FFF2-40B4-BE49-F238E27FC236}">
                <a16:creationId xmlns:a16="http://schemas.microsoft.com/office/drawing/2014/main" id="{51A7A1E4-B223-272D-9D9C-F6B38C461C87}"/>
              </a:ext>
            </a:extLst>
          </p:cNvPr>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t>Chinese room experiment</a:t>
            </a:r>
            <a:endParaRPr/>
          </a:p>
          <a:p>
            <a:pPr marL="0" lvl="0" indent="0" algn="l" rtl="0">
              <a:spcBef>
                <a:spcPts val="0"/>
              </a:spcBef>
              <a:spcAft>
                <a:spcPts val="0"/>
              </a:spcAft>
              <a:buNone/>
            </a:pPr>
            <a:endParaRPr/>
          </a:p>
          <a:p>
            <a:pPr marL="0" lvl="0" indent="0" algn="l" rtl="0">
              <a:spcBef>
                <a:spcPts val="0"/>
              </a:spcBef>
              <a:spcAft>
                <a:spcPts val="0"/>
              </a:spcAft>
              <a:buNone/>
            </a:pPr>
            <a:r>
              <a:rPr lang="en-GB"/>
              <a:t>Why useful – compare two texts</a:t>
            </a:r>
            <a:endParaRPr/>
          </a:p>
          <a:p>
            <a:pPr marL="0" lvl="0" indent="0" algn="l" rtl="0">
              <a:spcBef>
                <a:spcPts val="0"/>
              </a:spcBef>
              <a:spcAft>
                <a:spcPts val="0"/>
              </a:spcAft>
              <a:buNone/>
            </a:pPr>
            <a:r>
              <a:rPr lang="en-GB"/>
              <a:t>Can be used for generating text</a:t>
            </a:r>
            <a:endParaRPr/>
          </a:p>
          <a:p>
            <a:pPr marL="0" lvl="0" indent="0" algn="l" rtl="0">
              <a:spcBef>
                <a:spcPts val="0"/>
              </a:spcBef>
              <a:spcAft>
                <a:spcPts val="0"/>
              </a:spcAft>
              <a:buNone/>
            </a:pPr>
            <a:r>
              <a:rPr lang="en-GB"/>
              <a:t>Find mistakes in text</a:t>
            </a:r>
            <a:endParaRPr/>
          </a:p>
          <a:p>
            <a:pPr marL="0" lvl="0" indent="0" algn="l" rtl="0">
              <a:spcBef>
                <a:spcPts val="0"/>
              </a:spcBef>
              <a:spcAft>
                <a:spcPts val="0"/>
              </a:spcAft>
              <a:buNone/>
            </a:pPr>
            <a:endParaRPr/>
          </a:p>
        </p:txBody>
      </p:sp>
      <p:sp>
        <p:nvSpPr>
          <p:cNvPr id="130" name="Google Shape;130;g30b012314b4_0_236:notes">
            <a:extLst>
              <a:ext uri="{FF2B5EF4-FFF2-40B4-BE49-F238E27FC236}">
                <a16:creationId xmlns:a16="http://schemas.microsoft.com/office/drawing/2014/main" id="{2BB91C28-03E9-4959-C83E-D1C0E4493A7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80211573"/>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g30b012314b4_0_243: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8" name="Google Shape;138;g30b012314b4_0_24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g30b012314b4_0_786: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7" name="Google Shape;147;g30b012314b4_0_78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g30b012314b4_0_796: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t>Taking sound waves and converting them to text is hard.</a:t>
            </a:r>
            <a:endParaRPr/>
          </a:p>
          <a:p>
            <a:pPr marL="0" lvl="0" indent="0" algn="l" rtl="0">
              <a:spcBef>
                <a:spcPts val="0"/>
              </a:spcBef>
              <a:spcAft>
                <a:spcPts val="0"/>
              </a:spcAft>
              <a:buNone/>
            </a:pPr>
            <a:r>
              <a:rPr lang="en-GB"/>
              <a:t>Base theorem and do the opposite is easier – compute the probability of speech given text times probability of text.</a:t>
            </a:r>
            <a:endParaRPr/>
          </a:p>
          <a:p>
            <a:pPr marL="0" lvl="0" indent="0" algn="l" rtl="0">
              <a:spcBef>
                <a:spcPts val="0"/>
              </a:spcBef>
              <a:spcAft>
                <a:spcPts val="0"/>
              </a:spcAft>
              <a:buNone/>
            </a:pPr>
            <a:r>
              <a:rPr lang="en-GB"/>
              <a:t>Ambiguity problem (a computer that understands you like your mother, “like your” vs. “lie cure”) – the internal language model we have helps us disambiguate speech</a:t>
            </a:r>
            <a:endParaRPr/>
          </a:p>
        </p:txBody>
      </p:sp>
      <p:sp>
        <p:nvSpPr>
          <p:cNvPr id="156" name="Google Shape;156;g30b012314b4_0_79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g30b012314b4_0_26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4" name="Google Shape;164;g30b012314b4_0_26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Calibri"/>
              <a:buNone/>
            </a:pPr>
            <a:r>
              <a:rPr lang="en-GB">
                <a:solidFill>
                  <a:schemeClr val="dk1"/>
                </a:solidFill>
              </a:rPr>
              <a:t>Why does it work? What is it in next word prediction that encapsulates so much knowledge about language? Does knowing the probability of a sentence means understanding the meaning of language?</a:t>
            </a:r>
            <a:endParaRPr>
              <a:solidFill>
                <a:schemeClr val="dk1"/>
              </a:solidFill>
            </a:endParaRPr>
          </a:p>
          <a:p>
            <a:pPr marL="0" lvl="0" indent="0" algn="l" rtl="0">
              <a:spcBef>
                <a:spcPts val="0"/>
              </a:spcBef>
              <a:spcAft>
                <a:spcPts val="0"/>
              </a:spcAft>
              <a:buClr>
                <a:schemeClr val="dk1"/>
              </a:buClr>
              <a:buSzPts val="1200"/>
              <a:buFont typeface="Calibri"/>
              <a:buNone/>
            </a:pPr>
            <a:r>
              <a:rPr lang="en-GB">
                <a:solidFill>
                  <a:schemeClr val="dk1"/>
                </a:solidFill>
              </a:rPr>
              <a:t>To succeed at this task, we need to know a lot of things.</a:t>
            </a:r>
            <a:endParaRPr>
              <a:solidFill>
                <a:schemeClr val="dk1"/>
              </a:solidFill>
            </a:endParaRPr>
          </a:p>
          <a:p>
            <a:pPr marL="0" lvl="0" indent="0" algn="l" rtl="0">
              <a:spcBef>
                <a:spcPts val="0"/>
              </a:spcBef>
              <a:spcAft>
                <a:spcPts val="0"/>
              </a:spcAft>
              <a:buClr>
                <a:schemeClr val="dk1"/>
              </a:buClr>
              <a:buSzPts val="1200"/>
              <a:buFont typeface="Calibri"/>
              <a:buNone/>
            </a:pPr>
            <a:endParaRPr>
              <a:solidFill>
                <a:schemeClr val="dk1"/>
              </a:solidFill>
            </a:endParaRPr>
          </a:p>
          <a:p>
            <a:pPr marL="0" lvl="0" indent="0" algn="l" rtl="0">
              <a:spcBef>
                <a:spcPts val="0"/>
              </a:spcBef>
              <a:spcAft>
                <a:spcPts val="0"/>
              </a:spcAft>
              <a:buClr>
                <a:schemeClr val="dk1"/>
              </a:buClr>
              <a:buSzPts val="1200"/>
              <a:buFont typeface="Calibri"/>
              <a:buNone/>
            </a:pPr>
            <a:r>
              <a:rPr lang="en-GB">
                <a:solidFill>
                  <a:schemeClr val="dk1"/>
                </a:solidFill>
              </a:rPr>
              <a:t>Turing test does not tell us whether the computer understands or whether it can think or has a soul, it just tells us whether we can tell the difference. If we can’t then does it really matter?</a:t>
            </a:r>
            <a:endParaRPr>
              <a:solidFill>
                <a:schemeClr val="dk1"/>
              </a:solidFill>
            </a:endParaRPr>
          </a:p>
          <a:p>
            <a:pPr marL="0" lvl="0" indent="0" algn="l" rtl="0">
              <a:spcBef>
                <a:spcPts val="0"/>
              </a:spcBef>
              <a:spcAft>
                <a:spcPts val="0"/>
              </a:spcAft>
              <a:buClr>
                <a:schemeClr val="dk1"/>
              </a:buClr>
              <a:buSzPts val="1200"/>
              <a:buFont typeface="Calibri"/>
              <a:buNone/>
            </a:pPr>
            <a:endParaRPr>
              <a:solidFill>
                <a:schemeClr val="dk1"/>
              </a:solidFill>
            </a:endParaRPr>
          </a:p>
          <a:p>
            <a:pPr marL="0" lvl="0" indent="0" algn="l" rtl="0">
              <a:spcBef>
                <a:spcPts val="0"/>
              </a:spcBef>
              <a:spcAft>
                <a:spcPts val="0"/>
              </a:spcAft>
              <a:buClr>
                <a:schemeClr val="dk1"/>
              </a:buClr>
              <a:buSzPts val="1200"/>
              <a:buFont typeface="Calibri"/>
              <a:buNone/>
            </a:pPr>
            <a:r>
              <a:rPr lang="en-GB" b="0" i="0" u="none" strike="noStrike">
                <a:solidFill>
                  <a:schemeClr val="dk1"/>
                </a:solidFill>
                <a:latin typeface="Arial"/>
                <a:ea typeface="Arial"/>
                <a:cs typeface="Arial"/>
                <a:sym typeface="Arial"/>
              </a:rPr>
              <a:t>The Chinese Room thought experiment is a famous argument against the idea that a computer or any other symbol-manipulating system can have a "mind" or "understanding" equivalent to that of a human being. </a:t>
            </a:r>
            <a:endParaRPr b="0" i="0" u="none" strike="noStrike">
              <a:solidFill>
                <a:schemeClr val="dk1"/>
              </a:solidFill>
              <a:latin typeface="Arial"/>
              <a:ea typeface="Arial"/>
              <a:cs typeface="Arial"/>
              <a:sym typeface="Arial"/>
            </a:endParaRPr>
          </a:p>
          <a:p>
            <a:pPr marL="0" lvl="0" indent="0" algn="l" rtl="0">
              <a:spcBef>
                <a:spcPts val="0"/>
              </a:spcBef>
              <a:spcAft>
                <a:spcPts val="0"/>
              </a:spcAft>
              <a:buClr>
                <a:schemeClr val="dk1"/>
              </a:buClr>
              <a:buSzPts val="1200"/>
              <a:buFont typeface="Calibri"/>
              <a:buNone/>
            </a:pPr>
            <a:r>
              <a:rPr lang="en-GB" b="0" i="0" u="none" strike="noStrike">
                <a:solidFill>
                  <a:schemeClr val="dk1"/>
                </a:solidFill>
                <a:latin typeface="Arial"/>
                <a:ea typeface="Arial"/>
                <a:cs typeface="Arial"/>
                <a:sym typeface="Arial"/>
              </a:rPr>
              <a:t>In this thought experiment, a person who does not understand Chinese (the "man in the room") is given a set of instructions in English that enable them to manipulate Chinese characters in response to Chinese questions. Despite the fact that the person in the room does not understand Chinese, they are able to produce seemingly intelligent responses that fool a Chinese speaker into believing that there is someone in the room who understands Chinese. The argument suggests that a computer, like the person in the room, may be able to manipulate symbols in a sophisticated manner without truly understanding their meaning.</a:t>
            </a:r>
            <a:endParaRPr>
              <a:solidFill>
                <a:schemeClr val="dk1"/>
              </a:solidFill>
            </a:endParaRPr>
          </a:p>
          <a:p>
            <a:pPr marL="0" lvl="0" indent="0" algn="l" rtl="0">
              <a:spcBef>
                <a:spcPts val="0"/>
              </a:spcBef>
              <a:spcAft>
                <a:spcPts val="0"/>
              </a:spcAft>
              <a:buClr>
                <a:schemeClr val="dk1"/>
              </a:buClr>
              <a:buSzPts val="1200"/>
              <a:buFont typeface="Calibri"/>
              <a:buNone/>
            </a:pPr>
            <a:endParaRPr b="0" i="0" u="none" strike="noStrike">
              <a:solidFill>
                <a:schemeClr val="dk1"/>
              </a:solidFill>
              <a:latin typeface="Arial"/>
              <a:ea typeface="Arial"/>
              <a:cs typeface="Arial"/>
              <a:sym typeface="Arial"/>
            </a:endParaRPr>
          </a:p>
          <a:p>
            <a:pPr marL="0" lvl="0" indent="0" algn="l" rtl="0">
              <a:spcBef>
                <a:spcPts val="0"/>
              </a:spcBef>
              <a:spcAft>
                <a:spcPts val="0"/>
              </a:spcAft>
              <a:buClr>
                <a:schemeClr val="dk1"/>
              </a:buClr>
              <a:buSzPts val="1200"/>
              <a:buFont typeface="Calibri"/>
              <a:buNone/>
            </a:pPr>
            <a:r>
              <a:rPr lang="en-GB" b="0" i="0" u="none" strike="noStrike">
                <a:solidFill>
                  <a:schemeClr val="dk1"/>
                </a:solidFill>
                <a:latin typeface="Arial"/>
                <a:ea typeface="Arial"/>
                <a:cs typeface="Arial"/>
                <a:sym typeface="Arial"/>
              </a:rPr>
              <a:t>John Searle 1980</a:t>
            </a:r>
            <a:endParaRPr>
              <a:solidFill>
                <a:schemeClr val="dk1"/>
              </a:solidFill>
            </a:endParaRPr>
          </a:p>
        </p:txBody>
      </p:sp>
      <p:sp>
        <p:nvSpPr>
          <p:cNvPr id="165" name="Google Shape;165;g30b012314b4_0_26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Calibri"/>
              <a:buNone/>
            </a:pPr>
            <a:fld id="{00000000-1234-1234-1234-123412341234}" type="slidenum">
              <a:rPr lang="en-GB"/>
              <a:t>97</a:t>
            </a:fld>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Google Shape;170;g30b012314b4_0_773: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1" name="Google Shape;171;g30b012314b4_0_77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g31173e2aa90_0_5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6" name="Google Shape;176;g31173e2aa90_0_5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Calibri"/>
              <a:buNone/>
            </a:pPr>
            <a:r>
              <a:rPr lang="en-GB">
                <a:solidFill>
                  <a:schemeClr val="dk1"/>
                </a:solidFill>
              </a:rPr>
              <a:t>Turing test does not tell us whether the computer understands or whether it can think or has a soul, it just tells us whether we can tell the difference. If we can’t then does it really matter?</a:t>
            </a:r>
            <a:endParaRPr>
              <a:solidFill>
                <a:schemeClr val="dk1"/>
              </a:solidFill>
            </a:endParaRPr>
          </a:p>
          <a:p>
            <a:pPr marL="0" lvl="0" indent="0" algn="l" rtl="0">
              <a:spcBef>
                <a:spcPts val="0"/>
              </a:spcBef>
              <a:spcAft>
                <a:spcPts val="0"/>
              </a:spcAft>
              <a:buClr>
                <a:schemeClr val="dk1"/>
              </a:buClr>
              <a:buSzPts val="1200"/>
              <a:buFont typeface="Calibri"/>
              <a:buNone/>
            </a:pPr>
            <a:endParaRPr>
              <a:solidFill>
                <a:schemeClr val="dk1"/>
              </a:solidFill>
            </a:endParaRPr>
          </a:p>
          <a:p>
            <a:pPr marL="0" lvl="0" indent="0" algn="l" rtl="0">
              <a:spcBef>
                <a:spcPts val="0"/>
              </a:spcBef>
              <a:spcAft>
                <a:spcPts val="0"/>
              </a:spcAft>
              <a:buClr>
                <a:schemeClr val="dk1"/>
              </a:buClr>
              <a:buSzPts val="1200"/>
              <a:buFont typeface="Calibri"/>
              <a:buNone/>
            </a:pPr>
            <a:r>
              <a:rPr lang="en-GB" b="0" i="0" u="none" strike="noStrike">
                <a:solidFill>
                  <a:schemeClr val="dk1"/>
                </a:solidFill>
                <a:latin typeface="Arial"/>
                <a:ea typeface="Arial"/>
                <a:cs typeface="Arial"/>
                <a:sym typeface="Arial"/>
              </a:rPr>
              <a:t>The Chinese Room thought experiment is a famous argument against the idea that a computer or any other symbol-manipulating system can have a "mind" or "understanding" equivalent to that of a human being. </a:t>
            </a:r>
            <a:endParaRPr b="0" i="0" u="none" strike="noStrike">
              <a:solidFill>
                <a:schemeClr val="dk1"/>
              </a:solidFill>
              <a:latin typeface="Arial"/>
              <a:ea typeface="Arial"/>
              <a:cs typeface="Arial"/>
              <a:sym typeface="Arial"/>
            </a:endParaRPr>
          </a:p>
          <a:p>
            <a:pPr marL="0" lvl="0" indent="0" algn="l" rtl="0">
              <a:spcBef>
                <a:spcPts val="0"/>
              </a:spcBef>
              <a:spcAft>
                <a:spcPts val="0"/>
              </a:spcAft>
              <a:buClr>
                <a:schemeClr val="dk1"/>
              </a:buClr>
              <a:buSzPts val="1200"/>
              <a:buFont typeface="Calibri"/>
              <a:buNone/>
            </a:pPr>
            <a:r>
              <a:rPr lang="en-GB" b="0" i="0" u="none" strike="noStrike">
                <a:solidFill>
                  <a:schemeClr val="dk1"/>
                </a:solidFill>
                <a:latin typeface="Arial"/>
                <a:ea typeface="Arial"/>
                <a:cs typeface="Arial"/>
                <a:sym typeface="Arial"/>
              </a:rPr>
              <a:t>In this thought experiment, a person who does not understand Chinese (the "man in the room") is given a set of instructions in English that enable them to manipulate Chinese characters in response to Chinese questions. Despite the fact that the person in the room does not understand Chinese, they are able to produce seemingly intelligent responses that fool a Chinese speaker into believing that there is someone in the room who understands Chinese. The argument suggests that a computer, like the person in the room, may be able to manipulate symbols in a sophisticated manner without truly understanding their meaning.</a:t>
            </a:r>
            <a:endParaRPr>
              <a:solidFill>
                <a:schemeClr val="dk1"/>
              </a:solidFill>
            </a:endParaRPr>
          </a:p>
          <a:p>
            <a:pPr marL="0" lvl="0" indent="0" algn="l" rtl="0">
              <a:spcBef>
                <a:spcPts val="0"/>
              </a:spcBef>
              <a:spcAft>
                <a:spcPts val="0"/>
              </a:spcAft>
              <a:buClr>
                <a:schemeClr val="dk1"/>
              </a:buClr>
              <a:buSzPts val="1200"/>
              <a:buFont typeface="Calibri"/>
              <a:buNone/>
            </a:pPr>
            <a:endParaRPr b="0" i="0" u="none" strike="noStrike">
              <a:solidFill>
                <a:schemeClr val="dk1"/>
              </a:solidFill>
              <a:latin typeface="Arial"/>
              <a:ea typeface="Arial"/>
              <a:cs typeface="Arial"/>
              <a:sym typeface="Arial"/>
            </a:endParaRPr>
          </a:p>
          <a:p>
            <a:pPr marL="0" lvl="0" indent="0" algn="l" rtl="0">
              <a:spcBef>
                <a:spcPts val="0"/>
              </a:spcBef>
              <a:spcAft>
                <a:spcPts val="0"/>
              </a:spcAft>
              <a:buClr>
                <a:schemeClr val="dk1"/>
              </a:buClr>
              <a:buSzPts val="1200"/>
              <a:buFont typeface="Calibri"/>
              <a:buNone/>
            </a:pPr>
            <a:r>
              <a:rPr lang="en-GB" b="0" i="0" u="none" strike="noStrike">
                <a:solidFill>
                  <a:schemeClr val="dk1"/>
                </a:solidFill>
                <a:latin typeface="Arial"/>
                <a:ea typeface="Arial"/>
                <a:cs typeface="Arial"/>
                <a:sym typeface="Arial"/>
              </a:rPr>
              <a:t>John Searle 1980</a:t>
            </a:r>
            <a:endParaRPr>
              <a:solidFill>
                <a:schemeClr val="dk1"/>
              </a:solidFill>
            </a:endParaRPr>
          </a:p>
        </p:txBody>
      </p:sp>
      <p:sp>
        <p:nvSpPr>
          <p:cNvPr id="177" name="Google Shape;177;g31173e2aa90_0_5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Calibri"/>
              <a:buNone/>
            </a:pPr>
            <a:fld id="{00000000-1234-1234-1234-123412341234}" type="slidenum">
              <a:rPr lang="en-GB"/>
              <a:t>99</a:t>
            </a:fld>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Google Shape;183;g31173e2aa90_0_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4" name="Google Shape;184;g31173e2aa90_0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t>Can handle a conversation – AI21 experiment</a:t>
            </a:r>
            <a:endParaRPr/>
          </a:p>
          <a:p>
            <a:pPr marL="0" lvl="0" indent="0" algn="l" rtl="0">
              <a:spcBef>
                <a:spcPts val="0"/>
              </a:spcBef>
              <a:spcAft>
                <a:spcPts val="0"/>
              </a:spcAft>
              <a:buNone/>
            </a:pPr>
            <a:r>
              <a:rPr lang="en-GB"/>
              <a:t>: After a 2-minute interaction with a LM like ChatGPT, users guess if they talked to a bot or a human.</a:t>
            </a:r>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p:cNvGrpSpPr/>
        <p:nvPr/>
      </p:nvGrpSpPr>
      <p:grpSpPr>
        <a:xfrm>
          <a:off x="0" y="0"/>
          <a:ext cx="0" cy="0"/>
          <a:chOff x="0" y="0"/>
          <a:chExt cx="0" cy="0"/>
        </a:xfrm>
      </p:grpSpPr>
      <p:sp>
        <p:nvSpPr>
          <p:cNvPr id="190" name="Google Shape;190;g341a228298b_0_14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1" name="Google Shape;191;g341a228298b_0_14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GB"/>
              <a:t>We will move to talk about another self-supervised task, that at least initially was not super interesting by itself but somehow it became a very influential technology.</a:t>
            </a:r>
            <a:endParaRPr/>
          </a:p>
        </p:txBody>
      </p:sp>
      <p:sp>
        <p:nvSpPr>
          <p:cNvPr id="192" name="Google Shape;192;g341a228298b_0_14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102</a:t>
            </a:fld>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p:cNvGrpSpPr/>
        <p:nvPr/>
      </p:nvGrpSpPr>
      <p:grpSpPr>
        <a:xfrm>
          <a:off x="0" y="0"/>
          <a:ext cx="0" cy="0"/>
          <a:chOff x="0" y="0"/>
          <a:chExt cx="0" cy="0"/>
        </a:xfrm>
      </p:grpSpPr>
      <p:sp>
        <p:nvSpPr>
          <p:cNvPr id="197" name="Google Shape;197;g30b012314b4_0_269: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t>Computational methods</a:t>
            </a:r>
            <a:endParaRPr/>
          </a:p>
          <a:p>
            <a:pPr marL="0" lvl="0" indent="0" algn="l" rtl="0">
              <a:spcBef>
                <a:spcPts val="0"/>
              </a:spcBef>
              <a:spcAft>
                <a:spcPts val="0"/>
              </a:spcAft>
              <a:buNone/>
            </a:pPr>
            <a:endParaRPr/>
          </a:p>
          <a:p>
            <a:pPr marL="0" lvl="0" indent="0" algn="l" rtl="0">
              <a:spcBef>
                <a:spcPts val="0"/>
              </a:spcBef>
              <a:spcAft>
                <a:spcPts val="0"/>
              </a:spcAft>
              <a:buNone/>
            </a:pPr>
            <a:r>
              <a:rPr lang="en-GB"/>
              <a:t>We don’t want zero probabilities, why? What would happen if we assign a zero probability? Because here we can write it, it is possible… The fact that every sequence of words can be said means that it has a non-zero probability.</a:t>
            </a:r>
            <a:endParaRPr/>
          </a:p>
        </p:txBody>
      </p:sp>
      <p:sp>
        <p:nvSpPr>
          <p:cNvPr id="198" name="Google Shape;198;g30b012314b4_0_26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p:cNvGrpSpPr/>
        <p:nvPr/>
      </p:nvGrpSpPr>
      <p:grpSpPr>
        <a:xfrm>
          <a:off x="0" y="0"/>
          <a:ext cx="0" cy="0"/>
          <a:chOff x="0" y="0"/>
          <a:chExt cx="0" cy="0"/>
        </a:xfrm>
      </p:grpSpPr>
      <p:sp>
        <p:nvSpPr>
          <p:cNvPr id="206" name="Google Shape;206;g30b0ca4a75f_0_34: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t>Not clear what is high probability, think about how many sentences we have…</a:t>
            </a:r>
            <a:endParaRPr/>
          </a:p>
          <a:p>
            <a:pPr marL="0" lvl="0" indent="0" algn="l" rtl="0">
              <a:spcBef>
                <a:spcPts val="0"/>
              </a:spcBef>
              <a:spcAft>
                <a:spcPts val="0"/>
              </a:spcAft>
              <a:buNone/>
            </a:pPr>
            <a:r>
              <a:rPr lang="en-GB"/>
              <a:t>What is the size of L? Infinite</a:t>
            </a:r>
            <a:endParaRPr/>
          </a:p>
          <a:p>
            <a:pPr marL="0" lvl="0" indent="0" algn="l" rtl="0">
              <a:spcBef>
                <a:spcPts val="0"/>
              </a:spcBef>
              <a:spcAft>
                <a:spcPts val="0"/>
              </a:spcAft>
              <a:buNone/>
            </a:pPr>
            <a:r>
              <a:rPr lang="en-GB"/>
              <a:t>For sentences of exactly 100 words each, how many sentences will we have? 100^100 very large, most probabilities are very low</a:t>
            </a:r>
            <a:endParaRPr/>
          </a:p>
        </p:txBody>
      </p:sp>
      <p:sp>
        <p:nvSpPr>
          <p:cNvPr id="207" name="Google Shape;207;g30b0ca4a75f_0_3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
        <p:cNvGrpSpPr/>
        <p:nvPr/>
      </p:nvGrpSpPr>
      <p:grpSpPr>
        <a:xfrm>
          <a:off x="0" y="0"/>
          <a:ext cx="0" cy="0"/>
          <a:chOff x="0" y="0"/>
          <a:chExt cx="0" cy="0"/>
        </a:xfrm>
      </p:grpSpPr>
      <p:sp>
        <p:nvSpPr>
          <p:cNvPr id="215" name="Google Shape;215;g30b012314b4_0_28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6" name="Google Shape;216;g30b012314b4_0_28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en-GB"/>
              <a:t>Also, No use of similar sentences</a:t>
            </a:r>
            <a:endParaRPr/>
          </a:p>
          <a:p>
            <a:pPr marL="0" lvl="0" indent="0" algn="l" rtl="0">
              <a:spcBef>
                <a:spcPts val="0"/>
              </a:spcBef>
              <a:spcAft>
                <a:spcPts val="0"/>
              </a:spcAft>
              <a:buNone/>
            </a:pPr>
            <a:r>
              <a:rPr lang="en-GB"/>
              <a:t>Empirical distribution</a:t>
            </a:r>
            <a:endParaRPr/>
          </a:p>
        </p:txBody>
      </p:sp>
      <p:sp>
        <p:nvSpPr>
          <p:cNvPr id="217" name="Google Shape;217;g30b012314b4_0_28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105</a:t>
            </a:fld>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p:cNvGrpSpPr/>
        <p:nvPr/>
      </p:nvGrpSpPr>
      <p:grpSpPr>
        <a:xfrm>
          <a:off x="0" y="0"/>
          <a:ext cx="0" cy="0"/>
          <a:chOff x="0" y="0"/>
          <a:chExt cx="0" cy="0"/>
        </a:xfrm>
      </p:grpSpPr>
      <p:sp>
        <p:nvSpPr>
          <p:cNvPr id="222" name="Google Shape;222;g31173e2aa90_0_1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3" name="Google Shape;223;g31173e2aa90_0_12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en-GB"/>
              <a:t>Also, No use of similar sentences</a:t>
            </a:r>
            <a:endParaRPr/>
          </a:p>
          <a:p>
            <a:pPr marL="0" lvl="0" indent="0" algn="l" rtl="0">
              <a:spcBef>
                <a:spcPts val="0"/>
              </a:spcBef>
              <a:spcAft>
                <a:spcPts val="0"/>
              </a:spcAft>
              <a:buNone/>
            </a:pPr>
            <a:r>
              <a:rPr lang="en-GB"/>
              <a:t>Empirical distribution</a:t>
            </a:r>
            <a:endParaRPr/>
          </a:p>
        </p:txBody>
      </p:sp>
      <p:sp>
        <p:nvSpPr>
          <p:cNvPr id="224" name="Google Shape;224;g31173e2aa90_0_12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106</a:t>
            </a:fld>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p:cNvGrpSpPr/>
        <p:nvPr/>
      </p:nvGrpSpPr>
      <p:grpSpPr>
        <a:xfrm>
          <a:off x="0" y="0"/>
          <a:ext cx="0" cy="0"/>
          <a:chOff x="0" y="0"/>
          <a:chExt cx="0" cy="0"/>
        </a:xfrm>
      </p:grpSpPr>
      <p:sp>
        <p:nvSpPr>
          <p:cNvPr id="231" name="Google Shape;231;g31173e2aa90_0_13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2" name="Google Shape;232;g31173e2aa90_0_13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en-GB"/>
              <a:t>Also, No use of similar sentences</a:t>
            </a:r>
            <a:endParaRPr/>
          </a:p>
          <a:p>
            <a:pPr marL="0" lvl="0" indent="0" algn="l" rtl="0">
              <a:spcBef>
                <a:spcPts val="0"/>
              </a:spcBef>
              <a:spcAft>
                <a:spcPts val="0"/>
              </a:spcAft>
              <a:buNone/>
            </a:pPr>
            <a:r>
              <a:rPr lang="en-GB"/>
              <a:t>Empirical distribution</a:t>
            </a:r>
            <a:endParaRPr/>
          </a:p>
        </p:txBody>
      </p:sp>
      <p:sp>
        <p:nvSpPr>
          <p:cNvPr id="233" name="Google Shape;233;g31173e2aa90_0_13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107</a:t>
            </a:fld>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3"/>
        <p:cNvGrpSpPr/>
        <p:nvPr/>
      </p:nvGrpSpPr>
      <p:grpSpPr>
        <a:xfrm>
          <a:off x="0" y="0"/>
          <a:ext cx="0" cy="0"/>
          <a:chOff x="0" y="0"/>
          <a:chExt cx="0" cy="0"/>
        </a:xfrm>
      </p:grpSpPr>
      <p:sp>
        <p:nvSpPr>
          <p:cNvPr id="244" name="Google Shape;244;g30b0ca4a75f_0_6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5" name="Google Shape;245;g30b0ca4a75f_0_6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en-GB"/>
              <a:t>Sparsity, 0s everywhere</a:t>
            </a:r>
            <a:endParaRPr/>
          </a:p>
          <a:p>
            <a:pPr marL="0" marR="0" lvl="0" indent="0" algn="l" rtl="0">
              <a:lnSpc>
                <a:spcPct val="100000"/>
              </a:lnSpc>
              <a:spcBef>
                <a:spcPts val="0"/>
              </a:spcBef>
              <a:spcAft>
                <a:spcPts val="0"/>
              </a:spcAft>
              <a:buClr>
                <a:schemeClr val="dk1"/>
              </a:buClr>
              <a:buSzPts val="1200"/>
              <a:buFont typeface="Calibri"/>
              <a:buNone/>
            </a:pPr>
            <a:r>
              <a:rPr lang="en-GB"/>
              <a:t>Also, no use of similar sentences</a:t>
            </a:r>
            <a:endParaRPr/>
          </a:p>
          <a:p>
            <a:pPr marL="0" lvl="0" indent="0" algn="l" rtl="0">
              <a:spcBef>
                <a:spcPts val="0"/>
              </a:spcBef>
              <a:spcAft>
                <a:spcPts val="0"/>
              </a:spcAft>
              <a:buNone/>
            </a:pPr>
            <a:endParaRPr/>
          </a:p>
        </p:txBody>
      </p:sp>
      <p:sp>
        <p:nvSpPr>
          <p:cNvPr id="246" name="Google Shape;246;g30b0ca4a75f_0_6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108</a:t>
            </a:fld>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5"/>
        <p:cNvGrpSpPr/>
        <p:nvPr/>
      </p:nvGrpSpPr>
      <p:grpSpPr>
        <a:xfrm>
          <a:off x="0" y="0"/>
          <a:ext cx="0" cy="0"/>
          <a:chOff x="0" y="0"/>
          <a:chExt cx="0" cy="0"/>
        </a:xfrm>
      </p:grpSpPr>
      <p:sp>
        <p:nvSpPr>
          <p:cNvPr id="286" name="Google Shape;286;g341a228298b_0_1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7" name="Google Shape;287;g341a228298b_0_11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8" name="Google Shape;288;g341a228298b_0_11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109</a:t>
            </a:fld>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8"/>
        <p:cNvGrpSpPr/>
        <p:nvPr/>
      </p:nvGrpSpPr>
      <p:grpSpPr>
        <a:xfrm>
          <a:off x="0" y="0"/>
          <a:ext cx="0" cy="0"/>
          <a:chOff x="0" y="0"/>
          <a:chExt cx="0" cy="0"/>
        </a:xfrm>
      </p:grpSpPr>
      <p:sp>
        <p:nvSpPr>
          <p:cNvPr id="259" name="Google Shape;259;g30b012314b4_0_288: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t>How many bigrams? |V|^2</a:t>
            </a:r>
            <a:endParaRPr/>
          </a:p>
          <a:p>
            <a:pPr marL="0" lvl="0" indent="0" algn="l" rtl="0">
              <a:spcBef>
                <a:spcPts val="0"/>
              </a:spcBef>
              <a:spcAft>
                <a:spcPts val="0"/>
              </a:spcAft>
              <a:buNone/>
            </a:pPr>
            <a:endParaRPr/>
          </a:p>
          <a:p>
            <a:pPr marL="0" lvl="0" indent="0" algn="l" rtl="0">
              <a:spcBef>
                <a:spcPts val="0"/>
              </a:spcBef>
              <a:spcAft>
                <a:spcPts val="0"/>
              </a:spcAft>
              <a:buNone/>
            </a:pPr>
            <a:r>
              <a:rPr lang="en-GB"/>
              <a:t>Food orderings in Silicon Valley.</a:t>
            </a:r>
            <a:endParaRPr/>
          </a:p>
        </p:txBody>
      </p:sp>
      <p:sp>
        <p:nvSpPr>
          <p:cNvPr id="260" name="Google Shape;260;g30b012314b4_0_28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4">
          <a:extLst>
            <a:ext uri="{FF2B5EF4-FFF2-40B4-BE49-F238E27FC236}">
              <a16:creationId xmlns:a16="http://schemas.microsoft.com/office/drawing/2014/main" id="{A10AF9C5-C8B9-C6AC-3B82-B556E29C25E8}"/>
            </a:ext>
          </a:extLst>
        </p:cNvPr>
        <p:cNvGrpSpPr/>
        <p:nvPr/>
      </p:nvGrpSpPr>
      <p:grpSpPr>
        <a:xfrm>
          <a:off x="0" y="0"/>
          <a:ext cx="0" cy="0"/>
          <a:chOff x="0" y="0"/>
          <a:chExt cx="0" cy="0"/>
        </a:xfrm>
      </p:grpSpPr>
      <p:sp>
        <p:nvSpPr>
          <p:cNvPr id="265" name="Google Shape;265;g30b012314b4_0_294:notes">
            <a:extLst>
              <a:ext uri="{FF2B5EF4-FFF2-40B4-BE49-F238E27FC236}">
                <a16:creationId xmlns:a16="http://schemas.microsoft.com/office/drawing/2014/main" id="{CA3D2E59-2A00-023A-C520-80581B8CBDE6}"/>
              </a:ext>
            </a:extLst>
          </p:cNvPr>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t>Why we have “i i” </a:t>
            </a:r>
            <a:endParaRPr/>
          </a:p>
          <a:p>
            <a:pPr marL="0" lvl="0" indent="0" algn="l" rtl="0">
              <a:spcBef>
                <a:spcPts val="0"/>
              </a:spcBef>
              <a:spcAft>
                <a:spcPts val="0"/>
              </a:spcAft>
              <a:buNone/>
            </a:pPr>
            <a:r>
              <a:rPr lang="en-GB"/>
              <a:t>Transcripts, models should handle such cases</a:t>
            </a:r>
            <a:endParaRPr/>
          </a:p>
        </p:txBody>
      </p:sp>
      <p:sp>
        <p:nvSpPr>
          <p:cNvPr id="266" name="Google Shape;266;g30b012314b4_0_294:notes">
            <a:extLst>
              <a:ext uri="{FF2B5EF4-FFF2-40B4-BE49-F238E27FC236}">
                <a16:creationId xmlns:a16="http://schemas.microsoft.com/office/drawing/2014/main" id="{B6080927-08BF-BC0C-C722-01F670E7B6C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30167879"/>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4"/>
        <p:cNvGrpSpPr/>
        <p:nvPr/>
      </p:nvGrpSpPr>
      <p:grpSpPr>
        <a:xfrm>
          <a:off x="0" y="0"/>
          <a:ext cx="0" cy="0"/>
          <a:chOff x="0" y="0"/>
          <a:chExt cx="0" cy="0"/>
        </a:xfrm>
      </p:grpSpPr>
      <p:sp>
        <p:nvSpPr>
          <p:cNvPr id="265" name="Google Shape;265;g30b012314b4_0_294: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t>Why we have “i i” </a:t>
            </a:r>
            <a:endParaRPr/>
          </a:p>
          <a:p>
            <a:pPr marL="0" lvl="0" indent="0" algn="l" rtl="0">
              <a:spcBef>
                <a:spcPts val="0"/>
              </a:spcBef>
              <a:spcAft>
                <a:spcPts val="0"/>
              </a:spcAft>
              <a:buNone/>
            </a:pPr>
            <a:r>
              <a:rPr lang="en-GB"/>
              <a:t>Transcripts, models should handle such cases</a:t>
            </a:r>
            <a:endParaRPr/>
          </a:p>
        </p:txBody>
      </p:sp>
      <p:sp>
        <p:nvSpPr>
          <p:cNvPr id="266" name="Google Shape;266;g30b012314b4_0_29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p:cNvGrpSpPr/>
        <p:nvPr/>
      </p:nvGrpSpPr>
      <p:grpSpPr>
        <a:xfrm>
          <a:off x="0" y="0"/>
          <a:ext cx="0" cy="0"/>
          <a:chOff x="0" y="0"/>
          <a:chExt cx="0" cy="0"/>
        </a:xfrm>
      </p:grpSpPr>
      <p:sp>
        <p:nvSpPr>
          <p:cNvPr id="272" name="Google Shape;272;g30b012314b4_0_300: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g30b012314b4_0_30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
        <p:cNvGrpSpPr/>
        <p:nvPr/>
      </p:nvGrpSpPr>
      <p:grpSpPr>
        <a:xfrm>
          <a:off x="0" y="0"/>
          <a:ext cx="0" cy="0"/>
          <a:chOff x="0" y="0"/>
          <a:chExt cx="0" cy="0"/>
        </a:xfrm>
      </p:grpSpPr>
      <p:sp>
        <p:nvSpPr>
          <p:cNvPr id="279" name="Google Shape;279;g30b012314b4_0_30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0" name="Google Shape;280;g30b012314b4_0_30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GB"/>
              <a:t>He went to vs He wants to</a:t>
            </a:r>
            <a:endParaRPr/>
          </a:p>
          <a:p>
            <a:pPr marL="0" lvl="0" indent="0" algn="l" rtl="0">
              <a:spcBef>
                <a:spcPts val="0"/>
              </a:spcBef>
              <a:spcAft>
                <a:spcPts val="0"/>
              </a:spcAft>
              <a:buNone/>
            </a:pPr>
            <a:endParaRPr/>
          </a:p>
          <a:p>
            <a:pPr marL="0" lvl="0" indent="0" algn="l" rtl="0">
              <a:spcBef>
                <a:spcPts val="0"/>
              </a:spcBef>
              <a:spcAft>
                <a:spcPts val="0"/>
              </a:spcAft>
              <a:buNone/>
            </a:pPr>
            <a:r>
              <a:rPr lang="en-GB"/>
              <a:t>Not enough but it capture some information about English and a signal</a:t>
            </a:r>
            <a:endParaRPr/>
          </a:p>
          <a:p>
            <a:pPr marL="0" lvl="0" indent="0" algn="l" rtl="0">
              <a:spcBef>
                <a:spcPts val="0"/>
              </a:spcBef>
              <a:spcAft>
                <a:spcPts val="0"/>
              </a:spcAft>
              <a:buNone/>
            </a:pPr>
            <a:endParaRPr/>
          </a:p>
          <a:p>
            <a:pPr marL="0" lvl="0" indent="0" algn="l" rtl="0">
              <a:spcBef>
                <a:spcPts val="0"/>
              </a:spcBef>
              <a:spcAft>
                <a:spcPts val="0"/>
              </a:spcAft>
              <a:buNone/>
            </a:pPr>
            <a:r>
              <a:rPr lang="en-GB"/>
              <a:t>Seeing one word can reduce the uncertainty about the next word dramatically.</a:t>
            </a:r>
            <a:endParaRPr/>
          </a:p>
        </p:txBody>
      </p:sp>
      <p:sp>
        <p:nvSpPr>
          <p:cNvPr id="281" name="Google Shape;281;g30b012314b4_0_30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115</a:t>
            </a:fld>
            <a:endParaRPr/>
          </a:p>
        </p:txBody>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
          <a:extLst>
            <a:ext uri="{FF2B5EF4-FFF2-40B4-BE49-F238E27FC236}">
              <a16:creationId xmlns:a16="http://schemas.microsoft.com/office/drawing/2014/main" id="{7A9A1A6E-E84F-D043-C0D3-3380F5A11FDB}"/>
            </a:ext>
          </a:extLst>
        </p:cNvPr>
        <p:cNvGrpSpPr/>
        <p:nvPr/>
      </p:nvGrpSpPr>
      <p:grpSpPr>
        <a:xfrm>
          <a:off x="0" y="0"/>
          <a:ext cx="0" cy="0"/>
          <a:chOff x="0" y="0"/>
          <a:chExt cx="0" cy="0"/>
        </a:xfrm>
      </p:grpSpPr>
      <p:sp>
        <p:nvSpPr>
          <p:cNvPr id="279" name="Google Shape;279;g30b012314b4_0_306:notes">
            <a:extLst>
              <a:ext uri="{FF2B5EF4-FFF2-40B4-BE49-F238E27FC236}">
                <a16:creationId xmlns:a16="http://schemas.microsoft.com/office/drawing/2014/main" id="{389D7970-2110-E9A4-C70D-4A6D34B593F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0" name="Google Shape;280;g30b012314b4_0_306:notes">
            <a:extLst>
              <a:ext uri="{FF2B5EF4-FFF2-40B4-BE49-F238E27FC236}">
                <a16:creationId xmlns:a16="http://schemas.microsoft.com/office/drawing/2014/main" id="{BEE4BE7D-A386-6FBA-9E7A-9227C15D430A}"/>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GB"/>
              <a:t>He went to vs He wants to</a:t>
            </a:r>
            <a:endParaRPr/>
          </a:p>
          <a:p>
            <a:pPr marL="0" lvl="0" indent="0" algn="l" rtl="0">
              <a:spcBef>
                <a:spcPts val="0"/>
              </a:spcBef>
              <a:spcAft>
                <a:spcPts val="0"/>
              </a:spcAft>
              <a:buNone/>
            </a:pPr>
            <a:endParaRPr/>
          </a:p>
          <a:p>
            <a:pPr marL="0" lvl="0" indent="0" algn="l" rtl="0">
              <a:spcBef>
                <a:spcPts val="0"/>
              </a:spcBef>
              <a:spcAft>
                <a:spcPts val="0"/>
              </a:spcAft>
              <a:buNone/>
            </a:pPr>
            <a:r>
              <a:rPr lang="en-GB"/>
              <a:t>Not enough but it capture some information about English and a signal</a:t>
            </a:r>
            <a:endParaRPr/>
          </a:p>
          <a:p>
            <a:pPr marL="0" lvl="0" indent="0" algn="l" rtl="0">
              <a:spcBef>
                <a:spcPts val="0"/>
              </a:spcBef>
              <a:spcAft>
                <a:spcPts val="0"/>
              </a:spcAft>
              <a:buNone/>
            </a:pPr>
            <a:endParaRPr/>
          </a:p>
          <a:p>
            <a:pPr marL="0" lvl="0" indent="0" algn="l" rtl="0">
              <a:spcBef>
                <a:spcPts val="0"/>
              </a:spcBef>
              <a:spcAft>
                <a:spcPts val="0"/>
              </a:spcAft>
              <a:buNone/>
            </a:pPr>
            <a:r>
              <a:rPr lang="en-GB"/>
              <a:t>Seeing one word can reduce the uncertainty about the next word dramatically.</a:t>
            </a:r>
            <a:endParaRPr/>
          </a:p>
        </p:txBody>
      </p:sp>
      <p:sp>
        <p:nvSpPr>
          <p:cNvPr id="281" name="Google Shape;281;g30b012314b4_0_306:notes">
            <a:extLst>
              <a:ext uri="{FF2B5EF4-FFF2-40B4-BE49-F238E27FC236}">
                <a16:creationId xmlns:a16="http://schemas.microsoft.com/office/drawing/2014/main" id="{F3A116BD-D0BE-1529-FE7B-9D21F5508EBD}"/>
              </a:ext>
            </a:extLst>
          </p:cNvPr>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116</a:t>
            </a:fld>
            <a:endParaRPr/>
          </a:p>
        </p:txBody>
      </p:sp>
    </p:spTree>
    <p:extLst>
      <p:ext uri="{BB962C8B-B14F-4D97-AF65-F5344CB8AC3E}">
        <p14:creationId xmlns:p14="http://schemas.microsoft.com/office/powerpoint/2010/main" val="274040211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2">
          <a:extLst>
            <a:ext uri="{FF2B5EF4-FFF2-40B4-BE49-F238E27FC236}">
              <a16:creationId xmlns:a16="http://schemas.microsoft.com/office/drawing/2014/main" id="{8E7BCDD9-471E-9ADA-046C-5669F6790E5A}"/>
            </a:ext>
          </a:extLst>
        </p:cNvPr>
        <p:cNvGrpSpPr/>
        <p:nvPr/>
      </p:nvGrpSpPr>
      <p:grpSpPr>
        <a:xfrm>
          <a:off x="0" y="0"/>
          <a:ext cx="0" cy="0"/>
          <a:chOff x="0" y="0"/>
          <a:chExt cx="0" cy="0"/>
        </a:xfrm>
      </p:grpSpPr>
      <p:sp>
        <p:nvSpPr>
          <p:cNvPr id="293" name="Google Shape;293;g30b012314b4_0_313:notes">
            <a:extLst>
              <a:ext uri="{FF2B5EF4-FFF2-40B4-BE49-F238E27FC236}">
                <a16:creationId xmlns:a16="http://schemas.microsoft.com/office/drawing/2014/main" id="{C7986CC3-A40E-2D0E-B4DF-B4A7BACB5DCD}"/>
              </a:ext>
            </a:extLst>
          </p:cNvPr>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t>Formalize it</a:t>
            </a:r>
            <a:endParaRPr/>
          </a:p>
          <a:p>
            <a:pPr marL="0" lvl="0" indent="0" algn="l" rtl="0">
              <a:spcBef>
                <a:spcPts val="0"/>
              </a:spcBef>
              <a:spcAft>
                <a:spcPts val="0"/>
              </a:spcAft>
              <a:buNone/>
            </a:pPr>
            <a:r>
              <a:rPr lang="en-GB"/>
              <a:t>Can be decomposed in other orders (first the last word, etc)</a:t>
            </a:r>
            <a:endParaRPr/>
          </a:p>
          <a:p>
            <a:pPr marL="0" lvl="0" indent="0" algn="l" rtl="0">
              <a:spcBef>
                <a:spcPts val="0"/>
              </a:spcBef>
              <a:spcAft>
                <a:spcPts val="0"/>
              </a:spcAft>
              <a:buNone/>
            </a:pPr>
            <a:r>
              <a:rPr lang="en-GB"/>
              <a:t>In English we write and speak from left to right</a:t>
            </a:r>
            <a:endParaRPr/>
          </a:p>
          <a:p>
            <a:pPr marL="0" lvl="0" indent="0" algn="l" rtl="0">
              <a:spcBef>
                <a:spcPts val="0"/>
              </a:spcBef>
              <a:spcAft>
                <a:spcPts val="0"/>
              </a:spcAft>
              <a:buNone/>
            </a:pPr>
            <a:r>
              <a:rPr lang="en-GB"/>
              <a:t>Conditioning on multiple previous words could be complex so this is why we need to markov assumption.</a:t>
            </a:r>
            <a:endParaRPr/>
          </a:p>
          <a:p>
            <a:pPr marL="0" lvl="0" indent="0" algn="l" rtl="0">
              <a:spcBef>
                <a:spcPts val="0"/>
              </a:spcBef>
              <a:spcAft>
                <a:spcPts val="0"/>
              </a:spcAft>
              <a:buNone/>
            </a:pPr>
            <a:r>
              <a:rPr lang="en-GB"/>
              <a:t>First order – bigrams.</a:t>
            </a:r>
            <a:endParaRPr/>
          </a:p>
          <a:p>
            <a:pPr marL="0" lvl="0" indent="0" algn="l" rtl="0">
              <a:spcBef>
                <a:spcPts val="0"/>
              </a:spcBef>
              <a:spcAft>
                <a:spcPts val="0"/>
              </a:spcAft>
              <a:buNone/>
            </a:pPr>
            <a:r>
              <a:rPr lang="en-GB"/>
              <a:t>For some problems this is enough, for example chess. What about language? It often doesn’t make sense.</a:t>
            </a:r>
            <a:endParaRPr/>
          </a:p>
        </p:txBody>
      </p:sp>
      <p:sp>
        <p:nvSpPr>
          <p:cNvPr id="294" name="Google Shape;294;g30b012314b4_0_313:notes">
            <a:extLst>
              <a:ext uri="{FF2B5EF4-FFF2-40B4-BE49-F238E27FC236}">
                <a16:creationId xmlns:a16="http://schemas.microsoft.com/office/drawing/2014/main" id="{42C033C3-9374-BEC2-0222-FCC7F25A167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26151868"/>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2"/>
        <p:cNvGrpSpPr/>
        <p:nvPr/>
      </p:nvGrpSpPr>
      <p:grpSpPr>
        <a:xfrm>
          <a:off x="0" y="0"/>
          <a:ext cx="0" cy="0"/>
          <a:chOff x="0" y="0"/>
          <a:chExt cx="0" cy="0"/>
        </a:xfrm>
      </p:grpSpPr>
      <p:sp>
        <p:nvSpPr>
          <p:cNvPr id="293" name="Google Shape;293;g30b012314b4_0_313: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t>Formalize it</a:t>
            </a:r>
            <a:endParaRPr/>
          </a:p>
          <a:p>
            <a:pPr marL="0" lvl="0" indent="0" algn="l" rtl="0">
              <a:spcBef>
                <a:spcPts val="0"/>
              </a:spcBef>
              <a:spcAft>
                <a:spcPts val="0"/>
              </a:spcAft>
              <a:buNone/>
            </a:pPr>
            <a:r>
              <a:rPr lang="en-GB"/>
              <a:t>Can be decomposed in other orders (first the last word, etc)</a:t>
            </a:r>
            <a:endParaRPr/>
          </a:p>
          <a:p>
            <a:pPr marL="0" lvl="0" indent="0" algn="l" rtl="0">
              <a:spcBef>
                <a:spcPts val="0"/>
              </a:spcBef>
              <a:spcAft>
                <a:spcPts val="0"/>
              </a:spcAft>
              <a:buNone/>
            </a:pPr>
            <a:r>
              <a:rPr lang="en-GB"/>
              <a:t>In English we write and speak from left to right</a:t>
            </a:r>
            <a:endParaRPr/>
          </a:p>
          <a:p>
            <a:pPr marL="0" lvl="0" indent="0" algn="l" rtl="0">
              <a:spcBef>
                <a:spcPts val="0"/>
              </a:spcBef>
              <a:spcAft>
                <a:spcPts val="0"/>
              </a:spcAft>
              <a:buNone/>
            </a:pPr>
            <a:r>
              <a:rPr lang="en-GB"/>
              <a:t>Conditioning on multiple previous words could be complex so this is why we need to markov assumption.</a:t>
            </a:r>
            <a:endParaRPr/>
          </a:p>
          <a:p>
            <a:pPr marL="0" lvl="0" indent="0" algn="l" rtl="0">
              <a:spcBef>
                <a:spcPts val="0"/>
              </a:spcBef>
              <a:spcAft>
                <a:spcPts val="0"/>
              </a:spcAft>
              <a:buNone/>
            </a:pPr>
            <a:r>
              <a:rPr lang="en-GB"/>
              <a:t>First order – bigrams.</a:t>
            </a:r>
            <a:endParaRPr/>
          </a:p>
          <a:p>
            <a:pPr marL="0" lvl="0" indent="0" algn="l" rtl="0">
              <a:spcBef>
                <a:spcPts val="0"/>
              </a:spcBef>
              <a:spcAft>
                <a:spcPts val="0"/>
              </a:spcAft>
              <a:buNone/>
            </a:pPr>
            <a:r>
              <a:rPr lang="en-GB"/>
              <a:t>For some problems this is enough, for example chess. What about language? It often doesn’t make sense.</a:t>
            </a:r>
            <a:endParaRPr/>
          </a:p>
        </p:txBody>
      </p:sp>
      <p:sp>
        <p:nvSpPr>
          <p:cNvPr id="294" name="Google Shape;294;g30b012314b4_0_3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2">
          <a:extLst>
            <a:ext uri="{FF2B5EF4-FFF2-40B4-BE49-F238E27FC236}">
              <a16:creationId xmlns:a16="http://schemas.microsoft.com/office/drawing/2014/main" id="{58531BBE-E022-F5B4-CC20-7F9D0FC353B0}"/>
            </a:ext>
          </a:extLst>
        </p:cNvPr>
        <p:cNvGrpSpPr/>
        <p:nvPr/>
      </p:nvGrpSpPr>
      <p:grpSpPr>
        <a:xfrm>
          <a:off x="0" y="0"/>
          <a:ext cx="0" cy="0"/>
          <a:chOff x="0" y="0"/>
          <a:chExt cx="0" cy="0"/>
        </a:xfrm>
      </p:grpSpPr>
      <p:sp>
        <p:nvSpPr>
          <p:cNvPr id="293" name="Google Shape;293;g30b012314b4_0_313:notes">
            <a:extLst>
              <a:ext uri="{FF2B5EF4-FFF2-40B4-BE49-F238E27FC236}">
                <a16:creationId xmlns:a16="http://schemas.microsoft.com/office/drawing/2014/main" id="{9D480E3B-B9E4-E736-2305-582A4F7B7B27}"/>
              </a:ext>
            </a:extLst>
          </p:cNvPr>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t>Formalize it</a:t>
            </a:r>
            <a:endParaRPr/>
          </a:p>
          <a:p>
            <a:pPr marL="0" lvl="0" indent="0" algn="l" rtl="0">
              <a:spcBef>
                <a:spcPts val="0"/>
              </a:spcBef>
              <a:spcAft>
                <a:spcPts val="0"/>
              </a:spcAft>
              <a:buNone/>
            </a:pPr>
            <a:r>
              <a:rPr lang="en-GB"/>
              <a:t>Can be decomposed in other orders (first the last word, etc)</a:t>
            </a:r>
            <a:endParaRPr/>
          </a:p>
          <a:p>
            <a:pPr marL="0" lvl="0" indent="0" algn="l" rtl="0">
              <a:spcBef>
                <a:spcPts val="0"/>
              </a:spcBef>
              <a:spcAft>
                <a:spcPts val="0"/>
              </a:spcAft>
              <a:buNone/>
            </a:pPr>
            <a:r>
              <a:rPr lang="en-GB"/>
              <a:t>In English we write and speak from left to right</a:t>
            </a:r>
            <a:endParaRPr/>
          </a:p>
          <a:p>
            <a:pPr marL="0" lvl="0" indent="0" algn="l" rtl="0">
              <a:spcBef>
                <a:spcPts val="0"/>
              </a:spcBef>
              <a:spcAft>
                <a:spcPts val="0"/>
              </a:spcAft>
              <a:buNone/>
            </a:pPr>
            <a:r>
              <a:rPr lang="en-GB"/>
              <a:t>Conditioning on multiple previous words could be complex so this is why we need to markov assumption.</a:t>
            </a:r>
            <a:endParaRPr/>
          </a:p>
          <a:p>
            <a:pPr marL="0" lvl="0" indent="0" algn="l" rtl="0">
              <a:spcBef>
                <a:spcPts val="0"/>
              </a:spcBef>
              <a:spcAft>
                <a:spcPts val="0"/>
              </a:spcAft>
              <a:buNone/>
            </a:pPr>
            <a:r>
              <a:rPr lang="en-GB"/>
              <a:t>First order – bigrams.</a:t>
            </a:r>
            <a:endParaRPr/>
          </a:p>
          <a:p>
            <a:pPr marL="0" lvl="0" indent="0" algn="l" rtl="0">
              <a:spcBef>
                <a:spcPts val="0"/>
              </a:spcBef>
              <a:spcAft>
                <a:spcPts val="0"/>
              </a:spcAft>
              <a:buNone/>
            </a:pPr>
            <a:r>
              <a:rPr lang="en-GB"/>
              <a:t>For some problems this is enough, for example chess. What about language? It often doesn’t make sense.</a:t>
            </a:r>
            <a:endParaRPr/>
          </a:p>
        </p:txBody>
      </p:sp>
      <p:sp>
        <p:nvSpPr>
          <p:cNvPr id="294" name="Google Shape;294;g30b012314b4_0_313:notes">
            <a:extLst>
              <a:ext uri="{FF2B5EF4-FFF2-40B4-BE49-F238E27FC236}">
                <a16:creationId xmlns:a16="http://schemas.microsoft.com/office/drawing/2014/main" id="{C92FDAAC-88BC-0D60-D7B5-E17E2F10E85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421181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2">
          <a:extLst>
            <a:ext uri="{FF2B5EF4-FFF2-40B4-BE49-F238E27FC236}">
              <a16:creationId xmlns:a16="http://schemas.microsoft.com/office/drawing/2014/main" id="{297183B6-B6C9-02B7-CAA1-00AC701445F5}"/>
            </a:ext>
          </a:extLst>
        </p:cNvPr>
        <p:cNvGrpSpPr/>
        <p:nvPr/>
      </p:nvGrpSpPr>
      <p:grpSpPr>
        <a:xfrm>
          <a:off x="0" y="0"/>
          <a:ext cx="0" cy="0"/>
          <a:chOff x="0" y="0"/>
          <a:chExt cx="0" cy="0"/>
        </a:xfrm>
      </p:grpSpPr>
      <p:sp>
        <p:nvSpPr>
          <p:cNvPr id="293" name="Google Shape;293;g30b012314b4_0_313:notes">
            <a:extLst>
              <a:ext uri="{FF2B5EF4-FFF2-40B4-BE49-F238E27FC236}">
                <a16:creationId xmlns:a16="http://schemas.microsoft.com/office/drawing/2014/main" id="{75D52596-548B-9FB6-CF67-B0C86BA56FF7}"/>
              </a:ext>
            </a:extLst>
          </p:cNvPr>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t>Formalize it</a:t>
            </a:r>
            <a:endParaRPr/>
          </a:p>
          <a:p>
            <a:pPr marL="0" lvl="0" indent="0" algn="l" rtl="0">
              <a:spcBef>
                <a:spcPts val="0"/>
              </a:spcBef>
              <a:spcAft>
                <a:spcPts val="0"/>
              </a:spcAft>
              <a:buNone/>
            </a:pPr>
            <a:r>
              <a:rPr lang="en-GB"/>
              <a:t>Can be decomposed in other orders (first the last word, etc)</a:t>
            </a:r>
            <a:endParaRPr/>
          </a:p>
          <a:p>
            <a:pPr marL="0" lvl="0" indent="0" algn="l" rtl="0">
              <a:spcBef>
                <a:spcPts val="0"/>
              </a:spcBef>
              <a:spcAft>
                <a:spcPts val="0"/>
              </a:spcAft>
              <a:buNone/>
            </a:pPr>
            <a:r>
              <a:rPr lang="en-GB"/>
              <a:t>In English we write and speak from left to right</a:t>
            </a:r>
            <a:endParaRPr/>
          </a:p>
          <a:p>
            <a:pPr marL="0" lvl="0" indent="0" algn="l" rtl="0">
              <a:spcBef>
                <a:spcPts val="0"/>
              </a:spcBef>
              <a:spcAft>
                <a:spcPts val="0"/>
              </a:spcAft>
              <a:buNone/>
            </a:pPr>
            <a:r>
              <a:rPr lang="en-GB"/>
              <a:t>Conditioning on multiple previous words could be complex so this is why we need to markov assumption.</a:t>
            </a:r>
            <a:endParaRPr/>
          </a:p>
          <a:p>
            <a:pPr marL="0" lvl="0" indent="0" algn="l" rtl="0">
              <a:spcBef>
                <a:spcPts val="0"/>
              </a:spcBef>
              <a:spcAft>
                <a:spcPts val="0"/>
              </a:spcAft>
              <a:buNone/>
            </a:pPr>
            <a:r>
              <a:rPr lang="en-GB"/>
              <a:t>First order – bigrams.</a:t>
            </a:r>
            <a:endParaRPr/>
          </a:p>
          <a:p>
            <a:pPr marL="0" lvl="0" indent="0" algn="l" rtl="0">
              <a:spcBef>
                <a:spcPts val="0"/>
              </a:spcBef>
              <a:spcAft>
                <a:spcPts val="0"/>
              </a:spcAft>
              <a:buNone/>
            </a:pPr>
            <a:r>
              <a:rPr lang="en-GB"/>
              <a:t>For some problems this is enough, for example chess. What about language? It often doesn’t make sense.</a:t>
            </a:r>
            <a:endParaRPr/>
          </a:p>
        </p:txBody>
      </p:sp>
      <p:sp>
        <p:nvSpPr>
          <p:cNvPr id="294" name="Google Shape;294;g30b012314b4_0_313:notes">
            <a:extLst>
              <a:ext uri="{FF2B5EF4-FFF2-40B4-BE49-F238E27FC236}">
                <a16:creationId xmlns:a16="http://schemas.microsoft.com/office/drawing/2014/main" id="{24B3BA5C-DCD7-C6AB-5869-46714063D1C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2610727"/>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2">
          <a:extLst>
            <a:ext uri="{FF2B5EF4-FFF2-40B4-BE49-F238E27FC236}">
              <a16:creationId xmlns:a16="http://schemas.microsoft.com/office/drawing/2014/main" id="{7F719987-B0B3-AFC0-905F-28E87CA45063}"/>
            </a:ext>
          </a:extLst>
        </p:cNvPr>
        <p:cNvGrpSpPr/>
        <p:nvPr/>
      </p:nvGrpSpPr>
      <p:grpSpPr>
        <a:xfrm>
          <a:off x="0" y="0"/>
          <a:ext cx="0" cy="0"/>
          <a:chOff x="0" y="0"/>
          <a:chExt cx="0" cy="0"/>
        </a:xfrm>
      </p:grpSpPr>
      <p:sp>
        <p:nvSpPr>
          <p:cNvPr id="293" name="Google Shape;293;g30b012314b4_0_313:notes">
            <a:extLst>
              <a:ext uri="{FF2B5EF4-FFF2-40B4-BE49-F238E27FC236}">
                <a16:creationId xmlns:a16="http://schemas.microsoft.com/office/drawing/2014/main" id="{A1D439B4-44B1-F7D9-FA7B-D4533166F8CA}"/>
              </a:ext>
            </a:extLst>
          </p:cNvPr>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t>Formalize it</a:t>
            </a:r>
            <a:endParaRPr/>
          </a:p>
          <a:p>
            <a:pPr marL="0" lvl="0" indent="0" algn="l" rtl="0">
              <a:spcBef>
                <a:spcPts val="0"/>
              </a:spcBef>
              <a:spcAft>
                <a:spcPts val="0"/>
              </a:spcAft>
              <a:buNone/>
            </a:pPr>
            <a:r>
              <a:rPr lang="en-GB"/>
              <a:t>Can be decomposed in other orders (first the last word, etc)</a:t>
            </a:r>
            <a:endParaRPr/>
          </a:p>
          <a:p>
            <a:pPr marL="0" lvl="0" indent="0" algn="l" rtl="0">
              <a:spcBef>
                <a:spcPts val="0"/>
              </a:spcBef>
              <a:spcAft>
                <a:spcPts val="0"/>
              </a:spcAft>
              <a:buNone/>
            </a:pPr>
            <a:r>
              <a:rPr lang="en-GB"/>
              <a:t>In English we write and speak from left to right</a:t>
            </a:r>
            <a:endParaRPr/>
          </a:p>
          <a:p>
            <a:pPr marL="0" lvl="0" indent="0" algn="l" rtl="0">
              <a:spcBef>
                <a:spcPts val="0"/>
              </a:spcBef>
              <a:spcAft>
                <a:spcPts val="0"/>
              </a:spcAft>
              <a:buNone/>
            </a:pPr>
            <a:r>
              <a:rPr lang="en-GB"/>
              <a:t>Conditioning on multiple previous words could be complex so this is why we need to markov assumption.</a:t>
            </a:r>
            <a:endParaRPr/>
          </a:p>
          <a:p>
            <a:pPr marL="0" lvl="0" indent="0" algn="l" rtl="0">
              <a:spcBef>
                <a:spcPts val="0"/>
              </a:spcBef>
              <a:spcAft>
                <a:spcPts val="0"/>
              </a:spcAft>
              <a:buNone/>
            </a:pPr>
            <a:r>
              <a:rPr lang="en-GB"/>
              <a:t>First order – bigrams.</a:t>
            </a:r>
            <a:endParaRPr/>
          </a:p>
          <a:p>
            <a:pPr marL="0" lvl="0" indent="0" algn="l" rtl="0">
              <a:spcBef>
                <a:spcPts val="0"/>
              </a:spcBef>
              <a:spcAft>
                <a:spcPts val="0"/>
              </a:spcAft>
              <a:buNone/>
            </a:pPr>
            <a:r>
              <a:rPr lang="en-GB"/>
              <a:t>For some problems this is enough, for example chess. What about language? It often doesn’t make sense.</a:t>
            </a:r>
            <a:endParaRPr/>
          </a:p>
        </p:txBody>
      </p:sp>
      <p:sp>
        <p:nvSpPr>
          <p:cNvPr id="294" name="Google Shape;294;g30b012314b4_0_313:notes">
            <a:extLst>
              <a:ext uri="{FF2B5EF4-FFF2-40B4-BE49-F238E27FC236}">
                <a16:creationId xmlns:a16="http://schemas.microsoft.com/office/drawing/2014/main" id="{6EC07AE9-6253-7CAC-953B-CA2DBFADE463}"/>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15282740"/>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2">
          <a:extLst>
            <a:ext uri="{FF2B5EF4-FFF2-40B4-BE49-F238E27FC236}">
              <a16:creationId xmlns:a16="http://schemas.microsoft.com/office/drawing/2014/main" id="{172DC5DA-461D-29C6-04E0-D67BE7715C59}"/>
            </a:ext>
          </a:extLst>
        </p:cNvPr>
        <p:cNvGrpSpPr/>
        <p:nvPr/>
      </p:nvGrpSpPr>
      <p:grpSpPr>
        <a:xfrm>
          <a:off x="0" y="0"/>
          <a:ext cx="0" cy="0"/>
          <a:chOff x="0" y="0"/>
          <a:chExt cx="0" cy="0"/>
        </a:xfrm>
      </p:grpSpPr>
      <p:sp>
        <p:nvSpPr>
          <p:cNvPr id="293" name="Google Shape;293;g30b012314b4_0_313:notes">
            <a:extLst>
              <a:ext uri="{FF2B5EF4-FFF2-40B4-BE49-F238E27FC236}">
                <a16:creationId xmlns:a16="http://schemas.microsoft.com/office/drawing/2014/main" id="{C1FE346F-C49B-2A1B-F6CB-B89343DD3905}"/>
              </a:ext>
            </a:extLst>
          </p:cNvPr>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t>Formalize it</a:t>
            </a:r>
            <a:endParaRPr/>
          </a:p>
          <a:p>
            <a:pPr marL="0" lvl="0" indent="0" algn="l" rtl="0">
              <a:spcBef>
                <a:spcPts val="0"/>
              </a:spcBef>
              <a:spcAft>
                <a:spcPts val="0"/>
              </a:spcAft>
              <a:buNone/>
            </a:pPr>
            <a:r>
              <a:rPr lang="en-GB"/>
              <a:t>Can be decomposed in other orders (first the last word, etc)</a:t>
            </a:r>
            <a:endParaRPr/>
          </a:p>
          <a:p>
            <a:pPr marL="0" lvl="0" indent="0" algn="l" rtl="0">
              <a:spcBef>
                <a:spcPts val="0"/>
              </a:spcBef>
              <a:spcAft>
                <a:spcPts val="0"/>
              </a:spcAft>
              <a:buNone/>
            </a:pPr>
            <a:r>
              <a:rPr lang="en-GB"/>
              <a:t>In English we write and speak from left to right</a:t>
            </a:r>
            <a:endParaRPr/>
          </a:p>
          <a:p>
            <a:pPr marL="0" lvl="0" indent="0" algn="l" rtl="0">
              <a:spcBef>
                <a:spcPts val="0"/>
              </a:spcBef>
              <a:spcAft>
                <a:spcPts val="0"/>
              </a:spcAft>
              <a:buNone/>
            </a:pPr>
            <a:r>
              <a:rPr lang="en-GB"/>
              <a:t>Conditioning on multiple previous words could be complex so this is why we need to markov assumption.</a:t>
            </a:r>
            <a:endParaRPr/>
          </a:p>
          <a:p>
            <a:pPr marL="0" lvl="0" indent="0" algn="l" rtl="0">
              <a:spcBef>
                <a:spcPts val="0"/>
              </a:spcBef>
              <a:spcAft>
                <a:spcPts val="0"/>
              </a:spcAft>
              <a:buNone/>
            </a:pPr>
            <a:r>
              <a:rPr lang="en-GB"/>
              <a:t>First order – bigrams.</a:t>
            </a:r>
            <a:endParaRPr/>
          </a:p>
          <a:p>
            <a:pPr marL="0" lvl="0" indent="0" algn="l" rtl="0">
              <a:spcBef>
                <a:spcPts val="0"/>
              </a:spcBef>
              <a:spcAft>
                <a:spcPts val="0"/>
              </a:spcAft>
              <a:buNone/>
            </a:pPr>
            <a:r>
              <a:rPr lang="en-GB"/>
              <a:t>For some problems this is enough, for example chess. What about language? It often doesn’t make sense.</a:t>
            </a:r>
            <a:endParaRPr/>
          </a:p>
        </p:txBody>
      </p:sp>
      <p:sp>
        <p:nvSpPr>
          <p:cNvPr id="294" name="Google Shape;294;g30b012314b4_0_313:notes">
            <a:extLst>
              <a:ext uri="{FF2B5EF4-FFF2-40B4-BE49-F238E27FC236}">
                <a16:creationId xmlns:a16="http://schemas.microsoft.com/office/drawing/2014/main" id="{C90CC3D7-3ED1-8935-8395-87166E3977D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0015672"/>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2">
          <a:extLst>
            <a:ext uri="{FF2B5EF4-FFF2-40B4-BE49-F238E27FC236}">
              <a16:creationId xmlns:a16="http://schemas.microsoft.com/office/drawing/2014/main" id="{16FCFE8E-1676-AAF7-A53D-94A88EE915EC}"/>
            </a:ext>
          </a:extLst>
        </p:cNvPr>
        <p:cNvGrpSpPr/>
        <p:nvPr/>
      </p:nvGrpSpPr>
      <p:grpSpPr>
        <a:xfrm>
          <a:off x="0" y="0"/>
          <a:ext cx="0" cy="0"/>
          <a:chOff x="0" y="0"/>
          <a:chExt cx="0" cy="0"/>
        </a:xfrm>
      </p:grpSpPr>
      <p:sp>
        <p:nvSpPr>
          <p:cNvPr id="293" name="Google Shape;293;g30b012314b4_0_313:notes">
            <a:extLst>
              <a:ext uri="{FF2B5EF4-FFF2-40B4-BE49-F238E27FC236}">
                <a16:creationId xmlns:a16="http://schemas.microsoft.com/office/drawing/2014/main" id="{C6FFB537-0657-7BB6-CEDC-E71B373F94AD}"/>
              </a:ext>
            </a:extLst>
          </p:cNvPr>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t>Formalize it</a:t>
            </a:r>
            <a:endParaRPr/>
          </a:p>
          <a:p>
            <a:pPr marL="0" lvl="0" indent="0" algn="l" rtl="0">
              <a:spcBef>
                <a:spcPts val="0"/>
              </a:spcBef>
              <a:spcAft>
                <a:spcPts val="0"/>
              </a:spcAft>
              <a:buNone/>
            </a:pPr>
            <a:r>
              <a:rPr lang="en-GB"/>
              <a:t>Can be decomposed in other orders (first the last word, etc)</a:t>
            </a:r>
            <a:endParaRPr/>
          </a:p>
          <a:p>
            <a:pPr marL="0" lvl="0" indent="0" algn="l" rtl="0">
              <a:spcBef>
                <a:spcPts val="0"/>
              </a:spcBef>
              <a:spcAft>
                <a:spcPts val="0"/>
              </a:spcAft>
              <a:buNone/>
            </a:pPr>
            <a:r>
              <a:rPr lang="en-GB"/>
              <a:t>In English we write and speak from left to right</a:t>
            </a:r>
            <a:endParaRPr/>
          </a:p>
          <a:p>
            <a:pPr marL="0" lvl="0" indent="0" algn="l" rtl="0">
              <a:spcBef>
                <a:spcPts val="0"/>
              </a:spcBef>
              <a:spcAft>
                <a:spcPts val="0"/>
              </a:spcAft>
              <a:buNone/>
            </a:pPr>
            <a:r>
              <a:rPr lang="en-GB"/>
              <a:t>Conditioning on multiple previous words could be complex so this is why we need to markov assumption.</a:t>
            </a:r>
            <a:endParaRPr/>
          </a:p>
          <a:p>
            <a:pPr marL="0" lvl="0" indent="0" algn="l" rtl="0">
              <a:spcBef>
                <a:spcPts val="0"/>
              </a:spcBef>
              <a:spcAft>
                <a:spcPts val="0"/>
              </a:spcAft>
              <a:buNone/>
            </a:pPr>
            <a:r>
              <a:rPr lang="en-GB"/>
              <a:t>First order – bigrams.</a:t>
            </a:r>
            <a:endParaRPr/>
          </a:p>
          <a:p>
            <a:pPr marL="0" lvl="0" indent="0" algn="l" rtl="0">
              <a:spcBef>
                <a:spcPts val="0"/>
              </a:spcBef>
              <a:spcAft>
                <a:spcPts val="0"/>
              </a:spcAft>
              <a:buNone/>
            </a:pPr>
            <a:r>
              <a:rPr lang="en-GB"/>
              <a:t>For some problems this is enough, for example chess. What about language? It often doesn’t make sense.</a:t>
            </a:r>
            <a:endParaRPr/>
          </a:p>
        </p:txBody>
      </p:sp>
      <p:sp>
        <p:nvSpPr>
          <p:cNvPr id="294" name="Google Shape;294;g30b012314b4_0_313:notes">
            <a:extLst>
              <a:ext uri="{FF2B5EF4-FFF2-40B4-BE49-F238E27FC236}">
                <a16:creationId xmlns:a16="http://schemas.microsoft.com/office/drawing/2014/main" id="{2C9055B8-CA61-3C49-075D-07EFA8E25A1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79024060"/>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4"/>
        <p:cNvGrpSpPr/>
        <p:nvPr/>
      </p:nvGrpSpPr>
      <p:grpSpPr>
        <a:xfrm>
          <a:off x="0" y="0"/>
          <a:ext cx="0" cy="0"/>
          <a:chOff x="0" y="0"/>
          <a:chExt cx="0" cy="0"/>
        </a:xfrm>
      </p:grpSpPr>
      <p:sp>
        <p:nvSpPr>
          <p:cNvPr id="345" name="Google Shape;345;g30b0ca4a75f_0_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46" name="Google Shape;346;g30b0ca4a75f_0_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GB"/>
              <a:t>Second-order markov process corresponds to a trigram language model</a:t>
            </a:r>
            <a:endParaRPr/>
          </a:p>
          <a:p>
            <a:pPr marL="0" lvl="0" indent="0" algn="l" rtl="0">
              <a:spcBef>
                <a:spcPts val="0"/>
              </a:spcBef>
              <a:spcAft>
                <a:spcPts val="0"/>
              </a:spcAft>
              <a:buNone/>
            </a:pPr>
            <a:endParaRPr/>
          </a:p>
          <a:p>
            <a:pPr marL="0" lvl="0" indent="0" algn="l" rtl="0">
              <a:spcBef>
                <a:spcPts val="0"/>
              </a:spcBef>
              <a:spcAft>
                <a:spcPts val="0"/>
              </a:spcAft>
              <a:buNone/>
            </a:pPr>
            <a:r>
              <a:rPr lang="en-GB"/>
              <a:t>p(x1, …, xn) = p(x2, …, xn | x1) p(x1)</a:t>
            </a:r>
            <a:endParaRPr/>
          </a:p>
          <a:p>
            <a:pPr marL="0" lvl="0" indent="0" algn="l" rtl="0">
              <a:spcBef>
                <a:spcPts val="0"/>
              </a:spcBef>
              <a:spcAft>
                <a:spcPts val="0"/>
              </a:spcAft>
              <a:buNone/>
            </a:pPr>
            <a:r>
              <a:rPr lang="en-GB"/>
              <a:t>= p(x3, …, xn | x2, x1) p(x2 | x1) p(x1)</a:t>
            </a:r>
            <a:endParaRPr/>
          </a:p>
          <a:p>
            <a:pPr marL="0" lvl="0" indent="0" algn="l" rtl="0">
              <a:spcBef>
                <a:spcPts val="0"/>
              </a:spcBef>
              <a:spcAft>
                <a:spcPts val="0"/>
              </a:spcAft>
              <a:buNone/>
            </a:pPr>
            <a:r>
              <a:rPr lang="en-GB"/>
              <a:t>= p(x4, …, xn | x3, x2, x1) p(x3 | x2, x1) </a:t>
            </a:r>
            <a:r>
              <a:rPr lang="en-GB">
                <a:solidFill>
                  <a:schemeClr val="dk1"/>
                </a:solidFill>
              </a:rPr>
              <a:t>p(x2 | x1) p(x1)</a:t>
            </a:r>
            <a:endParaRPr>
              <a:solidFill>
                <a:schemeClr val="dk1"/>
              </a:solidFill>
            </a:endParaRPr>
          </a:p>
          <a:p>
            <a:pPr marL="0" lvl="0" indent="0" algn="l" rtl="0">
              <a:spcBef>
                <a:spcPts val="0"/>
              </a:spcBef>
              <a:spcAft>
                <a:spcPts val="0"/>
              </a:spcAft>
              <a:buNone/>
            </a:pPr>
            <a:r>
              <a:rPr lang="en-GB">
                <a:solidFill>
                  <a:schemeClr val="dk1"/>
                </a:solidFill>
              </a:rPr>
              <a:t>…</a:t>
            </a:r>
            <a:endParaRPr>
              <a:solidFill>
                <a:schemeClr val="dk1"/>
              </a:solidFill>
            </a:endParaRPr>
          </a:p>
          <a:p>
            <a:pPr marL="0" lvl="0" indent="0" algn="l" rtl="0">
              <a:spcBef>
                <a:spcPts val="0"/>
              </a:spcBef>
              <a:spcAft>
                <a:spcPts val="0"/>
              </a:spcAft>
              <a:buNone/>
            </a:pPr>
            <a:endParaRPr>
              <a:solidFill>
                <a:schemeClr val="dk1"/>
              </a:solidFill>
            </a:endParaRPr>
          </a:p>
        </p:txBody>
      </p:sp>
      <p:sp>
        <p:nvSpPr>
          <p:cNvPr id="347" name="Google Shape;347;g30b0ca4a75f_0_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125</a:t>
            </a:fld>
            <a:endParaRPr/>
          </a:p>
        </p:txBody>
      </p:sp>
    </p:spTree>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4">
          <a:extLst>
            <a:ext uri="{FF2B5EF4-FFF2-40B4-BE49-F238E27FC236}">
              <a16:creationId xmlns:a16="http://schemas.microsoft.com/office/drawing/2014/main" id="{4B874E60-45BA-616C-C2F4-B569FAC56755}"/>
            </a:ext>
          </a:extLst>
        </p:cNvPr>
        <p:cNvGrpSpPr/>
        <p:nvPr/>
      </p:nvGrpSpPr>
      <p:grpSpPr>
        <a:xfrm>
          <a:off x="0" y="0"/>
          <a:ext cx="0" cy="0"/>
          <a:chOff x="0" y="0"/>
          <a:chExt cx="0" cy="0"/>
        </a:xfrm>
      </p:grpSpPr>
      <p:sp>
        <p:nvSpPr>
          <p:cNvPr id="345" name="Google Shape;345;g30b0ca4a75f_0_4:notes">
            <a:extLst>
              <a:ext uri="{FF2B5EF4-FFF2-40B4-BE49-F238E27FC236}">
                <a16:creationId xmlns:a16="http://schemas.microsoft.com/office/drawing/2014/main" id="{E9E1E2B7-CD0A-5EB7-6941-916FFCB6091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46" name="Google Shape;346;g30b0ca4a75f_0_4:notes">
            <a:extLst>
              <a:ext uri="{FF2B5EF4-FFF2-40B4-BE49-F238E27FC236}">
                <a16:creationId xmlns:a16="http://schemas.microsoft.com/office/drawing/2014/main" id="{4464C5FA-01BE-F404-94E1-EC224E95D411}"/>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GB"/>
              <a:t>Second-order markov process corresponds to a trigram language model</a:t>
            </a:r>
            <a:endParaRPr/>
          </a:p>
          <a:p>
            <a:pPr marL="0" lvl="0" indent="0" algn="l" rtl="0">
              <a:spcBef>
                <a:spcPts val="0"/>
              </a:spcBef>
              <a:spcAft>
                <a:spcPts val="0"/>
              </a:spcAft>
              <a:buNone/>
            </a:pPr>
            <a:endParaRPr/>
          </a:p>
          <a:p>
            <a:pPr marL="0" lvl="0" indent="0" algn="l" rtl="0">
              <a:spcBef>
                <a:spcPts val="0"/>
              </a:spcBef>
              <a:spcAft>
                <a:spcPts val="0"/>
              </a:spcAft>
              <a:buNone/>
            </a:pPr>
            <a:r>
              <a:rPr lang="en-GB"/>
              <a:t>p(x1, …, xn) = p(x2, …, xn | x1) p(x1)</a:t>
            </a:r>
            <a:endParaRPr/>
          </a:p>
          <a:p>
            <a:pPr marL="0" lvl="0" indent="0" algn="l" rtl="0">
              <a:spcBef>
                <a:spcPts val="0"/>
              </a:spcBef>
              <a:spcAft>
                <a:spcPts val="0"/>
              </a:spcAft>
              <a:buNone/>
            </a:pPr>
            <a:r>
              <a:rPr lang="en-GB"/>
              <a:t>= p(x3, …, xn | x2, x1) p(x2 | x1) p(x1)</a:t>
            </a:r>
            <a:endParaRPr/>
          </a:p>
          <a:p>
            <a:pPr marL="0" lvl="0" indent="0" algn="l" rtl="0">
              <a:spcBef>
                <a:spcPts val="0"/>
              </a:spcBef>
              <a:spcAft>
                <a:spcPts val="0"/>
              </a:spcAft>
              <a:buNone/>
            </a:pPr>
            <a:r>
              <a:rPr lang="en-GB"/>
              <a:t>= p(x4, …, xn | x3, x2, x1) p(x3 | x2, x1) </a:t>
            </a:r>
            <a:r>
              <a:rPr lang="en-GB">
                <a:solidFill>
                  <a:schemeClr val="dk1"/>
                </a:solidFill>
              </a:rPr>
              <a:t>p(x2 | x1) p(x1)</a:t>
            </a:r>
            <a:endParaRPr>
              <a:solidFill>
                <a:schemeClr val="dk1"/>
              </a:solidFill>
            </a:endParaRPr>
          </a:p>
          <a:p>
            <a:pPr marL="0" lvl="0" indent="0" algn="l" rtl="0">
              <a:spcBef>
                <a:spcPts val="0"/>
              </a:spcBef>
              <a:spcAft>
                <a:spcPts val="0"/>
              </a:spcAft>
              <a:buNone/>
            </a:pPr>
            <a:r>
              <a:rPr lang="en-GB">
                <a:solidFill>
                  <a:schemeClr val="dk1"/>
                </a:solidFill>
              </a:rPr>
              <a:t>…</a:t>
            </a:r>
            <a:endParaRPr>
              <a:solidFill>
                <a:schemeClr val="dk1"/>
              </a:solidFill>
            </a:endParaRPr>
          </a:p>
          <a:p>
            <a:pPr marL="0" lvl="0" indent="0" algn="l" rtl="0">
              <a:spcBef>
                <a:spcPts val="0"/>
              </a:spcBef>
              <a:spcAft>
                <a:spcPts val="0"/>
              </a:spcAft>
              <a:buNone/>
            </a:pPr>
            <a:endParaRPr>
              <a:solidFill>
                <a:schemeClr val="dk1"/>
              </a:solidFill>
            </a:endParaRPr>
          </a:p>
        </p:txBody>
      </p:sp>
      <p:sp>
        <p:nvSpPr>
          <p:cNvPr id="347" name="Google Shape;347;g30b0ca4a75f_0_4:notes">
            <a:extLst>
              <a:ext uri="{FF2B5EF4-FFF2-40B4-BE49-F238E27FC236}">
                <a16:creationId xmlns:a16="http://schemas.microsoft.com/office/drawing/2014/main" id="{66384087-0D5D-4167-2445-EC5390E5D1FB}"/>
              </a:ext>
            </a:extLst>
          </p:cNvPr>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126</a:t>
            </a:fld>
            <a:endParaRPr/>
          </a:p>
        </p:txBody>
      </p:sp>
    </p:spTree>
    <p:extLst>
      <p:ext uri="{BB962C8B-B14F-4D97-AF65-F5344CB8AC3E}">
        <p14:creationId xmlns:p14="http://schemas.microsoft.com/office/powerpoint/2010/main" val="1382658685"/>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6"/>
        <p:cNvGrpSpPr/>
        <p:nvPr/>
      </p:nvGrpSpPr>
      <p:grpSpPr>
        <a:xfrm>
          <a:off x="0" y="0"/>
          <a:ext cx="0" cy="0"/>
          <a:chOff x="0" y="0"/>
          <a:chExt cx="0" cy="0"/>
        </a:xfrm>
      </p:grpSpPr>
      <p:sp>
        <p:nvSpPr>
          <p:cNvPr id="357" name="Google Shape;357;g30b012314b4_0_342: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58" name="Google Shape;358;g30b012314b4_0_34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6">
          <a:extLst>
            <a:ext uri="{FF2B5EF4-FFF2-40B4-BE49-F238E27FC236}">
              <a16:creationId xmlns:a16="http://schemas.microsoft.com/office/drawing/2014/main" id="{B62F13E4-EC2F-2B95-362E-B24EE70FEB02}"/>
            </a:ext>
          </a:extLst>
        </p:cNvPr>
        <p:cNvGrpSpPr/>
        <p:nvPr/>
      </p:nvGrpSpPr>
      <p:grpSpPr>
        <a:xfrm>
          <a:off x="0" y="0"/>
          <a:ext cx="0" cy="0"/>
          <a:chOff x="0" y="0"/>
          <a:chExt cx="0" cy="0"/>
        </a:xfrm>
      </p:grpSpPr>
      <p:sp>
        <p:nvSpPr>
          <p:cNvPr id="357" name="Google Shape;357;g30b012314b4_0_342:notes">
            <a:extLst>
              <a:ext uri="{FF2B5EF4-FFF2-40B4-BE49-F238E27FC236}">
                <a16:creationId xmlns:a16="http://schemas.microsoft.com/office/drawing/2014/main" id="{15CE461F-029F-7310-016B-514D611F6C02}"/>
              </a:ext>
            </a:extLst>
          </p:cNvPr>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58" name="Google Shape;358;g30b012314b4_0_342:notes">
            <a:extLst>
              <a:ext uri="{FF2B5EF4-FFF2-40B4-BE49-F238E27FC236}">
                <a16:creationId xmlns:a16="http://schemas.microsoft.com/office/drawing/2014/main" id="{76058617-37D0-9084-E8F3-E86CF2580643}"/>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67218882"/>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6">
          <a:extLst>
            <a:ext uri="{FF2B5EF4-FFF2-40B4-BE49-F238E27FC236}">
              <a16:creationId xmlns:a16="http://schemas.microsoft.com/office/drawing/2014/main" id="{C7ACE205-7AEA-5122-87A6-67996875D65A}"/>
            </a:ext>
          </a:extLst>
        </p:cNvPr>
        <p:cNvGrpSpPr/>
        <p:nvPr/>
      </p:nvGrpSpPr>
      <p:grpSpPr>
        <a:xfrm>
          <a:off x="0" y="0"/>
          <a:ext cx="0" cy="0"/>
          <a:chOff x="0" y="0"/>
          <a:chExt cx="0" cy="0"/>
        </a:xfrm>
      </p:grpSpPr>
      <p:sp>
        <p:nvSpPr>
          <p:cNvPr id="357" name="Google Shape;357;g30b012314b4_0_342:notes">
            <a:extLst>
              <a:ext uri="{FF2B5EF4-FFF2-40B4-BE49-F238E27FC236}">
                <a16:creationId xmlns:a16="http://schemas.microsoft.com/office/drawing/2014/main" id="{5A314748-96B1-BC25-A06C-7E951C47648B}"/>
              </a:ext>
            </a:extLst>
          </p:cNvPr>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58" name="Google Shape;358;g30b012314b4_0_342:notes">
            <a:extLst>
              <a:ext uri="{FF2B5EF4-FFF2-40B4-BE49-F238E27FC236}">
                <a16:creationId xmlns:a16="http://schemas.microsoft.com/office/drawing/2014/main" id="{F605CD4B-B6BC-C994-74E0-E2C4A511F0A3}"/>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64277080"/>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4">
          <a:extLst>
            <a:ext uri="{FF2B5EF4-FFF2-40B4-BE49-F238E27FC236}">
              <a16:creationId xmlns:a16="http://schemas.microsoft.com/office/drawing/2014/main" id="{44CD6456-1652-0300-9DDA-DD1259659144}"/>
            </a:ext>
          </a:extLst>
        </p:cNvPr>
        <p:cNvGrpSpPr/>
        <p:nvPr/>
      </p:nvGrpSpPr>
      <p:grpSpPr>
        <a:xfrm>
          <a:off x="0" y="0"/>
          <a:ext cx="0" cy="0"/>
          <a:chOff x="0" y="0"/>
          <a:chExt cx="0" cy="0"/>
        </a:xfrm>
      </p:grpSpPr>
      <p:sp>
        <p:nvSpPr>
          <p:cNvPr id="345" name="Google Shape;345;g30b0ca4a75f_0_4:notes">
            <a:extLst>
              <a:ext uri="{FF2B5EF4-FFF2-40B4-BE49-F238E27FC236}">
                <a16:creationId xmlns:a16="http://schemas.microsoft.com/office/drawing/2014/main" id="{10F48B95-A382-B9AC-D0CF-A4B5EC3D551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46" name="Google Shape;346;g30b0ca4a75f_0_4:notes">
            <a:extLst>
              <a:ext uri="{FF2B5EF4-FFF2-40B4-BE49-F238E27FC236}">
                <a16:creationId xmlns:a16="http://schemas.microsoft.com/office/drawing/2014/main" id="{279826F7-7493-8628-1C67-1D496486C550}"/>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GB"/>
              <a:t>Second-order markov process corresponds to a trigram language model</a:t>
            </a:r>
            <a:endParaRPr/>
          </a:p>
          <a:p>
            <a:pPr marL="0" lvl="0" indent="0" algn="l" rtl="0">
              <a:spcBef>
                <a:spcPts val="0"/>
              </a:spcBef>
              <a:spcAft>
                <a:spcPts val="0"/>
              </a:spcAft>
              <a:buNone/>
            </a:pPr>
            <a:endParaRPr/>
          </a:p>
          <a:p>
            <a:pPr marL="0" lvl="0" indent="0" algn="l" rtl="0">
              <a:spcBef>
                <a:spcPts val="0"/>
              </a:spcBef>
              <a:spcAft>
                <a:spcPts val="0"/>
              </a:spcAft>
              <a:buNone/>
            </a:pPr>
            <a:r>
              <a:rPr lang="en-GB"/>
              <a:t>p(x1, …, xn) = p(x2, …, xn | x1) p(x1)</a:t>
            </a:r>
            <a:endParaRPr/>
          </a:p>
          <a:p>
            <a:pPr marL="0" lvl="0" indent="0" algn="l" rtl="0">
              <a:spcBef>
                <a:spcPts val="0"/>
              </a:spcBef>
              <a:spcAft>
                <a:spcPts val="0"/>
              </a:spcAft>
              <a:buNone/>
            </a:pPr>
            <a:r>
              <a:rPr lang="en-GB"/>
              <a:t>= p(x3, …, xn | x2, x1) p(x2 | x1) p(x1)</a:t>
            </a:r>
            <a:endParaRPr/>
          </a:p>
          <a:p>
            <a:pPr marL="0" lvl="0" indent="0" algn="l" rtl="0">
              <a:spcBef>
                <a:spcPts val="0"/>
              </a:spcBef>
              <a:spcAft>
                <a:spcPts val="0"/>
              </a:spcAft>
              <a:buNone/>
            </a:pPr>
            <a:r>
              <a:rPr lang="en-GB"/>
              <a:t>= p(x4, …, xn | x3, x2, x1) p(x3 | x2, x1) </a:t>
            </a:r>
            <a:r>
              <a:rPr lang="en-GB">
                <a:solidFill>
                  <a:schemeClr val="dk1"/>
                </a:solidFill>
              </a:rPr>
              <a:t>p(x2 | x1) p(x1)</a:t>
            </a:r>
            <a:endParaRPr>
              <a:solidFill>
                <a:schemeClr val="dk1"/>
              </a:solidFill>
            </a:endParaRPr>
          </a:p>
          <a:p>
            <a:pPr marL="0" lvl="0" indent="0" algn="l" rtl="0">
              <a:spcBef>
                <a:spcPts val="0"/>
              </a:spcBef>
              <a:spcAft>
                <a:spcPts val="0"/>
              </a:spcAft>
              <a:buNone/>
            </a:pPr>
            <a:r>
              <a:rPr lang="en-GB">
                <a:solidFill>
                  <a:schemeClr val="dk1"/>
                </a:solidFill>
              </a:rPr>
              <a:t>…</a:t>
            </a:r>
            <a:endParaRPr>
              <a:solidFill>
                <a:schemeClr val="dk1"/>
              </a:solidFill>
            </a:endParaRPr>
          </a:p>
          <a:p>
            <a:pPr marL="0" lvl="0" indent="0" algn="l" rtl="0">
              <a:spcBef>
                <a:spcPts val="0"/>
              </a:spcBef>
              <a:spcAft>
                <a:spcPts val="0"/>
              </a:spcAft>
              <a:buNone/>
            </a:pPr>
            <a:endParaRPr>
              <a:solidFill>
                <a:schemeClr val="dk1"/>
              </a:solidFill>
            </a:endParaRPr>
          </a:p>
        </p:txBody>
      </p:sp>
      <p:sp>
        <p:nvSpPr>
          <p:cNvPr id="347" name="Google Shape;347;g30b0ca4a75f_0_4:notes">
            <a:extLst>
              <a:ext uri="{FF2B5EF4-FFF2-40B4-BE49-F238E27FC236}">
                <a16:creationId xmlns:a16="http://schemas.microsoft.com/office/drawing/2014/main" id="{313FF55A-5E88-31DC-CAE0-9C1F402CB83B}"/>
              </a:ext>
            </a:extLst>
          </p:cNvPr>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130</a:t>
            </a:fld>
            <a:endParaRPr/>
          </a:p>
        </p:txBody>
      </p:sp>
    </p:spTree>
    <p:extLst>
      <p:ext uri="{BB962C8B-B14F-4D97-AF65-F5344CB8AC3E}">
        <p14:creationId xmlns:p14="http://schemas.microsoft.com/office/powerpoint/2010/main" val="3997955073"/>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5"/>
        <p:cNvGrpSpPr/>
        <p:nvPr/>
      </p:nvGrpSpPr>
      <p:grpSpPr>
        <a:xfrm>
          <a:off x="0" y="0"/>
          <a:ext cx="0" cy="0"/>
          <a:chOff x="0" y="0"/>
          <a:chExt cx="0" cy="0"/>
        </a:xfrm>
      </p:grpSpPr>
      <p:sp>
        <p:nvSpPr>
          <p:cNvPr id="366" name="Google Shape;366;g30b0ca4a75f_0_9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67" name="Google Shape;367;g30b0ca4a75f_0_9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GB"/>
              <a:t>Sparsity issues</a:t>
            </a:r>
            <a:endParaRPr/>
          </a:p>
          <a:p>
            <a:pPr marL="0" lvl="0" indent="0" algn="l" rtl="0">
              <a:spcBef>
                <a:spcPts val="0"/>
              </a:spcBef>
              <a:spcAft>
                <a:spcPts val="0"/>
              </a:spcAft>
              <a:buNone/>
            </a:pPr>
            <a:r>
              <a:rPr lang="en-GB"/>
              <a:t>If we use the same denominator to normalize all trigrams – it is not what we want. It will prioritize very frequent trigrams.</a:t>
            </a:r>
            <a:endParaRPr/>
          </a:p>
          <a:p>
            <a:pPr marL="0" lvl="0" indent="0" algn="l" rtl="0">
              <a:spcBef>
                <a:spcPts val="0"/>
              </a:spcBef>
              <a:spcAft>
                <a:spcPts val="0"/>
              </a:spcAft>
              <a:buNone/>
            </a:pPr>
            <a:r>
              <a:rPr lang="en-GB"/>
              <a:t>We care about wi as a continuation for wi-2,wi-1 as this is a trigram model.</a:t>
            </a:r>
            <a:endParaRPr/>
          </a:p>
          <a:p>
            <a:pPr marL="0" lvl="0" indent="0" algn="l" rtl="0">
              <a:spcBef>
                <a:spcPts val="0"/>
              </a:spcBef>
              <a:spcAft>
                <a:spcPts val="0"/>
              </a:spcAft>
              <a:buNone/>
            </a:pPr>
            <a:endParaRPr/>
          </a:p>
          <a:p>
            <a:pPr marL="0" lvl="0" indent="0" algn="l" rtl="0">
              <a:spcBef>
                <a:spcPts val="0"/>
              </a:spcBef>
              <a:spcAft>
                <a:spcPts val="0"/>
              </a:spcAft>
              <a:buNone/>
            </a:pPr>
            <a:r>
              <a:rPr lang="en-GB">
                <a:solidFill>
                  <a:schemeClr val="dk1"/>
                </a:solidFill>
              </a:rPr>
              <a:t>How do we know if “The dog barks” is probable?</a:t>
            </a:r>
            <a:endParaRPr/>
          </a:p>
          <a:p>
            <a:pPr marL="0" lvl="0" indent="0" algn="l" rtl="0">
              <a:spcBef>
                <a:spcPts val="0"/>
              </a:spcBef>
              <a:spcAft>
                <a:spcPts val="0"/>
              </a:spcAft>
              <a:buNone/>
            </a:pPr>
            <a:r>
              <a:rPr lang="en-GB"/>
              <a:t>“The dog” appears 101 times and </a:t>
            </a:r>
            <a:r>
              <a:rPr lang="en-GB">
                <a:solidFill>
                  <a:schemeClr val="dk1"/>
                </a:solidFill>
              </a:rPr>
              <a:t>“The dog barks” appears 100 times, then it means that “barks” is very likely to be the next word when we see “The dog”.</a:t>
            </a:r>
            <a:endParaRPr/>
          </a:p>
          <a:p>
            <a:pPr marL="0" lvl="0" indent="0" algn="l" rtl="0">
              <a:spcBef>
                <a:spcPts val="0"/>
              </a:spcBef>
              <a:spcAft>
                <a:spcPts val="0"/>
              </a:spcAft>
              <a:buNone/>
            </a:pPr>
            <a:r>
              <a:rPr lang="en-GB"/>
              <a:t>“The dog” appears 1M times then the fact that we saw “The dog” means a small change for “barks” to follow.</a:t>
            </a:r>
            <a:endParaRPr/>
          </a:p>
          <a:p>
            <a:pPr marL="0" lvl="0" indent="0" algn="l" rtl="0">
              <a:spcBef>
                <a:spcPts val="0"/>
              </a:spcBef>
              <a:spcAft>
                <a:spcPts val="0"/>
              </a:spcAft>
              <a:buNone/>
            </a:pPr>
            <a:endParaRPr/>
          </a:p>
        </p:txBody>
      </p:sp>
      <p:sp>
        <p:nvSpPr>
          <p:cNvPr id="368" name="Google Shape;368;g30b0ca4a75f_0_9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131</a:t>
            </a:fld>
            <a:endParaRPr/>
          </a:p>
        </p:txBody>
      </p:sp>
    </p:spTree>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1"/>
        <p:cNvGrpSpPr/>
        <p:nvPr/>
      </p:nvGrpSpPr>
      <p:grpSpPr>
        <a:xfrm>
          <a:off x="0" y="0"/>
          <a:ext cx="0" cy="0"/>
          <a:chOff x="0" y="0"/>
          <a:chExt cx="0" cy="0"/>
        </a:xfrm>
      </p:grpSpPr>
      <p:sp>
        <p:nvSpPr>
          <p:cNvPr id="382" name="Google Shape;382;g30b012314b4_0_35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83" name="Google Shape;383;g30b012314b4_0_35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GB"/>
              <a:t>Sparsity issues</a:t>
            </a:r>
            <a:endParaRPr/>
          </a:p>
        </p:txBody>
      </p:sp>
      <p:sp>
        <p:nvSpPr>
          <p:cNvPr id="384" name="Google Shape;384;g30b012314b4_0_35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132</a:t>
            </a:fld>
            <a:endParaRPr/>
          </a:p>
        </p:txBody>
      </p:sp>
    </p:spTree>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1">
          <a:extLst>
            <a:ext uri="{FF2B5EF4-FFF2-40B4-BE49-F238E27FC236}">
              <a16:creationId xmlns:a16="http://schemas.microsoft.com/office/drawing/2014/main" id="{225FE9C8-2BCE-8F37-A8D1-B9C52B729A10}"/>
            </a:ext>
          </a:extLst>
        </p:cNvPr>
        <p:cNvGrpSpPr/>
        <p:nvPr/>
      </p:nvGrpSpPr>
      <p:grpSpPr>
        <a:xfrm>
          <a:off x="0" y="0"/>
          <a:ext cx="0" cy="0"/>
          <a:chOff x="0" y="0"/>
          <a:chExt cx="0" cy="0"/>
        </a:xfrm>
      </p:grpSpPr>
      <p:sp>
        <p:nvSpPr>
          <p:cNvPr id="382" name="Google Shape;382;g30b012314b4_0_351:notes">
            <a:extLst>
              <a:ext uri="{FF2B5EF4-FFF2-40B4-BE49-F238E27FC236}">
                <a16:creationId xmlns:a16="http://schemas.microsoft.com/office/drawing/2014/main" id="{CA2BB5DE-3EE9-AA4D-CCCA-16DD803D0ED3}"/>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83" name="Google Shape;383;g30b012314b4_0_351:notes">
            <a:extLst>
              <a:ext uri="{FF2B5EF4-FFF2-40B4-BE49-F238E27FC236}">
                <a16:creationId xmlns:a16="http://schemas.microsoft.com/office/drawing/2014/main" id="{9E43080C-E298-B3F4-FBB5-5A0566051A28}"/>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GB"/>
              <a:t>Sparsity issues</a:t>
            </a:r>
            <a:endParaRPr/>
          </a:p>
        </p:txBody>
      </p:sp>
      <p:sp>
        <p:nvSpPr>
          <p:cNvPr id="384" name="Google Shape;384;g30b012314b4_0_351:notes">
            <a:extLst>
              <a:ext uri="{FF2B5EF4-FFF2-40B4-BE49-F238E27FC236}">
                <a16:creationId xmlns:a16="http://schemas.microsoft.com/office/drawing/2014/main" id="{4C0E1F2C-B956-674B-350E-499B1F0BEA75}"/>
              </a:ext>
            </a:extLst>
          </p:cNvPr>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133</a:t>
            </a:fld>
            <a:endParaRPr/>
          </a:p>
        </p:txBody>
      </p:sp>
    </p:spTree>
    <p:extLst>
      <p:ext uri="{BB962C8B-B14F-4D97-AF65-F5344CB8AC3E}">
        <p14:creationId xmlns:p14="http://schemas.microsoft.com/office/powerpoint/2010/main" val="42881323"/>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1">
          <a:extLst>
            <a:ext uri="{FF2B5EF4-FFF2-40B4-BE49-F238E27FC236}">
              <a16:creationId xmlns:a16="http://schemas.microsoft.com/office/drawing/2014/main" id="{EE9F3390-3638-09A7-C1B7-5BB15DF5BAF5}"/>
            </a:ext>
          </a:extLst>
        </p:cNvPr>
        <p:cNvGrpSpPr/>
        <p:nvPr/>
      </p:nvGrpSpPr>
      <p:grpSpPr>
        <a:xfrm>
          <a:off x="0" y="0"/>
          <a:ext cx="0" cy="0"/>
          <a:chOff x="0" y="0"/>
          <a:chExt cx="0" cy="0"/>
        </a:xfrm>
      </p:grpSpPr>
      <p:sp>
        <p:nvSpPr>
          <p:cNvPr id="382" name="Google Shape;382;g30b012314b4_0_351:notes">
            <a:extLst>
              <a:ext uri="{FF2B5EF4-FFF2-40B4-BE49-F238E27FC236}">
                <a16:creationId xmlns:a16="http://schemas.microsoft.com/office/drawing/2014/main" id="{F474CEF2-6FC6-84D5-3A2F-1683044D106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83" name="Google Shape;383;g30b012314b4_0_351:notes">
            <a:extLst>
              <a:ext uri="{FF2B5EF4-FFF2-40B4-BE49-F238E27FC236}">
                <a16:creationId xmlns:a16="http://schemas.microsoft.com/office/drawing/2014/main" id="{FDC7B6C0-6096-9F79-2C2E-7598054CB46B}"/>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GB"/>
              <a:t>Sparsity issues</a:t>
            </a:r>
            <a:endParaRPr/>
          </a:p>
        </p:txBody>
      </p:sp>
      <p:sp>
        <p:nvSpPr>
          <p:cNvPr id="384" name="Google Shape;384;g30b012314b4_0_351:notes">
            <a:extLst>
              <a:ext uri="{FF2B5EF4-FFF2-40B4-BE49-F238E27FC236}">
                <a16:creationId xmlns:a16="http://schemas.microsoft.com/office/drawing/2014/main" id="{ECF5C93A-CD7D-EFE2-9696-F4EA0CEBBD39}"/>
              </a:ext>
            </a:extLst>
          </p:cNvPr>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134</a:t>
            </a:fld>
            <a:endParaRPr/>
          </a:p>
        </p:txBody>
      </p:sp>
    </p:spTree>
    <p:extLst>
      <p:ext uri="{BB962C8B-B14F-4D97-AF65-F5344CB8AC3E}">
        <p14:creationId xmlns:p14="http://schemas.microsoft.com/office/powerpoint/2010/main" val="1411503235"/>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7"/>
        <p:cNvGrpSpPr/>
        <p:nvPr/>
      </p:nvGrpSpPr>
      <p:grpSpPr>
        <a:xfrm>
          <a:off x="0" y="0"/>
          <a:ext cx="0" cy="0"/>
          <a:chOff x="0" y="0"/>
          <a:chExt cx="0" cy="0"/>
        </a:xfrm>
      </p:grpSpPr>
      <p:sp>
        <p:nvSpPr>
          <p:cNvPr id="398" name="Google Shape;398;g30b0ca4a75f_0_1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99" name="Google Shape;399;g30b0ca4a75f_0_11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GB"/>
              <a:t>Sparsity issues, we need a lot of data</a:t>
            </a:r>
            <a:endParaRPr/>
          </a:p>
          <a:p>
            <a:pPr marL="0" lvl="0" indent="0" algn="l" rtl="0">
              <a:spcBef>
                <a:spcPts val="0"/>
              </a:spcBef>
              <a:spcAft>
                <a:spcPts val="0"/>
              </a:spcAft>
              <a:buNone/>
            </a:pPr>
            <a:endParaRPr/>
          </a:p>
          <a:p>
            <a:pPr marL="0" lvl="0" indent="0" algn="l" rtl="0">
              <a:spcBef>
                <a:spcPts val="0"/>
              </a:spcBef>
              <a:spcAft>
                <a:spcPts val="0"/>
              </a:spcAft>
              <a:buNone/>
            </a:pPr>
            <a:r>
              <a:rPr lang="en-GB"/>
              <a:t>Do these problems seem familiar? How did we solve them for word embeddings?</a:t>
            </a:r>
            <a:endParaRPr/>
          </a:p>
          <a:p>
            <a:pPr marL="0" lvl="0" indent="0" algn="l" rtl="0">
              <a:spcBef>
                <a:spcPts val="0"/>
              </a:spcBef>
              <a:spcAft>
                <a:spcPts val="0"/>
              </a:spcAft>
              <a:buNone/>
            </a:pPr>
            <a:endParaRPr/>
          </a:p>
        </p:txBody>
      </p:sp>
      <p:sp>
        <p:nvSpPr>
          <p:cNvPr id="400" name="Google Shape;400;g30b0ca4a75f_0_11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135</a:t>
            </a:fld>
            <a:endParaRPr/>
          </a:p>
        </p:txBody>
      </p:sp>
    </p:spTree>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4"/>
        <p:cNvGrpSpPr/>
        <p:nvPr/>
      </p:nvGrpSpPr>
      <p:grpSpPr>
        <a:xfrm>
          <a:off x="0" y="0"/>
          <a:ext cx="0" cy="0"/>
          <a:chOff x="0" y="0"/>
          <a:chExt cx="0" cy="0"/>
        </a:xfrm>
      </p:grpSpPr>
      <p:sp>
        <p:nvSpPr>
          <p:cNvPr id="415" name="Google Shape;415;g341a228298b_0_1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16" name="Google Shape;416;g341a228298b_0_12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17" name="Google Shape;417;g341a228298b_0_12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136</a:t>
            </a:fld>
            <a:endParaRPr/>
          </a:p>
        </p:txBody>
      </p:sp>
    </p:spTree>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9"/>
        <p:cNvGrpSpPr/>
        <p:nvPr/>
      </p:nvGrpSpPr>
      <p:grpSpPr>
        <a:xfrm>
          <a:off x="0" y="0"/>
          <a:ext cx="0" cy="0"/>
          <a:chOff x="0" y="0"/>
          <a:chExt cx="0" cy="0"/>
        </a:xfrm>
      </p:grpSpPr>
      <p:sp>
        <p:nvSpPr>
          <p:cNvPr id="480" name="Google Shape;480;g30b012314b4_0_37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81" name="Google Shape;481;g30b012314b4_0_37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GB"/>
              <a:t>Shannon (1950) estimated the perplexity score that humans get for printed English (we are good!)</a:t>
            </a:r>
            <a:endParaRPr/>
          </a:p>
          <a:p>
            <a:pPr marL="0" lvl="0" indent="0" algn="l" rtl="0">
              <a:spcBef>
                <a:spcPts val="0"/>
              </a:spcBef>
              <a:spcAft>
                <a:spcPts val="0"/>
              </a:spcAft>
              <a:buNone/>
            </a:pPr>
            <a:endParaRPr/>
          </a:p>
          <a:p>
            <a:pPr marL="0" lvl="0" indent="0" algn="l" rtl="0">
              <a:spcBef>
                <a:spcPts val="0"/>
              </a:spcBef>
              <a:spcAft>
                <a:spcPts val="0"/>
              </a:spcAft>
              <a:buNone/>
            </a:pPr>
            <a:r>
              <a:rPr lang="en-GB"/>
              <a:t>With words → around 7. Should not expect to know everything that one is going to say, but you're not surprised.</a:t>
            </a:r>
            <a:endParaRPr/>
          </a:p>
          <a:p>
            <a:pPr marL="0" lvl="0" indent="0" algn="l" rtl="0">
              <a:spcBef>
                <a:spcPts val="0"/>
              </a:spcBef>
              <a:spcAft>
                <a:spcPts val="0"/>
              </a:spcAft>
              <a:buNone/>
            </a:pPr>
            <a:r>
              <a:rPr lang="en-GB"/>
              <a:t>Comedy tries to play on that to make us surprised.</a:t>
            </a:r>
            <a:endParaRPr/>
          </a:p>
        </p:txBody>
      </p:sp>
      <p:sp>
        <p:nvSpPr>
          <p:cNvPr id="482" name="Google Shape;482;g30b012314b4_0_37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146</a:t>
            </a:fld>
            <a:endParaRPr/>
          </a:p>
        </p:txBody>
      </p:sp>
    </p:spTree>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9">
          <a:extLst>
            <a:ext uri="{FF2B5EF4-FFF2-40B4-BE49-F238E27FC236}">
              <a16:creationId xmlns:a16="http://schemas.microsoft.com/office/drawing/2014/main" id="{43875815-67A7-BDB2-8D4B-2F2FE4740DB7}"/>
            </a:ext>
          </a:extLst>
        </p:cNvPr>
        <p:cNvGrpSpPr/>
        <p:nvPr/>
      </p:nvGrpSpPr>
      <p:grpSpPr>
        <a:xfrm>
          <a:off x="0" y="0"/>
          <a:ext cx="0" cy="0"/>
          <a:chOff x="0" y="0"/>
          <a:chExt cx="0" cy="0"/>
        </a:xfrm>
      </p:grpSpPr>
      <p:sp>
        <p:nvSpPr>
          <p:cNvPr id="480" name="Google Shape;480;g30b012314b4_0_376:notes">
            <a:extLst>
              <a:ext uri="{FF2B5EF4-FFF2-40B4-BE49-F238E27FC236}">
                <a16:creationId xmlns:a16="http://schemas.microsoft.com/office/drawing/2014/main" id="{FF4C8368-3E39-0BEA-5819-B2A7DD4A99F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81" name="Google Shape;481;g30b012314b4_0_376:notes">
            <a:extLst>
              <a:ext uri="{FF2B5EF4-FFF2-40B4-BE49-F238E27FC236}">
                <a16:creationId xmlns:a16="http://schemas.microsoft.com/office/drawing/2014/main" id="{B5A006A9-21F4-0E94-0260-28E65B9AAA57}"/>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GB"/>
              <a:t>Shannon (1950) estimated the perplexity score that humans get for printed English (we are good!)</a:t>
            </a:r>
            <a:endParaRPr/>
          </a:p>
          <a:p>
            <a:pPr marL="0" lvl="0" indent="0" algn="l" rtl="0">
              <a:spcBef>
                <a:spcPts val="0"/>
              </a:spcBef>
              <a:spcAft>
                <a:spcPts val="0"/>
              </a:spcAft>
              <a:buNone/>
            </a:pPr>
            <a:endParaRPr/>
          </a:p>
          <a:p>
            <a:pPr marL="0" lvl="0" indent="0" algn="l" rtl="0">
              <a:spcBef>
                <a:spcPts val="0"/>
              </a:spcBef>
              <a:spcAft>
                <a:spcPts val="0"/>
              </a:spcAft>
              <a:buNone/>
            </a:pPr>
            <a:r>
              <a:rPr lang="en-GB"/>
              <a:t>With words → around 7. Should not expect to know everything that one is going to say, but you're not surprised.</a:t>
            </a:r>
            <a:endParaRPr/>
          </a:p>
          <a:p>
            <a:pPr marL="0" lvl="0" indent="0" algn="l" rtl="0">
              <a:spcBef>
                <a:spcPts val="0"/>
              </a:spcBef>
              <a:spcAft>
                <a:spcPts val="0"/>
              </a:spcAft>
              <a:buNone/>
            </a:pPr>
            <a:r>
              <a:rPr lang="en-GB"/>
              <a:t>Comedy tries to play on that to make us surprised.</a:t>
            </a:r>
            <a:endParaRPr/>
          </a:p>
        </p:txBody>
      </p:sp>
      <p:sp>
        <p:nvSpPr>
          <p:cNvPr id="482" name="Google Shape;482;g30b012314b4_0_376:notes">
            <a:extLst>
              <a:ext uri="{FF2B5EF4-FFF2-40B4-BE49-F238E27FC236}">
                <a16:creationId xmlns:a16="http://schemas.microsoft.com/office/drawing/2014/main" id="{561311E8-5223-8DDC-AA4F-0BF4FAD034CB}"/>
              </a:ext>
            </a:extLst>
          </p:cNvPr>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147</a:t>
            </a:fld>
            <a:endParaRPr/>
          </a:p>
        </p:txBody>
      </p:sp>
    </p:spTree>
    <p:extLst>
      <p:ext uri="{BB962C8B-B14F-4D97-AF65-F5344CB8AC3E}">
        <p14:creationId xmlns:p14="http://schemas.microsoft.com/office/powerpoint/2010/main" val="593049800"/>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9">
          <a:extLst>
            <a:ext uri="{FF2B5EF4-FFF2-40B4-BE49-F238E27FC236}">
              <a16:creationId xmlns:a16="http://schemas.microsoft.com/office/drawing/2014/main" id="{90D12492-EF18-A218-A40F-C77E5DAC0F2A}"/>
            </a:ext>
          </a:extLst>
        </p:cNvPr>
        <p:cNvGrpSpPr/>
        <p:nvPr/>
      </p:nvGrpSpPr>
      <p:grpSpPr>
        <a:xfrm>
          <a:off x="0" y="0"/>
          <a:ext cx="0" cy="0"/>
          <a:chOff x="0" y="0"/>
          <a:chExt cx="0" cy="0"/>
        </a:xfrm>
      </p:grpSpPr>
      <p:sp>
        <p:nvSpPr>
          <p:cNvPr id="480" name="Google Shape;480;g30b012314b4_0_376:notes">
            <a:extLst>
              <a:ext uri="{FF2B5EF4-FFF2-40B4-BE49-F238E27FC236}">
                <a16:creationId xmlns:a16="http://schemas.microsoft.com/office/drawing/2014/main" id="{111ECE47-4AC8-ED5D-EB2C-2BD9253F7F7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81" name="Google Shape;481;g30b012314b4_0_376:notes">
            <a:extLst>
              <a:ext uri="{FF2B5EF4-FFF2-40B4-BE49-F238E27FC236}">
                <a16:creationId xmlns:a16="http://schemas.microsoft.com/office/drawing/2014/main" id="{EDC4F089-8EBE-7A87-36B5-938855781679}"/>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GB"/>
              <a:t>Shannon (1950) estimated the perplexity score that humans get for printed English (we are good!)</a:t>
            </a:r>
            <a:endParaRPr/>
          </a:p>
          <a:p>
            <a:pPr marL="0" lvl="0" indent="0" algn="l" rtl="0">
              <a:spcBef>
                <a:spcPts val="0"/>
              </a:spcBef>
              <a:spcAft>
                <a:spcPts val="0"/>
              </a:spcAft>
              <a:buNone/>
            </a:pPr>
            <a:endParaRPr/>
          </a:p>
          <a:p>
            <a:pPr marL="0" lvl="0" indent="0" algn="l" rtl="0">
              <a:spcBef>
                <a:spcPts val="0"/>
              </a:spcBef>
              <a:spcAft>
                <a:spcPts val="0"/>
              </a:spcAft>
              <a:buNone/>
            </a:pPr>
            <a:r>
              <a:rPr lang="en-GB"/>
              <a:t>With words → around 7. Should not expect to know everything that one is going to say, but you're not surprised.</a:t>
            </a:r>
            <a:endParaRPr/>
          </a:p>
          <a:p>
            <a:pPr marL="0" lvl="0" indent="0" algn="l" rtl="0">
              <a:spcBef>
                <a:spcPts val="0"/>
              </a:spcBef>
              <a:spcAft>
                <a:spcPts val="0"/>
              </a:spcAft>
              <a:buNone/>
            </a:pPr>
            <a:r>
              <a:rPr lang="en-GB"/>
              <a:t>Comedy tries to play on that to make us surprised.</a:t>
            </a:r>
            <a:endParaRPr/>
          </a:p>
        </p:txBody>
      </p:sp>
      <p:sp>
        <p:nvSpPr>
          <p:cNvPr id="482" name="Google Shape;482;g30b012314b4_0_376:notes">
            <a:extLst>
              <a:ext uri="{FF2B5EF4-FFF2-40B4-BE49-F238E27FC236}">
                <a16:creationId xmlns:a16="http://schemas.microsoft.com/office/drawing/2014/main" id="{D2568E64-CEF5-FCDE-88BE-9CD3B1368272}"/>
              </a:ext>
            </a:extLst>
          </p:cNvPr>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148</a:t>
            </a:fld>
            <a:endParaRPr/>
          </a:p>
        </p:txBody>
      </p:sp>
    </p:spTree>
    <p:extLst>
      <p:ext uri="{BB962C8B-B14F-4D97-AF65-F5344CB8AC3E}">
        <p14:creationId xmlns:p14="http://schemas.microsoft.com/office/powerpoint/2010/main" val="3081462457"/>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9">
          <a:extLst>
            <a:ext uri="{FF2B5EF4-FFF2-40B4-BE49-F238E27FC236}">
              <a16:creationId xmlns:a16="http://schemas.microsoft.com/office/drawing/2014/main" id="{F4E792AB-E4A4-28B3-0C79-F1491355440C}"/>
            </a:ext>
          </a:extLst>
        </p:cNvPr>
        <p:cNvGrpSpPr/>
        <p:nvPr/>
      </p:nvGrpSpPr>
      <p:grpSpPr>
        <a:xfrm>
          <a:off x="0" y="0"/>
          <a:ext cx="0" cy="0"/>
          <a:chOff x="0" y="0"/>
          <a:chExt cx="0" cy="0"/>
        </a:xfrm>
      </p:grpSpPr>
      <p:sp>
        <p:nvSpPr>
          <p:cNvPr id="480" name="Google Shape;480;g30b012314b4_0_376:notes">
            <a:extLst>
              <a:ext uri="{FF2B5EF4-FFF2-40B4-BE49-F238E27FC236}">
                <a16:creationId xmlns:a16="http://schemas.microsoft.com/office/drawing/2014/main" id="{F8D35EA4-BDA5-1D8F-48F0-E12C97D1AB7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81" name="Google Shape;481;g30b012314b4_0_376:notes">
            <a:extLst>
              <a:ext uri="{FF2B5EF4-FFF2-40B4-BE49-F238E27FC236}">
                <a16:creationId xmlns:a16="http://schemas.microsoft.com/office/drawing/2014/main" id="{88EDA763-672B-27F2-3A0D-089FFED51BB5}"/>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GB"/>
              <a:t>Shannon (1950) estimated the perplexity score that humans get for printed English (we are good!)</a:t>
            </a:r>
            <a:endParaRPr/>
          </a:p>
          <a:p>
            <a:pPr marL="0" lvl="0" indent="0" algn="l" rtl="0">
              <a:spcBef>
                <a:spcPts val="0"/>
              </a:spcBef>
              <a:spcAft>
                <a:spcPts val="0"/>
              </a:spcAft>
              <a:buNone/>
            </a:pPr>
            <a:endParaRPr/>
          </a:p>
          <a:p>
            <a:pPr marL="0" lvl="0" indent="0" algn="l" rtl="0">
              <a:spcBef>
                <a:spcPts val="0"/>
              </a:spcBef>
              <a:spcAft>
                <a:spcPts val="0"/>
              </a:spcAft>
              <a:buNone/>
            </a:pPr>
            <a:r>
              <a:rPr lang="en-GB"/>
              <a:t>With words → around 7. Should not expect to know everything that one is going to say, but you're not surprised.</a:t>
            </a:r>
            <a:endParaRPr/>
          </a:p>
          <a:p>
            <a:pPr marL="0" lvl="0" indent="0" algn="l" rtl="0">
              <a:spcBef>
                <a:spcPts val="0"/>
              </a:spcBef>
              <a:spcAft>
                <a:spcPts val="0"/>
              </a:spcAft>
              <a:buNone/>
            </a:pPr>
            <a:r>
              <a:rPr lang="en-GB"/>
              <a:t>Comedy tries to play on that to make us surprised.</a:t>
            </a:r>
            <a:endParaRPr/>
          </a:p>
        </p:txBody>
      </p:sp>
      <p:sp>
        <p:nvSpPr>
          <p:cNvPr id="482" name="Google Shape;482;g30b012314b4_0_376:notes">
            <a:extLst>
              <a:ext uri="{FF2B5EF4-FFF2-40B4-BE49-F238E27FC236}">
                <a16:creationId xmlns:a16="http://schemas.microsoft.com/office/drawing/2014/main" id="{C3434784-40EA-B078-68E4-25621C2F5A1A}"/>
              </a:ext>
            </a:extLst>
          </p:cNvPr>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149</a:t>
            </a:fld>
            <a:endParaRPr/>
          </a:p>
        </p:txBody>
      </p:sp>
    </p:spTree>
    <p:extLst>
      <p:ext uri="{BB962C8B-B14F-4D97-AF65-F5344CB8AC3E}">
        <p14:creationId xmlns:p14="http://schemas.microsoft.com/office/powerpoint/2010/main" val="3178443244"/>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3"/>
        <p:cNvGrpSpPr/>
        <p:nvPr/>
      </p:nvGrpSpPr>
      <p:grpSpPr>
        <a:xfrm>
          <a:off x="0" y="0"/>
          <a:ext cx="0" cy="0"/>
          <a:chOff x="0" y="0"/>
          <a:chExt cx="0" cy="0"/>
        </a:xfrm>
      </p:grpSpPr>
      <p:sp>
        <p:nvSpPr>
          <p:cNvPr id="494" name="Google Shape;494;g30b012314b4_0_38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95" name="Google Shape;495;g30b012314b4_0_38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GB">
                <a:solidFill>
                  <a:schemeClr val="dk1"/>
                </a:solidFill>
              </a:rPr>
              <a:t>How is text generation different from other predictive tasks</a:t>
            </a:r>
            <a:endParaRPr>
              <a:solidFill>
                <a:schemeClr val="dk1"/>
              </a:solidFill>
            </a:endParaRPr>
          </a:p>
          <a:p>
            <a:pPr marL="0" lvl="0" indent="0" algn="l" rtl="0">
              <a:spcBef>
                <a:spcPts val="0"/>
              </a:spcBef>
              <a:spcAft>
                <a:spcPts val="0"/>
              </a:spcAft>
              <a:buNone/>
            </a:pPr>
            <a:r>
              <a:rPr lang="en-GB">
                <a:solidFill>
                  <a:schemeClr val="dk1"/>
                </a:solidFill>
              </a:rPr>
              <a:t>Word2vec is multi-class classification</a:t>
            </a:r>
            <a:endParaRPr>
              <a:solidFill>
                <a:schemeClr val="dk1"/>
              </a:solidFill>
            </a:endParaRPr>
          </a:p>
          <a:p>
            <a:pPr marL="0" lvl="0" indent="0" algn="l" rtl="0">
              <a:spcBef>
                <a:spcPts val="0"/>
              </a:spcBef>
              <a:spcAft>
                <a:spcPts val="0"/>
              </a:spcAft>
              <a:buNone/>
            </a:pPr>
            <a:endParaRPr>
              <a:solidFill>
                <a:schemeClr val="dk1"/>
              </a:solidFill>
            </a:endParaRPr>
          </a:p>
          <a:p>
            <a:pPr marL="0" lvl="0" indent="0" algn="l" rtl="0">
              <a:spcBef>
                <a:spcPts val="0"/>
              </a:spcBef>
              <a:spcAft>
                <a:spcPts val="0"/>
              </a:spcAft>
              <a:buNone/>
            </a:pPr>
            <a:r>
              <a:rPr lang="en-GB">
                <a:solidFill>
                  <a:schemeClr val="dk1"/>
                </a:solidFill>
              </a:rPr>
              <a:t>Inputs look the same and outputs look that same.</a:t>
            </a:r>
            <a:endParaRPr>
              <a:solidFill>
                <a:schemeClr val="dk1"/>
              </a:solidFill>
            </a:endParaRPr>
          </a:p>
          <a:p>
            <a:pPr marL="0" lvl="0" indent="0" algn="l" rtl="0">
              <a:spcBef>
                <a:spcPts val="0"/>
              </a:spcBef>
              <a:spcAft>
                <a:spcPts val="0"/>
              </a:spcAft>
              <a:buNone/>
            </a:pPr>
            <a:r>
              <a:rPr lang="en-GB">
                <a:solidFill>
                  <a:schemeClr val="dk1"/>
                </a:solidFill>
              </a:rPr>
              <a:t>In all these cases the outputs are strict categories or from specific ranges.</a:t>
            </a:r>
            <a:endParaRPr>
              <a:solidFill>
                <a:schemeClr val="dk1"/>
              </a:solidFill>
            </a:endParaRPr>
          </a:p>
          <a:p>
            <a:pPr marL="0" lvl="0" indent="0" algn="l" rtl="0">
              <a:spcBef>
                <a:spcPts val="0"/>
              </a:spcBef>
              <a:spcAft>
                <a:spcPts val="0"/>
              </a:spcAft>
              <a:buNone/>
            </a:pPr>
            <a:endParaRPr>
              <a:solidFill>
                <a:schemeClr val="dk1"/>
              </a:solidFill>
            </a:endParaRPr>
          </a:p>
          <a:p>
            <a:pPr marL="0" lvl="0" indent="0" algn="l" rtl="0">
              <a:spcBef>
                <a:spcPts val="0"/>
              </a:spcBef>
              <a:spcAft>
                <a:spcPts val="0"/>
              </a:spcAft>
              <a:buNone/>
            </a:pPr>
            <a:r>
              <a:rPr lang="en-GB">
                <a:solidFill>
                  <a:schemeClr val="dk1"/>
                </a:solidFill>
              </a:rPr>
              <a:t>Structured prediction – what we predict has structure and grows exponentially with the input.</a:t>
            </a:r>
            <a:endParaRPr>
              <a:solidFill>
                <a:schemeClr val="dk1"/>
              </a:solidFill>
            </a:endParaRPr>
          </a:p>
          <a:p>
            <a:pPr marL="0" lvl="0" indent="0" algn="l" rtl="0">
              <a:spcBef>
                <a:spcPts val="0"/>
              </a:spcBef>
              <a:spcAft>
                <a:spcPts val="0"/>
              </a:spcAft>
              <a:buNone/>
            </a:pPr>
            <a:r>
              <a:rPr lang="en-GB" b="1">
                <a:solidFill>
                  <a:schemeClr val="dk1"/>
                </a:solidFill>
              </a:rPr>
              <a:t>Named entity recognition</a:t>
            </a:r>
            <a:r>
              <a:rPr lang="en-GB">
                <a:solidFill>
                  <a:schemeClr val="dk1"/>
                </a:solidFill>
              </a:rPr>
              <a:t>, every word on its own is a multi-class classification problem, the total prediction is a sequence of predictions.</a:t>
            </a:r>
            <a:endParaRPr>
              <a:solidFill>
                <a:schemeClr val="dk1"/>
              </a:solidFill>
            </a:endParaRPr>
          </a:p>
          <a:p>
            <a:pPr marL="0" lvl="0" indent="0" algn="l" rtl="0">
              <a:spcBef>
                <a:spcPts val="0"/>
              </a:spcBef>
              <a:spcAft>
                <a:spcPts val="0"/>
              </a:spcAft>
              <a:buNone/>
            </a:pPr>
            <a:endParaRPr>
              <a:solidFill>
                <a:srgbClr val="D1D5DB"/>
              </a:solidFill>
            </a:endParaRPr>
          </a:p>
          <a:p>
            <a:pPr marL="0" lvl="0" indent="0" algn="l" rtl="0">
              <a:spcBef>
                <a:spcPts val="0"/>
              </a:spcBef>
              <a:spcAft>
                <a:spcPts val="0"/>
              </a:spcAft>
              <a:buNone/>
            </a:pPr>
            <a:r>
              <a:rPr lang="en-GB" b="0" i="0" u="none" strike="noStrike">
                <a:solidFill>
                  <a:srgbClr val="D1D5DB"/>
                </a:solidFill>
                <a:latin typeface="Arial"/>
                <a:ea typeface="Arial"/>
                <a:cs typeface="Arial"/>
                <a:sym typeface="Arial"/>
              </a:rPr>
              <a:t>Structured prediction is a machine learning approach that involves predicting structured outputs, such as sequences, trees, or graphs, rather than individual labels or scalar values. In other words, instead of simply predicting a single value for a given input, structured prediction methods predict a complex output that is composed of multiple related components. This approach is commonly used in applications such as natural language processing, computer vision, and speech recognition, where the output is not just a single label or value, but rather a sequence or other structured object. Structured prediction methods often make use of probabilistic graphical models, such as conditional random fields or structured support vector machines, to model the complex dependencies between the input and output variables.</a:t>
            </a:r>
            <a:endParaRPr/>
          </a:p>
        </p:txBody>
      </p:sp>
      <p:sp>
        <p:nvSpPr>
          <p:cNvPr id="496" name="Google Shape;496;g30b012314b4_0_38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152</a:t>
            </a:fld>
            <a:endParaRPr/>
          </a:p>
        </p:txBody>
      </p:sp>
    </p:spTree>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1"/>
        <p:cNvGrpSpPr/>
        <p:nvPr/>
      </p:nvGrpSpPr>
      <p:grpSpPr>
        <a:xfrm>
          <a:off x="0" y="0"/>
          <a:ext cx="0" cy="0"/>
          <a:chOff x="0" y="0"/>
          <a:chExt cx="0" cy="0"/>
        </a:xfrm>
      </p:grpSpPr>
      <p:sp>
        <p:nvSpPr>
          <p:cNvPr id="502" name="Google Shape;502;g31173e2aa90_0_10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03" name="Google Shape;503;g31173e2aa90_0_10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GB">
                <a:solidFill>
                  <a:schemeClr val="dk1"/>
                </a:solidFill>
              </a:rPr>
              <a:t>How is text generation different from other predictive tasks</a:t>
            </a:r>
            <a:endParaRPr>
              <a:solidFill>
                <a:schemeClr val="dk1"/>
              </a:solidFill>
            </a:endParaRPr>
          </a:p>
          <a:p>
            <a:pPr marL="0" lvl="0" indent="0" algn="l" rtl="0">
              <a:spcBef>
                <a:spcPts val="0"/>
              </a:spcBef>
              <a:spcAft>
                <a:spcPts val="0"/>
              </a:spcAft>
              <a:buNone/>
            </a:pPr>
            <a:r>
              <a:rPr lang="en-GB">
                <a:solidFill>
                  <a:schemeClr val="dk1"/>
                </a:solidFill>
              </a:rPr>
              <a:t>Word2vec is multi-class classification</a:t>
            </a:r>
            <a:endParaRPr>
              <a:solidFill>
                <a:schemeClr val="dk1"/>
              </a:solidFill>
            </a:endParaRPr>
          </a:p>
          <a:p>
            <a:pPr marL="0" lvl="0" indent="0" algn="l" rtl="0">
              <a:spcBef>
                <a:spcPts val="0"/>
              </a:spcBef>
              <a:spcAft>
                <a:spcPts val="0"/>
              </a:spcAft>
              <a:buNone/>
            </a:pPr>
            <a:endParaRPr>
              <a:solidFill>
                <a:schemeClr val="dk1"/>
              </a:solidFill>
            </a:endParaRPr>
          </a:p>
          <a:p>
            <a:pPr marL="0" lvl="0" indent="0" algn="l" rtl="0">
              <a:spcBef>
                <a:spcPts val="0"/>
              </a:spcBef>
              <a:spcAft>
                <a:spcPts val="0"/>
              </a:spcAft>
              <a:buNone/>
            </a:pPr>
            <a:r>
              <a:rPr lang="en-GB">
                <a:solidFill>
                  <a:schemeClr val="dk1"/>
                </a:solidFill>
              </a:rPr>
              <a:t>Inputs look the same and outputs look that same.</a:t>
            </a:r>
            <a:endParaRPr>
              <a:solidFill>
                <a:schemeClr val="dk1"/>
              </a:solidFill>
            </a:endParaRPr>
          </a:p>
          <a:p>
            <a:pPr marL="0" lvl="0" indent="0" algn="l" rtl="0">
              <a:spcBef>
                <a:spcPts val="0"/>
              </a:spcBef>
              <a:spcAft>
                <a:spcPts val="0"/>
              </a:spcAft>
              <a:buNone/>
            </a:pPr>
            <a:r>
              <a:rPr lang="en-GB">
                <a:solidFill>
                  <a:schemeClr val="dk1"/>
                </a:solidFill>
              </a:rPr>
              <a:t>In all these cases the outputs are strict categories or from specific ranges.</a:t>
            </a:r>
            <a:endParaRPr>
              <a:solidFill>
                <a:schemeClr val="dk1"/>
              </a:solidFill>
            </a:endParaRPr>
          </a:p>
          <a:p>
            <a:pPr marL="0" lvl="0" indent="0" algn="l" rtl="0">
              <a:spcBef>
                <a:spcPts val="0"/>
              </a:spcBef>
              <a:spcAft>
                <a:spcPts val="0"/>
              </a:spcAft>
              <a:buNone/>
            </a:pPr>
            <a:endParaRPr>
              <a:solidFill>
                <a:schemeClr val="dk1"/>
              </a:solidFill>
            </a:endParaRPr>
          </a:p>
          <a:p>
            <a:pPr marL="0" lvl="0" indent="0" algn="l" rtl="0">
              <a:spcBef>
                <a:spcPts val="0"/>
              </a:spcBef>
              <a:spcAft>
                <a:spcPts val="0"/>
              </a:spcAft>
              <a:buNone/>
            </a:pPr>
            <a:r>
              <a:rPr lang="en-GB">
                <a:solidFill>
                  <a:schemeClr val="dk1"/>
                </a:solidFill>
              </a:rPr>
              <a:t>Structured prediction – what we predict has structure and grows exponentially with the input.</a:t>
            </a:r>
            <a:endParaRPr>
              <a:solidFill>
                <a:schemeClr val="dk1"/>
              </a:solidFill>
            </a:endParaRPr>
          </a:p>
          <a:p>
            <a:pPr marL="0" lvl="0" indent="0" algn="l" rtl="0">
              <a:spcBef>
                <a:spcPts val="0"/>
              </a:spcBef>
              <a:spcAft>
                <a:spcPts val="0"/>
              </a:spcAft>
              <a:buNone/>
            </a:pPr>
            <a:r>
              <a:rPr lang="en-GB" b="1">
                <a:solidFill>
                  <a:schemeClr val="dk1"/>
                </a:solidFill>
              </a:rPr>
              <a:t>Named entity recognition</a:t>
            </a:r>
            <a:r>
              <a:rPr lang="en-GB">
                <a:solidFill>
                  <a:schemeClr val="dk1"/>
                </a:solidFill>
              </a:rPr>
              <a:t>, every word on its own is a multi-class classification problem, the total prediction is a sequence of predictions.</a:t>
            </a:r>
            <a:endParaRPr>
              <a:solidFill>
                <a:schemeClr val="dk1"/>
              </a:solidFill>
            </a:endParaRPr>
          </a:p>
          <a:p>
            <a:pPr marL="0" lvl="0" indent="0" algn="l" rtl="0">
              <a:spcBef>
                <a:spcPts val="0"/>
              </a:spcBef>
              <a:spcAft>
                <a:spcPts val="0"/>
              </a:spcAft>
              <a:buNone/>
            </a:pPr>
            <a:endParaRPr>
              <a:solidFill>
                <a:srgbClr val="D1D5DB"/>
              </a:solidFill>
            </a:endParaRPr>
          </a:p>
          <a:p>
            <a:pPr marL="0" lvl="0" indent="0" algn="l" rtl="0">
              <a:spcBef>
                <a:spcPts val="0"/>
              </a:spcBef>
              <a:spcAft>
                <a:spcPts val="0"/>
              </a:spcAft>
              <a:buNone/>
            </a:pPr>
            <a:r>
              <a:rPr lang="en-GB" b="0" i="0" u="none" strike="noStrike">
                <a:solidFill>
                  <a:srgbClr val="D1D5DB"/>
                </a:solidFill>
                <a:latin typeface="Arial"/>
                <a:ea typeface="Arial"/>
                <a:cs typeface="Arial"/>
                <a:sym typeface="Arial"/>
              </a:rPr>
              <a:t>Structured prediction is a machine learning approach that involves predicting structured outputs, such as sequences, trees, or graphs, rather than individual labels or scalar values. In other words, instead of simply predicting a single value for a given input, structured prediction methods predict a complex output that is composed of multiple related components. This approach is commonly used in applications such as natural language processing, computer vision, and speech recognition, where the output is not just a single label or value, but rather a sequence or other structured object. Structured prediction methods often make use of probabilistic graphical models, such as conditional random fields or structured support vector machines, to model the complex dependencies between the input and output variables.</a:t>
            </a:r>
            <a:endParaRPr/>
          </a:p>
        </p:txBody>
      </p:sp>
      <p:sp>
        <p:nvSpPr>
          <p:cNvPr id="504" name="Google Shape;504;g31173e2aa90_0_10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153</a:t>
            </a:fld>
            <a:endParaRPr/>
          </a:p>
        </p:txBody>
      </p:sp>
    </p:spTree>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9"/>
        <p:cNvGrpSpPr/>
        <p:nvPr/>
      </p:nvGrpSpPr>
      <p:grpSpPr>
        <a:xfrm>
          <a:off x="0" y="0"/>
          <a:ext cx="0" cy="0"/>
          <a:chOff x="0" y="0"/>
          <a:chExt cx="0" cy="0"/>
        </a:xfrm>
      </p:grpSpPr>
      <p:sp>
        <p:nvSpPr>
          <p:cNvPr id="510" name="Google Shape;510;g30b012314b4_0_390: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t>How can we use an LM to generate text?</a:t>
            </a:r>
            <a:endParaRPr/>
          </a:p>
          <a:p>
            <a:pPr marL="0" lvl="0" indent="0" algn="l" rtl="0">
              <a:spcBef>
                <a:spcPts val="0"/>
              </a:spcBef>
              <a:spcAft>
                <a:spcPts val="0"/>
              </a:spcAft>
              <a:buNone/>
            </a:pPr>
            <a:r>
              <a:rPr lang="en-GB"/>
              <a:t>How to choose the next word?</a:t>
            </a:r>
            <a:endParaRPr/>
          </a:p>
        </p:txBody>
      </p:sp>
      <p:sp>
        <p:nvSpPr>
          <p:cNvPr id="511" name="Google Shape;511;g30b012314b4_0_39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2"/>
        <p:cNvGrpSpPr/>
        <p:nvPr/>
      </p:nvGrpSpPr>
      <p:grpSpPr>
        <a:xfrm>
          <a:off x="0" y="0"/>
          <a:ext cx="0" cy="0"/>
          <a:chOff x="0" y="0"/>
          <a:chExt cx="0" cy="0"/>
        </a:xfrm>
      </p:grpSpPr>
      <p:sp>
        <p:nvSpPr>
          <p:cNvPr id="523" name="Google Shape;523;g30b012314b4_0_402: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24" name="Google Shape;524;g30b012314b4_0_40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7"/>
        <p:cNvGrpSpPr/>
        <p:nvPr/>
      </p:nvGrpSpPr>
      <p:grpSpPr>
        <a:xfrm>
          <a:off x="0" y="0"/>
          <a:ext cx="0" cy="0"/>
          <a:chOff x="0" y="0"/>
          <a:chExt cx="0" cy="0"/>
        </a:xfrm>
      </p:grpSpPr>
      <p:sp>
        <p:nvSpPr>
          <p:cNvPr id="538" name="Google Shape;538;g30b012314b4_0_416: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9" name="Google Shape;539;g30b012314b4_0_4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3"/>
        <p:cNvGrpSpPr/>
        <p:nvPr/>
      </p:nvGrpSpPr>
      <p:grpSpPr>
        <a:xfrm>
          <a:off x="0" y="0"/>
          <a:ext cx="0" cy="0"/>
          <a:chOff x="0" y="0"/>
          <a:chExt cx="0" cy="0"/>
        </a:xfrm>
      </p:grpSpPr>
      <p:sp>
        <p:nvSpPr>
          <p:cNvPr id="554" name="Google Shape;554;g30b012314b4_0_431: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55" name="Google Shape;555;g30b012314b4_0_43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0"/>
        <p:cNvGrpSpPr/>
        <p:nvPr/>
      </p:nvGrpSpPr>
      <p:grpSpPr>
        <a:xfrm>
          <a:off x="0" y="0"/>
          <a:ext cx="0" cy="0"/>
          <a:chOff x="0" y="0"/>
          <a:chExt cx="0" cy="0"/>
        </a:xfrm>
      </p:grpSpPr>
      <p:sp>
        <p:nvSpPr>
          <p:cNvPr id="591" name="Google Shape;591;g30b012314b4_0_466: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t>Model trained on Shakespeare plays</a:t>
            </a:r>
            <a:endParaRPr/>
          </a:p>
          <a:p>
            <a:pPr marL="0" lvl="0" indent="0" algn="l" rtl="0">
              <a:spcBef>
                <a:spcPts val="0"/>
              </a:spcBef>
              <a:spcAft>
                <a:spcPts val="0"/>
              </a:spcAft>
              <a:buNone/>
            </a:pPr>
            <a:r>
              <a:rPr lang="en-GB"/>
              <a:t>Grammatical but incoherent</a:t>
            </a:r>
            <a:endParaRPr/>
          </a:p>
        </p:txBody>
      </p:sp>
      <p:sp>
        <p:nvSpPr>
          <p:cNvPr id="592" name="Google Shape;592;g30b012314b4_0_46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0">
          <a:extLst>
            <a:ext uri="{FF2B5EF4-FFF2-40B4-BE49-F238E27FC236}">
              <a16:creationId xmlns:a16="http://schemas.microsoft.com/office/drawing/2014/main" id="{60FFC6FC-DB72-C22C-CBF6-6D28AF992D54}"/>
            </a:ext>
          </a:extLst>
        </p:cNvPr>
        <p:cNvGrpSpPr/>
        <p:nvPr/>
      </p:nvGrpSpPr>
      <p:grpSpPr>
        <a:xfrm>
          <a:off x="0" y="0"/>
          <a:ext cx="0" cy="0"/>
          <a:chOff x="0" y="0"/>
          <a:chExt cx="0" cy="0"/>
        </a:xfrm>
      </p:grpSpPr>
      <p:sp>
        <p:nvSpPr>
          <p:cNvPr id="591" name="Google Shape;591;g30b012314b4_0_466:notes">
            <a:extLst>
              <a:ext uri="{FF2B5EF4-FFF2-40B4-BE49-F238E27FC236}">
                <a16:creationId xmlns:a16="http://schemas.microsoft.com/office/drawing/2014/main" id="{CB698A70-C0F5-9ABF-7F25-E3073CF13191}"/>
              </a:ext>
            </a:extLst>
          </p:cNvPr>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t>Model trained on Shakespeare plays</a:t>
            </a:r>
            <a:endParaRPr/>
          </a:p>
          <a:p>
            <a:pPr marL="0" lvl="0" indent="0" algn="l" rtl="0">
              <a:spcBef>
                <a:spcPts val="0"/>
              </a:spcBef>
              <a:spcAft>
                <a:spcPts val="0"/>
              </a:spcAft>
              <a:buNone/>
            </a:pPr>
            <a:r>
              <a:rPr lang="en-GB"/>
              <a:t>Grammatical but incoherent</a:t>
            </a:r>
            <a:endParaRPr/>
          </a:p>
        </p:txBody>
      </p:sp>
      <p:sp>
        <p:nvSpPr>
          <p:cNvPr id="592" name="Google Shape;592;g30b012314b4_0_466:notes">
            <a:extLst>
              <a:ext uri="{FF2B5EF4-FFF2-40B4-BE49-F238E27FC236}">
                <a16:creationId xmlns:a16="http://schemas.microsoft.com/office/drawing/2014/main" id="{10F86956-4EC3-D253-63C8-4E91214E16E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75977513"/>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6"/>
        <p:cNvGrpSpPr/>
        <p:nvPr/>
      </p:nvGrpSpPr>
      <p:grpSpPr>
        <a:xfrm>
          <a:off x="0" y="0"/>
          <a:ext cx="0" cy="0"/>
          <a:chOff x="0" y="0"/>
          <a:chExt cx="0" cy="0"/>
        </a:xfrm>
      </p:grpSpPr>
      <p:sp>
        <p:nvSpPr>
          <p:cNvPr id="597" name="Google Shape;597;g30b012314b4_0_47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98" name="Google Shape;598;g30b012314b4_0_47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GB"/>
              <a:t>Grammatical and coherent</a:t>
            </a:r>
            <a:endParaRPr/>
          </a:p>
          <a:p>
            <a:pPr marL="0" lvl="0" indent="0" algn="l" rtl="0">
              <a:spcBef>
                <a:spcPts val="0"/>
              </a:spcBef>
              <a:spcAft>
                <a:spcPts val="0"/>
              </a:spcAft>
              <a:buNone/>
            </a:pPr>
            <a:r>
              <a:rPr lang="en-GB"/>
              <a:t>Does it think about the story? No it makes local decisions, sometimes if a rare word is sampled then the model needs to make the text grammatical. Statistical machines.</a:t>
            </a:r>
            <a:endParaRPr/>
          </a:p>
        </p:txBody>
      </p:sp>
      <p:sp>
        <p:nvSpPr>
          <p:cNvPr id="599" name="Google Shape;599;g30b012314b4_0_47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161</a:t>
            </a:fld>
            <a:endParaRPr/>
          </a:p>
        </p:txBody>
      </p:sp>
    </p:spTree>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6">
          <a:extLst>
            <a:ext uri="{FF2B5EF4-FFF2-40B4-BE49-F238E27FC236}">
              <a16:creationId xmlns:a16="http://schemas.microsoft.com/office/drawing/2014/main" id="{2796924F-3261-6D29-A699-E48D88101EA9}"/>
            </a:ext>
          </a:extLst>
        </p:cNvPr>
        <p:cNvGrpSpPr/>
        <p:nvPr/>
      </p:nvGrpSpPr>
      <p:grpSpPr>
        <a:xfrm>
          <a:off x="0" y="0"/>
          <a:ext cx="0" cy="0"/>
          <a:chOff x="0" y="0"/>
          <a:chExt cx="0" cy="0"/>
        </a:xfrm>
      </p:grpSpPr>
      <p:sp>
        <p:nvSpPr>
          <p:cNvPr id="597" name="Google Shape;597;g30b012314b4_0_471:notes">
            <a:extLst>
              <a:ext uri="{FF2B5EF4-FFF2-40B4-BE49-F238E27FC236}">
                <a16:creationId xmlns:a16="http://schemas.microsoft.com/office/drawing/2014/main" id="{0EDC2005-8CF7-2DCB-9C19-16BDC1A7124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98" name="Google Shape;598;g30b012314b4_0_471:notes">
            <a:extLst>
              <a:ext uri="{FF2B5EF4-FFF2-40B4-BE49-F238E27FC236}">
                <a16:creationId xmlns:a16="http://schemas.microsoft.com/office/drawing/2014/main" id="{2A3782E3-38AE-23C4-EADB-A95C66846736}"/>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GB"/>
              <a:t>Grammatical and coherent</a:t>
            </a:r>
            <a:endParaRPr/>
          </a:p>
          <a:p>
            <a:pPr marL="0" lvl="0" indent="0" algn="l" rtl="0">
              <a:spcBef>
                <a:spcPts val="0"/>
              </a:spcBef>
              <a:spcAft>
                <a:spcPts val="0"/>
              </a:spcAft>
              <a:buNone/>
            </a:pPr>
            <a:r>
              <a:rPr lang="en-GB"/>
              <a:t>Does it think about the story? No it makes local decisions, sometimes if a rare word is sampled then the model needs to make the text grammatical. Statistical machines.</a:t>
            </a:r>
            <a:endParaRPr/>
          </a:p>
        </p:txBody>
      </p:sp>
      <p:sp>
        <p:nvSpPr>
          <p:cNvPr id="599" name="Google Shape;599;g30b012314b4_0_471:notes">
            <a:extLst>
              <a:ext uri="{FF2B5EF4-FFF2-40B4-BE49-F238E27FC236}">
                <a16:creationId xmlns:a16="http://schemas.microsoft.com/office/drawing/2014/main" id="{F03035F0-D1D6-1247-46C1-792A24A5F947}"/>
              </a:ext>
            </a:extLst>
          </p:cNvPr>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162</a:t>
            </a:fld>
            <a:endParaRPr/>
          </a:p>
        </p:txBody>
      </p:sp>
    </p:spTree>
    <p:extLst>
      <p:ext uri="{BB962C8B-B14F-4D97-AF65-F5344CB8AC3E}">
        <p14:creationId xmlns:p14="http://schemas.microsoft.com/office/powerpoint/2010/main" val="3221796773"/>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4"/>
        <p:cNvGrpSpPr/>
        <p:nvPr/>
      </p:nvGrpSpPr>
      <p:grpSpPr>
        <a:xfrm>
          <a:off x="0" y="0"/>
          <a:ext cx="0" cy="0"/>
          <a:chOff x="0" y="0"/>
          <a:chExt cx="0" cy="0"/>
        </a:xfrm>
      </p:grpSpPr>
      <p:sp>
        <p:nvSpPr>
          <p:cNvPr id="605" name="Google Shape;605;g341a228298b_0_12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06" name="Google Shape;606;g341a228298b_0_12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07" name="Google Shape;607;g341a228298b_0_12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163</a:t>
            </a:fld>
            <a:endParaRPr/>
          </a:p>
        </p:txBody>
      </p:sp>
    </p:spTree>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1"/>
        <p:cNvGrpSpPr/>
        <p:nvPr/>
      </p:nvGrpSpPr>
      <p:grpSpPr>
        <a:xfrm>
          <a:off x="0" y="0"/>
          <a:ext cx="0" cy="0"/>
          <a:chOff x="0" y="0"/>
          <a:chExt cx="0" cy="0"/>
        </a:xfrm>
      </p:grpSpPr>
      <p:sp>
        <p:nvSpPr>
          <p:cNvPr id="612" name="Google Shape;612;g30b012314b4_0_47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13" name="Google Shape;613;g30b012314b4_0_47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GB"/>
              <a:t>Some trigrams are not probable for the model.</a:t>
            </a:r>
            <a:endParaRPr/>
          </a:p>
          <a:p>
            <a:pPr marL="0" lvl="0" indent="0" algn="l" rtl="0">
              <a:spcBef>
                <a:spcPts val="0"/>
              </a:spcBef>
              <a:spcAft>
                <a:spcPts val="0"/>
              </a:spcAft>
              <a:buNone/>
            </a:pPr>
            <a:r>
              <a:rPr lang="en-GB"/>
              <a:t>In perplexity evaluation what happens if we see a bigram we didn’t see in training? It is undefined</a:t>
            </a:r>
            <a:endParaRPr/>
          </a:p>
          <a:p>
            <a:pPr marL="0" lvl="0" indent="0" algn="l" rtl="0">
              <a:spcBef>
                <a:spcPts val="0"/>
              </a:spcBef>
              <a:spcAft>
                <a:spcPts val="0"/>
              </a:spcAft>
              <a:buNone/>
            </a:pPr>
            <a:endParaRPr/>
          </a:p>
          <a:p>
            <a:pPr marL="0" lvl="0" indent="0" algn="l" rtl="0">
              <a:spcBef>
                <a:spcPts val="0"/>
              </a:spcBef>
              <a:spcAft>
                <a:spcPts val="0"/>
              </a:spcAft>
              <a:buNone/>
            </a:pPr>
            <a:r>
              <a:rPr lang="en-GB"/>
              <a:t>Surprisingly grammatical!</a:t>
            </a:r>
            <a:endParaRPr/>
          </a:p>
          <a:p>
            <a:pPr marL="0" lvl="0" indent="0" algn="l" rtl="0">
              <a:spcBef>
                <a:spcPts val="0"/>
              </a:spcBef>
              <a:spcAft>
                <a:spcPts val="0"/>
              </a:spcAft>
              <a:buNone/>
            </a:pPr>
            <a:endParaRPr/>
          </a:p>
          <a:p>
            <a:pPr marL="0" lvl="0" indent="0" algn="l" rtl="0">
              <a:spcBef>
                <a:spcPts val="0"/>
              </a:spcBef>
              <a:spcAft>
                <a:spcPts val="0"/>
              </a:spcAft>
              <a:buNone/>
            </a:pPr>
            <a:r>
              <a:rPr lang="en-GB"/>
              <a:t>…but incoherent. We need to consider more than three words at a time if we want to model language well.</a:t>
            </a:r>
            <a:endParaRPr/>
          </a:p>
          <a:p>
            <a:pPr marL="0" lvl="0" indent="0" algn="l" rtl="0">
              <a:spcBef>
                <a:spcPts val="0"/>
              </a:spcBef>
              <a:spcAft>
                <a:spcPts val="0"/>
              </a:spcAft>
              <a:buNone/>
            </a:pPr>
            <a:endParaRPr/>
          </a:p>
          <a:p>
            <a:pPr marL="0" lvl="0" indent="0" algn="l" rtl="0">
              <a:spcBef>
                <a:spcPts val="0"/>
              </a:spcBef>
              <a:spcAft>
                <a:spcPts val="0"/>
              </a:spcAft>
              <a:buNone/>
            </a:pPr>
            <a:r>
              <a:rPr lang="en-GB"/>
              <a:t>But increasing n worsens sparsity problem, and increases model size…</a:t>
            </a:r>
            <a:endParaRPr/>
          </a:p>
        </p:txBody>
      </p:sp>
      <p:sp>
        <p:nvSpPr>
          <p:cNvPr id="614" name="Google Shape;614;g30b012314b4_0_47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164</a:t>
            </a:fld>
            <a:endParaRPr/>
          </a:p>
        </p:txBody>
      </p:sp>
    </p:spTree>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0"/>
        <p:cNvGrpSpPr/>
        <p:nvPr/>
      </p:nvGrpSpPr>
      <p:grpSpPr>
        <a:xfrm>
          <a:off x="0" y="0"/>
          <a:ext cx="0" cy="0"/>
          <a:chOff x="0" y="0"/>
          <a:chExt cx="0" cy="0"/>
        </a:xfrm>
      </p:grpSpPr>
      <p:sp>
        <p:nvSpPr>
          <p:cNvPr id="621" name="Google Shape;621;g30b0ca4a75f_0_20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22" name="Google Shape;622;g30b0ca4a75f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GB"/>
              <a:t>Surprisingly grammatical!</a:t>
            </a:r>
            <a:endParaRPr/>
          </a:p>
          <a:p>
            <a:pPr marL="0" lvl="0" indent="0" algn="l" rtl="0">
              <a:spcBef>
                <a:spcPts val="0"/>
              </a:spcBef>
              <a:spcAft>
                <a:spcPts val="0"/>
              </a:spcAft>
              <a:buNone/>
            </a:pPr>
            <a:endParaRPr/>
          </a:p>
          <a:p>
            <a:pPr marL="0" lvl="0" indent="0" algn="l" rtl="0">
              <a:spcBef>
                <a:spcPts val="0"/>
              </a:spcBef>
              <a:spcAft>
                <a:spcPts val="0"/>
              </a:spcAft>
              <a:buNone/>
            </a:pPr>
            <a:r>
              <a:rPr lang="en-GB"/>
              <a:t>…but incoherent. We need to consider more than three words at a time if we want to model language well.</a:t>
            </a:r>
            <a:endParaRPr/>
          </a:p>
          <a:p>
            <a:pPr marL="0" lvl="0" indent="0" algn="l" rtl="0">
              <a:spcBef>
                <a:spcPts val="0"/>
              </a:spcBef>
              <a:spcAft>
                <a:spcPts val="0"/>
              </a:spcAft>
              <a:buNone/>
            </a:pPr>
            <a:endParaRPr/>
          </a:p>
          <a:p>
            <a:pPr marL="0" lvl="0" indent="0" algn="l" rtl="0">
              <a:spcBef>
                <a:spcPts val="0"/>
              </a:spcBef>
              <a:spcAft>
                <a:spcPts val="0"/>
              </a:spcAft>
              <a:buNone/>
            </a:pPr>
            <a:r>
              <a:rPr lang="en-GB"/>
              <a:t>But increasing n worsens sparsity problem, and increases model size…</a:t>
            </a:r>
            <a:endParaRPr/>
          </a:p>
        </p:txBody>
      </p:sp>
      <p:sp>
        <p:nvSpPr>
          <p:cNvPr id="623" name="Google Shape;623;g30b0ca4a75f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165</a:t>
            </a:fld>
            <a:endParaRPr/>
          </a:p>
        </p:txBody>
      </p:sp>
    </p:spTree>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5"/>
        <p:cNvGrpSpPr/>
        <p:nvPr/>
      </p:nvGrpSpPr>
      <p:grpSpPr>
        <a:xfrm>
          <a:off x="0" y="0"/>
          <a:ext cx="0" cy="0"/>
          <a:chOff x="0" y="0"/>
          <a:chExt cx="0" cy="0"/>
        </a:xfrm>
      </p:grpSpPr>
      <p:sp>
        <p:nvSpPr>
          <p:cNvPr id="636" name="Google Shape;636;g30b0ca4a75f_0_2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37" name="Google Shape;637;g30b0ca4a75f_0_22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GB"/>
              <a:t>Dealing with the undefined probabilities problem.</a:t>
            </a:r>
            <a:endParaRPr/>
          </a:p>
          <a:p>
            <a:pPr marL="0" lvl="0" indent="0" algn="l" rtl="0">
              <a:spcBef>
                <a:spcPts val="0"/>
              </a:spcBef>
              <a:spcAft>
                <a:spcPts val="0"/>
              </a:spcAft>
              <a:buNone/>
            </a:pPr>
            <a:endParaRPr/>
          </a:p>
          <a:p>
            <a:pPr marL="0" lvl="0" indent="0" algn="l" rtl="0">
              <a:spcBef>
                <a:spcPts val="0"/>
              </a:spcBef>
              <a:spcAft>
                <a:spcPts val="0"/>
              </a:spcAft>
              <a:buNone/>
            </a:pPr>
            <a:r>
              <a:rPr lang="en-GB"/>
              <a:t>Want to take the best of all worlds – unigram/bigram makes very local decisions, they underfit but help up to overcome overfitting. N-grams with large n are prune to memorization, whenever we see a certain prefix the model will generate verbatim.</a:t>
            </a:r>
            <a:endParaRPr/>
          </a:p>
          <a:p>
            <a:pPr marL="0" lvl="0" indent="0" algn="l" rtl="0">
              <a:spcBef>
                <a:spcPts val="0"/>
              </a:spcBef>
              <a:spcAft>
                <a:spcPts val="0"/>
              </a:spcAft>
              <a:buNone/>
            </a:pPr>
            <a:endParaRPr/>
          </a:p>
          <a:p>
            <a:pPr marL="0" lvl="0" indent="0" algn="l" rtl="0">
              <a:spcBef>
                <a:spcPts val="0"/>
              </a:spcBef>
              <a:spcAft>
                <a:spcPts val="0"/>
              </a:spcAft>
              <a:buNone/>
            </a:pPr>
            <a:r>
              <a:rPr lang="en-GB"/>
              <a:t>Convex combination between the three of them.</a:t>
            </a:r>
            <a:endParaRPr/>
          </a:p>
          <a:p>
            <a:pPr marL="0" lvl="0" indent="0" algn="l" rtl="0">
              <a:spcBef>
                <a:spcPts val="0"/>
              </a:spcBef>
              <a:spcAft>
                <a:spcPts val="0"/>
              </a:spcAft>
              <a:buNone/>
            </a:pPr>
            <a:r>
              <a:rPr lang="en-GB"/>
              <a:t>How to choose the lambda hyperparameters? Can use the training data – split validation set. Greed search.</a:t>
            </a:r>
            <a:endParaRPr/>
          </a:p>
        </p:txBody>
      </p:sp>
      <p:sp>
        <p:nvSpPr>
          <p:cNvPr id="638" name="Google Shape;638;g30b0ca4a75f_0_22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166</a:t>
            </a:fld>
            <a:endParaRPr/>
          </a:p>
        </p:txBody>
      </p:sp>
    </p:spTree>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4"/>
        <p:cNvGrpSpPr/>
        <p:nvPr/>
      </p:nvGrpSpPr>
      <p:grpSpPr>
        <a:xfrm>
          <a:off x="0" y="0"/>
          <a:ext cx="0" cy="0"/>
          <a:chOff x="0" y="0"/>
          <a:chExt cx="0" cy="0"/>
        </a:xfrm>
      </p:grpSpPr>
      <p:sp>
        <p:nvSpPr>
          <p:cNvPr id="645" name="Google Shape;645;g31173e2aa90_0_10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46" name="Google Shape;646;g31173e2aa90_0_10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GB"/>
              <a:t>Solves the problem of 0 probability for the trigram model – if the trigram model didn’t see the trigram it will give 0 but the other models will given &gt;0 probabilities. Still doesn’t solve the undefined probability for the trigram model.</a:t>
            </a:r>
            <a:endParaRPr/>
          </a:p>
          <a:p>
            <a:pPr marL="0" lvl="0" indent="0" algn="l" rtl="0">
              <a:spcBef>
                <a:spcPts val="0"/>
              </a:spcBef>
              <a:spcAft>
                <a:spcPts val="0"/>
              </a:spcAft>
              <a:buNone/>
            </a:pPr>
            <a:endParaRPr/>
          </a:p>
        </p:txBody>
      </p:sp>
      <p:sp>
        <p:nvSpPr>
          <p:cNvPr id="647" name="Google Shape;647;g31173e2aa90_0_10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167</a:t>
            </a:fld>
            <a:endParaRPr/>
          </a:p>
        </p:txBody>
      </p:sp>
    </p:spTree>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2"/>
        <p:cNvGrpSpPr/>
        <p:nvPr/>
      </p:nvGrpSpPr>
      <p:grpSpPr>
        <a:xfrm>
          <a:off x="0" y="0"/>
          <a:ext cx="0" cy="0"/>
          <a:chOff x="0" y="0"/>
          <a:chExt cx="0" cy="0"/>
        </a:xfrm>
      </p:grpSpPr>
      <p:sp>
        <p:nvSpPr>
          <p:cNvPr id="653" name="Google Shape;653;g30b012314b4_0_491: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t>There are specific cases where one model fits more than the others. So we make the decision more dynamic.</a:t>
            </a:r>
            <a:endParaRPr/>
          </a:p>
          <a:p>
            <a:pPr marL="0" lvl="0" indent="0" algn="l" rtl="0">
              <a:spcBef>
                <a:spcPts val="0"/>
              </a:spcBef>
              <a:spcAft>
                <a:spcPts val="0"/>
              </a:spcAft>
              <a:buNone/>
            </a:pPr>
            <a:r>
              <a:rPr lang="en-GB"/>
              <a:t>Decision function – based on the count of the 2 previous words, we choose which set of labdas to use.</a:t>
            </a:r>
            <a:endParaRPr/>
          </a:p>
        </p:txBody>
      </p:sp>
      <p:sp>
        <p:nvSpPr>
          <p:cNvPr id="654" name="Google Shape;654;g30b012314b4_0_49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0"/>
        <p:cNvGrpSpPr/>
        <p:nvPr/>
      </p:nvGrpSpPr>
      <p:grpSpPr>
        <a:xfrm>
          <a:off x="0" y="0"/>
          <a:ext cx="0" cy="0"/>
          <a:chOff x="0" y="0"/>
          <a:chExt cx="0" cy="0"/>
        </a:xfrm>
      </p:grpSpPr>
      <p:sp>
        <p:nvSpPr>
          <p:cNvPr id="661" name="Google Shape;661;g31173e2aa90_0_115: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t>There are specific cases where one model fits more than the others. So we make the decision more dynamic.</a:t>
            </a:r>
            <a:endParaRPr/>
          </a:p>
          <a:p>
            <a:pPr marL="0" lvl="0" indent="0" algn="l" rtl="0">
              <a:spcBef>
                <a:spcPts val="0"/>
              </a:spcBef>
              <a:spcAft>
                <a:spcPts val="0"/>
              </a:spcAft>
              <a:buNone/>
            </a:pPr>
            <a:endParaRPr/>
          </a:p>
          <a:p>
            <a:pPr marL="0" lvl="0" indent="0" algn="l" rtl="0">
              <a:spcBef>
                <a:spcPts val="0"/>
              </a:spcBef>
              <a:spcAft>
                <a:spcPts val="0"/>
              </a:spcAft>
              <a:buNone/>
            </a:pPr>
            <a:r>
              <a:rPr lang="en-GB"/>
              <a:t>j = decision(wi-2,wi-1)</a:t>
            </a:r>
            <a:endParaRPr/>
          </a:p>
          <a:p>
            <a:pPr marL="0" lvl="0" indent="0" algn="l" rtl="0">
              <a:spcBef>
                <a:spcPts val="0"/>
              </a:spcBef>
              <a:spcAft>
                <a:spcPts val="0"/>
              </a:spcAft>
              <a:buNone/>
            </a:pPr>
            <a:r>
              <a:rPr lang="en-GB"/>
              <a:t>j=1 (unknown bigram → weight on unigram model): lambda1 0.05, </a:t>
            </a:r>
            <a:r>
              <a:rPr lang="en-GB">
                <a:solidFill>
                  <a:schemeClr val="dk1"/>
                </a:solidFill>
              </a:rPr>
              <a:t>lambda2 </a:t>
            </a:r>
            <a:r>
              <a:rPr lang="en-GB"/>
              <a:t>0.2, </a:t>
            </a:r>
            <a:r>
              <a:rPr lang="en-GB">
                <a:solidFill>
                  <a:schemeClr val="dk1"/>
                </a:solidFill>
              </a:rPr>
              <a:t>lambda3 </a:t>
            </a:r>
            <a:r>
              <a:rPr lang="en-GB"/>
              <a:t>0.75 </a:t>
            </a:r>
            <a:endParaRPr/>
          </a:p>
          <a:p>
            <a:pPr marL="0" lvl="0" indent="0" algn="l" rtl="0">
              <a:spcBef>
                <a:spcPts val="0"/>
              </a:spcBef>
              <a:spcAft>
                <a:spcPts val="0"/>
              </a:spcAft>
              <a:buNone/>
            </a:pPr>
            <a:r>
              <a:rPr lang="en-GB">
                <a:solidFill>
                  <a:schemeClr val="dk1"/>
                </a:solidFill>
              </a:rPr>
              <a:t>j=2 (rare bigram → more balanced): lambda1 0.2, lambda2 0.5, lambda3 0.15 </a:t>
            </a:r>
            <a:endParaRPr>
              <a:solidFill>
                <a:schemeClr val="dk1"/>
              </a:solidFill>
            </a:endParaRPr>
          </a:p>
          <a:p>
            <a:pPr marL="0" lvl="0" indent="0" algn="l" rtl="0">
              <a:spcBef>
                <a:spcPts val="0"/>
              </a:spcBef>
              <a:spcAft>
                <a:spcPts val="0"/>
              </a:spcAft>
              <a:buNone/>
            </a:pPr>
            <a:r>
              <a:rPr lang="en-GB">
                <a:solidFill>
                  <a:schemeClr val="dk1"/>
                </a:solidFill>
              </a:rPr>
              <a:t>j=3 (frequent bigram → weight on the trigram model): lambda1 0.8, lambda2 0.15, lambda3 0.05 </a:t>
            </a:r>
            <a:endParaRPr>
              <a:solidFill>
                <a:schemeClr val="dk1"/>
              </a:solidFill>
            </a:endParaRPr>
          </a:p>
          <a:p>
            <a:pPr marL="0" lvl="0" indent="0" algn="l" rtl="0">
              <a:spcBef>
                <a:spcPts val="0"/>
              </a:spcBef>
              <a:spcAft>
                <a:spcPts val="0"/>
              </a:spcAft>
              <a:buNone/>
            </a:pPr>
            <a:endParaRPr>
              <a:solidFill>
                <a:schemeClr val="dk1"/>
              </a:solidFill>
            </a:endParaRPr>
          </a:p>
          <a:p>
            <a:pPr marL="0" lvl="0" indent="0" algn="l" rtl="0">
              <a:spcBef>
                <a:spcPts val="0"/>
              </a:spcBef>
              <a:spcAft>
                <a:spcPts val="0"/>
              </a:spcAft>
              <a:buClr>
                <a:schemeClr val="dk1"/>
              </a:buClr>
              <a:buSzPts val="1100"/>
              <a:buFont typeface="Arial"/>
              <a:buNone/>
            </a:pPr>
            <a:r>
              <a:rPr lang="en-GB">
                <a:solidFill>
                  <a:schemeClr val="dk1"/>
                </a:solidFill>
              </a:rPr>
              <a:t>Still 0 probability and undefined probability problems for the trigram model. </a:t>
            </a:r>
            <a:endParaRPr>
              <a:solidFill>
                <a:schemeClr val="dk1"/>
              </a:solidFill>
            </a:endParaRPr>
          </a:p>
          <a:p>
            <a:pPr marL="0" lvl="0" indent="0" algn="l" rtl="0">
              <a:spcBef>
                <a:spcPts val="0"/>
              </a:spcBef>
              <a:spcAft>
                <a:spcPts val="0"/>
              </a:spcAft>
              <a:buClr>
                <a:schemeClr val="dk1"/>
              </a:buClr>
              <a:buSzPts val="1100"/>
              <a:buFont typeface="Arial"/>
              <a:buNone/>
            </a:pPr>
            <a:r>
              <a:rPr lang="en-GB">
                <a:solidFill>
                  <a:schemeClr val="dk1"/>
                </a:solidFill>
              </a:rPr>
              <a:t>Still unsolved is the unknown words problem: what about undefined probability for the bigram model or 0 probability for the unigram model?</a:t>
            </a:r>
            <a:endParaRPr>
              <a:solidFill>
                <a:schemeClr val="dk1"/>
              </a:solidFill>
            </a:endParaRPr>
          </a:p>
        </p:txBody>
      </p:sp>
      <p:sp>
        <p:nvSpPr>
          <p:cNvPr id="662" name="Google Shape;662;g31173e2aa90_0_1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7"/>
        <p:cNvGrpSpPr/>
        <p:nvPr/>
      </p:nvGrpSpPr>
      <p:grpSpPr>
        <a:xfrm>
          <a:off x="0" y="0"/>
          <a:ext cx="0" cy="0"/>
          <a:chOff x="0" y="0"/>
          <a:chExt cx="0" cy="0"/>
        </a:xfrm>
      </p:grpSpPr>
      <p:sp>
        <p:nvSpPr>
          <p:cNvPr id="668" name="Google Shape;668;g34338de992e_0_26: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GB">
                <a:solidFill>
                  <a:schemeClr val="dk1"/>
                </a:solidFill>
              </a:rPr>
              <a:t>Still 0 probability and undefined probability problems for the trigram model. </a:t>
            </a:r>
            <a:endParaRPr>
              <a:solidFill>
                <a:schemeClr val="dk1"/>
              </a:solidFill>
            </a:endParaRPr>
          </a:p>
          <a:p>
            <a:pPr marL="0" lvl="0" indent="0" algn="l" rtl="0">
              <a:spcBef>
                <a:spcPts val="0"/>
              </a:spcBef>
              <a:spcAft>
                <a:spcPts val="0"/>
              </a:spcAft>
              <a:buNone/>
            </a:pPr>
            <a:r>
              <a:rPr lang="en-GB">
                <a:solidFill>
                  <a:schemeClr val="dk1"/>
                </a:solidFill>
              </a:rPr>
              <a:t>Still unsolved is the unknown words problem: what about undefined probability for the bigram model or 0 probability for the unigram model?</a:t>
            </a:r>
            <a:endParaRPr>
              <a:solidFill>
                <a:schemeClr val="dk1"/>
              </a:solidFill>
            </a:endParaRPr>
          </a:p>
          <a:p>
            <a:pPr marL="0" lvl="0" indent="0" algn="l" rtl="0">
              <a:spcBef>
                <a:spcPts val="0"/>
              </a:spcBef>
              <a:spcAft>
                <a:spcPts val="0"/>
              </a:spcAft>
              <a:buClr>
                <a:schemeClr val="dk1"/>
              </a:buClr>
              <a:buSzPts val="1100"/>
              <a:buFont typeface="Arial"/>
              <a:buNone/>
            </a:pPr>
            <a:endParaRPr>
              <a:solidFill>
                <a:schemeClr val="dk1"/>
              </a:solidFill>
            </a:endParaRPr>
          </a:p>
          <a:p>
            <a:pPr marL="0" lvl="0" indent="0" algn="l" rtl="0">
              <a:spcBef>
                <a:spcPts val="0"/>
              </a:spcBef>
              <a:spcAft>
                <a:spcPts val="0"/>
              </a:spcAft>
              <a:buNone/>
            </a:pPr>
            <a:r>
              <a:rPr lang="en-GB"/>
              <a:t>There are specific cases where one model fits more than the others. So we make the decision more dynamic.</a:t>
            </a:r>
            <a:endParaRPr/>
          </a:p>
          <a:p>
            <a:pPr marL="0" lvl="0" indent="0" algn="l" rtl="0">
              <a:spcBef>
                <a:spcPts val="0"/>
              </a:spcBef>
              <a:spcAft>
                <a:spcPts val="0"/>
              </a:spcAft>
              <a:buNone/>
            </a:pPr>
            <a:r>
              <a:rPr lang="en-GB"/>
              <a:t>j = decision(wi-2,wi-1)</a:t>
            </a:r>
            <a:endParaRPr/>
          </a:p>
          <a:p>
            <a:pPr marL="0" lvl="0" indent="0" algn="l" rtl="0">
              <a:spcBef>
                <a:spcPts val="0"/>
              </a:spcBef>
              <a:spcAft>
                <a:spcPts val="0"/>
              </a:spcAft>
              <a:buNone/>
            </a:pPr>
            <a:r>
              <a:rPr lang="en-GB"/>
              <a:t>j=1 (unknown bigram → weight on unigram model): lambda1 0.05, </a:t>
            </a:r>
            <a:r>
              <a:rPr lang="en-GB">
                <a:solidFill>
                  <a:schemeClr val="dk1"/>
                </a:solidFill>
              </a:rPr>
              <a:t>lambda2 </a:t>
            </a:r>
            <a:r>
              <a:rPr lang="en-GB"/>
              <a:t>0.2, </a:t>
            </a:r>
            <a:r>
              <a:rPr lang="en-GB">
                <a:solidFill>
                  <a:schemeClr val="dk1"/>
                </a:solidFill>
              </a:rPr>
              <a:t>lambda3 </a:t>
            </a:r>
            <a:r>
              <a:rPr lang="en-GB"/>
              <a:t>0.75 </a:t>
            </a:r>
            <a:endParaRPr/>
          </a:p>
          <a:p>
            <a:pPr marL="0" lvl="0" indent="0" algn="l" rtl="0">
              <a:spcBef>
                <a:spcPts val="0"/>
              </a:spcBef>
              <a:spcAft>
                <a:spcPts val="0"/>
              </a:spcAft>
              <a:buNone/>
            </a:pPr>
            <a:r>
              <a:rPr lang="en-GB">
                <a:solidFill>
                  <a:schemeClr val="dk1"/>
                </a:solidFill>
              </a:rPr>
              <a:t>j=2 (rare bigram → more balanced): lambda1 0.2, lambda2 0.5, lambda3 0.15 </a:t>
            </a:r>
            <a:endParaRPr>
              <a:solidFill>
                <a:schemeClr val="dk1"/>
              </a:solidFill>
            </a:endParaRPr>
          </a:p>
          <a:p>
            <a:pPr marL="0" lvl="0" indent="0" algn="l" rtl="0">
              <a:spcBef>
                <a:spcPts val="0"/>
              </a:spcBef>
              <a:spcAft>
                <a:spcPts val="0"/>
              </a:spcAft>
              <a:buNone/>
            </a:pPr>
            <a:r>
              <a:rPr lang="en-GB">
                <a:solidFill>
                  <a:schemeClr val="dk1"/>
                </a:solidFill>
              </a:rPr>
              <a:t>j=3 (frequent bigram → weight on the trigram model): lambda1 0.8, lambda2 0.15, lambda3 0.05 </a:t>
            </a:r>
            <a:endParaRPr>
              <a:solidFill>
                <a:schemeClr val="dk1"/>
              </a:solidFill>
            </a:endParaRPr>
          </a:p>
          <a:p>
            <a:pPr marL="0" lvl="0" indent="0" algn="l" rtl="0">
              <a:spcBef>
                <a:spcPts val="0"/>
              </a:spcBef>
              <a:spcAft>
                <a:spcPts val="0"/>
              </a:spcAft>
              <a:buNone/>
            </a:pPr>
            <a:endParaRPr>
              <a:solidFill>
                <a:schemeClr val="dk1"/>
              </a:solidFill>
            </a:endParaRPr>
          </a:p>
          <a:p>
            <a:pPr marL="0" lvl="0" indent="0" algn="l" rtl="0">
              <a:spcBef>
                <a:spcPts val="0"/>
              </a:spcBef>
              <a:spcAft>
                <a:spcPts val="0"/>
              </a:spcAft>
              <a:buClr>
                <a:schemeClr val="dk1"/>
              </a:buClr>
              <a:buSzPts val="1100"/>
              <a:buFont typeface="Arial"/>
              <a:buNone/>
            </a:pPr>
            <a:endParaRPr>
              <a:solidFill>
                <a:schemeClr val="dk1"/>
              </a:solidFill>
            </a:endParaRPr>
          </a:p>
        </p:txBody>
      </p:sp>
      <p:sp>
        <p:nvSpPr>
          <p:cNvPr id="669" name="Google Shape;669;g34338de992e_0_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7">
          <a:extLst>
            <a:ext uri="{FF2B5EF4-FFF2-40B4-BE49-F238E27FC236}">
              <a16:creationId xmlns:a16="http://schemas.microsoft.com/office/drawing/2014/main" id="{BD929D73-4B1C-C582-4FF8-017910B4245B}"/>
            </a:ext>
          </a:extLst>
        </p:cNvPr>
        <p:cNvGrpSpPr/>
        <p:nvPr/>
      </p:nvGrpSpPr>
      <p:grpSpPr>
        <a:xfrm>
          <a:off x="0" y="0"/>
          <a:ext cx="0" cy="0"/>
          <a:chOff x="0" y="0"/>
          <a:chExt cx="0" cy="0"/>
        </a:xfrm>
      </p:grpSpPr>
      <p:sp>
        <p:nvSpPr>
          <p:cNvPr id="668" name="Google Shape;668;g34338de992e_0_26:notes">
            <a:extLst>
              <a:ext uri="{FF2B5EF4-FFF2-40B4-BE49-F238E27FC236}">
                <a16:creationId xmlns:a16="http://schemas.microsoft.com/office/drawing/2014/main" id="{A549EE78-8D12-C88B-657C-498CBD9D7013}"/>
              </a:ext>
            </a:extLst>
          </p:cNvPr>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GB">
                <a:solidFill>
                  <a:schemeClr val="dk1"/>
                </a:solidFill>
              </a:rPr>
              <a:t>Still 0 probability and undefined probability problems for the trigram model. </a:t>
            </a:r>
            <a:endParaRPr>
              <a:solidFill>
                <a:schemeClr val="dk1"/>
              </a:solidFill>
            </a:endParaRPr>
          </a:p>
          <a:p>
            <a:pPr marL="0" lvl="0" indent="0" algn="l" rtl="0">
              <a:spcBef>
                <a:spcPts val="0"/>
              </a:spcBef>
              <a:spcAft>
                <a:spcPts val="0"/>
              </a:spcAft>
              <a:buNone/>
            </a:pPr>
            <a:r>
              <a:rPr lang="en-GB">
                <a:solidFill>
                  <a:schemeClr val="dk1"/>
                </a:solidFill>
              </a:rPr>
              <a:t>Still unsolved is the unknown words problem: what about undefined probability for the bigram model or 0 probability for the unigram model?</a:t>
            </a:r>
            <a:endParaRPr>
              <a:solidFill>
                <a:schemeClr val="dk1"/>
              </a:solidFill>
            </a:endParaRPr>
          </a:p>
          <a:p>
            <a:pPr marL="0" lvl="0" indent="0" algn="l" rtl="0">
              <a:spcBef>
                <a:spcPts val="0"/>
              </a:spcBef>
              <a:spcAft>
                <a:spcPts val="0"/>
              </a:spcAft>
              <a:buClr>
                <a:schemeClr val="dk1"/>
              </a:buClr>
              <a:buSzPts val="1100"/>
              <a:buFont typeface="Arial"/>
              <a:buNone/>
            </a:pPr>
            <a:endParaRPr>
              <a:solidFill>
                <a:schemeClr val="dk1"/>
              </a:solidFill>
            </a:endParaRPr>
          </a:p>
          <a:p>
            <a:pPr marL="0" lvl="0" indent="0" algn="l" rtl="0">
              <a:spcBef>
                <a:spcPts val="0"/>
              </a:spcBef>
              <a:spcAft>
                <a:spcPts val="0"/>
              </a:spcAft>
              <a:buNone/>
            </a:pPr>
            <a:r>
              <a:rPr lang="en-GB"/>
              <a:t>There are specific cases where one model fits more than the others. So we make the decision more dynamic.</a:t>
            </a:r>
            <a:endParaRPr/>
          </a:p>
          <a:p>
            <a:pPr marL="0" lvl="0" indent="0" algn="l" rtl="0">
              <a:spcBef>
                <a:spcPts val="0"/>
              </a:spcBef>
              <a:spcAft>
                <a:spcPts val="0"/>
              </a:spcAft>
              <a:buNone/>
            </a:pPr>
            <a:r>
              <a:rPr lang="en-GB"/>
              <a:t>j = decision(wi-2,wi-1)</a:t>
            </a:r>
            <a:endParaRPr/>
          </a:p>
          <a:p>
            <a:pPr marL="0" lvl="0" indent="0" algn="l" rtl="0">
              <a:spcBef>
                <a:spcPts val="0"/>
              </a:spcBef>
              <a:spcAft>
                <a:spcPts val="0"/>
              </a:spcAft>
              <a:buNone/>
            </a:pPr>
            <a:r>
              <a:rPr lang="en-GB"/>
              <a:t>j=1 (unknown bigram → weight on unigram model): lambda1 0.05, </a:t>
            </a:r>
            <a:r>
              <a:rPr lang="en-GB">
                <a:solidFill>
                  <a:schemeClr val="dk1"/>
                </a:solidFill>
              </a:rPr>
              <a:t>lambda2 </a:t>
            </a:r>
            <a:r>
              <a:rPr lang="en-GB"/>
              <a:t>0.2, </a:t>
            </a:r>
            <a:r>
              <a:rPr lang="en-GB">
                <a:solidFill>
                  <a:schemeClr val="dk1"/>
                </a:solidFill>
              </a:rPr>
              <a:t>lambda3 </a:t>
            </a:r>
            <a:r>
              <a:rPr lang="en-GB"/>
              <a:t>0.75 </a:t>
            </a:r>
            <a:endParaRPr/>
          </a:p>
          <a:p>
            <a:pPr marL="0" lvl="0" indent="0" algn="l" rtl="0">
              <a:spcBef>
                <a:spcPts val="0"/>
              </a:spcBef>
              <a:spcAft>
                <a:spcPts val="0"/>
              </a:spcAft>
              <a:buNone/>
            </a:pPr>
            <a:r>
              <a:rPr lang="en-GB">
                <a:solidFill>
                  <a:schemeClr val="dk1"/>
                </a:solidFill>
              </a:rPr>
              <a:t>j=2 (rare bigram → more balanced): lambda1 0.2, lambda2 0.5, lambda3 0.15 </a:t>
            </a:r>
            <a:endParaRPr>
              <a:solidFill>
                <a:schemeClr val="dk1"/>
              </a:solidFill>
            </a:endParaRPr>
          </a:p>
          <a:p>
            <a:pPr marL="0" lvl="0" indent="0" algn="l" rtl="0">
              <a:spcBef>
                <a:spcPts val="0"/>
              </a:spcBef>
              <a:spcAft>
                <a:spcPts val="0"/>
              </a:spcAft>
              <a:buNone/>
            </a:pPr>
            <a:r>
              <a:rPr lang="en-GB">
                <a:solidFill>
                  <a:schemeClr val="dk1"/>
                </a:solidFill>
              </a:rPr>
              <a:t>j=3 (frequent bigram → weight on the trigram model): lambda1 0.8, lambda2 0.15, lambda3 0.05 </a:t>
            </a:r>
            <a:endParaRPr>
              <a:solidFill>
                <a:schemeClr val="dk1"/>
              </a:solidFill>
            </a:endParaRPr>
          </a:p>
          <a:p>
            <a:pPr marL="0" lvl="0" indent="0" algn="l" rtl="0">
              <a:spcBef>
                <a:spcPts val="0"/>
              </a:spcBef>
              <a:spcAft>
                <a:spcPts val="0"/>
              </a:spcAft>
              <a:buNone/>
            </a:pPr>
            <a:endParaRPr>
              <a:solidFill>
                <a:schemeClr val="dk1"/>
              </a:solidFill>
            </a:endParaRPr>
          </a:p>
          <a:p>
            <a:pPr marL="0" lvl="0" indent="0" algn="l" rtl="0">
              <a:spcBef>
                <a:spcPts val="0"/>
              </a:spcBef>
              <a:spcAft>
                <a:spcPts val="0"/>
              </a:spcAft>
              <a:buClr>
                <a:schemeClr val="dk1"/>
              </a:buClr>
              <a:buSzPts val="1100"/>
              <a:buFont typeface="Arial"/>
              <a:buNone/>
            </a:pPr>
            <a:endParaRPr>
              <a:solidFill>
                <a:schemeClr val="dk1"/>
              </a:solidFill>
            </a:endParaRPr>
          </a:p>
        </p:txBody>
      </p:sp>
      <p:sp>
        <p:nvSpPr>
          <p:cNvPr id="669" name="Google Shape;669;g34338de992e_0_26:notes">
            <a:extLst>
              <a:ext uri="{FF2B5EF4-FFF2-40B4-BE49-F238E27FC236}">
                <a16:creationId xmlns:a16="http://schemas.microsoft.com/office/drawing/2014/main" id="{CB1DB88F-9503-A24E-41A5-6A562554272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55245610"/>
      </p:ext>
    </p:extLst>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7">
          <a:extLst>
            <a:ext uri="{FF2B5EF4-FFF2-40B4-BE49-F238E27FC236}">
              <a16:creationId xmlns:a16="http://schemas.microsoft.com/office/drawing/2014/main" id="{365F52AC-D38E-7D18-DB96-65CBFAE56E6D}"/>
            </a:ext>
          </a:extLst>
        </p:cNvPr>
        <p:cNvGrpSpPr/>
        <p:nvPr/>
      </p:nvGrpSpPr>
      <p:grpSpPr>
        <a:xfrm>
          <a:off x="0" y="0"/>
          <a:ext cx="0" cy="0"/>
          <a:chOff x="0" y="0"/>
          <a:chExt cx="0" cy="0"/>
        </a:xfrm>
      </p:grpSpPr>
      <p:sp>
        <p:nvSpPr>
          <p:cNvPr id="668" name="Google Shape;668;g34338de992e_0_26:notes">
            <a:extLst>
              <a:ext uri="{FF2B5EF4-FFF2-40B4-BE49-F238E27FC236}">
                <a16:creationId xmlns:a16="http://schemas.microsoft.com/office/drawing/2014/main" id="{7B6F7FA6-2CE5-D2FD-CEA4-1EFAF22AC31B}"/>
              </a:ext>
            </a:extLst>
          </p:cNvPr>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GB">
                <a:solidFill>
                  <a:schemeClr val="dk1"/>
                </a:solidFill>
              </a:rPr>
              <a:t>Still 0 probability and undefined probability problems for the trigram model. </a:t>
            </a:r>
            <a:endParaRPr>
              <a:solidFill>
                <a:schemeClr val="dk1"/>
              </a:solidFill>
            </a:endParaRPr>
          </a:p>
          <a:p>
            <a:pPr marL="0" lvl="0" indent="0" algn="l" rtl="0">
              <a:spcBef>
                <a:spcPts val="0"/>
              </a:spcBef>
              <a:spcAft>
                <a:spcPts val="0"/>
              </a:spcAft>
              <a:buNone/>
            </a:pPr>
            <a:r>
              <a:rPr lang="en-GB">
                <a:solidFill>
                  <a:schemeClr val="dk1"/>
                </a:solidFill>
              </a:rPr>
              <a:t>Still unsolved is the unknown words problem: what about undefined probability for the bigram model or 0 probability for the unigram model?</a:t>
            </a:r>
            <a:endParaRPr>
              <a:solidFill>
                <a:schemeClr val="dk1"/>
              </a:solidFill>
            </a:endParaRPr>
          </a:p>
          <a:p>
            <a:pPr marL="0" lvl="0" indent="0" algn="l" rtl="0">
              <a:spcBef>
                <a:spcPts val="0"/>
              </a:spcBef>
              <a:spcAft>
                <a:spcPts val="0"/>
              </a:spcAft>
              <a:buClr>
                <a:schemeClr val="dk1"/>
              </a:buClr>
              <a:buSzPts val="1100"/>
              <a:buFont typeface="Arial"/>
              <a:buNone/>
            </a:pPr>
            <a:endParaRPr>
              <a:solidFill>
                <a:schemeClr val="dk1"/>
              </a:solidFill>
            </a:endParaRPr>
          </a:p>
          <a:p>
            <a:pPr marL="0" lvl="0" indent="0" algn="l" rtl="0">
              <a:spcBef>
                <a:spcPts val="0"/>
              </a:spcBef>
              <a:spcAft>
                <a:spcPts val="0"/>
              </a:spcAft>
              <a:buNone/>
            </a:pPr>
            <a:r>
              <a:rPr lang="en-GB"/>
              <a:t>There are specific cases where one model fits more than the others. So we make the decision more dynamic.</a:t>
            </a:r>
            <a:endParaRPr/>
          </a:p>
          <a:p>
            <a:pPr marL="0" lvl="0" indent="0" algn="l" rtl="0">
              <a:spcBef>
                <a:spcPts val="0"/>
              </a:spcBef>
              <a:spcAft>
                <a:spcPts val="0"/>
              </a:spcAft>
              <a:buNone/>
            </a:pPr>
            <a:r>
              <a:rPr lang="en-GB"/>
              <a:t>j = decision(wi-2,wi-1)</a:t>
            </a:r>
            <a:endParaRPr/>
          </a:p>
          <a:p>
            <a:pPr marL="0" lvl="0" indent="0" algn="l" rtl="0">
              <a:spcBef>
                <a:spcPts val="0"/>
              </a:spcBef>
              <a:spcAft>
                <a:spcPts val="0"/>
              </a:spcAft>
              <a:buNone/>
            </a:pPr>
            <a:r>
              <a:rPr lang="en-GB"/>
              <a:t>j=1 (unknown bigram → weight on unigram model): lambda1 0.05, </a:t>
            </a:r>
            <a:r>
              <a:rPr lang="en-GB">
                <a:solidFill>
                  <a:schemeClr val="dk1"/>
                </a:solidFill>
              </a:rPr>
              <a:t>lambda2 </a:t>
            </a:r>
            <a:r>
              <a:rPr lang="en-GB"/>
              <a:t>0.2, </a:t>
            </a:r>
            <a:r>
              <a:rPr lang="en-GB">
                <a:solidFill>
                  <a:schemeClr val="dk1"/>
                </a:solidFill>
              </a:rPr>
              <a:t>lambda3 </a:t>
            </a:r>
            <a:r>
              <a:rPr lang="en-GB"/>
              <a:t>0.75 </a:t>
            </a:r>
            <a:endParaRPr/>
          </a:p>
          <a:p>
            <a:pPr marL="0" lvl="0" indent="0" algn="l" rtl="0">
              <a:spcBef>
                <a:spcPts val="0"/>
              </a:spcBef>
              <a:spcAft>
                <a:spcPts val="0"/>
              </a:spcAft>
              <a:buNone/>
            </a:pPr>
            <a:r>
              <a:rPr lang="en-GB">
                <a:solidFill>
                  <a:schemeClr val="dk1"/>
                </a:solidFill>
              </a:rPr>
              <a:t>j=2 (rare bigram → more balanced): lambda1 0.2, lambda2 0.5, lambda3 0.15 </a:t>
            </a:r>
            <a:endParaRPr>
              <a:solidFill>
                <a:schemeClr val="dk1"/>
              </a:solidFill>
            </a:endParaRPr>
          </a:p>
          <a:p>
            <a:pPr marL="0" lvl="0" indent="0" algn="l" rtl="0">
              <a:spcBef>
                <a:spcPts val="0"/>
              </a:spcBef>
              <a:spcAft>
                <a:spcPts val="0"/>
              </a:spcAft>
              <a:buNone/>
            </a:pPr>
            <a:r>
              <a:rPr lang="en-GB">
                <a:solidFill>
                  <a:schemeClr val="dk1"/>
                </a:solidFill>
              </a:rPr>
              <a:t>j=3 (frequent bigram → weight on the trigram model): lambda1 0.8, lambda2 0.15, lambda3 0.05 </a:t>
            </a:r>
            <a:endParaRPr>
              <a:solidFill>
                <a:schemeClr val="dk1"/>
              </a:solidFill>
            </a:endParaRPr>
          </a:p>
          <a:p>
            <a:pPr marL="0" lvl="0" indent="0" algn="l" rtl="0">
              <a:spcBef>
                <a:spcPts val="0"/>
              </a:spcBef>
              <a:spcAft>
                <a:spcPts val="0"/>
              </a:spcAft>
              <a:buNone/>
            </a:pPr>
            <a:endParaRPr>
              <a:solidFill>
                <a:schemeClr val="dk1"/>
              </a:solidFill>
            </a:endParaRPr>
          </a:p>
          <a:p>
            <a:pPr marL="0" lvl="0" indent="0" algn="l" rtl="0">
              <a:spcBef>
                <a:spcPts val="0"/>
              </a:spcBef>
              <a:spcAft>
                <a:spcPts val="0"/>
              </a:spcAft>
              <a:buClr>
                <a:schemeClr val="dk1"/>
              </a:buClr>
              <a:buSzPts val="1100"/>
              <a:buFont typeface="Arial"/>
              <a:buNone/>
            </a:pPr>
            <a:endParaRPr>
              <a:solidFill>
                <a:schemeClr val="dk1"/>
              </a:solidFill>
            </a:endParaRPr>
          </a:p>
        </p:txBody>
      </p:sp>
      <p:sp>
        <p:nvSpPr>
          <p:cNvPr id="669" name="Google Shape;669;g34338de992e_0_26:notes">
            <a:extLst>
              <a:ext uri="{FF2B5EF4-FFF2-40B4-BE49-F238E27FC236}">
                <a16:creationId xmlns:a16="http://schemas.microsoft.com/office/drawing/2014/main" id="{BDEA1C17-4C20-1E22-B46F-0FC04580754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45436196"/>
      </p:ext>
    </p:extLst>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7">
          <a:extLst>
            <a:ext uri="{FF2B5EF4-FFF2-40B4-BE49-F238E27FC236}">
              <a16:creationId xmlns:a16="http://schemas.microsoft.com/office/drawing/2014/main" id="{F2F25049-C3AD-0AC2-B1F1-23D7405A9D3D}"/>
            </a:ext>
          </a:extLst>
        </p:cNvPr>
        <p:cNvGrpSpPr/>
        <p:nvPr/>
      </p:nvGrpSpPr>
      <p:grpSpPr>
        <a:xfrm>
          <a:off x="0" y="0"/>
          <a:ext cx="0" cy="0"/>
          <a:chOff x="0" y="0"/>
          <a:chExt cx="0" cy="0"/>
        </a:xfrm>
      </p:grpSpPr>
      <p:sp>
        <p:nvSpPr>
          <p:cNvPr id="668" name="Google Shape;668;g34338de992e_0_26:notes">
            <a:extLst>
              <a:ext uri="{FF2B5EF4-FFF2-40B4-BE49-F238E27FC236}">
                <a16:creationId xmlns:a16="http://schemas.microsoft.com/office/drawing/2014/main" id="{1BB851D1-DBA6-89B7-9B81-D8DF8FDF3269}"/>
              </a:ext>
            </a:extLst>
          </p:cNvPr>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GB">
                <a:solidFill>
                  <a:schemeClr val="dk1"/>
                </a:solidFill>
              </a:rPr>
              <a:t>Still 0 probability and undefined probability problems for the trigram model. </a:t>
            </a:r>
            <a:endParaRPr>
              <a:solidFill>
                <a:schemeClr val="dk1"/>
              </a:solidFill>
            </a:endParaRPr>
          </a:p>
          <a:p>
            <a:pPr marL="0" lvl="0" indent="0" algn="l" rtl="0">
              <a:spcBef>
                <a:spcPts val="0"/>
              </a:spcBef>
              <a:spcAft>
                <a:spcPts val="0"/>
              </a:spcAft>
              <a:buNone/>
            </a:pPr>
            <a:r>
              <a:rPr lang="en-GB">
                <a:solidFill>
                  <a:schemeClr val="dk1"/>
                </a:solidFill>
              </a:rPr>
              <a:t>Still unsolved is the unknown words problem: what about undefined probability for the bigram model or 0 probability for the unigram model?</a:t>
            </a:r>
            <a:endParaRPr>
              <a:solidFill>
                <a:schemeClr val="dk1"/>
              </a:solidFill>
            </a:endParaRPr>
          </a:p>
          <a:p>
            <a:pPr marL="0" lvl="0" indent="0" algn="l" rtl="0">
              <a:spcBef>
                <a:spcPts val="0"/>
              </a:spcBef>
              <a:spcAft>
                <a:spcPts val="0"/>
              </a:spcAft>
              <a:buClr>
                <a:schemeClr val="dk1"/>
              </a:buClr>
              <a:buSzPts val="1100"/>
              <a:buFont typeface="Arial"/>
              <a:buNone/>
            </a:pPr>
            <a:endParaRPr>
              <a:solidFill>
                <a:schemeClr val="dk1"/>
              </a:solidFill>
            </a:endParaRPr>
          </a:p>
          <a:p>
            <a:pPr marL="0" lvl="0" indent="0" algn="l" rtl="0">
              <a:spcBef>
                <a:spcPts val="0"/>
              </a:spcBef>
              <a:spcAft>
                <a:spcPts val="0"/>
              </a:spcAft>
              <a:buNone/>
            </a:pPr>
            <a:r>
              <a:rPr lang="en-GB"/>
              <a:t>There are specific cases where one model fits more than the others. So we make the decision more dynamic.</a:t>
            </a:r>
            <a:endParaRPr/>
          </a:p>
          <a:p>
            <a:pPr marL="0" lvl="0" indent="0" algn="l" rtl="0">
              <a:spcBef>
                <a:spcPts val="0"/>
              </a:spcBef>
              <a:spcAft>
                <a:spcPts val="0"/>
              </a:spcAft>
              <a:buNone/>
            </a:pPr>
            <a:r>
              <a:rPr lang="en-GB"/>
              <a:t>j = decision(wi-2,wi-1)</a:t>
            </a:r>
            <a:endParaRPr/>
          </a:p>
          <a:p>
            <a:pPr marL="0" lvl="0" indent="0" algn="l" rtl="0">
              <a:spcBef>
                <a:spcPts val="0"/>
              </a:spcBef>
              <a:spcAft>
                <a:spcPts val="0"/>
              </a:spcAft>
              <a:buNone/>
            </a:pPr>
            <a:r>
              <a:rPr lang="en-GB"/>
              <a:t>j=1 (unknown bigram → weight on unigram model): lambda1 0.05, </a:t>
            </a:r>
            <a:r>
              <a:rPr lang="en-GB">
                <a:solidFill>
                  <a:schemeClr val="dk1"/>
                </a:solidFill>
              </a:rPr>
              <a:t>lambda2 </a:t>
            </a:r>
            <a:r>
              <a:rPr lang="en-GB"/>
              <a:t>0.2, </a:t>
            </a:r>
            <a:r>
              <a:rPr lang="en-GB">
                <a:solidFill>
                  <a:schemeClr val="dk1"/>
                </a:solidFill>
              </a:rPr>
              <a:t>lambda3 </a:t>
            </a:r>
            <a:r>
              <a:rPr lang="en-GB"/>
              <a:t>0.75 </a:t>
            </a:r>
            <a:endParaRPr/>
          </a:p>
          <a:p>
            <a:pPr marL="0" lvl="0" indent="0" algn="l" rtl="0">
              <a:spcBef>
                <a:spcPts val="0"/>
              </a:spcBef>
              <a:spcAft>
                <a:spcPts val="0"/>
              </a:spcAft>
              <a:buNone/>
            </a:pPr>
            <a:r>
              <a:rPr lang="en-GB">
                <a:solidFill>
                  <a:schemeClr val="dk1"/>
                </a:solidFill>
              </a:rPr>
              <a:t>j=2 (rare bigram → more balanced): lambda1 0.2, lambda2 0.5, lambda3 0.15 </a:t>
            </a:r>
            <a:endParaRPr>
              <a:solidFill>
                <a:schemeClr val="dk1"/>
              </a:solidFill>
            </a:endParaRPr>
          </a:p>
          <a:p>
            <a:pPr marL="0" lvl="0" indent="0" algn="l" rtl="0">
              <a:spcBef>
                <a:spcPts val="0"/>
              </a:spcBef>
              <a:spcAft>
                <a:spcPts val="0"/>
              </a:spcAft>
              <a:buNone/>
            </a:pPr>
            <a:r>
              <a:rPr lang="en-GB">
                <a:solidFill>
                  <a:schemeClr val="dk1"/>
                </a:solidFill>
              </a:rPr>
              <a:t>j=3 (frequent bigram → weight on the trigram model): lambda1 0.8, lambda2 0.15, lambda3 0.05 </a:t>
            </a:r>
            <a:endParaRPr>
              <a:solidFill>
                <a:schemeClr val="dk1"/>
              </a:solidFill>
            </a:endParaRPr>
          </a:p>
          <a:p>
            <a:pPr marL="0" lvl="0" indent="0" algn="l" rtl="0">
              <a:spcBef>
                <a:spcPts val="0"/>
              </a:spcBef>
              <a:spcAft>
                <a:spcPts val="0"/>
              </a:spcAft>
              <a:buNone/>
            </a:pPr>
            <a:endParaRPr>
              <a:solidFill>
                <a:schemeClr val="dk1"/>
              </a:solidFill>
            </a:endParaRPr>
          </a:p>
          <a:p>
            <a:pPr marL="0" lvl="0" indent="0" algn="l" rtl="0">
              <a:spcBef>
                <a:spcPts val="0"/>
              </a:spcBef>
              <a:spcAft>
                <a:spcPts val="0"/>
              </a:spcAft>
              <a:buClr>
                <a:schemeClr val="dk1"/>
              </a:buClr>
              <a:buSzPts val="1100"/>
              <a:buFont typeface="Arial"/>
              <a:buNone/>
            </a:pPr>
            <a:endParaRPr>
              <a:solidFill>
                <a:schemeClr val="dk1"/>
              </a:solidFill>
            </a:endParaRPr>
          </a:p>
        </p:txBody>
      </p:sp>
      <p:sp>
        <p:nvSpPr>
          <p:cNvPr id="669" name="Google Shape;669;g34338de992e_0_26:notes">
            <a:extLst>
              <a:ext uri="{FF2B5EF4-FFF2-40B4-BE49-F238E27FC236}">
                <a16:creationId xmlns:a16="http://schemas.microsoft.com/office/drawing/2014/main" id="{502A5239-15D9-0962-0190-D20F7159D9E7}"/>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44513339"/>
      </p:ext>
    </p:extLst>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8"/>
        <p:cNvGrpSpPr/>
        <p:nvPr/>
      </p:nvGrpSpPr>
      <p:grpSpPr>
        <a:xfrm>
          <a:off x="0" y="0"/>
          <a:ext cx="0" cy="0"/>
          <a:chOff x="0" y="0"/>
          <a:chExt cx="0" cy="0"/>
        </a:xfrm>
      </p:grpSpPr>
      <p:sp>
        <p:nvSpPr>
          <p:cNvPr id="679" name="Google Shape;679;g30b012314b4_0_49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80" name="Google Shape;680;g30b012314b4_0_49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GB"/>
              <a:t>Add-one smoothing, add k smoothing, Knesser-Ney, Good turing</a:t>
            </a:r>
            <a:endParaRPr/>
          </a:p>
        </p:txBody>
      </p:sp>
      <p:sp>
        <p:nvSpPr>
          <p:cNvPr id="681" name="Google Shape;681;g30b012314b4_0_49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174</a:t>
            </a:fld>
            <a:endParaRPr/>
          </a:p>
        </p:txBody>
      </p:sp>
    </p:spTree>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7"/>
        <p:cNvGrpSpPr/>
        <p:nvPr/>
      </p:nvGrpSpPr>
      <p:grpSpPr>
        <a:xfrm>
          <a:off x="0" y="0"/>
          <a:ext cx="0" cy="0"/>
          <a:chOff x="0" y="0"/>
          <a:chExt cx="0" cy="0"/>
        </a:xfrm>
      </p:grpSpPr>
      <p:sp>
        <p:nvSpPr>
          <p:cNvPr id="688" name="Google Shape;688;g30b0ca4a75f_0_23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89" name="Google Shape;689;g30b0ca4a75f_0_23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GB"/>
              <a:t>Add-one smoothing, add k smoothing, Knesser-Ney, Good turing</a:t>
            </a:r>
            <a:endParaRPr/>
          </a:p>
          <a:p>
            <a:pPr marL="0" lvl="0" indent="0" algn="l" rtl="0">
              <a:spcBef>
                <a:spcPts val="0"/>
              </a:spcBef>
              <a:spcAft>
                <a:spcPts val="0"/>
              </a:spcAft>
              <a:buNone/>
            </a:pPr>
            <a:endParaRPr/>
          </a:p>
        </p:txBody>
      </p:sp>
      <p:sp>
        <p:nvSpPr>
          <p:cNvPr id="690" name="Google Shape;690;g30b0ca4a75f_0_23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175</a:t>
            </a:fld>
            <a:endParaRPr/>
          </a:p>
        </p:txBody>
      </p:sp>
    </p:spTree>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8"/>
        <p:cNvGrpSpPr/>
        <p:nvPr/>
      </p:nvGrpSpPr>
      <p:grpSpPr>
        <a:xfrm>
          <a:off x="0" y="0"/>
          <a:ext cx="0" cy="0"/>
          <a:chOff x="0" y="0"/>
          <a:chExt cx="0" cy="0"/>
        </a:xfrm>
      </p:grpSpPr>
      <p:sp>
        <p:nvSpPr>
          <p:cNvPr id="719" name="Google Shape;719;g341a228298b_0_13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20" name="Google Shape;720;g341a228298b_0_13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21" name="Google Shape;721;g341a228298b_0_13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180</a:t>
            </a:fld>
            <a:endParaRPr/>
          </a:p>
        </p:txBody>
      </p:sp>
    </p:spTree>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5"/>
        <p:cNvGrpSpPr/>
        <p:nvPr/>
      </p:nvGrpSpPr>
      <p:grpSpPr>
        <a:xfrm>
          <a:off x="0" y="0"/>
          <a:ext cx="0" cy="0"/>
          <a:chOff x="0" y="0"/>
          <a:chExt cx="0" cy="0"/>
        </a:xfrm>
      </p:grpSpPr>
      <p:sp>
        <p:nvSpPr>
          <p:cNvPr id="726" name="Google Shape;726;g30b012314b4_0_520: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27" name="Google Shape;727;g30b012314b4_0_5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3"/>
        <p:cNvGrpSpPr/>
        <p:nvPr/>
      </p:nvGrpSpPr>
      <p:grpSpPr>
        <a:xfrm>
          <a:off x="0" y="0"/>
          <a:ext cx="0" cy="0"/>
          <a:chOff x="0" y="0"/>
          <a:chExt cx="0" cy="0"/>
        </a:xfrm>
      </p:grpSpPr>
      <p:sp>
        <p:nvSpPr>
          <p:cNvPr id="734" name="Google Shape;734;g30b0ca4a75f_0_315: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35" name="Google Shape;735;g30b0ca4a75f_0_3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9"/>
        <p:cNvGrpSpPr/>
        <p:nvPr/>
      </p:nvGrpSpPr>
      <p:grpSpPr>
        <a:xfrm>
          <a:off x="0" y="0"/>
          <a:ext cx="0" cy="0"/>
          <a:chOff x="0" y="0"/>
          <a:chExt cx="0" cy="0"/>
        </a:xfrm>
      </p:grpSpPr>
      <p:sp>
        <p:nvSpPr>
          <p:cNvPr id="740" name="Google Shape;740;g30b012314b4_0_526: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t>Shift of responsibility (from human experts to NNs) </a:t>
            </a:r>
            <a:endParaRPr/>
          </a:p>
        </p:txBody>
      </p:sp>
      <p:sp>
        <p:nvSpPr>
          <p:cNvPr id="741" name="Google Shape;741;g30b012314b4_0_5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7"/>
        <p:cNvGrpSpPr/>
        <p:nvPr/>
      </p:nvGrpSpPr>
      <p:grpSpPr>
        <a:xfrm>
          <a:off x="0" y="0"/>
          <a:ext cx="0" cy="0"/>
          <a:chOff x="0" y="0"/>
          <a:chExt cx="0" cy="0"/>
        </a:xfrm>
      </p:grpSpPr>
      <p:sp>
        <p:nvSpPr>
          <p:cNvPr id="748" name="Google Shape;748;g30b012314b4_0_533: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49" name="Google Shape;749;g30b012314b4_0_53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4"/>
        <p:cNvGrpSpPr/>
        <p:nvPr/>
      </p:nvGrpSpPr>
      <p:grpSpPr>
        <a:xfrm>
          <a:off x="0" y="0"/>
          <a:ext cx="0" cy="0"/>
          <a:chOff x="0" y="0"/>
          <a:chExt cx="0" cy="0"/>
        </a:xfrm>
      </p:grpSpPr>
      <p:sp>
        <p:nvSpPr>
          <p:cNvPr id="755" name="Google Shape;755;g30b012314b4_0_540: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56" name="Google Shape;756;g30b012314b4_0_54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2"/>
        <p:cNvGrpSpPr/>
        <p:nvPr/>
      </p:nvGrpSpPr>
      <p:grpSpPr>
        <a:xfrm>
          <a:off x="0" y="0"/>
          <a:ext cx="0" cy="0"/>
          <a:chOff x="0" y="0"/>
          <a:chExt cx="0" cy="0"/>
        </a:xfrm>
      </p:grpSpPr>
      <p:sp>
        <p:nvSpPr>
          <p:cNvPr id="763" name="Google Shape;763;g30b012314b4_0_54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64" name="Google Shape;764;g30b012314b4_0_54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65" name="Google Shape;765;g30b012314b4_0_54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186</a:t>
            </a:fld>
            <a:endParaRPr/>
          </a:p>
        </p:txBody>
      </p:sp>
    </p:spTree>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0"/>
        <p:cNvGrpSpPr/>
        <p:nvPr/>
      </p:nvGrpSpPr>
      <p:grpSpPr>
        <a:xfrm>
          <a:off x="0" y="0"/>
          <a:ext cx="0" cy="0"/>
          <a:chOff x="0" y="0"/>
          <a:chExt cx="0" cy="0"/>
        </a:xfrm>
      </p:grpSpPr>
      <p:sp>
        <p:nvSpPr>
          <p:cNvPr id="771" name="Google Shape;771;g30b012314b4_0_56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72" name="Google Shape;772;g30b012314b4_0_56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73" name="Google Shape;773;g30b012314b4_0_56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187</a:t>
            </a:fld>
            <a:endParaRPr/>
          </a:p>
        </p:txBody>
      </p:sp>
    </p:spTree>
  </p:cSld>
  <p:clrMapOvr>
    <a:masterClrMapping/>
  </p:clrMapOvr>
</p:notes>
</file>

<file path=ppt/notesSlides/notesSlide1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9"/>
        <p:cNvGrpSpPr/>
        <p:nvPr/>
      </p:nvGrpSpPr>
      <p:grpSpPr>
        <a:xfrm>
          <a:off x="0" y="0"/>
          <a:ext cx="0" cy="0"/>
          <a:chOff x="0" y="0"/>
          <a:chExt cx="0" cy="0"/>
        </a:xfrm>
      </p:grpSpPr>
      <p:sp>
        <p:nvSpPr>
          <p:cNvPr id="780" name="Google Shape;780;g30b012314b4_0_554: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Char char="●"/>
            </a:pPr>
            <a:r>
              <a:rPr lang="en-GB"/>
              <a:t>L1: input layer</a:t>
            </a:r>
            <a:endParaRPr/>
          </a:p>
          <a:p>
            <a:pPr marL="457200" lvl="0" indent="-298450" algn="l" rtl="0">
              <a:spcBef>
                <a:spcPts val="0"/>
              </a:spcBef>
              <a:spcAft>
                <a:spcPts val="0"/>
              </a:spcAft>
              <a:buSzPts val="1100"/>
              <a:buChar char="●"/>
            </a:pPr>
            <a:r>
              <a:rPr lang="en-GB"/>
              <a:t>L2: hidden layer</a:t>
            </a:r>
            <a:endParaRPr/>
          </a:p>
          <a:p>
            <a:pPr marL="457200" lvl="0" indent="-298450" algn="l" rtl="0">
              <a:spcBef>
                <a:spcPts val="0"/>
              </a:spcBef>
              <a:spcAft>
                <a:spcPts val="0"/>
              </a:spcAft>
              <a:buSzPts val="1100"/>
              <a:buChar char="●"/>
            </a:pPr>
            <a:r>
              <a:rPr lang="en-GB"/>
              <a:t>L3: output layer</a:t>
            </a:r>
            <a:endParaRPr/>
          </a:p>
          <a:p>
            <a:pPr marL="457200" lvl="0" indent="-298450" algn="l" rtl="0">
              <a:spcBef>
                <a:spcPts val="0"/>
              </a:spcBef>
              <a:spcAft>
                <a:spcPts val="0"/>
              </a:spcAft>
              <a:buSzPts val="1100"/>
              <a:buChar char="●"/>
            </a:pPr>
            <a:r>
              <a:rPr lang="en-GB"/>
              <a:t>Output layer provides the prediction</a:t>
            </a:r>
            <a:endParaRPr/>
          </a:p>
          <a:p>
            <a:pPr marL="457200" lvl="0" indent="-298450" algn="l" rtl="0">
              <a:spcBef>
                <a:spcPts val="0"/>
              </a:spcBef>
              <a:spcAft>
                <a:spcPts val="0"/>
              </a:spcAft>
              <a:buSzPts val="1100"/>
              <a:buChar char="●"/>
            </a:pPr>
            <a:r>
              <a:rPr lang="en-GB"/>
              <a:t>Hidden layer is the learned representation</a:t>
            </a:r>
            <a:endParaRPr/>
          </a:p>
          <a:p>
            <a:pPr marL="0" lvl="0" indent="0" algn="l" rtl="0">
              <a:spcBef>
                <a:spcPts val="0"/>
              </a:spcBef>
              <a:spcAft>
                <a:spcPts val="0"/>
              </a:spcAft>
              <a:buNone/>
            </a:pPr>
            <a:endParaRPr/>
          </a:p>
        </p:txBody>
      </p:sp>
      <p:sp>
        <p:nvSpPr>
          <p:cNvPr id="781" name="Google Shape;781;g30b012314b4_0_55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g39afe557098_0_10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9" name="Google Shape;219;g39afe557098_0_10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
        <p:cNvGrpSpPr/>
        <p:nvPr/>
      </p:nvGrpSpPr>
      <p:grpSpPr>
        <a:xfrm>
          <a:off x="0" y="0"/>
          <a:ext cx="0" cy="0"/>
          <a:chOff x="0" y="0"/>
          <a:chExt cx="0" cy="0"/>
        </a:xfrm>
      </p:grpSpPr>
      <p:sp>
        <p:nvSpPr>
          <p:cNvPr id="279" name="Google Shape;279;g39d608a6ca1_0_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0" name="Google Shape;280;g39d608a6ca1_0_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5"/>
        <p:cNvGrpSpPr/>
        <p:nvPr/>
      </p:nvGrpSpPr>
      <p:grpSpPr>
        <a:xfrm>
          <a:off x="0" y="0"/>
          <a:ext cx="0" cy="0"/>
          <a:chOff x="0" y="0"/>
          <a:chExt cx="0" cy="0"/>
        </a:xfrm>
      </p:grpSpPr>
      <p:sp>
        <p:nvSpPr>
          <p:cNvPr id="786" name="Google Shape;786;g30b012314b4_0_56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87" name="Google Shape;787;g30b012314b4_0_56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GB"/>
              <a:t>15 min</a:t>
            </a:r>
            <a:endParaRPr/>
          </a:p>
        </p:txBody>
      </p:sp>
      <p:sp>
        <p:nvSpPr>
          <p:cNvPr id="788" name="Google Shape;788;g30b012314b4_0_56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191</a:t>
            </a:fld>
            <a:endParaRPr/>
          </a:p>
        </p:txBody>
      </p:sp>
    </p:spTree>
  </p:cSld>
  <p:clrMapOvr>
    <a:masterClrMapping/>
  </p:clrMapOvr>
</p:notes>
</file>

<file path=ppt/notesSlides/notesSlide1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4"/>
        <p:cNvGrpSpPr/>
        <p:nvPr/>
      </p:nvGrpSpPr>
      <p:grpSpPr>
        <a:xfrm>
          <a:off x="0" y="0"/>
          <a:ext cx="0" cy="0"/>
          <a:chOff x="0" y="0"/>
          <a:chExt cx="0" cy="0"/>
        </a:xfrm>
      </p:grpSpPr>
      <p:sp>
        <p:nvSpPr>
          <p:cNvPr id="795" name="Google Shape;795;g31406126463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96" name="Google Shape;796;g31406126463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97" name="Google Shape;797;g31406126463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192</a:t>
            </a:fld>
            <a:endParaRPr/>
          </a:p>
        </p:txBody>
      </p:sp>
    </p:spTree>
  </p:cSld>
  <p:clrMapOvr>
    <a:masterClrMapping/>
  </p:clrMapOvr>
</p:notes>
</file>

<file path=ppt/notesSlides/notesSlide1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9"/>
        <p:cNvGrpSpPr/>
        <p:nvPr/>
      </p:nvGrpSpPr>
      <p:grpSpPr>
        <a:xfrm>
          <a:off x="0" y="0"/>
          <a:ext cx="0" cy="0"/>
          <a:chOff x="0" y="0"/>
          <a:chExt cx="0" cy="0"/>
        </a:xfrm>
      </p:grpSpPr>
      <p:sp>
        <p:nvSpPr>
          <p:cNvPr id="820" name="Google Shape;820;g31406126463_0_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21" name="Google Shape;821;g31406126463_0_2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GB"/>
              <a:t>M1e1 + M2e2 = [M1 | M2][e1 | e2]^T</a:t>
            </a:r>
            <a:endParaRPr/>
          </a:p>
        </p:txBody>
      </p:sp>
      <p:sp>
        <p:nvSpPr>
          <p:cNvPr id="822" name="Google Shape;822;g31406126463_0_2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193</a:t>
            </a:fld>
            <a:endParaRPr/>
          </a:p>
        </p:txBody>
      </p:sp>
    </p:spTree>
  </p:cSld>
  <p:clrMapOvr>
    <a:masterClrMapping/>
  </p:clrMapOvr>
</p:notes>
</file>

<file path=ppt/notesSlides/notesSlide1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4"/>
        <p:cNvGrpSpPr/>
        <p:nvPr/>
      </p:nvGrpSpPr>
      <p:grpSpPr>
        <a:xfrm>
          <a:off x="0" y="0"/>
          <a:ext cx="0" cy="0"/>
          <a:chOff x="0" y="0"/>
          <a:chExt cx="0" cy="0"/>
        </a:xfrm>
      </p:grpSpPr>
      <p:sp>
        <p:nvSpPr>
          <p:cNvPr id="835" name="Google Shape;835;g31406126463_0_38: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t>Cross-entropy between the gold and predicted distributions.</a:t>
            </a:r>
            <a:endParaRPr/>
          </a:p>
          <a:p>
            <a:pPr marL="0" lvl="0" indent="0" algn="l" rtl="0">
              <a:spcBef>
                <a:spcPts val="0"/>
              </a:spcBef>
              <a:spcAft>
                <a:spcPts val="0"/>
              </a:spcAft>
              <a:buNone/>
            </a:pPr>
            <a:r>
              <a:rPr lang="en-GB"/>
              <a:t>H(p,q) = sum (over x in vocab) p(x) log(q(x))</a:t>
            </a:r>
            <a:endParaRPr/>
          </a:p>
        </p:txBody>
      </p:sp>
      <p:sp>
        <p:nvSpPr>
          <p:cNvPr id="836" name="Google Shape;836;g31406126463_0_3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5"/>
        <p:cNvGrpSpPr/>
        <p:nvPr/>
      </p:nvGrpSpPr>
      <p:grpSpPr>
        <a:xfrm>
          <a:off x="0" y="0"/>
          <a:ext cx="0" cy="0"/>
          <a:chOff x="0" y="0"/>
          <a:chExt cx="0" cy="0"/>
        </a:xfrm>
      </p:grpSpPr>
      <p:sp>
        <p:nvSpPr>
          <p:cNvPr id="846" name="Google Shape;846;g31406126463_0_4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47" name="Google Shape;847;g31406126463_0_4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48" name="Google Shape;848;g31406126463_0_4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195</a:t>
            </a:fld>
            <a:endParaRPr/>
          </a:p>
        </p:txBody>
      </p:sp>
    </p:spTree>
  </p:cSld>
  <p:clrMapOvr>
    <a:masterClrMapping/>
  </p:clrMapOvr>
</p:notes>
</file>

<file path=ppt/notesSlides/notesSlide1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0"/>
        <p:cNvGrpSpPr/>
        <p:nvPr/>
      </p:nvGrpSpPr>
      <p:grpSpPr>
        <a:xfrm>
          <a:off x="0" y="0"/>
          <a:ext cx="0" cy="0"/>
          <a:chOff x="0" y="0"/>
          <a:chExt cx="0" cy="0"/>
        </a:xfrm>
      </p:grpSpPr>
      <p:sp>
        <p:nvSpPr>
          <p:cNvPr id="861" name="Google Shape;861;g31406126463_0_17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2" name="Google Shape;862;g31406126463_0_17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63" name="Google Shape;863;g31406126463_0_17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196</a:t>
            </a:fld>
            <a:endParaRPr/>
          </a:p>
        </p:txBody>
      </p:sp>
    </p:spTree>
  </p:cSld>
  <p:clrMapOvr>
    <a:masterClrMapping/>
  </p:clrMapOvr>
</p:notes>
</file>

<file path=ppt/notesSlides/notesSlide1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8"/>
        <p:cNvGrpSpPr/>
        <p:nvPr/>
      </p:nvGrpSpPr>
      <p:grpSpPr>
        <a:xfrm>
          <a:off x="0" y="0"/>
          <a:ext cx="0" cy="0"/>
          <a:chOff x="0" y="0"/>
          <a:chExt cx="0" cy="0"/>
        </a:xfrm>
      </p:grpSpPr>
      <p:sp>
        <p:nvSpPr>
          <p:cNvPr id="879" name="Google Shape;879;g31406126463_0_6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80" name="Google Shape;880;g31406126463_0_6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GB">
                <a:solidFill>
                  <a:schemeClr val="dk1"/>
                </a:solidFill>
              </a:rPr>
              <a:t>This model has a notion of order. In our previous discussions on word vectors we mostly used pooling while treating the input as bad of words.</a:t>
            </a:r>
            <a:endParaRPr>
              <a:solidFill>
                <a:schemeClr val="dk1"/>
              </a:solidFill>
            </a:endParaRPr>
          </a:p>
          <a:p>
            <a:pPr marL="0" lvl="0" indent="0" algn="l" rtl="0">
              <a:spcBef>
                <a:spcPts val="0"/>
              </a:spcBef>
              <a:spcAft>
                <a:spcPts val="0"/>
              </a:spcAft>
              <a:buClr>
                <a:schemeClr val="dk1"/>
              </a:buClr>
              <a:buFont typeface="Arial"/>
              <a:buNone/>
            </a:pPr>
            <a:endParaRPr>
              <a:solidFill>
                <a:schemeClr val="dk1"/>
              </a:solidFill>
            </a:endParaRPr>
          </a:p>
          <a:p>
            <a:pPr marL="0" lvl="0" indent="0" algn="l" rtl="0">
              <a:spcBef>
                <a:spcPts val="0"/>
              </a:spcBef>
              <a:spcAft>
                <a:spcPts val="0"/>
              </a:spcAft>
              <a:buNone/>
            </a:pPr>
            <a:r>
              <a:rPr lang="en-GB"/>
              <a:t>But: </a:t>
            </a:r>
            <a:endParaRPr/>
          </a:p>
          <a:p>
            <a:pPr marL="457200" lvl="0" indent="-298450" algn="l" rtl="0">
              <a:spcBef>
                <a:spcPts val="0"/>
              </a:spcBef>
              <a:spcAft>
                <a:spcPts val="0"/>
              </a:spcAft>
              <a:buSzPts val="1100"/>
              <a:buAutoNum type="alphaLcParenBoth"/>
            </a:pPr>
            <a:r>
              <a:rPr lang="en-GB"/>
              <a:t>Processing by different weights implies that the word embeddings don’t have explicit interaction between them.</a:t>
            </a:r>
            <a:endParaRPr/>
          </a:p>
          <a:p>
            <a:pPr marL="457200" lvl="0" indent="-298450" algn="l" rtl="0">
              <a:spcBef>
                <a:spcPts val="0"/>
              </a:spcBef>
              <a:spcAft>
                <a:spcPts val="0"/>
              </a:spcAft>
              <a:buSzPts val="1100"/>
              <a:buAutoNum type="alphaLcParenBoth"/>
            </a:pPr>
            <a:r>
              <a:rPr lang="en-GB"/>
              <a:t>Different parts of the matrix learn things differently, if it was a trigram as input “the dog barks” then if “the dog” appears at the beginning or the end it is being processed by different parts of the matrix that don’t share knowledge, which could lead to completely different outputs. All the matrix marts sort of need to learn everything which is somewhat redundant.</a:t>
            </a:r>
            <a:endParaRPr/>
          </a:p>
          <a:p>
            <a:pPr marL="0" lvl="0" indent="0" algn="l" rtl="0">
              <a:spcBef>
                <a:spcPts val="0"/>
              </a:spcBef>
              <a:spcAft>
                <a:spcPts val="0"/>
              </a:spcAft>
              <a:buNone/>
            </a:pPr>
            <a:endParaRPr/>
          </a:p>
          <a:p>
            <a:pPr marL="0" lvl="0" indent="0" algn="l" rtl="0">
              <a:spcBef>
                <a:spcPts val="0"/>
              </a:spcBef>
              <a:spcAft>
                <a:spcPts val="0"/>
              </a:spcAft>
              <a:buNone/>
            </a:pPr>
            <a:r>
              <a:rPr lang="en-GB" u="sng">
                <a:solidFill>
                  <a:schemeClr val="hlink"/>
                </a:solidFill>
                <a:hlinkClick r:id="rId3"/>
              </a:rPr>
              <a:t>https://tau.cloud.panopto.eu/Panopto/Pages/Viewer.aspx?id=f5c955a3-aa4b-4500-b6a7-b1a100ffa0b7</a:t>
            </a:r>
            <a:r>
              <a:rPr lang="en-GB"/>
              <a:t> </a:t>
            </a:r>
            <a:endParaRPr/>
          </a:p>
        </p:txBody>
      </p:sp>
      <p:sp>
        <p:nvSpPr>
          <p:cNvPr id="881" name="Google Shape;881;g31406126463_0_6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197</a:t>
            </a:fld>
            <a:endParaRPr/>
          </a:p>
        </p:txBody>
      </p:sp>
    </p:spTree>
  </p:cSld>
  <p:clrMapOvr>
    <a:masterClrMapping/>
  </p:clrMapOvr>
</p:notes>
</file>

<file path=ppt/notesSlides/notesSlide1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6"/>
        <p:cNvGrpSpPr/>
        <p:nvPr/>
      </p:nvGrpSpPr>
      <p:grpSpPr>
        <a:xfrm>
          <a:off x="0" y="0"/>
          <a:ext cx="0" cy="0"/>
          <a:chOff x="0" y="0"/>
          <a:chExt cx="0" cy="0"/>
        </a:xfrm>
      </p:grpSpPr>
      <p:sp>
        <p:nvSpPr>
          <p:cNvPr id="897" name="Google Shape;897;g31406126463_0_8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98" name="Google Shape;898;g31406126463_0_8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GB"/>
              <a:t>Where do the extra params come from?</a:t>
            </a:r>
            <a:endParaRPr/>
          </a:p>
        </p:txBody>
      </p:sp>
      <p:sp>
        <p:nvSpPr>
          <p:cNvPr id="899" name="Google Shape;899;g31406126463_0_8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198</a:t>
            </a:fld>
            <a:endParaRPr/>
          </a:p>
        </p:txBody>
      </p:sp>
    </p:spTree>
  </p:cSld>
  <p:clrMapOvr>
    <a:masterClrMapping/>
  </p:clrMapOvr>
</p:notes>
</file>

<file path=ppt/notesSlides/notesSlide1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0"/>
        <p:cNvGrpSpPr/>
        <p:nvPr/>
      </p:nvGrpSpPr>
      <p:grpSpPr>
        <a:xfrm>
          <a:off x="0" y="0"/>
          <a:ext cx="0" cy="0"/>
          <a:chOff x="0" y="0"/>
          <a:chExt cx="0" cy="0"/>
        </a:xfrm>
      </p:grpSpPr>
      <p:sp>
        <p:nvSpPr>
          <p:cNvPr id="921" name="Google Shape;921;g30b012314b4_0_610: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t>Less restrictive, more flexible – we apply the same function again and again and at each step we have an interaction with the past</a:t>
            </a:r>
            <a:endParaRPr/>
          </a:p>
        </p:txBody>
      </p:sp>
      <p:sp>
        <p:nvSpPr>
          <p:cNvPr id="922" name="Google Shape;922;g30b012314b4_0_6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lnSpc>
                <a:spcPct val="150000"/>
              </a:lnSpc>
              <a:spcBef>
                <a:spcPts val="0"/>
              </a:spcBef>
              <a:spcAft>
                <a:spcPts val="0"/>
              </a:spcAft>
              <a:buSzPts val="1800"/>
              <a:buChar char="●"/>
              <a:defRPr/>
            </a:lvl1pPr>
            <a:lvl2pPr marL="914400" lvl="1" indent="-368300">
              <a:lnSpc>
                <a:spcPct val="150000"/>
              </a:lnSpc>
              <a:spcBef>
                <a:spcPts val="0"/>
              </a:spcBef>
              <a:spcAft>
                <a:spcPts val="0"/>
              </a:spcAft>
              <a:buSzPts val="2200"/>
              <a:buChar char="○"/>
              <a:defRPr sz="1800"/>
            </a:lvl2pPr>
            <a:lvl3pPr marL="1371600" lvl="2" indent="-342900">
              <a:lnSpc>
                <a:spcPct val="150000"/>
              </a:lnSpc>
              <a:spcBef>
                <a:spcPts val="0"/>
              </a:spcBef>
              <a:spcAft>
                <a:spcPts val="0"/>
              </a:spcAft>
              <a:buSzPts val="1800"/>
              <a:buChar char="■"/>
              <a:defRPr sz="1800"/>
            </a:lvl3pPr>
            <a:lvl4pPr marL="1828800" lvl="3" indent="-342900">
              <a:lnSpc>
                <a:spcPct val="150000"/>
              </a:lnSpc>
              <a:spcBef>
                <a:spcPts val="0"/>
              </a:spcBef>
              <a:spcAft>
                <a:spcPts val="0"/>
              </a:spcAft>
              <a:buSzPts val="1800"/>
              <a:buChar char="●"/>
              <a:defRPr sz="1800"/>
            </a:lvl4pPr>
            <a:lvl5pPr marL="2286000" lvl="4" indent="-342900">
              <a:lnSpc>
                <a:spcPct val="150000"/>
              </a:lnSpc>
              <a:spcBef>
                <a:spcPts val="0"/>
              </a:spcBef>
              <a:spcAft>
                <a:spcPts val="0"/>
              </a:spcAft>
              <a:buSzPts val="1800"/>
              <a:buChar char="○"/>
              <a:defRPr sz="1800"/>
            </a:lvl5pPr>
            <a:lvl6pPr marL="2743200" lvl="5" indent="-342900">
              <a:lnSpc>
                <a:spcPct val="150000"/>
              </a:lnSpc>
              <a:spcBef>
                <a:spcPts val="0"/>
              </a:spcBef>
              <a:spcAft>
                <a:spcPts val="0"/>
              </a:spcAft>
              <a:buSzPts val="1800"/>
              <a:buChar char="■"/>
              <a:defRPr sz="1800"/>
            </a:lvl6pPr>
            <a:lvl7pPr marL="3200400" lvl="6" indent="-342900">
              <a:lnSpc>
                <a:spcPct val="150000"/>
              </a:lnSpc>
              <a:spcBef>
                <a:spcPts val="0"/>
              </a:spcBef>
              <a:spcAft>
                <a:spcPts val="0"/>
              </a:spcAft>
              <a:buSzPts val="1800"/>
              <a:buChar char="●"/>
              <a:defRPr sz="1800"/>
            </a:lvl7pPr>
            <a:lvl8pPr marL="3657600" lvl="7" indent="-342900">
              <a:lnSpc>
                <a:spcPct val="150000"/>
              </a:lnSpc>
              <a:spcBef>
                <a:spcPts val="0"/>
              </a:spcBef>
              <a:spcAft>
                <a:spcPts val="0"/>
              </a:spcAft>
              <a:buSzPts val="1800"/>
              <a:buChar char="○"/>
              <a:defRPr sz="1800"/>
            </a:lvl8pPr>
            <a:lvl9pPr marL="4114800" lvl="8" indent="-342900">
              <a:lnSpc>
                <a:spcPct val="150000"/>
              </a:lnSpc>
              <a:spcBef>
                <a:spcPts val="0"/>
              </a:spcBef>
              <a:spcAft>
                <a:spcPts val="0"/>
              </a:spcAft>
              <a:buSzPts val="1800"/>
              <a:buChar char="■"/>
              <a:defRPr sz="1800"/>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1">
  <p:cSld name="Blank">
    <p:spTree>
      <p:nvGrpSpPr>
        <p:cNvPr id="1" name="Shape 50"/>
        <p:cNvGrpSpPr/>
        <p:nvPr/>
      </p:nvGrpSpPr>
      <p:grpSpPr>
        <a:xfrm>
          <a:off x="0" y="0"/>
          <a:ext cx="0" cy="0"/>
          <a:chOff x="0" y="0"/>
          <a:chExt cx="0" cy="0"/>
        </a:xfrm>
      </p:grpSpPr>
      <p:sp>
        <p:nvSpPr>
          <p:cNvPr id="51" name="Google Shape;51;p13"/>
          <p:cNvSpPr txBox="1">
            <a:spLocks noGrp="1"/>
          </p:cNvSpPr>
          <p:nvPr>
            <p:ph type="body" idx="1"/>
          </p:nvPr>
        </p:nvSpPr>
        <p:spPr>
          <a:xfrm>
            <a:off x="0" y="4767263"/>
            <a:ext cx="3732600" cy="376200"/>
          </a:xfrm>
          <a:prstGeom prst="rect">
            <a:avLst/>
          </a:prstGeom>
          <a:noFill/>
          <a:ln>
            <a:noFill/>
          </a:ln>
        </p:spPr>
        <p:txBody>
          <a:bodyPr spcFirstLastPara="1" wrap="square" lIns="68575" tIns="34275" rIns="68575" bIns="34275" anchor="t" anchorCtr="0">
            <a:normAutofit/>
          </a:bodyPr>
          <a:lstStyle>
            <a:lvl1pPr marL="457200" lvl="0" indent="-228600" algn="l" rtl="0">
              <a:lnSpc>
                <a:spcPct val="90000"/>
              </a:lnSpc>
              <a:spcBef>
                <a:spcPts val="800"/>
              </a:spcBef>
              <a:spcAft>
                <a:spcPts val="0"/>
              </a:spcAft>
              <a:buClr>
                <a:schemeClr val="lt1"/>
              </a:buClr>
              <a:buSzPts val="2100"/>
              <a:buNone/>
              <a:defRPr>
                <a:solidFill>
                  <a:schemeClr val="lt1"/>
                </a:solidFill>
              </a:defRPr>
            </a:lvl1pPr>
            <a:lvl2pPr marL="914400" lvl="1" indent="-342900" algn="l" rtl="0">
              <a:lnSpc>
                <a:spcPct val="90000"/>
              </a:lnSpc>
              <a:spcBef>
                <a:spcPts val="1200"/>
              </a:spcBef>
              <a:spcAft>
                <a:spcPts val="0"/>
              </a:spcAft>
              <a:buClr>
                <a:schemeClr val="lt1"/>
              </a:buClr>
              <a:buSzPts val="1800"/>
              <a:buChar char="○"/>
              <a:defRPr>
                <a:solidFill>
                  <a:schemeClr val="lt1"/>
                </a:solidFill>
              </a:defRPr>
            </a:lvl2pPr>
            <a:lvl3pPr marL="1371600" lvl="2" indent="-323850" algn="l" rtl="0">
              <a:lnSpc>
                <a:spcPct val="90000"/>
              </a:lnSpc>
              <a:spcBef>
                <a:spcPts val="1200"/>
              </a:spcBef>
              <a:spcAft>
                <a:spcPts val="0"/>
              </a:spcAft>
              <a:buClr>
                <a:schemeClr val="lt1"/>
              </a:buClr>
              <a:buSzPts val="1500"/>
              <a:buChar char="■"/>
              <a:defRPr>
                <a:solidFill>
                  <a:schemeClr val="lt1"/>
                </a:solidFill>
              </a:defRPr>
            </a:lvl3pPr>
            <a:lvl4pPr marL="1828800" lvl="3" indent="-317500" algn="l" rtl="0">
              <a:lnSpc>
                <a:spcPct val="90000"/>
              </a:lnSpc>
              <a:spcBef>
                <a:spcPts val="1200"/>
              </a:spcBef>
              <a:spcAft>
                <a:spcPts val="0"/>
              </a:spcAft>
              <a:buClr>
                <a:schemeClr val="lt1"/>
              </a:buClr>
              <a:buSzPts val="1400"/>
              <a:buChar char="●"/>
              <a:defRPr>
                <a:solidFill>
                  <a:schemeClr val="lt1"/>
                </a:solidFill>
              </a:defRPr>
            </a:lvl4pPr>
            <a:lvl5pPr marL="2286000" lvl="4" indent="-317500" algn="l" rtl="0">
              <a:lnSpc>
                <a:spcPct val="90000"/>
              </a:lnSpc>
              <a:spcBef>
                <a:spcPts val="1200"/>
              </a:spcBef>
              <a:spcAft>
                <a:spcPts val="0"/>
              </a:spcAft>
              <a:buClr>
                <a:schemeClr val="lt1"/>
              </a:buClr>
              <a:buSzPts val="1400"/>
              <a:buChar char="○"/>
              <a:defRPr>
                <a:solidFill>
                  <a:schemeClr val="lt1"/>
                </a:solidFill>
              </a:defRPr>
            </a:lvl5pPr>
            <a:lvl6pPr marL="2743200" lvl="5" indent="-317500" algn="l" rtl="0">
              <a:lnSpc>
                <a:spcPct val="90000"/>
              </a:lnSpc>
              <a:spcBef>
                <a:spcPts val="1200"/>
              </a:spcBef>
              <a:spcAft>
                <a:spcPts val="0"/>
              </a:spcAft>
              <a:buClr>
                <a:schemeClr val="dk1"/>
              </a:buClr>
              <a:buSzPts val="1400"/>
              <a:buChar char="■"/>
              <a:defRPr/>
            </a:lvl6pPr>
            <a:lvl7pPr marL="3200400" lvl="6" indent="-317500" algn="l" rtl="0">
              <a:lnSpc>
                <a:spcPct val="90000"/>
              </a:lnSpc>
              <a:spcBef>
                <a:spcPts val="1200"/>
              </a:spcBef>
              <a:spcAft>
                <a:spcPts val="0"/>
              </a:spcAft>
              <a:buClr>
                <a:schemeClr val="dk1"/>
              </a:buClr>
              <a:buSzPts val="1400"/>
              <a:buChar char="●"/>
              <a:defRPr/>
            </a:lvl7pPr>
            <a:lvl8pPr marL="3657600" lvl="7" indent="-317500" algn="l" rtl="0">
              <a:lnSpc>
                <a:spcPct val="90000"/>
              </a:lnSpc>
              <a:spcBef>
                <a:spcPts val="1200"/>
              </a:spcBef>
              <a:spcAft>
                <a:spcPts val="0"/>
              </a:spcAft>
              <a:buClr>
                <a:schemeClr val="dk1"/>
              </a:buClr>
              <a:buSzPts val="1400"/>
              <a:buChar char="○"/>
              <a:defRPr/>
            </a:lvl8pPr>
            <a:lvl9pPr marL="4114800" lvl="8" indent="-317500" algn="l" rtl="0">
              <a:lnSpc>
                <a:spcPct val="90000"/>
              </a:lnSpc>
              <a:spcBef>
                <a:spcPts val="1200"/>
              </a:spcBef>
              <a:spcAft>
                <a:spcPts val="1200"/>
              </a:spcAft>
              <a:buClr>
                <a:schemeClr val="dk1"/>
              </a:buClr>
              <a:buSzPts val="1400"/>
              <a:buChar char="■"/>
              <a:defRPr/>
            </a:lvl9pPr>
          </a:lstStyle>
          <a:p>
            <a:endParaRPr/>
          </a:p>
        </p:txBody>
      </p:sp>
      <p:sp>
        <p:nvSpPr>
          <p:cNvPr id="52" name="Google Shape;52;p13"/>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rmAutofit/>
          </a:bodyPr>
          <a:lstStyle>
            <a:lvl1pPr lvl="0">
              <a:buNone/>
              <a:defRPr sz="1300">
                <a:solidFill>
                  <a:schemeClr val="lt1"/>
                </a:solidFill>
              </a:defRPr>
            </a:lvl1pPr>
            <a:lvl2pPr lvl="1">
              <a:buNone/>
              <a:defRPr sz="1300">
                <a:solidFill>
                  <a:schemeClr val="lt1"/>
                </a:solidFill>
              </a:defRPr>
            </a:lvl2pPr>
            <a:lvl3pPr lvl="2">
              <a:buNone/>
              <a:defRPr sz="1300">
                <a:solidFill>
                  <a:schemeClr val="lt1"/>
                </a:solidFill>
              </a:defRPr>
            </a:lvl3pPr>
            <a:lvl4pPr lvl="3">
              <a:buNone/>
              <a:defRPr sz="1300">
                <a:solidFill>
                  <a:schemeClr val="lt1"/>
                </a:solidFill>
              </a:defRPr>
            </a:lvl4pPr>
            <a:lvl5pPr lvl="4">
              <a:buNone/>
              <a:defRPr sz="1300">
                <a:solidFill>
                  <a:schemeClr val="lt1"/>
                </a:solidFill>
              </a:defRPr>
            </a:lvl5pPr>
            <a:lvl6pPr lvl="5">
              <a:buNone/>
              <a:defRPr sz="1300">
                <a:solidFill>
                  <a:schemeClr val="lt1"/>
                </a:solidFill>
              </a:defRPr>
            </a:lvl6pPr>
            <a:lvl7pPr lvl="6">
              <a:buNone/>
              <a:defRPr sz="1300">
                <a:solidFill>
                  <a:schemeClr val="lt1"/>
                </a:solidFill>
              </a:defRPr>
            </a:lvl7pPr>
            <a:lvl8pPr lvl="7">
              <a:buNone/>
              <a:defRPr sz="1300">
                <a:solidFill>
                  <a:schemeClr val="lt1"/>
                </a:solidFill>
              </a:defRPr>
            </a:lvl8pPr>
            <a:lvl9pPr lvl="8">
              <a:buNone/>
              <a:defRPr sz="1300">
                <a:solidFill>
                  <a:schemeClr val="lt1"/>
                </a:solidFil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53"/>
        <p:cNvGrpSpPr/>
        <p:nvPr/>
      </p:nvGrpSpPr>
      <p:grpSpPr>
        <a:xfrm>
          <a:off x="0" y="0"/>
          <a:ext cx="0" cy="0"/>
          <a:chOff x="0" y="0"/>
          <a:chExt cx="0" cy="0"/>
        </a:xfrm>
      </p:grpSpPr>
      <p:sp>
        <p:nvSpPr>
          <p:cNvPr id="54" name="Google Shape;54;p14"/>
          <p:cNvSpPr txBox="1">
            <a:spLocks noGrp="1"/>
          </p:cNvSpPr>
          <p:nvPr>
            <p:ph type="title"/>
          </p:nvPr>
        </p:nvSpPr>
        <p:spPr>
          <a:xfrm>
            <a:off x="628650" y="273844"/>
            <a:ext cx="7886700" cy="994200"/>
          </a:xfrm>
          <a:prstGeom prst="rect">
            <a:avLst/>
          </a:prstGeom>
          <a:noFill/>
          <a:ln>
            <a:noFill/>
          </a:ln>
        </p:spPr>
        <p:txBody>
          <a:bodyPr spcFirstLastPara="1" wrap="square" lIns="68575" tIns="34275" rIns="68575" bIns="34275" anchor="ctr" anchorCtr="0">
            <a:normAutofit/>
          </a:bodyPr>
          <a:lstStyle>
            <a:lvl1pPr lvl="0" algn="l" rtl="0">
              <a:lnSpc>
                <a:spcPct val="90000"/>
              </a:lnSpc>
              <a:spcBef>
                <a:spcPts val="0"/>
              </a:spcBef>
              <a:spcAft>
                <a:spcPts val="0"/>
              </a:spcAft>
              <a:buClr>
                <a:schemeClr val="dk1"/>
              </a:buClr>
              <a:buSzPts val="14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55" name="Google Shape;55;p14"/>
          <p:cNvSpPr txBox="1">
            <a:spLocks noGrp="1"/>
          </p:cNvSpPr>
          <p:nvPr>
            <p:ph type="body" idx="1"/>
          </p:nvPr>
        </p:nvSpPr>
        <p:spPr>
          <a:xfrm>
            <a:off x="628650" y="1369219"/>
            <a:ext cx="3886200" cy="3263400"/>
          </a:xfrm>
          <a:prstGeom prst="rect">
            <a:avLst/>
          </a:prstGeom>
          <a:noFill/>
          <a:ln>
            <a:noFill/>
          </a:ln>
        </p:spPr>
        <p:txBody>
          <a:bodyPr spcFirstLastPara="1" wrap="square" lIns="68575" tIns="34275" rIns="68575" bIns="34275" anchor="t" anchorCtr="0">
            <a:normAutofit/>
          </a:bodyPr>
          <a:lstStyle>
            <a:lvl1pPr marL="457200" lvl="0" indent="-342900" algn="l" rtl="0">
              <a:lnSpc>
                <a:spcPct val="90000"/>
              </a:lnSpc>
              <a:spcBef>
                <a:spcPts val="800"/>
              </a:spcBef>
              <a:spcAft>
                <a:spcPts val="0"/>
              </a:spcAft>
              <a:buClr>
                <a:schemeClr val="dk1"/>
              </a:buClr>
              <a:buSzPts val="1800"/>
              <a:buChar char="●"/>
              <a:defRPr/>
            </a:lvl1pPr>
            <a:lvl2pPr marL="914400" lvl="1" indent="-342900" algn="l" rtl="0">
              <a:lnSpc>
                <a:spcPct val="90000"/>
              </a:lnSpc>
              <a:spcBef>
                <a:spcPts val="1200"/>
              </a:spcBef>
              <a:spcAft>
                <a:spcPts val="0"/>
              </a:spcAft>
              <a:buClr>
                <a:schemeClr val="dk1"/>
              </a:buClr>
              <a:buSzPts val="1800"/>
              <a:buChar char="○"/>
              <a:defRPr sz="1800"/>
            </a:lvl2pPr>
            <a:lvl3pPr marL="1371600" lvl="2" indent="-342900" algn="l" rtl="0">
              <a:lnSpc>
                <a:spcPct val="90000"/>
              </a:lnSpc>
              <a:spcBef>
                <a:spcPts val="1200"/>
              </a:spcBef>
              <a:spcAft>
                <a:spcPts val="0"/>
              </a:spcAft>
              <a:buClr>
                <a:schemeClr val="dk1"/>
              </a:buClr>
              <a:buSzPts val="1800"/>
              <a:buChar char="■"/>
              <a:defRPr sz="1800"/>
            </a:lvl3pPr>
            <a:lvl4pPr marL="1828800" lvl="3" indent="-342900" algn="l" rtl="0">
              <a:lnSpc>
                <a:spcPct val="90000"/>
              </a:lnSpc>
              <a:spcBef>
                <a:spcPts val="1200"/>
              </a:spcBef>
              <a:spcAft>
                <a:spcPts val="0"/>
              </a:spcAft>
              <a:buClr>
                <a:schemeClr val="dk1"/>
              </a:buClr>
              <a:buSzPts val="1800"/>
              <a:buChar char="●"/>
              <a:defRPr sz="1800"/>
            </a:lvl4pPr>
            <a:lvl5pPr marL="2286000" lvl="4" indent="-342900" algn="l" rtl="0">
              <a:lnSpc>
                <a:spcPct val="90000"/>
              </a:lnSpc>
              <a:spcBef>
                <a:spcPts val="1200"/>
              </a:spcBef>
              <a:spcAft>
                <a:spcPts val="0"/>
              </a:spcAft>
              <a:buClr>
                <a:schemeClr val="dk1"/>
              </a:buClr>
              <a:buSzPts val="1800"/>
              <a:buChar char="○"/>
              <a:defRPr sz="1800"/>
            </a:lvl5pPr>
            <a:lvl6pPr marL="2743200" lvl="5" indent="-342900" algn="l" rtl="0">
              <a:lnSpc>
                <a:spcPct val="90000"/>
              </a:lnSpc>
              <a:spcBef>
                <a:spcPts val="1200"/>
              </a:spcBef>
              <a:spcAft>
                <a:spcPts val="0"/>
              </a:spcAft>
              <a:buClr>
                <a:schemeClr val="dk1"/>
              </a:buClr>
              <a:buSzPts val="1800"/>
              <a:buChar char="■"/>
              <a:defRPr sz="1800"/>
            </a:lvl6pPr>
            <a:lvl7pPr marL="3200400" lvl="6" indent="-342900" algn="l" rtl="0">
              <a:lnSpc>
                <a:spcPct val="90000"/>
              </a:lnSpc>
              <a:spcBef>
                <a:spcPts val="1200"/>
              </a:spcBef>
              <a:spcAft>
                <a:spcPts val="0"/>
              </a:spcAft>
              <a:buClr>
                <a:schemeClr val="dk1"/>
              </a:buClr>
              <a:buSzPts val="1800"/>
              <a:buChar char="●"/>
              <a:defRPr sz="1800"/>
            </a:lvl7pPr>
            <a:lvl8pPr marL="3657600" lvl="7" indent="-342900" algn="l" rtl="0">
              <a:lnSpc>
                <a:spcPct val="90000"/>
              </a:lnSpc>
              <a:spcBef>
                <a:spcPts val="1200"/>
              </a:spcBef>
              <a:spcAft>
                <a:spcPts val="0"/>
              </a:spcAft>
              <a:buClr>
                <a:schemeClr val="dk1"/>
              </a:buClr>
              <a:buSzPts val="1800"/>
              <a:buChar char="○"/>
              <a:defRPr sz="1800"/>
            </a:lvl8pPr>
            <a:lvl9pPr marL="4114800" lvl="8" indent="-342900" algn="l" rtl="0">
              <a:lnSpc>
                <a:spcPct val="90000"/>
              </a:lnSpc>
              <a:spcBef>
                <a:spcPts val="1200"/>
              </a:spcBef>
              <a:spcAft>
                <a:spcPts val="1200"/>
              </a:spcAft>
              <a:buClr>
                <a:schemeClr val="dk1"/>
              </a:buClr>
              <a:buSzPts val="1800"/>
              <a:buChar char="■"/>
              <a:defRPr sz="1800"/>
            </a:lvl9pPr>
          </a:lstStyle>
          <a:p>
            <a:endParaRPr/>
          </a:p>
        </p:txBody>
      </p:sp>
      <p:sp>
        <p:nvSpPr>
          <p:cNvPr id="56" name="Google Shape;56;p14"/>
          <p:cNvSpPr txBox="1">
            <a:spLocks noGrp="1"/>
          </p:cNvSpPr>
          <p:nvPr>
            <p:ph type="body" idx="2"/>
          </p:nvPr>
        </p:nvSpPr>
        <p:spPr>
          <a:xfrm>
            <a:off x="4629150" y="1369219"/>
            <a:ext cx="3886200" cy="3263400"/>
          </a:xfrm>
          <a:prstGeom prst="rect">
            <a:avLst/>
          </a:prstGeom>
          <a:noFill/>
          <a:ln>
            <a:noFill/>
          </a:ln>
        </p:spPr>
        <p:txBody>
          <a:bodyPr spcFirstLastPara="1" wrap="square" lIns="68575" tIns="34275" rIns="68575" bIns="34275" anchor="t" anchorCtr="0">
            <a:normAutofit/>
          </a:bodyPr>
          <a:lstStyle>
            <a:lvl1pPr marL="457200" lvl="0" indent="-342900" algn="l" rtl="0">
              <a:lnSpc>
                <a:spcPct val="90000"/>
              </a:lnSpc>
              <a:spcBef>
                <a:spcPts val="800"/>
              </a:spcBef>
              <a:spcAft>
                <a:spcPts val="0"/>
              </a:spcAft>
              <a:buClr>
                <a:schemeClr val="dk1"/>
              </a:buClr>
              <a:buSzPts val="1800"/>
              <a:buChar char="●"/>
              <a:defRPr/>
            </a:lvl1pPr>
            <a:lvl2pPr marL="914400" lvl="1" indent="-342900" algn="l" rtl="0">
              <a:lnSpc>
                <a:spcPct val="90000"/>
              </a:lnSpc>
              <a:spcBef>
                <a:spcPts val="1200"/>
              </a:spcBef>
              <a:spcAft>
                <a:spcPts val="0"/>
              </a:spcAft>
              <a:buClr>
                <a:schemeClr val="dk1"/>
              </a:buClr>
              <a:buSzPts val="1800"/>
              <a:buChar char="○"/>
              <a:defRPr sz="1800"/>
            </a:lvl2pPr>
            <a:lvl3pPr marL="1371600" lvl="2" indent="-342900" algn="l" rtl="0">
              <a:lnSpc>
                <a:spcPct val="90000"/>
              </a:lnSpc>
              <a:spcBef>
                <a:spcPts val="1200"/>
              </a:spcBef>
              <a:spcAft>
                <a:spcPts val="0"/>
              </a:spcAft>
              <a:buClr>
                <a:schemeClr val="dk1"/>
              </a:buClr>
              <a:buSzPts val="1800"/>
              <a:buChar char="■"/>
              <a:defRPr sz="1800"/>
            </a:lvl3pPr>
            <a:lvl4pPr marL="1828800" lvl="3" indent="-342900" algn="l" rtl="0">
              <a:lnSpc>
                <a:spcPct val="90000"/>
              </a:lnSpc>
              <a:spcBef>
                <a:spcPts val="1200"/>
              </a:spcBef>
              <a:spcAft>
                <a:spcPts val="0"/>
              </a:spcAft>
              <a:buClr>
                <a:schemeClr val="dk1"/>
              </a:buClr>
              <a:buSzPts val="1800"/>
              <a:buChar char="●"/>
              <a:defRPr sz="1800"/>
            </a:lvl4pPr>
            <a:lvl5pPr marL="2286000" lvl="4" indent="-342900" algn="l" rtl="0">
              <a:lnSpc>
                <a:spcPct val="90000"/>
              </a:lnSpc>
              <a:spcBef>
                <a:spcPts val="1200"/>
              </a:spcBef>
              <a:spcAft>
                <a:spcPts val="0"/>
              </a:spcAft>
              <a:buClr>
                <a:schemeClr val="dk1"/>
              </a:buClr>
              <a:buSzPts val="1800"/>
              <a:buChar char="○"/>
              <a:defRPr sz="1800"/>
            </a:lvl5pPr>
            <a:lvl6pPr marL="2743200" lvl="5" indent="-342900" algn="l" rtl="0">
              <a:lnSpc>
                <a:spcPct val="90000"/>
              </a:lnSpc>
              <a:spcBef>
                <a:spcPts val="1200"/>
              </a:spcBef>
              <a:spcAft>
                <a:spcPts val="0"/>
              </a:spcAft>
              <a:buClr>
                <a:schemeClr val="dk1"/>
              </a:buClr>
              <a:buSzPts val="1800"/>
              <a:buChar char="■"/>
              <a:defRPr sz="1800"/>
            </a:lvl6pPr>
            <a:lvl7pPr marL="3200400" lvl="6" indent="-342900" algn="l" rtl="0">
              <a:lnSpc>
                <a:spcPct val="90000"/>
              </a:lnSpc>
              <a:spcBef>
                <a:spcPts val="1200"/>
              </a:spcBef>
              <a:spcAft>
                <a:spcPts val="0"/>
              </a:spcAft>
              <a:buClr>
                <a:schemeClr val="dk1"/>
              </a:buClr>
              <a:buSzPts val="1800"/>
              <a:buChar char="●"/>
              <a:defRPr sz="1800"/>
            </a:lvl7pPr>
            <a:lvl8pPr marL="3657600" lvl="7" indent="-342900" algn="l" rtl="0">
              <a:lnSpc>
                <a:spcPct val="90000"/>
              </a:lnSpc>
              <a:spcBef>
                <a:spcPts val="1200"/>
              </a:spcBef>
              <a:spcAft>
                <a:spcPts val="0"/>
              </a:spcAft>
              <a:buClr>
                <a:schemeClr val="dk1"/>
              </a:buClr>
              <a:buSzPts val="1800"/>
              <a:buChar char="○"/>
              <a:defRPr sz="1800"/>
            </a:lvl8pPr>
            <a:lvl9pPr marL="4114800" lvl="8" indent="-342900" algn="l" rtl="0">
              <a:lnSpc>
                <a:spcPct val="90000"/>
              </a:lnSpc>
              <a:spcBef>
                <a:spcPts val="1200"/>
              </a:spcBef>
              <a:spcAft>
                <a:spcPts val="1200"/>
              </a:spcAft>
              <a:buClr>
                <a:schemeClr val="dk1"/>
              </a:buClr>
              <a:buSzPts val="1800"/>
              <a:buChar char="■"/>
              <a:defRPr sz="1800"/>
            </a:lvl9pPr>
          </a:lstStyle>
          <a:p>
            <a:endParaRPr/>
          </a:p>
        </p:txBody>
      </p:sp>
      <p:sp>
        <p:nvSpPr>
          <p:cNvPr id="57" name="Google Shape;57;p14"/>
          <p:cNvSpPr txBox="1">
            <a:spLocks noGrp="1"/>
          </p:cNvSpPr>
          <p:nvPr>
            <p:ph type="body" idx="3"/>
          </p:nvPr>
        </p:nvSpPr>
        <p:spPr>
          <a:xfrm>
            <a:off x="0" y="4767263"/>
            <a:ext cx="3732600" cy="376200"/>
          </a:xfrm>
          <a:prstGeom prst="rect">
            <a:avLst/>
          </a:prstGeom>
          <a:noFill/>
          <a:ln>
            <a:noFill/>
          </a:ln>
        </p:spPr>
        <p:txBody>
          <a:bodyPr spcFirstLastPara="1" wrap="square" lIns="68575" tIns="34275" rIns="68575" bIns="34275" anchor="t" anchorCtr="0">
            <a:normAutofit/>
          </a:bodyPr>
          <a:lstStyle>
            <a:lvl1pPr marL="457200" lvl="0" indent="-228600" algn="l" rtl="0">
              <a:lnSpc>
                <a:spcPct val="90000"/>
              </a:lnSpc>
              <a:spcBef>
                <a:spcPts val="800"/>
              </a:spcBef>
              <a:spcAft>
                <a:spcPts val="0"/>
              </a:spcAft>
              <a:buClr>
                <a:schemeClr val="lt1"/>
              </a:buClr>
              <a:buSzPts val="2100"/>
              <a:buNone/>
              <a:defRPr>
                <a:solidFill>
                  <a:schemeClr val="lt1"/>
                </a:solidFill>
              </a:defRPr>
            </a:lvl1pPr>
            <a:lvl2pPr marL="914400" lvl="1" indent="-342900" algn="l" rtl="0">
              <a:lnSpc>
                <a:spcPct val="90000"/>
              </a:lnSpc>
              <a:spcBef>
                <a:spcPts val="1200"/>
              </a:spcBef>
              <a:spcAft>
                <a:spcPts val="0"/>
              </a:spcAft>
              <a:buClr>
                <a:schemeClr val="lt1"/>
              </a:buClr>
              <a:buSzPts val="1800"/>
              <a:buChar char="○"/>
              <a:defRPr>
                <a:solidFill>
                  <a:schemeClr val="lt1"/>
                </a:solidFill>
              </a:defRPr>
            </a:lvl2pPr>
            <a:lvl3pPr marL="1371600" lvl="2" indent="-323850" algn="l" rtl="0">
              <a:lnSpc>
                <a:spcPct val="90000"/>
              </a:lnSpc>
              <a:spcBef>
                <a:spcPts val="1200"/>
              </a:spcBef>
              <a:spcAft>
                <a:spcPts val="0"/>
              </a:spcAft>
              <a:buClr>
                <a:schemeClr val="lt1"/>
              </a:buClr>
              <a:buSzPts val="1500"/>
              <a:buChar char="■"/>
              <a:defRPr>
                <a:solidFill>
                  <a:schemeClr val="lt1"/>
                </a:solidFill>
              </a:defRPr>
            </a:lvl3pPr>
            <a:lvl4pPr marL="1828800" lvl="3" indent="-317500" algn="l" rtl="0">
              <a:lnSpc>
                <a:spcPct val="90000"/>
              </a:lnSpc>
              <a:spcBef>
                <a:spcPts val="1200"/>
              </a:spcBef>
              <a:spcAft>
                <a:spcPts val="0"/>
              </a:spcAft>
              <a:buClr>
                <a:schemeClr val="lt1"/>
              </a:buClr>
              <a:buSzPts val="1400"/>
              <a:buChar char="●"/>
              <a:defRPr>
                <a:solidFill>
                  <a:schemeClr val="lt1"/>
                </a:solidFill>
              </a:defRPr>
            </a:lvl4pPr>
            <a:lvl5pPr marL="2286000" lvl="4" indent="-317500" algn="l" rtl="0">
              <a:lnSpc>
                <a:spcPct val="90000"/>
              </a:lnSpc>
              <a:spcBef>
                <a:spcPts val="1200"/>
              </a:spcBef>
              <a:spcAft>
                <a:spcPts val="0"/>
              </a:spcAft>
              <a:buClr>
                <a:schemeClr val="lt1"/>
              </a:buClr>
              <a:buSzPts val="1400"/>
              <a:buChar char="○"/>
              <a:defRPr>
                <a:solidFill>
                  <a:schemeClr val="lt1"/>
                </a:solidFill>
              </a:defRPr>
            </a:lvl5pPr>
            <a:lvl6pPr marL="2743200" lvl="5" indent="-317500" algn="l" rtl="0">
              <a:lnSpc>
                <a:spcPct val="90000"/>
              </a:lnSpc>
              <a:spcBef>
                <a:spcPts val="1200"/>
              </a:spcBef>
              <a:spcAft>
                <a:spcPts val="0"/>
              </a:spcAft>
              <a:buClr>
                <a:schemeClr val="dk1"/>
              </a:buClr>
              <a:buSzPts val="1400"/>
              <a:buChar char="■"/>
              <a:defRPr/>
            </a:lvl6pPr>
            <a:lvl7pPr marL="3200400" lvl="6" indent="-317500" algn="l" rtl="0">
              <a:lnSpc>
                <a:spcPct val="90000"/>
              </a:lnSpc>
              <a:spcBef>
                <a:spcPts val="1200"/>
              </a:spcBef>
              <a:spcAft>
                <a:spcPts val="0"/>
              </a:spcAft>
              <a:buClr>
                <a:schemeClr val="dk1"/>
              </a:buClr>
              <a:buSzPts val="1400"/>
              <a:buChar char="●"/>
              <a:defRPr/>
            </a:lvl7pPr>
            <a:lvl8pPr marL="3657600" lvl="7" indent="-317500" algn="l" rtl="0">
              <a:lnSpc>
                <a:spcPct val="90000"/>
              </a:lnSpc>
              <a:spcBef>
                <a:spcPts val="1200"/>
              </a:spcBef>
              <a:spcAft>
                <a:spcPts val="0"/>
              </a:spcAft>
              <a:buClr>
                <a:schemeClr val="dk1"/>
              </a:buClr>
              <a:buSzPts val="1400"/>
              <a:buChar char="○"/>
              <a:defRPr/>
            </a:lvl8pPr>
            <a:lvl9pPr marL="4114800" lvl="8" indent="-317500" algn="l" rtl="0">
              <a:lnSpc>
                <a:spcPct val="90000"/>
              </a:lnSpc>
              <a:spcBef>
                <a:spcPts val="1200"/>
              </a:spcBef>
              <a:spcAft>
                <a:spcPts val="1200"/>
              </a:spcAft>
              <a:buClr>
                <a:schemeClr val="dk1"/>
              </a:buClr>
              <a:buSzPts val="1400"/>
              <a:buChar char="■"/>
              <a:defRPr/>
            </a:lvl9pPr>
          </a:lstStyle>
          <a:p>
            <a:endParaRPr/>
          </a:p>
        </p:txBody>
      </p:sp>
      <p:sp>
        <p:nvSpPr>
          <p:cNvPr id="58" name="Google Shape;58;p14"/>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rmAutofit/>
          </a:bodyPr>
          <a:lstStyle>
            <a:lvl1pPr lvl="0">
              <a:buNone/>
              <a:defRPr sz="1300"/>
            </a:lvl1pPr>
            <a:lvl2pPr lvl="1">
              <a:buNone/>
              <a:defRPr sz="1300"/>
            </a:lvl2pPr>
            <a:lvl3pPr lvl="2">
              <a:buNone/>
              <a:defRPr sz="1300"/>
            </a:lvl3pPr>
            <a:lvl4pPr lvl="3">
              <a:buNone/>
              <a:defRPr sz="1300"/>
            </a:lvl4pPr>
            <a:lvl5pPr lvl="4">
              <a:buNone/>
              <a:defRPr sz="1300"/>
            </a:lvl5pPr>
            <a:lvl6pPr lvl="5">
              <a:buNone/>
              <a:defRPr sz="1300"/>
            </a:lvl6pPr>
            <a:lvl7pPr lvl="6">
              <a:buNone/>
              <a:defRPr sz="1300"/>
            </a:lvl7pPr>
            <a:lvl8pPr lvl="7">
              <a:buNone/>
              <a:defRPr sz="1300"/>
            </a:lvl8pPr>
            <a:lvl9pPr lvl="8">
              <a:buNone/>
              <a:defRPr sz="1300"/>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59"/>
        <p:cNvGrpSpPr/>
        <p:nvPr/>
      </p:nvGrpSpPr>
      <p:grpSpPr>
        <a:xfrm>
          <a:off x="0" y="0"/>
          <a:ext cx="0" cy="0"/>
          <a:chOff x="0" y="0"/>
          <a:chExt cx="0" cy="0"/>
        </a:xfrm>
      </p:grpSpPr>
      <p:sp>
        <p:nvSpPr>
          <p:cNvPr id="60" name="Google Shape;60;p15"/>
          <p:cNvSpPr txBox="1">
            <a:spLocks noGrp="1"/>
          </p:cNvSpPr>
          <p:nvPr>
            <p:ph type="title"/>
          </p:nvPr>
        </p:nvSpPr>
        <p:spPr>
          <a:xfrm>
            <a:off x="628650" y="273844"/>
            <a:ext cx="7886700" cy="994200"/>
          </a:xfrm>
          <a:prstGeom prst="rect">
            <a:avLst/>
          </a:prstGeom>
          <a:noFill/>
          <a:ln>
            <a:noFill/>
          </a:ln>
        </p:spPr>
        <p:txBody>
          <a:bodyPr spcFirstLastPara="1" wrap="square" lIns="68575" tIns="34275" rIns="68575" bIns="34275" anchor="ctr" anchorCtr="0">
            <a:normAutofit/>
          </a:bodyPr>
          <a:lstStyle>
            <a:lvl1pPr lvl="0" algn="l" rtl="0">
              <a:lnSpc>
                <a:spcPct val="90000"/>
              </a:lnSpc>
              <a:spcBef>
                <a:spcPts val="0"/>
              </a:spcBef>
              <a:spcAft>
                <a:spcPts val="0"/>
              </a:spcAft>
              <a:buClr>
                <a:schemeClr val="dk1"/>
              </a:buClr>
              <a:buSzPts val="33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61" name="Google Shape;61;p15"/>
          <p:cNvSpPr txBox="1">
            <a:spLocks noGrp="1"/>
          </p:cNvSpPr>
          <p:nvPr>
            <p:ph type="body" idx="1"/>
          </p:nvPr>
        </p:nvSpPr>
        <p:spPr>
          <a:xfrm>
            <a:off x="628650" y="1369219"/>
            <a:ext cx="7886700" cy="3263400"/>
          </a:xfrm>
          <a:prstGeom prst="rect">
            <a:avLst/>
          </a:prstGeom>
          <a:noFill/>
          <a:ln>
            <a:noFill/>
          </a:ln>
        </p:spPr>
        <p:txBody>
          <a:bodyPr spcFirstLastPara="1" wrap="square" lIns="68575" tIns="34275" rIns="68575" bIns="34275" anchor="t" anchorCtr="0">
            <a:normAutofit/>
          </a:bodyPr>
          <a:lstStyle>
            <a:lvl1pPr marL="457200" lvl="0" indent="-342900" algn="l" rtl="0">
              <a:lnSpc>
                <a:spcPct val="150000"/>
              </a:lnSpc>
              <a:spcBef>
                <a:spcPts val="800"/>
              </a:spcBef>
              <a:spcAft>
                <a:spcPts val="0"/>
              </a:spcAft>
              <a:buClr>
                <a:schemeClr val="dk1"/>
              </a:buClr>
              <a:buSzPts val="1800"/>
              <a:buChar char="●"/>
              <a:defRPr/>
            </a:lvl1pPr>
            <a:lvl2pPr marL="914400" lvl="1" indent="-342900" algn="l" rtl="0">
              <a:lnSpc>
                <a:spcPct val="90000"/>
              </a:lnSpc>
              <a:spcBef>
                <a:spcPts val="1200"/>
              </a:spcBef>
              <a:spcAft>
                <a:spcPts val="0"/>
              </a:spcAft>
              <a:buClr>
                <a:schemeClr val="dk1"/>
              </a:buClr>
              <a:buSzPts val="1800"/>
              <a:buChar char="○"/>
              <a:defRPr sz="1800"/>
            </a:lvl2pPr>
            <a:lvl3pPr marL="1371600" lvl="2" indent="-342900" algn="l" rtl="0">
              <a:lnSpc>
                <a:spcPct val="90000"/>
              </a:lnSpc>
              <a:spcBef>
                <a:spcPts val="1200"/>
              </a:spcBef>
              <a:spcAft>
                <a:spcPts val="0"/>
              </a:spcAft>
              <a:buClr>
                <a:schemeClr val="dk1"/>
              </a:buClr>
              <a:buSzPts val="1800"/>
              <a:buChar char="■"/>
              <a:defRPr sz="1800"/>
            </a:lvl3pPr>
            <a:lvl4pPr marL="1828800" lvl="3" indent="-342900" algn="l" rtl="0">
              <a:lnSpc>
                <a:spcPct val="90000"/>
              </a:lnSpc>
              <a:spcBef>
                <a:spcPts val="1200"/>
              </a:spcBef>
              <a:spcAft>
                <a:spcPts val="0"/>
              </a:spcAft>
              <a:buClr>
                <a:schemeClr val="dk1"/>
              </a:buClr>
              <a:buSzPts val="1800"/>
              <a:buChar char="●"/>
              <a:defRPr sz="1800"/>
            </a:lvl4pPr>
            <a:lvl5pPr marL="2286000" lvl="4" indent="-342900" algn="l" rtl="0">
              <a:lnSpc>
                <a:spcPct val="90000"/>
              </a:lnSpc>
              <a:spcBef>
                <a:spcPts val="1200"/>
              </a:spcBef>
              <a:spcAft>
                <a:spcPts val="0"/>
              </a:spcAft>
              <a:buClr>
                <a:schemeClr val="dk1"/>
              </a:buClr>
              <a:buSzPts val="1800"/>
              <a:buChar char="○"/>
              <a:defRPr sz="1800"/>
            </a:lvl5pPr>
            <a:lvl6pPr marL="2743200" lvl="5" indent="-342900" algn="l" rtl="0">
              <a:lnSpc>
                <a:spcPct val="90000"/>
              </a:lnSpc>
              <a:spcBef>
                <a:spcPts val="1200"/>
              </a:spcBef>
              <a:spcAft>
                <a:spcPts val="0"/>
              </a:spcAft>
              <a:buClr>
                <a:schemeClr val="dk1"/>
              </a:buClr>
              <a:buSzPts val="1800"/>
              <a:buChar char="■"/>
              <a:defRPr sz="1800"/>
            </a:lvl6pPr>
            <a:lvl7pPr marL="3200400" lvl="6" indent="-342900" algn="l" rtl="0">
              <a:lnSpc>
                <a:spcPct val="90000"/>
              </a:lnSpc>
              <a:spcBef>
                <a:spcPts val="1200"/>
              </a:spcBef>
              <a:spcAft>
                <a:spcPts val="0"/>
              </a:spcAft>
              <a:buClr>
                <a:schemeClr val="dk1"/>
              </a:buClr>
              <a:buSzPts val="1800"/>
              <a:buChar char="●"/>
              <a:defRPr sz="1800"/>
            </a:lvl7pPr>
            <a:lvl8pPr marL="3657600" lvl="7" indent="-342900" algn="l" rtl="0">
              <a:lnSpc>
                <a:spcPct val="90000"/>
              </a:lnSpc>
              <a:spcBef>
                <a:spcPts val="1200"/>
              </a:spcBef>
              <a:spcAft>
                <a:spcPts val="0"/>
              </a:spcAft>
              <a:buClr>
                <a:schemeClr val="dk1"/>
              </a:buClr>
              <a:buSzPts val="1800"/>
              <a:buChar char="○"/>
              <a:defRPr sz="1800"/>
            </a:lvl8pPr>
            <a:lvl9pPr marL="4114800" lvl="8" indent="-342900" algn="l" rtl="0">
              <a:lnSpc>
                <a:spcPct val="90000"/>
              </a:lnSpc>
              <a:spcBef>
                <a:spcPts val="1200"/>
              </a:spcBef>
              <a:spcAft>
                <a:spcPts val="1200"/>
              </a:spcAft>
              <a:buClr>
                <a:schemeClr val="dk1"/>
              </a:buClr>
              <a:buSzPts val="1800"/>
              <a:buChar char="■"/>
              <a:defRPr sz="1800"/>
            </a:lvl9pPr>
          </a:lstStyle>
          <a:p>
            <a:endParaRPr/>
          </a:p>
        </p:txBody>
      </p:sp>
      <p:sp>
        <p:nvSpPr>
          <p:cNvPr id="62" name="Google Shape;62;p15"/>
          <p:cNvSpPr txBox="1">
            <a:spLocks noGrp="1"/>
          </p:cNvSpPr>
          <p:nvPr>
            <p:ph type="body" idx="2"/>
          </p:nvPr>
        </p:nvSpPr>
        <p:spPr>
          <a:xfrm>
            <a:off x="0" y="4767263"/>
            <a:ext cx="3732600" cy="376200"/>
          </a:xfrm>
          <a:prstGeom prst="rect">
            <a:avLst/>
          </a:prstGeom>
          <a:noFill/>
          <a:ln>
            <a:noFill/>
          </a:ln>
        </p:spPr>
        <p:txBody>
          <a:bodyPr spcFirstLastPara="1" wrap="square" lIns="68575" tIns="34275" rIns="68575" bIns="34275" anchor="t" anchorCtr="0">
            <a:normAutofit/>
          </a:bodyPr>
          <a:lstStyle>
            <a:lvl1pPr marL="457200" lvl="0" indent="-228600" algn="l" rtl="0">
              <a:lnSpc>
                <a:spcPct val="90000"/>
              </a:lnSpc>
              <a:spcBef>
                <a:spcPts val="800"/>
              </a:spcBef>
              <a:spcAft>
                <a:spcPts val="0"/>
              </a:spcAft>
              <a:buClr>
                <a:schemeClr val="lt1"/>
              </a:buClr>
              <a:buSzPts val="2100"/>
              <a:buNone/>
              <a:defRPr>
                <a:solidFill>
                  <a:schemeClr val="lt1"/>
                </a:solidFill>
              </a:defRPr>
            </a:lvl1pPr>
            <a:lvl2pPr marL="914400" lvl="1" indent="-342900" algn="l" rtl="0">
              <a:lnSpc>
                <a:spcPct val="90000"/>
              </a:lnSpc>
              <a:spcBef>
                <a:spcPts val="1200"/>
              </a:spcBef>
              <a:spcAft>
                <a:spcPts val="0"/>
              </a:spcAft>
              <a:buClr>
                <a:schemeClr val="lt1"/>
              </a:buClr>
              <a:buSzPts val="1800"/>
              <a:buChar char="○"/>
              <a:defRPr>
                <a:solidFill>
                  <a:schemeClr val="lt1"/>
                </a:solidFill>
              </a:defRPr>
            </a:lvl2pPr>
            <a:lvl3pPr marL="1371600" lvl="2" indent="-323850" algn="l" rtl="0">
              <a:lnSpc>
                <a:spcPct val="90000"/>
              </a:lnSpc>
              <a:spcBef>
                <a:spcPts val="1200"/>
              </a:spcBef>
              <a:spcAft>
                <a:spcPts val="0"/>
              </a:spcAft>
              <a:buClr>
                <a:schemeClr val="lt1"/>
              </a:buClr>
              <a:buSzPts val="1500"/>
              <a:buChar char="■"/>
              <a:defRPr>
                <a:solidFill>
                  <a:schemeClr val="lt1"/>
                </a:solidFill>
              </a:defRPr>
            </a:lvl3pPr>
            <a:lvl4pPr marL="1828800" lvl="3" indent="-317500" algn="l" rtl="0">
              <a:lnSpc>
                <a:spcPct val="90000"/>
              </a:lnSpc>
              <a:spcBef>
                <a:spcPts val="1200"/>
              </a:spcBef>
              <a:spcAft>
                <a:spcPts val="0"/>
              </a:spcAft>
              <a:buClr>
                <a:schemeClr val="lt1"/>
              </a:buClr>
              <a:buSzPts val="1400"/>
              <a:buChar char="●"/>
              <a:defRPr>
                <a:solidFill>
                  <a:schemeClr val="lt1"/>
                </a:solidFill>
              </a:defRPr>
            </a:lvl4pPr>
            <a:lvl5pPr marL="2286000" lvl="4" indent="-317500" algn="l" rtl="0">
              <a:lnSpc>
                <a:spcPct val="90000"/>
              </a:lnSpc>
              <a:spcBef>
                <a:spcPts val="1200"/>
              </a:spcBef>
              <a:spcAft>
                <a:spcPts val="0"/>
              </a:spcAft>
              <a:buClr>
                <a:schemeClr val="lt1"/>
              </a:buClr>
              <a:buSzPts val="1400"/>
              <a:buChar char="○"/>
              <a:defRPr>
                <a:solidFill>
                  <a:schemeClr val="lt1"/>
                </a:solidFill>
              </a:defRPr>
            </a:lvl5pPr>
            <a:lvl6pPr marL="2743200" lvl="5" indent="-317500" algn="l" rtl="0">
              <a:lnSpc>
                <a:spcPct val="90000"/>
              </a:lnSpc>
              <a:spcBef>
                <a:spcPts val="1200"/>
              </a:spcBef>
              <a:spcAft>
                <a:spcPts val="0"/>
              </a:spcAft>
              <a:buClr>
                <a:schemeClr val="dk1"/>
              </a:buClr>
              <a:buSzPts val="1400"/>
              <a:buChar char="■"/>
              <a:defRPr/>
            </a:lvl6pPr>
            <a:lvl7pPr marL="3200400" lvl="6" indent="-317500" algn="l" rtl="0">
              <a:lnSpc>
                <a:spcPct val="90000"/>
              </a:lnSpc>
              <a:spcBef>
                <a:spcPts val="1200"/>
              </a:spcBef>
              <a:spcAft>
                <a:spcPts val="0"/>
              </a:spcAft>
              <a:buClr>
                <a:schemeClr val="dk1"/>
              </a:buClr>
              <a:buSzPts val="1400"/>
              <a:buChar char="●"/>
              <a:defRPr/>
            </a:lvl7pPr>
            <a:lvl8pPr marL="3657600" lvl="7" indent="-317500" algn="l" rtl="0">
              <a:lnSpc>
                <a:spcPct val="90000"/>
              </a:lnSpc>
              <a:spcBef>
                <a:spcPts val="1200"/>
              </a:spcBef>
              <a:spcAft>
                <a:spcPts val="0"/>
              </a:spcAft>
              <a:buClr>
                <a:schemeClr val="dk1"/>
              </a:buClr>
              <a:buSzPts val="1400"/>
              <a:buChar char="○"/>
              <a:defRPr/>
            </a:lvl8pPr>
            <a:lvl9pPr marL="4114800" lvl="8" indent="-317500" algn="l" rtl="0">
              <a:lnSpc>
                <a:spcPct val="90000"/>
              </a:lnSpc>
              <a:spcBef>
                <a:spcPts val="1200"/>
              </a:spcBef>
              <a:spcAft>
                <a:spcPts val="1200"/>
              </a:spcAft>
              <a:buClr>
                <a:schemeClr val="dk1"/>
              </a:buClr>
              <a:buSzPts val="1400"/>
              <a:buChar char="■"/>
              <a:defRPr/>
            </a:lvl9pPr>
          </a:lstStyle>
          <a:p>
            <a:endParaRPr/>
          </a:p>
        </p:txBody>
      </p:sp>
      <p:sp>
        <p:nvSpPr>
          <p:cNvPr id="63" name="Google Shape;63;p15"/>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rmAutofit/>
          </a:bodyPr>
          <a:lstStyle>
            <a:lvl1pPr lvl="0">
              <a:buNone/>
              <a:defRPr sz="1300"/>
            </a:lvl1pPr>
            <a:lvl2pPr lvl="1">
              <a:buNone/>
              <a:defRPr sz="1300"/>
            </a:lvl2pPr>
            <a:lvl3pPr lvl="2">
              <a:buNone/>
              <a:defRPr sz="1300"/>
            </a:lvl3pPr>
            <a:lvl4pPr lvl="3">
              <a:buNone/>
              <a:defRPr sz="1300"/>
            </a:lvl4pPr>
            <a:lvl5pPr lvl="4">
              <a:buNone/>
              <a:defRPr sz="1300"/>
            </a:lvl5pPr>
            <a:lvl6pPr lvl="5">
              <a:buNone/>
              <a:defRPr sz="1300"/>
            </a:lvl6pPr>
            <a:lvl7pPr lvl="6">
              <a:buNone/>
              <a:defRPr sz="1300"/>
            </a:lvl7pPr>
            <a:lvl8pPr lvl="7">
              <a:buNone/>
              <a:defRPr sz="1300"/>
            </a:lvl8pPr>
            <a:lvl9pPr lvl="8">
              <a:buNone/>
              <a:defRPr sz="1300"/>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Section Header">
  <p:cSld name="Section Header">
    <p:spTree>
      <p:nvGrpSpPr>
        <p:cNvPr id="1" name="Shape 64"/>
        <p:cNvGrpSpPr/>
        <p:nvPr/>
      </p:nvGrpSpPr>
      <p:grpSpPr>
        <a:xfrm>
          <a:off x="0" y="0"/>
          <a:ext cx="0" cy="0"/>
          <a:chOff x="0" y="0"/>
          <a:chExt cx="0" cy="0"/>
        </a:xfrm>
      </p:grpSpPr>
      <p:sp>
        <p:nvSpPr>
          <p:cNvPr id="65" name="Google Shape;65;p16"/>
          <p:cNvSpPr txBox="1">
            <a:spLocks noGrp="1"/>
          </p:cNvSpPr>
          <p:nvPr>
            <p:ph type="title"/>
          </p:nvPr>
        </p:nvSpPr>
        <p:spPr>
          <a:xfrm>
            <a:off x="623888" y="1282303"/>
            <a:ext cx="7886700" cy="2139600"/>
          </a:xfrm>
          <a:prstGeom prst="rect">
            <a:avLst/>
          </a:prstGeom>
          <a:noFill/>
          <a:ln>
            <a:noFill/>
          </a:ln>
        </p:spPr>
        <p:txBody>
          <a:bodyPr spcFirstLastPara="1" wrap="square" lIns="68575" tIns="34275" rIns="68575" bIns="34275" anchor="b" anchorCtr="0">
            <a:normAutofit/>
          </a:bodyPr>
          <a:lstStyle>
            <a:lvl1pPr lvl="0" algn="l" rtl="0">
              <a:lnSpc>
                <a:spcPct val="90000"/>
              </a:lnSpc>
              <a:spcBef>
                <a:spcPts val="0"/>
              </a:spcBef>
              <a:spcAft>
                <a:spcPts val="0"/>
              </a:spcAft>
              <a:buClr>
                <a:schemeClr val="dk1"/>
              </a:buClr>
              <a:buSzPts val="4500"/>
              <a:buFont typeface="Century Gothic"/>
              <a:buNone/>
              <a:defRPr sz="45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66" name="Google Shape;66;p16"/>
          <p:cNvSpPr txBox="1">
            <a:spLocks noGrp="1"/>
          </p:cNvSpPr>
          <p:nvPr>
            <p:ph type="body" idx="1"/>
          </p:nvPr>
        </p:nvSpPr>
        <p:spPr>
          <a:xfrm>
            <a:off x="623888" y="3442097"/>
            <a:ext cx="7886700" cy="1125300"/>
          </a:xfrm>
          <a:prstGeom prst="rect">
            <a:avLst/>
          </a:prstGeom>
          <a:noFill/>
          <a:ln>
            <a:noFill/>
          </a:ln>
        </p:spPr>
        <p:txBody>
          <a:bodyPr spcFirstLastPara="1" wrap="square" lIns="68575" tIns="34275" rIns="68575" bIns="34275" anchor="t" anchorCtr="0">
            <a:normAutofit/>
          </a:bodyPr>
          <a:lstStyle>
            <a:lvl1pPr marL="457200" lvl="0" indent="-228600" algn="l" rtl="0">
              <a:lnSpc>
                <a:spcPct val="90000"/>
              </a:lnSpc>
              <a:spcBef>
                <a:spcPts val="800"/>
              </a:spcBef>
              <a:spcAft>
                <a:spcPts val="0"/>
              </a:spcAft>
              <a:buClr>
                <a:srgbClr val="888888"/>
              </a:buClr>
              <a:buSzPts val="1800"/>
              <a:buNone/>
              <a:defRPr sz="1800">
                <a:solidFill>
                  <a:srgbClr val="888888"/>
                </a:solidFill>
              </a:defRPr>
            </a:lvl1pPr>
            <a:lvl2pPr marL="914400" lvl="1" indent="-228600" algn="l" rtl="0">
              <a:lnSpc>
                <a:spcPct val="90000"/>
              </a:lnSpc>
              <a:spcBef>
                <a:spcPts val="1200"/>
              </a:spcBef>
              <a:spcAft>
                <a:spcPts val="0"/>
              </a:spcAft>
              <a:buClr>
                <a:srgbClr val="888888"/>
              </a:buClr>
              <a:buSzPts val="1500"/>
              <a:buNone/>
              <a:defRPr sz="1500">
                <a:solidFill>
                  <a:srgbClr val="888888"/>
                </a:solidFill>
              </a:defRPr>
            </a:lvl2pPr>
            <a:lvl3pPr marL="1371600" lvl="2" indent="-228600" algn="l" rtl="0">
              <a:lnSpc>
                <a:spcPct val="90000"/>
              </a:lnSpc>
              <a:spcBef>
                <a:spcPts val="1200"/>
              </a:spcBef>
              <a:spcAft>
                <a:spcPts val="0"/>
              </a:spcAft>
              <a:buClr>
                <a:srgbClr val="888888"/>
              </a:buClr>
              <a:buSzPts val="1400"/>
              <a:buNone/>
              <a:defRPr sz="1400">
                <a:solidFill>
                  <a:srgbClr val="888888"/>
                </a:solidFill>
              </a:defRPr>
            </a:lvl3pPr>
            <a:lvl4pPr marL="1828800" lvl="3" indent="-228600" algn="l" rtl="0">
              <a:lnSpc>
                <a:spcPct val="90000"/>
              </a:lnSpc>
              <a:spcBef>
                <a:spcPts val="1200"/>
              </a:spcBef>
              <a:spcAft>
                <a:spcPts val="0"/>
              </a:spcAft>
              <a:buClr>
                <a:srgbClr val="888888"/>
              </a:buClr>
              <a:buSzPts val="1200"/>
              <a:buNone/>
              <a:defRPr sz="1200">
                <a:solidFill>
                  <a:srgbClr val="888888"/>
                </a:solidFill>
              </a:defRPr>
            </a:lvl4pPr>
            <a:lvl5pPr marL="2286000" lvl="4" indent="-228600" algn="l" rtl="0">
              <a:lnSpc>
                <a:spcPct val="90000"/>
              </a:lnSpc>
              <a:spcBef>
                <a:spcPts val="1200"/>
              </a:spcBef>
              <a:spcAft>
                <a:spcPts val="0"/>
              </a:spcAft>
              <a:buClr>
                <a:srgbClr val="888888"/>
              </a:buClr>
              <a:buSzPts val="1200"/>
              <a:buNone/>
              <a:defRPr sz="1200">
                <a:solidFill>
                  <a:srgbClr val="888888"/>
                </a:solidFill>
              </a:defRPr>
            </a:lvl5pPr>
            <a:lvl6pPr marL="2743200" lvl="5" indent="-228600" algn="l" rtl="0">
              <a:lnSpc>
                <a:spcPct val="90000"/>
              </a:lnSpc>
              <a:spcBef>
                <a:spcPts val="1200"/>
              </a:spcBef>
              <a:spcAft>
                <a:spcPts val="0"/>
              </a:spcAft>
              <a:buClr>
                <a:srgbClr val="888888"/>
              </a:buClr>
              <a:buSzPts val="1200"/>
              <a:buNone/>
              <a:defRPr sz="1200">
                <a:solidFill>
                  <a:srgbClr val="888888"/>
                </a:solidFill>
              </a:defRPr>
            </a:lvl6pPr>
            <a:lvl7pPr marL="3200400" lvl="6" indent="-228600" algn="l" rtl="0">
              <a:lnSpc>
                <a:spcPct val="90000"/>
              </a:lnSpc>
              <a:spcBef>
                <a:spcPts val="1200"/>
              </a:spcBef>
              <a:spcAft>
                <a:spcPts val="0"/>
              </a:spcAft>
              <a:buClr>
                <a:srgbClr val="888888"/>
              </a:buClr>
              <a:buSzPts val="1200"/>
              <a:buNone/>
              <a:defRPr sz="1200">
                <a:solidFill>
                  <a:srgbClr val="888888"/>
                </a:solidFill>
              </a:defRPr>
            </a:lvl7pPr>
            <a:lvl8pPr marL="3657600" lvl="7" indent="-228600" algn="l" rtl="0">
              <a:lnSpc>
                <a:spcPct val="90000"/>
              </a:lnSpc>
              <a:spcBef>
                <a:spcPts val="1200"/>
              </a:spcBef>
              <a:spcAft>
                <a:spcPts val="0"/>
              </a:spcAft>
              <a:buClr>
                <a:srgbClr val="888888"/>
              </a:buClr>
              <a:buSzPts val="1200"/>
              <a:buNone/>
              <a:defRPr sz="1200">
                <a:solidFill>
                  <a:srgbClr val="888888"/>
                </a:solidFill>
              </a:defRPr>
            </a:lvl8pPr>
            <a:lvl9pPr marL="4114800" lvl="8" indent="-228600" algn="l" rtl="0">
              <a:lnSpc>
                <a:spcPct val="90000"/>
              </a:lnSpc>
              <a:spcBef>
                <a:spcPts val="1200"/>
              </a:spcBef>
              <a:spcAft>
                <a:spcPts val="1200"/>
              </a:spcAft>
              <a:buClr>
                <a:srgbClr val="888888"/>
              </a:buClr>
              <a:buSzPts val="1200"/>
              <a:buNone/>
              <a:defRPr sz="1200">
                <a:solidFill>
                  <a:srgbClr val="888888"/>
                </a:solidFill>
              </a:defRPr>
            </a:lvl9pPr>
          </a:lstStyle>
          <a:p>
            <a:endParaRPr/>
          </a:p>
        </p:txBody>
      </p:sp>
      <p:sp>
        <p:nvSpPr>
          <p:cNvPr id="67" name="Google Shape;67;p16"/>
          <p:cNvSpPr txBox="1">
            <a:spLocks noGrp="1"/>
          </p:cNvSpPr>
          <p:nvPr>
            <p:ph type="body" idx="2"/>
          </p:nvPr>
        </p:nvSpPr>
        <p:spPr>
          <a:xfrm>
            <a:off x="0" y="4767263"/>
            <a:ext cx="3732600" cy="376200"/>
          </a:xfrm>
          <a:prstGeom prst="rect">
            <a:avLst/>
          </a:prstGeom>
          <a:noFill/>
          <a:ln>
            <a:noFill/>
          </a:ln>
        </p:spPr>
        <p:txBody>
          <a:bodyPr spcFirstLastPara="1" wrap="square" lIns="68575" tIns="34275" rIns="68575" bIns="34275" anchor="t" anchorCtr="0">
            <a:normAutofit/>
          </a:bodyPr>
          <a:lstStyle>
            <a:lvl1pPr marL="457200" lvl="0" indent="-228600" algn="l" rtl="0">
              <a:lnSpc>
                <a:spcPct val="90000"/>
              </a:lnSpc>
              <a:spcBef>
                <a:spcPts val="800"/>
              </a:spcBef>
              <a:spcAft>
                <a:spcPts val="0"/>
              </a:spcAft>
              <a:buClr>
                <a:schemeClr val="lt1"/>
              </a:buClr>
              <a:buSzPts val="2100"/>
              <a:buNone/>
              <a:defRPr>
                <a:solidFill>
                  <a:schemeClr val="lt1"/>
                </a:solidFill>
              </a:defRPr>
            </a:lvl1pPr>
            <a:lvl2pPr marL="914400" lvl="1" indent="-342900" algn="l" rtl="0">
              <a:lnSpc>
                <a:spcPct val="90000"/>
              </a:lnSpc>
              <a:spcBef>
                <a:spcPts val="1200"/>
              </a:spcBef>
              <a:spcAft>
                <a:spcPts val="0"/>
              </a:spcAft>
              <a:buClr>
                <a:schemeClr val="lt1"/>
              </a:buClr>
              <a:buSzPts val="1800"/>
              <a:buChar char="○"/>
              <a:defRPr>
                <a:solidFill>
                  <a:schemeClr val="lt1"/>
                </a:solidFill>
              </a:defRPr>
            </a:lvl2pPr>
            <a:lvl3pPr marL="1371600" lvl="2" indent="-323850" algn="l" rtl="0">
              <a:lnSpc>
                <a:spcPct val="90000"/>
              </a:lnSpc>
              <a:spcBef>
                <a:spcPts val="1200"/>
              </a:spcBef>
              <a:spcAft>
                <a:spcPts val="0"/>
              </a:spcAft>
              <a:buClr>
                <a:schemeClr val="lt1"/>
              </a:buClr>
              <a:buSzPts val="1500"/>
              <a:buChar char="■"/>
              <a:defRPr>
                <a:solidFill>
                  <a:schemeClr val="lt1"/>
                </a:solidFill>
              </a:defRPr>
            </a:lvl3pPr>
            <a:lvl4pPr marL="1828800" lvl="3" indent="-317500" algn="l" rtl="0">
              <a:lnSpc>
                <a:spcPct val="90000"/>
              </a:lnSpc>
              <a:spcBef>
                <a:spcPts val="1200"/>
              </a:spcBef>
              <a:spcAft>
                <a:spcPts val="0"/>
              </a:spcAft>
              <a:buClr>
                <a:schemeClr val="lt1"/>
              </a:buClr>
              <a:buSzPts val="1400"/>
              <a:buChar char="●"/>
              <a:defRPr>
                <a:solidFill>
                  <a:schemeClr val="lt1"/>
                </a:solidFill>
              </a:defRPr>
            </a:lvl4pPr>
            <a:lvl5pPr marL="2286000" lvl="4" indent="-317500" algn="l" rtl="0">
              <a:lnSpc>
                <a:spcPct val="90000"/>
              </a:lnSpc>
              <a:spcBef>
                <a:spcPts val="1200"/>
              </a:spcBef>
              <a:spcAft>
                <a:spcPts val="0"/>
              </a:spcAft>
              <a:buClr>
                <a:schemeClr val="lt1"/>
              </a:buClr>
              <a:buSzPts val="1400"/>
              <a:buChar char="○"/>
              <a:defRPr>
                <a:solidFill>
                  <a:schemeClr val="lt1"/>
                </a:solidFill>
              </a:defRPr>
            </a:lvl5pPr>
            <a:lvl6pPr marL="2743200" lvl="5" indent="-317500" algn="l" rtl="0">
              <a:lnSpc>
                <a:spcPct val="90000"/>
              </a:lnSpc>
              <a:spcBef>
                <a:spcPts val="1200"/>
              </a:spcBef>
              <a:spcAft>
                <a:spcPts val="0"/>
              </a:spcAft>
              <a:buClr>
                <a:schemeClr val="dk1"/>
              </a:buClr>
              <a:buSzPts val="1400"/>
              <a:buChar char="■"/>
              <a:defRPr/>
            </a:lvl6pPr>
            <a:lvl7pPr marL="3200400" lvl="6" indent="-317500" algn="l" rtl="0">
              <a:lnSpc>
                <a:spcPct val="90000"/>
              </a:lnSpc>
              <a:spcBef>
                <a:spcPts val="1200"/>
              </a:spcBef>
              <a:spcAft>
                <a:spcPts val="0"/>
              </a:spcAft>
              <a:buClr>
                <a:schemeClr val="dk1"/>
              </a:buClr>
              <a:buSzPts val="1400"/>
              <a:buChar char="●"/>
              <a:defRPr/>
            </a:lvl7pPr>
            <a:lvl8pPr marL="3657600" lvl="7" indent="-317500" algn="l" rtl="0">
              <a:lnSpc>
                <a:spcPct val="90000"/>
              </a:lnSpc>
              <a:spcBef>
                <a:spcPts val="1200"/>
              </a:spcBef>
              <a:spcAft>
                <a:spcPts val="0"/>
              </a:spcAft>
              <a:buClr>
                <a:schemeClr val="dk1"/>
              </a:buClr>
              <a:buSzPts val="1400"/>
              <a:buChar char="○"/>
              <a:defRPr/>
            </a:lvl8pPr>
            <a:lvl9pPr marL="4114800" lvl="8" indent="-317500" algn="l" rtl="0">
              <a:lnSpc>
                <a:spcPct val="90000"/>
              </a:lnSpc>
              <a:spcBef>
                <a:spcPts val="1200"/>
              </a:spcBef>
              <a:spcAft>
                <a:spcPts val="1200"/>
              </a:spcAft>
              <a:buClr>
                <a:schemeClr val="dk1"/>
              </a:buClr>
              <a:buSzPts val="1400"/>
              <a:buChar char="■"/>
              <a:defRPr/>
            </a:lvl9pPr>
          </a:lstStyle>
          <a:p>
            <a:endParaRPr/>
          </a:p>
        </p:txBody>
      </p:sp>
      <p:sp>
        <p:nvSpPr>
          <p:cNvPr id="68" name="Google Shape;68;p16"/>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rmAutofit/>
          </a:bodyPr>
          <a:lstStyle>
            <a:lvl1pPr lvl="0">
              <a:buNone/>
              <a:defRPr sz="1300">
                <a:solidFill>
                  <a:srgbClr val="888888"/>
                </a:solidFill>
              </a:defRPr>
            </a:lvl1pPr>
            <a:lvl2pPr lvl="1">
              <a:buNone/>
              <a:defRPr sz="1300">
                <a:solidFill>
                  <a:srgbClr val="888888"/>
                </a:solidFill>
              </a:defRPr>
            </a:lvl2pPr>
            <a:lvl3pPr lvl="2">
              <a:buNone/>
              <a:defRPr sz="1300">
                <a:solidFill>
                  <a:srgbClr val="888888"/>
                </a:solidFill>
              </a:defRPr>
            </a:lvl3pPr>
            <a:lvl4pPr lvl="3">
              <a:buNone/>
              <a:defRPr sz="1300">
                <a:solidFill>
                  <a:srgbClr val="888888"/>
                </a:solidFill>
              </a:defRPr>
            </a:lvl4pPr>
            <a:lvl5pPr lvl="4">
              <a:buNone/>
              <a:defRPr sz="1300">
                <a:solidFill>
                  <a:srgbClr val="888888"/>
                </a:solidFill>
              </a:defRPr>
            </a:lvl5pPr>
            <a:lvl6pPr lvl="5">
              <a:buNone/>
              <a:defRPr sz="1300">
                <a:solidFill>
                  <a:srgbClr val="888888"/>
                </a:solidFill>
              </a:defRPr>
            </a:lvl6pPr>
            <a:lvl7pPr lvl="6">
              <a:buNone/>
              <a:defRPr sz="1300">
                <a:solidFill>
                  <a:srgbClr val="888888"/>
                </a:solidFill>
              </a:defRPr>
            </a:lvl7pPr>
            <a:lvl8pPr lvl="7">
              <a:buNone/>
              <a:defRPr sz="1300">
                <a:solidFill>
                  <a:srgbClr val="888888"/>
                </a:solidFill>
              </a:defRPr>
            </a:lvl8pPr>
            <a:lvl9pPr lvl="8">
              <a:buNone/>
              <a:defRPr sz="1300">
                <a:solidFill>
                  <a:srgbClr val="888888"/>
                </a:solidFil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Content 1" type="obj">
  <p:cSld name="Title and Content 1">
    <p:spTree>
      <p:nvGrpSpPr>
        <p:cNvPr id="1" name="Shape 69"/>
        <p:cNvGrpSpPr/>
        <p:nvPr/>
      </p:nvGrpSpPr>
      <p:grpSpPr>
        <a:xfrm>
          <a:off x="0" y="0"/>
          <a:ext cx="0" cy="0"/>
          <a:chOff x="0" y="0"/>
          <a:chExt cx="0" cy="0"/>
        </a:xfrm>
      </p:grpSpPr>
      <p:sp>
        <p:nvSpPr>
          <p:cNvPr id="70" name="Google Shape;70;p17"/>
          <p:cNvSpPr txBox="1">
            <a:spLocks noGrp="1"/>
          </p:cNvSpPr>
          <p:nvPr>
            <p:ph type="title"/>
          </p:nvPr>
        </p:nvSpPr>
        <p:spPr>
          <a:xfrm>
            <a:off x="822960" y="214952"/>
            <a:ext cx="7543800" cy="1088100"/>
          </a:xfrm>
          <a:prstGeom prst="rect">
            <a:avLst/>
          </a:prstGeom>
          <a:noFill/>
          <a:ln>
            <a:noFill/>
          </a:ln>
        </p:spPr>
        <p:txBody>
          <a:bodyPr spcFirstLastPara="1" wrap="square" lIns="68575" tIns="34275" rIns="68575" bIns="34275" anchor="b" anchorCtr="0">
            <a:normAutofit/>
          </a:bodyPr>
          <a:lstStyle>
            <a:lvl1pPr lvl="0" algn="l">
              <a:lnSpc>
                <a:spcPct val="85000"/>
              </a:lnSpc>
              <a:spcBef>
                <a:spcPts val="0"/>
              </a:spcBef>
              <a:spcAft>
                <a:spcPts val="0"/>
              </a:spcAft>
              <a:buClr>
                <a:srgbClr val="3F3F3F"/>
              </a:buClr>
              <a:buSzPts val="1400"/>
              <a:buFont typeface="Century Gothic"/>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1" name="Google Shape;71;p17"/>
          <p:cNvSpPr txBox="1">
            <a:spLocks noGrp="1"/>
          </p:cNvSpPr>
          <p:nvPr>
            <p:ph type="body" idx="1"/>
          </p:nvPr>
        </p:nvSpPr>
        <p:spPr>
          <a:xfrm>
            <a:off x="822960" y="1384300"/>
            <a:ext cx="7543800" cy="3017400"/>
          </a:xfrm>
          <a:prstGeom prst="rect">
            <a:avLst/>
          </a:prstGeom>
          <a:noFill/>
          <a:ln>
            <a:noFill/>
          </a:ln>
        </p:spPr>
        <p:txBody>
          <a:bodyPr spcFirstLastPara="1" wrap="square" lIns="0" tIns="34275" rIns="0" bIns="34275" anchor="t" anchorCtr="0">
            <a:normAutofit/>
          </a:bodyPr>
          <a:lstStyle>
            <a:lvl1pPr marL="457200" lvl="0" indent="-317500" algn="l">
              <a:lnSpc>
                <a:spcPct val="90000"/>
              </a:lnSpc>
              <a:spcBef>
                <a:spcPts val="900"/>
              </a:spcBef>
              <a:spcAft>
                <a:spcPts val="0"/>
              </a:spcAft>
              <a:buClr>
                <a:schemeClr val="dk1"/>
              </a:buClr>
              <a:buSzPts val="1400"/>
              <a:buChar char=" "/>
              <a:defRPr/>
            </a:lvl1pPr>
            <a:lvl2pPr marL="914400" lvl="1" indent="-317500" algn="l">
              <a:lnSpc>
                <a:spcPct val="90000"/>
              </a:lnSpc>
              <a:spcBef>
                <a:spcPts val="200"/>
              </a:spcBef>
              <a:spcAft>
                <a:spcPts val="0"/>
              </a:spcAft>
              <a:buClr>
                <a:schemeClr val="dk1"/>
              </a:buClr>
              <a:buSzPts val="1400"/>
              <a:buChar char="◦"/>
              <a:defRPr/>
            </a:lvl2pPr>
            <a:lvl3pPr marL="1371600" lvl="2" indent="-317500" algn="l">
              <a:lnSpc>
                <a:spcPct val="90000"/>
              </a:lnSpc>
              <a:spcBef>
                <a:spcPts val="300"/>
              </a:spcBef>
              <a:spcAft>
                <a:spcPts val="0"/>
              </a:spcAft>
              <a:buClr>
                <a:schemeClr val="dk1"/>
              </a:buClr>
              <a:buSzPts val="1400"/>
              <a:buChar char="◦"/>
              <a:defRPr/>
            </a:lvl3pPr>
            <a:lvl4pPr marL="1828800" lvl="3" indent="-317500" algn="l">
              <a:lnSpc>
                <a:spcPct val="90000"/>
              </a:lnSpc>
              <a:spcBef>
                <a:spcPts val="300"/>
              </a:spcBef>
              <a:spcAft>
                <a:spcPts val="0"/>
              </a:spcAft>
              <a:buClr>
                <a:schemeClr val="dk1"/>
              </a:buClr>
              <a:buSzPts val="1400"/>
              <a:buChar char="◦"/>
              <a:defRPr/>
            </a:lvl4pPr>
            <a:lvl5pPr marL="2286000" lvl="4" indent="-317500" algn="l">
              <a:lnSpc>
                <a:spcPct val="90000"/>
              </a:lnSpc>
              <a:spcBef>
                <a:spcPts val="300"/>
              </a:spcBef>
              <a:spcAft>
                <a:spcPts val="0"/>
              </a:spcAft>
              <a:buClr>
                <a:schemeClr val="dk1"/>
              </a:buClr>
              <a:buSzPts val="1400"/>
              <a:buChar char="◦"/>
              <a:defRPr/>
            </a:lvl5pPr>
            <a:lvl6pPr marL="2743200" lvl="5" indent="-317500" algn="l">
              <a:lnSpc>
                <a:spcPct val="90000"/>
              </a:lnSpc>
              <a:spcBef>
                <a:spcPts val="300"/>
              </a:spcBef>
              <a:spcAft>
                <a:spcPts val="0"/>
              </a:spcAft>
              <a:buClr>
                <a:schemeClr val="dk1"/>
              </a:buClr>
              <a:buSzPts val="1400"/>
              <a:buChar char="◦"/>
              <a:defRPr/>
            </a:lvl6pPr>
            <a:lvl7pPr marL="3200400" lvl="6" indent="-317500" algn="l">
              <a:lnSpc>
                <a:spcPct val="90000"/>
              </a:lnSpc>
              <a:spcBef>
                <a:spcPts val="300"/>
              </a:spcBef>
              <a:spcAft>
                <a:spcPts val="0"/>
              </a:spcAft>
              <a:buClr>
                <a:schemeClr val="dk1"/>
              </a:buClr>
              <a:buSzPts val="1400"/>
              <a:buChar char="◦"/>
              <a:defRPr/>
            </a:lvl7pPr>
            <a:lvl8pPr marL="3657600" lvl="7" indent="-317500" algn="l">
              <a:lnSpc>
                <a:spcPct val="90000"/>
              </a:lnSpc>
              <a:spcBef>
                <a:spcPts val="300"/>
              </a:spcBef>
              <a:spcAft>
                <a:spcPts val="0"/>
              </a:spcAft>
              <a:buClr>
                <a:schemeClr val="dk1"/>
              </a:buClr>
              <a:buSzPts val="1400"/>
              <a:buChar char="◦"/>
              <a:defRPr/>
            </a:lvl8pPr>
            <a:lvl9pPr marL="4114800" lvl="8" indent="-317500" algn="l">
              <a:lnSpc>
                <a:spcPct val="90000"/>
              </a:lnSpc>
              <a:spcBef>
                <a:spcPts val="300"/>
              </a:spcBef>
              <a:spcAft>
                <a:spcPts val="300"/>
              </a:spcAft>
              <a:buClr>
                <a:schemeClr val="dk1"/>
              </a:buClr>
              <a:buSzPts val="1400"/>
              <a:buChar char="◦"/>
              <a:defRPr/>
            </a:lvl9pPr>
          </a:lstStyle>
          <a:p>
            <a:endParaRPr/>
          </a:p>
        </p:txBody>
      </p:sp>
      <p:sp>
        <p:nvSpPr>
          <p:cNvPr id="72" name="Google Shape;72;p17"/>
          <p:cNvSpPr txBox="1">
            <a:spLocks noGrp="1"/>
          </p:cNvSpPr>
          <p:nvPr>
            <p:ph type="dt" idx="10"/>
          </p:nvPr>
        </p:nvSpPr>
        <p:spPr>
          <a:xfrm>
            <a:off x="822960" y="4844839"/>
            <a:ext cx="1854300" cy="273900"/>
          </a:xfrm>
          <a:prstGeom prst="rect">
            <a:avLst/>
          </a:prstGeom>
          <a:noFill/>
          <a:ln>
            <a:noFill/>
          </a:ln>
        </p:spPr>
        <p:txBody>
          <a:bodyPr spcFirstLastPara="1" wrap="square" lIns="68575" tIns="34275" rIns="68575" bIns="34275" anchor="ctr" anchorCtr="0">
            <a:noAutofit/>
          </a:bodyPr>
          <a:lstStyle>
            <a:lvl1pPr marR="0" lvl="0" algn="l">
              <a:spcBef>
                <a:spcPts val="0"/>
              </a:spcBef>
              <a:spcAft>
                <a:spcPts val="0"/>
              </a:spcAft>
              <a:buClr>
                <a:schemeClr val="dk1"/>
              </a:buClr>
              <a:buSzPts val="1100"/>
              <a:buFont typeface="Century Gothic"/>
              <a:buNone/>
              <a:defRPr sz="1400">
                <a:solidFill>
                  <a:schemeClr val="dk1"/>
                </a:solidFill>
                <a:latin typeface="Century Gothic"/>
                <a:ea typeface="Century Gothic"/>
                <a:cs typeface="Century Gothic"/>
                <a:sym typeface="Century Gothic"/>
              </a:defRPr>
            </a:lvl1pPr>
            <a:lvl2pPr marR="0" lvl="1" algn="l">
              <a:spcBef>
                <a:spcPts val="0"/>
              </a:spcBef>
              <a:spcAft>
                <a:spcPts val="0"/>
              </a:spcAft>
              <a:buClr>
                <a:schemeClr val="dk1"/>
              </a:buClr>
              <a:buSzPts val="1100"/>
              <a:buFont typeface="Century Gothic"/>
              <a:buNone/>
              <a:defRPr sz="1400" b="0" i="0" u="none" strike="noStrike" cap="none">
                <a:solidFill>
                  <a:schemeClr val="dk1"/>
                </a:solidFill>
                <a:latin typeface="Century Gothic"/>
                <a:ea typeface="Century Gothic"/>
                <a:cs typeface="Century Gothic"/>
                <a:sym typeface="Century Gothic"/>
              </a:defRPr>
            </a:lvl2pPr>
            <a:lvl3pPr marR="0" lvl="2" algn="l">
              <a:spcBef>
                <a:spcPts val="0"/>
              </a:spcBef>
              <a:spcAft>
                <a:spcPts val="0"/>
              </a:spcAft>
              <a:buClr>
                <a:schemeClr val="dk1"/>
              </a:buClr>
              <a:buSzPts val="1100"/>
              <a:buFont typeface="Century Gothic"/>
              <a:buNone/>
              <a:defRPr sz="1400" b="0" i="0" u="none" strike="noStrike" cap="none">
                <a:solidFill>
                  <a:schemeClr val="dk1"/>
                </a:solidFill>
                <a:latin typeface="Century Gothic"/>
                <a:ea typeface="Century Gothic"/>
                <a:cs typeface="Century Gothic"/>
                <a:sym typeface="Century Gothic"/>
              </a:defRPr>
            </a:lvl3pPr>
            <a:lvl4pPr marR="0" lvl="3" algn="l">
              <a:spcBef>
                <a:spcPts val="0"/>
              </a:spcBef>
              <a:spcAft>
                <a:spcPts val="0"/>
              </a:spcAft>
              <a:buClr>
                <a:schemeClr val="dk1"/>
              </a:buClr>
              <a:buSzPts val="1100"/>
              <a:buFont typeface="Century Gothic"/>
              <a:buNone/>
              <a:defRPr sz="1400" b="0" i="0" u="none" strike="noStrike" cap="none">
                <a:solidFill>
                  <a:schemeClr val="dk1"/>
                </a:solidFill>
                <a:latin typeface="Century Gothic"/>
                <a:ea typeface="Century Gothic"/>
                <a:cs typeface="Century Gothic"/>
                <a:sym typeface="Century Gothic"/>
              </a:defRPr>
            </a:lvl4pPr>
            <a:lvl5pPr marR="0" lvl="4" algn="l">
              <a:spcBef>
                <a:spcPts val="0"/>
              </a:spcBef>
              <a:spcAft>
                <a:spcPts val="0"/>
              </a:spcAft>
              <a:buClr>
                <a:schemeClr val="dk1"/>
              </a:buClr>
              <a:buSzPts val="1100"/>
              <a:buFont typeface="Century Gothic"/>
              <a:buNone/>
              <a:defRPr sz="1400" b="0" i="0" u="none" strike="noStrike" cap="none">
                <a:solidFill>
                  <a:schemeClr val="dk1"/>
                </a:solidFill>
                <a:latin typeface="Century Gothic"/>
                <a:ea typeface="Century Gothic"/>
                <a:cs typeface="Century Gothic"/>
                <a:sym typeface="Century Gothic"/>
              </a:defRPr>
            </a:lvl5pPr>
            <a:lvl6pPr marR="0" lvl="5" algn="l">
              <a:spcBef>
                <a:spcPts val="0"/>
              </a:spcBef>
              <a:spcAft>
                <a:spcPts val="0"/>
              </a:spcAft>
              <a:buClr>
                <a:schemeClr val="dk1"/>
              </a:buClr>
              <a:buSzPts val="1100"/>
              <a:buFont typeface="Century Gothic"/>
              <a:buNone/>
              <a:defRPr sz="1400" b="0" i="0" u="none" strike="noStrike" cap="none">
                <a:solidFill>
                  <a:schemeClr val="dk1"/>
                </a:solidFill>
                <a:latin typeface="Century Gothic"/>
                <a:ea typeface="Century Gothic"/>
                <a:cs typeface="Century Gothic"/>
                <a:sym typeface="Century Gothic"/>
              </a:defRPr>
            </a:lvl6pPr>
            <a:lvl7pPr marR="0" lvl="6" algn="l">
              <a:spcBef>
                <a:spcPts val="0"/>
              </a:spcBef>
              <a:spcAft>
                <a:spcPts val="0"/>
              </a:spcAft>
              <a:buClr>
                <a:schemeClr val="dk1"/>
              </a:buClr>
              <a:buSzPts val="1100"/>
              <a:buFont typeface="Century Gothic"/>
              <a:buNone/>
              <a:defRPr sz="1400" b="0" i="0" u="none" strike="noStrike" cap="none">
                <a:solidFill>
                  <a:schemeClr val="dk1"/>
                </a:solidFill>
                <a:latin typeface="Century Gothic"/>
                <a:ea typeface="Century Gothic"/>
                <a:cs typeface="Century Gothic"/>
                <a:sym typeface="Century Gothic"/>
              </a:defRPr>
            </a:lvl7pPr>
            <a:lvl8pPr marR="0" lvl="7" algn="l">
              <a:spcBef>
                <a:spcPts val="0"/>
              </a:spcBef>
              <a:spcAft>
                <a:spcPts val="0"/>
              </a:spcAft>
              <a:buClr>
                <a:schemeClr val="dk1"/>
              </a:buClr>
              <a:buSzPts val="1100"/>
              <a:buFont typeface="Century Gothic"/>
              <a:buNone/>
              <a:defRPr sz="1400" b="0" i="0" u="none" strike="noStrike" cap="none">
                <a:solidFill>
                  <a:schemeClr val="dk1"/>
                </a:solidFill>
                <a:latin typeface="Century Gothic"/>
                <a:ea typeface="Century Gothic"/>
                <a:cs typeface="Century Gothic"/>
                <a:sym typeface="Century Gothic"/>
              </a:defRPr>
            </a:lvl8pPr>
            <a:lvl9pPr marR="0" lvl="8" algn="l">
              <a:spcBef>
                <a:spcPts val="0"/>
              </a:spcBef>
              <a:spcAft>
                <a:spcPts val="0"/>
              </a:spcAft>
              <a:buClr>
                <a:schemeClr val="dk1"/>
              </a:buClr>
              <a:buSzPts val="1100"/>
              <a:buFont typeface="Century Gothic"/>
              <a:buNone/>
              <a:defRPr sz="1400" b="0" i="0" u="none" strike="noStrike" cap="none">
                <a:solidFill>
                  <a:schemeClr val="dk1"/>
                </a:solidFill>
                <a:latin typeface="Century Gothic"/>
                <a:ea typeface="Century Gothic"/>
                <a:cs typeface="Century Gothic"/>
                <a:sym typeface="Century Gothic"/>
              </a:defRPr>
            </a:lvl9pPr>
          </a:lstStyle>
          <a:p>
            <a:endParaRPr/>
          </a:p>
        </p:txBody>
      </p:sp>
      <p:sp>
        <p:nvSpPr>
          <p:cNvPr id="73" name="Google Shape;73;p17"/>
          <p:cNvSpPr txBox="1">
            <a:spLocks noGrp="1"/>
          </p:cNvSpPr>
          <p:nvPr>
            <p:ph type="ftr" idx="11"/>
          </p:nvPr>
        </p:nvSpPr>
        <p:spPr>
          <a:xfrm>
            <a:off x="2764639" y="4844839"/>
            <a:ext cx="3617100" cy="273900"/>
          </a:xfrm>
          <a:prstGeom prst="rect">
            <a:avLst/>
          </a:prstGeom>
          <a:noFill/>
          <a:ln>
            <a:noFill/>
          </a:ln>
        </p:spPr>
        <p:txBody>
          <a:bodyPr spcFirstLastPara="1" wrap="square" lIns="68575" tIns="34275" rIns="68575" bIns="34275" anchor="ctr" anchorCtr="0">
            <a:noAutofit/>
          </a:bodyPr>
          <a:lstStyle>
            <a:lvl1pPr marR="0" lvl="0" algn="ctr">
              <a:spcBef>
                <a:spcPts val="0"/>
              </a:spcBef>
              <a:spcAft>
                <a:spcPts val="0"/>
              </a:spcAft>
              <a:buClr>
                <a:schemeClr val="dk1"/>
              </a:buClr>
              <a:buSzPts val="1100"/>
              <a:buFont typeface="Century Gothic"/>
              <a:buNone/>
              <a:defRPr sz="1400">
                <a:solidFill>
                  <a:schemeClr val="dk1"/>
                </a:solidFill>
                <a:latin typeface="Century Gothic"/>
                <a:ea typeface="Century Gothic"/>
                <a:cs typeface="Century Gothic"/>
                <a:sym typeface="Century Gothic"/>
              </a:defRPr>
            </a:lvl1pPr>
            <a:lvl2pPr marR="0" lvl="1" algn="l">
              <a:spcBef>
                <a:spcPts val="0"/>
              </a:spcBef>
              <a:spcAft>
                <a:spcPts val="0"/>
              </a:spcAft>
              <a:buClr>
                <a:schemeClr val="dk1"/>
              </a:buClr>
              <a:buSzPts val="1100"/>
              <a:buFont typeface="Century Gothic"/>
              <a:buNone/>
              <a:defRPr sz="1400" b="0" i="0" u="none" strike="noStrike" cap="none">
                <a:solidFill>
                  <a:schemeClr val="dk1"/>
                </a:solidFill>
                <a:latin typeface="Century Gothic"/>
                <a:ea typeface="Century Gothic"/>
                <a:cs typeface="Century Gothic"/>
                <a:sym typeface="Century Gothic"/>
              </a:defRPr>
            </a:lvl2pPr>
            <a:lvl3pPr marR="0" lvl="2" algn="l">
              <a:spcBef>
                <a:spcPts val="0"/>
              </a:spcBef>
              <a:spcAft>
                <a:spcPts val="0"/>
              </a:spcAft>
              <a:buClr>
                <a:schemeClr val="dk1"/>
              </a:buClr>
              <a:buSzPts val="1100"/>
              <a:buFont typeface="Century Gothic"/>
              <a:buNone/>
              <a:defRPr sz="1400" b="0" i="0" u="none" strike="noStrike" cap="none">
                <a:solidFill>
                  <a:schemeClr val="dk1"/>
                </a:solidFill>
                <a:latin typeface="Century Gothic"/>
                <a:ea typeface="Century Gothic"/>
                <a:cs typeface="Century Gothic"/>
                <a:sym typeface="Century Gothic"/>
              </a:defRPr>
            </a:lvl3pPr>
            <a:lvl4pPr marR="0" lvl="3" algn="l">
              <a:spcBef>
                <a:spcPts val="0"/>
              </a:spcBef>
              <a:spcAft>
                <a:spcPts val="0"/>
              </a:spcAft>
              <a:buClr>
                <a:schemeClr val="dk1"/>
              </a:buClr>
              <a:buSzPts val="1100"/>
              <a:buFont typeface="Century Gothic"/>
              <a:buNone/>
              <a:defRPr sz="1400" b="0" i="0" u="none" strike="noStrike" cap="none">
                <a:solidFill>
                  <a:schemeClr val="dk1"/>
                </a:solidFill>
                <a:latin typeface="Century Gothic"/>
                <a:ea typeface="Century Gothic"/>
                <a:cs typeface="Century Gothic"/>
                <a:sym typeface="Century Gothic"/>
              </a:defRPr>
            </a:lvl4pPr>
            <a:lvl5pPr marR="0" lvl="4" algn="l">
              <a:spcBef>
                <a:spcPts val="0"/>
              </a:spcBef>
              <a:spcAft>
                <a:spcPts val="0"/>
              </a:spcAft>
              <a:buClr>
                <a:schemeClr val="dk1"/>
              </a:buClr>
              <a:buSzPts val="1100"/>
              <a:buFont typeface="Century Gothic"/>
              <a:buNone/>
              <a:defRPr sz="1400" b="0" i="0" u="none" strike="noStrike" cap="none">
                <a:solidFill>
                  <a:schemeClr val="dk1"/>
                </a:solidFill>
                <a:latin typeface="Century Gothic"/>
                <a:ea typeface="Century Gothic"/>
                <a:cs typeface="Century Gothic"/>
                <a:sym typeface="Century Gothic"/>
              </a:defRPr>
            </a:lvl5pPr>
            <a:lvl6pPr marR="0" lvl="5" algn="l">
              <a:spcBef>
                <a:spcPts val="0"/>
              </a:spcBef>
              <a:spcAft>
                <a:spcPts val="0"/>
              </a:spcAft>
              <a:buClr>
                <a:schemeClr val="dk1"/>
              </a:buClr>
              <a:buSzPts val="1100"/>
              <a:buFont typeface="Century Gothic"/>
              <a:buNone/>
              <a:defRPr sz="1400" b="0" i="0" u="none" strike="noStrike" cap="none">
                <a:solidFill>
                  <a:schemeClr val="dk1"/>
                </a:solidFill>
                <a:latin typeface="Century Gothic"/>
                <a:ea typeface="Century Gothic"/>
                <a:cs typeface="Century Gothic"/>
                <a:sym typeface="Century Gothic"/>
              </a:defRPr>
            </a:lvl6pPr>
            <a:lvl7pPr marR="0" lvl="6" algn="l">
              <a:spcBef>
                <a:spcPts val="0"/>
              </a:spcBef>
              <a:spcAft>
                <a:spcPts val="0"/>
              </a:spcAft>
              <a:buClr>
                <a:schemeClr val="dk1"/>
              </a:buClr>
              <a:buSzPts val="1100"/>
              <a:buFont typeface="Century Gothic"/>
              <a:buNone/>
              <a:defRPr sz="1400" b="0" i="0" u="none" strike="noStrike" cap="none">
                <a:solidFill>
                  <a:schemeClr val="dk1"/>
                </a:solidFill>
                <a:latin typeface="Century Gothic"/>
                <a:ea typeface="Century Gothic"/>
                <a:cs typeface="Century Gothic"/>
                <a:sym typeface="Century Gothic"/>
              </a:defRPr>
            </a:lvl7pPr>
            <a:lvl8pPr marR="0" lvl="7" algn="l">
              <a:spcBef>
                <a:spcPts val="0"/>
              </a:spcBef>
              <a:spcAft>
                <a:spcPts val="0"/>
              </a:spcAft>
              <a:buClr>
                <a:schemeClr val="dk1"/>
              </a:buClr>
              <a:buSzPts val="1100"/>
              <a:buFont typeface="Century Gothic"/>
              <a:buNone/>
              <a:defRPr sz="1400" b="0" i="0" u="none" strike="noStrike" cap="none">
                <a:solidFill>
                  <a:schemeClr val="dk1"/>
                </a:solidFill>
                <a:latin typeface="Century Gothic"/>
                <a:ea typeface="Century Gothic"/>
                <a:cs typeface="Century Gothic"/>
                <a:sym typeface="Century Gothic"/>
              </a:defRPr>
            </a:lvl8pPr>
            <a:lvl9pPr marR="0" lvl="8" algn="l">
              <a:spcBef>
                <a:spcPts val="0"/>
              </a:spcBef>
              <a:spcAft>
                <a:spcPts val="0"/>
              </a:spcAft>
              <a:buClr>
                <a:schemeClr val="dk1"/>
              </a:buClr>
              <a:buSzPts val="1100"/>
              <a:buFont typeface="Century Gothic"/>
              <a:buNone/>
              <a:defRPr sz="1400" b="0" i="0" u="none" strike="noStrike" cap="none">
                <a:solidFill>
                  <a:schemeClr val="dk1"/>
                </a:solidFill>
                <a:latin typeface="Century Gothic"/>
                <a:ea typeface="Century Gothic"/>
                <a:cs typeface="Century Gothic"/>
                <a:sym typeface="Century Gothic"/>
              </a:defRPr>
            </a:lvl9pPr>
          </a:lstStyle>
          <a:p>
            <a:endParaRPr/>
          </a:p>
        </p:txBody>
      </p:sp>
      <p:sp>
        <p:nvSpPr>
          <p:cNvPr id="74" name="Google Shape;74;p17"/>
          <p:cNvSpPr txBox="1">
            <a:spLocks noGrp="1"/>
          </p:cNvSpPr>
          <p:nvPr>
            <p:ph type="sldNum" idx="12"/>
          </p:nvPr>
        </p:nvSpPr>
        <p:spPr>
          <a:xfrm>
            <a:off x="7425344" y="4844839"/>
            <a:ext cx="984000" cy="273900"/>
          </a:xfrm>
          <a:prstGeom prst="rect">
            <a:avLst/>
          </a:prstGeom>
          <a:noFill/>
          <a:ln>
            <a:noFill/>
          </a:ln>
        </p:spPr>
        <p:txBody>
          <a:bodyPr spcFirstLastPara="1" wrap="square" lIns="68575" tIns="34275" rIns="68575" bIns="34275" anchor="ctr" anchorCtr="0">
            <a:noAutofit/>
          </a:bodyPr>
          <a:lstStyle>
            <a:lvl1pPr marL="0" marR="0" lvl="0" indent="0" algn="r">
              <a:spcBef>
                <a:spcPts val="0"/>
              </a:spcBef>
              <a:spcAft>
                <a:spcPts val="0"/>
              </a:spcAft>
              <a:buClr>
                <a:schemeClr val="dk1"/>
              </a:buClr>
              <a:buSzPts val="1400"/>
              <a:buFont typeface="Century Gothic"/>
              <a:buNone/>
              <a:defRPr sz="1400">
                <a:solidFill>
                  <a:schemeClr val="dk1"/>
                </a:solidFill>
                <a:latin typeface="Century Gothic"/>
                <a:ea typeface="Century Gothic"/>
                <a:cs typeface="Century Gothic"/>
                <a:sym typeface="Century Gothic"/>
              </a:defRPr>
            </a:lvl1pPr>
            <a:lvl2pPr marL="0" marR="0" lvl="1" indent="0" algn="r">
              <a:spcBef>
                <a:spcPts val="0"/>
              </a:spcBef>
              <a:spcAft>
                <a:spcPts val="0"/>
              </a:spcAft>
              <a:buClr>
                <a:schemeClr val="dk1"/>
              </a:buClr>
              <a:buSzPts val="1400"/>
              <a:buFont typeface="Century Gothic"/>
              <a:buNone/>
              <a:defRPr sz="1400">
                <a:solidFill>
                  <a:schemeClr val="dk1"/>
                </a:solidFill>
                <a:latin typeface="Century Gothic"/>
                <a:ea typeface="Century Gothic"/>
                <a:cs typeface="Century Gothic"/>
                <a:sym typeface="Century Gothic"/>
              </a:defRPr>
            </a:lvl2pPr>
            <a:lvl3pPr marL="0" marR="0" lvl="2" indent="0" algn="r">
              <a:spcBef>
                <a:spcPts val="0"/>
              </a:spcBef>
              <a:spcAft>
                <a:spcPts val="0"/>
              </a:spcAft>
              <a:buClr>
                <a:schemeClr val="dk1"/>
              </a:buClr>
              <a:buSzPts val="1400"/>
              <a:buFont typeface="Century Gothic"/>
              <a:buNone/>
              <a:defRPr sz="1400">
                <a:solidFill>
                  <a:schemeClr val="dk1"/>
                </a:solidFill>
                <a:latin typeface="Century Gothic"/>
                <a:ea typeface="Century Gothic"/>
                <a:cs typeface="Century Gothic"/>
                <a:sym typeface="Century Gothic"/>
              </a:defRPr>
            </a:lvl3pPr>
            <a:lvl4pPr marL="0" marR="0" lvl="3" indent="0" algn="r">
              <a:spcBef>
                <a:spcPts val="0"/>
              </a:spcBef>
              <a:spcAft>
                <a:spcPts val="0"/>
              </a:spcAft>
              <a:buClr>
                <a:schemeClr val="dk1"/>
              </a:buClr>
              <a:buSzPts val="1400"/>
              <a:buFont typeface="Century Gothic"/>
              <a:buNone/>
              <a:defRPr sz="1400">
                <a:solidFill>
                  <a:schemeClr val="dk1"/>
                </a:solidFill>
                <a:latin typeface="Century Gothic"/>
                <a:ea typeface="Century Gothic"/>
                <a:cs typeface="Century Gothic"/>
                <a:sym typeface="Century Gothic"/>
              </a:defRPr>
            </a:lvl4pPr>
            <a:lvl5pPr marL="0" marR="0" lvl="4" indent="0" algn="r">
              <a:spcBef>
                <a:spcPts val="0"/>
              </a:spcBef>
              <a:spcAft>
                <a:spcPts val="0"/>
              </a:spcAft>
              <a:buClr>
                <a:schemeClr val="dk1"/>
              </a:buClr>
              <a:buSzPts val="1400"/>
              <a:buFont typeface="Century Gothic"/>
              <a:buNone/>
              <a:defRPr sz="1400">
                <a:solidFill>
                  <a:schemeClr val="dk1"/>
                </a:solidFill>
                <a:latin typeface="Century Gothic"/>
                <a:ea typeface="Century Gothic"/>
                <a:cs typeface="Century Gothic"/>
                <a:sym typeface="Century Gothic"/>
              </a:defRPr>
            </a:lvl5pPr>
            <a:lvl6pPr marL="0" marR="0" lvl="5" indent="0" algn="r">
              <a:spcBef>
                <a:spcPts val="0"/>
              </a:spcBef>
              <a:spcAft>
                <a:spcPts val="0"/>
              </a:spcAft>
              <a:buClr>
                <a:schemeClr val="dk1"/>
              </a:buClr>
              <a:buSzPts val="1400"/>
              <a:buFont typeface="Century Gothic"/>
              <a:buNone/>
              <a:defRPr sz="1400">
                <a:solidFill>
                  <a:schemeClr val="dk1"/>
                </a:solidFill>
                <a:latin typeface="Century Gothic"/>
                <a:ea typeface="Century Gothic"/>
                <a:cs typeface="Century Gothic"/>
                <a:sym typeface="Century Gothic"/>
              </a:defRPr>
            </a:lvl6pPr>
            <a:lvl7pPr marL="0" marR="0" lvl="6" indent="0" algn="r">
              <a:spcBef>
                <a:spcPts val="0"/>
              </a:spcBef>
              <a:spcAft>
                <a:spcPts val="0"/>
              </a:spcAft>
              <a:buClr>
                <a:schemeClr val="dk1"/>
              </a:buClr>
              <a:buSzPts val="1400"/>
              <a:buFont typeface="Century Gothic"/>
              <a:buNone/>
              <a:defRPr sz="1400">
                <a:solidFill>
                  <a:schemeClr val="dk1"/>
                </a:solidFill>
                <a:latin typeface="Century Gothic"/>
                <a:ea typeface="Century Gothic"/>
                <a:cs typeface="Century Gothic"/>
                <a:sym typeface="Century Gothic"/>
              </a:defRPr>
            </a:lvl7pPr>
            <a:lvl8pPr marL="0" marR="0" lvl="7" indent="0" algn="r">
              <a:spcBef>
                <a:spcPts val="0"/>
              </a:spcBef>
              <a:spcAft>
                <a:spcPts val="0"/>
              </a:spcAft>
              <a:buClr>
                <a:schemeClr val="dk1"/>
              </a:buClr>
              <a:buSzPts val="1400"/>
              <a:buFont typeface="Century Gothic"/>
              <a:buNone/>
              <a:defRPr sz="1400">
                <a:solidFill>
                  <a:schemeClr val="dk1"/>
                </a:solidFill>
                <a:latin typeface="Century Gothic"/>
                <a:ea typeface="Century Gothic"/>
                <a:cs typeface="Century Gothic"/>
                <a:sym typeface="Century Gothic"/>
              </a:defRPr>
            </a:lvl8pPr>
            <a:lvl9pPr marL="0" marR="0" lvl="8" indent="0" algn="r">
              <a:spcBef>
                <a:spcPts val="0"/>
              </a:spcBef>
              <a:spcAft>
                <a:spcPts val="0"/>
              </a:spcAft>
              <a:buClr>
                <a:schemeClr val="dk1"/>
              </a:buClr>
              <a:buSzPts val="1400"/>
              <a:buFont typeface="Century Gothic"/>
              <a:buNone/>
              <a:defRPr sz="1400">
                <a:solidFill>
                  <a:schemeClr val="dk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GB"/>
              <a:t>‹#›</a:t>
            </a:fld>
            <a:endParaRPr/>
          </a:p>
        </p:txBody>
      </p:sp>
    </p:spTree>
    <p:extLst>
      <p:ext uri="{BB962C8B-B14F-4D97-AF65-F5344CB8AC3E}">
        <p14:creationId xmlns:p14="http://schemas.microsoft.com/office/powerpoint/2010/main" val="115786060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Only">
  <p:cSld name="1_Title Only">
    <p:spTree>
      <p:nvGrpSpPr>
        <p:cNvPr id="1" name="Shape 75"/>
        <p:cNvGrpSpPr/>
        <p:nvPr/>
      </p:nvGrpSpPr>
      <p:grpSpPr>
        <a:xfrm>
          <a:off x="0" y="0"/>
          <a:ext cx="0" cy="0"/>
          <a:chOff x="0" y="0"/>
          <a:chExt cx="0" cy="0"/>
        </a:xfrm>
      </p:grpSpPr>
      <p:sp>
        <p:nvSpPr>
          <p:cNvPr id="76" name="Google Shape;76;p18"/>
          <p:cNvSpPr txBox="1">
            <a:spLocks noGrp="1"/>
          </p:cNvSpPr>
          <p:nvPr>
            <p:ph type="title"/>
          </p:nvPr>
        </p:nvSpPr>
        <p:spPr>
          <a:xfrm>
            <a:off x="628650" y="273844"/>
            <a:ext cx="7886700" cy="994200"/>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77" name="Google Shape;77;p18"/>
          <p:cNvSpPr txBox="1">
            <a:spLocks noGrp="1"/>
          </p:cNvSpPr>
          <p:nvPr>
            <p:ph type="body" idx="1"/>
          </p:nvPr>
        </p:nvSpPr>
        <p:spPr>
          <a:xfrm>
            <a:off x="0" y="4767263"/>
            <a:ext cx="3732600" cy="37620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lt1"/>
              </a:buClr>
              <a:buSzPts val="2100"/>
              <a:buNone/>
              <a:defRPr>
                <a:solidFill>
                  <a:schemeClr val="lt1"/>
                </a:solidFill>
              </a:defRPr>
            </a:lvl1pPr>
            <a:lvl2pPr marL="914400" lvl="1" indent="-342900" algn="l">
              <a:lnSpc>
                <a:spcPct val="90000"/>
              </a:lnSpc>
              <a:spcBef>
                <a:spcPts val="1200"/>
              </a:spcBef>
              <a:spcAft>
                <a:spcPts val="0"/>
              </a:spcAft>
              <a:buClr>
                <a:schemeClr val="lt1"/>
              </a:buClr>
              <a:buSzPts val="1800"/>
              <a:buChar char="○"/>
              <a:defRPr>
                <a:solidFill>
                  <a:schemeClr val="lt1"/>
                </a:solidFill>
              </a:defRPr>
            </a:lvl2pPr>
            <a:lvl3pPr marL="1371600" lvl="2" indent="-323850" algn="l">
              <a:lnSpc>
                <a:spcPct val="90000"/>
              </a:lnSpc>
              <a:spcBef>
                <a:spcPts val="1200"/>
              </a:spcBef>
              <a:spcAft>
                <a:spcPts val="0"/>
              </a:spcAft>
              <a:buClr>
                <a:schemeClr val="lt1"/>
              </a:buClr>
              <a:buSzPts val="1500"/>
              <a:buChar char="■"/>
              <a:defRPr>
                <a:solidFill>
                  <a:schemeClr val="lt1"/>
                </a:solidFill>
              </a:defRPr>
            </a:lvl3pPr>
            <a:lvl4pPr marL="1828800" lvl="3" indent="-317500" algn="l">
              <a:lnSpc>
                <a:spcPct val="90000"/>
              </a:lnSpc>
              <a:spcBef>
                <a:spcPts val="1200"/>
              </a:spcBef>
              <a:spcAft>
                <a:spcPts val="0"/>
              </a:spcAft>
              <a:buClr>
                <a:schemeClr val="lt1"/>
              </a:buClr>
              <a:buSzPts val="1400"/>
              <a:buChar char="●"/>
              <a:defRPr>
                <a:solidFill>
                  <a:schemeClr val="lt1"/>
                </a:solidFill>
              </a:defRPr>
            </a:lvl4pPr>
            <a:lvl5pPr marL="2286000" lvl="4" indent="-317500" algn="l">
              <a:lnSpc>
                <a:spcPct val="90000"/>
              </a:lnSpc>
              <a:spcBef>
                <a:spcPts val="1200"/>
              </a:spcBef>
              <a:spcAft>
                <a:spcPts val="0"/>
              </a:spcAft>
              <a:buClr>
                <a:schemeClr val="lt1"/>
              </a:buClr>
              <a:buSzPts val="1400"/>
              <a:buChar char="○"/>
              <a:defRPr>
                <a:solidFill>
                  <a:schemeClr val="lt1"/>
                </a:solidFill>
              </a:defRPr>
            </a:lvl5pPr>
            <a:lvl6pPr marL="2743200" lvl="5" indent="-317500" algn="l">
              <a:lnSpc>
                <a:spcPct val="90000"/>
              </a:lnSpc>
              <a:spcBef>
                <a:spcPts val="1200"/>
              </a:spcBef>
              <a:spcAft>
                <a:spcPts val="0"/>
              </a:spcAft>
              <a:buClr>
                <a:schemeClr val="dk1"/>
              </a:buClr>
              <a:buSzPts val="1400"/>
              <a:buChar char="■"/>
              <a:defRPr/>
            </a:lvl6pPr>
            <a:lvl7pPr marL="3200400" lvl="6" indent="-317500" algn="l">
              <a:lnSpc>
                <a:spcPct val="90000"/>
              </a:lnSpc>
              <a:spcBef>
                <a:spcPts val="1200"/>
              </a:spcBef>
              <a:spcAft>
                <a:spcPts val="0"/>
              </a:spcAft>
              <a:buClr>
                <a:schemeClr val="dk1"/>
              </a:buClr>
              <a:buSzPts val="1400"/>
              <a:buChar char="●"/>
              <a:defRPr/>
            </a:lvl7pPr>
            <a:lvl8pPr marL="3657600" lvl="7" indent="-317500" algn="l">
              <a:lnSpc>
                <a:spcPct val="90000"/>
              </a:lnSpc>
              <a:spcBef>
                <a:spcPts val="1200"/>
              </a:spcBef>
              <a:spcAft>
                <a:spcPts val="0"/>
              </a:spcAft>
              <a:buClr>
                <a:schemeClr val="dk1"/>
              </a:buClr>
              <a:buSzPts val="1400"/>
              <a:buChar char="○"/>
              <a:defRPr/>
            </a:lvl8pPr>
            <a:lvl9pPr marL="4114800" lvl="8" indent="-317500" algn="l">
              <a:lnSpc>
                <a:spcPct val="90000"/>
              </a:lnSpc>
              <a:spcBef>
                <a:spcPts val="1200"/>
              </a:spcBef>
              <a:spcAft>
                <a:spcPts val="1200"/>
              </a:spcAft>
              <a:buClr>
                <a:schemeClr val="dk1"/>
              </a:buClr>
              <a:buSzPts val="1400"/>
              <a:buChar char="■"/>
              <a:defRPr/>
            </a:lvl9pPr>
          </a:lstStyle>
          <a:p>
            <a:endParaRPr/>
          </a:p>
        </p:txBody>
      </p:sp>
    </p:spTree>
    <p:extLst>
      <p:ext uri="{BB962C8B-B14F-4D97-AF65-F5344CB8AC3E}">
        <p14:creationId xmlns:p14="http://schemas.microsoft.com/office/powerpoint/2010/main" val="1988856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GB"/>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9" r:id="rId11"/>
    <p:sldLayoutId id="2147483660" r:id="rId12"/>
    <p:sldLayoutId id="2147483661" r:id="rId13"/>
    <p:sldLayoutId id="2147483662" r:id="rId14"/>
    <p:sldLayoutId id="2147483664" r:id="rId15"/>
    <p:sldLayoutId id="2147483665" r:id="rId16"/>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13.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13.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4.xml"/></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6.xml"/><Relationship Id="rId1" Type="http://schemas.openxmlformats.org/officeDocument/2006/relationships/slideLayout" Target="../slideLayouts/slideLayout13.xml"/><Relationship Id="rId4" Type="http://schemas.openxmlformats.org/officeDocument/2006/relationships/image" Target="../media/image14.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3" Type="http://schemas.openxmlformats.org/officeDocument/2006/relationships/hyperlink" Target="https://arxiv.org/abs/1301.3781" TargetMode="External"/><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3" Type="http://schemas.openxmlformats.org/officeDocument/2006/relationships/hyperlink" Target="https://arxiv.org/abs/1301.3781" TargetMode="External"/><Relationship Id="rId2" Type="http://schemas.openxmlformats.org/officeDocument/2006/relationships/notesSlide" Target="../notesSlides/notesSlide21.xml"/><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hyperlink" Target="https://arxiv.org/abs/1301.3781" TargetMode="External"/><Relationship Id="rId7" Type="http://schemas.openxmlformats.org/officeDocument/2006/relationships/image" Target="../media/image19.png"/><Relationship Id="rId2" Type="http://schemas.openxmlformats.org/officeDocument/2006/relationships/notesSlide" Target="../notesSlides/notesSlide22.xml"/><Relationship Id="rId1" Type="http://schemas.openxmlformats.org/officeDocument/2006/relationships/slideLayout" Target="../slideLayouts/slideLayout13.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24.xml.rels><?xml version="1.0" encoding="UTF-8" standalone="yes"?>
<Relationships xmlns="http://schemas.openxmlformats.org/package/2006/relationships"><Relationship Id="rId3" Type="http://schemas.openxmlformats.org/officeDocument/2006/relationships/hyperlink" Target="https://arxiv.org/abs/1301.3781" TargetMode="External"/><Relationship Id="rId2" Type="http://schemas.openxmlformats.org/officeDocument/2006/relationships/notesSlide" Target="../notesSlides/notesSlide23.xml"/><Relationship Id="rId1" Type="http://schemas.openxmlformats.org/officeDocument/2006/relationships/slideLayout" Target="../slideLayouts/slideLayout13.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2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4.xml"/><Relationship Id="rId1" Type="http://schemas.openxmlformats.org/officeDocument/2006/relationships/slideLayout" Target="../slideLayouts/slideLayout13.xml"/><Relationship Id="rId5" Type="http://schemas.openxmlformats.org/officeDocument/2006/relationships/image" Target="../media/image21.png"/><Relationship Id="rId4" Type="http://schemas.openxmlformats.org/officeDocument/2006/relationships/hyperlink" Target="https://arxiv.org/abs/1301.3781" TargetMode="External"/></Relationships>
</file>

<file path=ppt/slides/_rels/slide2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5.xml"/><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6.xml"/><Relationship Id="rId1" Type="http://schemas.openxmlformats.org/officeDocument/2006/relationships/slideLayout" Target="../slideLayouts/slideLayout13.xml"/><Relationship Id="rId5" Type="http://schemas.openxmlformats.org/officeDocument/2006/relationships/image" Target="../media/image16.png"/><Relationship Id="rId4" Type="http://schemas.openxmlformats.org/officeDocument/2006/relationships/image" Target="../media/image26.png"/></Relationships>
</file>

<file path=ppt/slides/_rels/slide28.xml.rels><?xml version="1.0" encoding="UTF-8" standalone="yes"?>
<Relationships xmlns="http://schemas.openxmlformats.org/package/2006/relationships"><Relationship Id="rId3" Type="http://schemas.openxmlformats.org/officeDocument/2006/relationships/hyperlink" Target="https://talwagner.github.io/teaching/word2vec.html" TargetMode="External"/><Relationship Id="rId2" Type="http://schemas.openxmlformats.org/officeDocument/2006/relationships/notesSlide" Target="../notesSlides/notesSlide27.xml"/><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3" Type="http://schemas.openxmlformats.org/officeDocument/2006/relationships/hyperlink" Target="https://arxiv.org/abs/1301.3781" TargetMode="External"/><Relationship Id="rId2" Type="http://schemas.openxmlformats.org/officeDocument/2006/relationships/notesSlide" Target="../notesSlides/notesSlide28.xml"/><Relationship Id="rId1" Type="http://schemas.openxmlformats.org/officeDocument/2006/relationships/slideLayout" Target="../slideLayouts/slideLayout13.xml"/><Relationship Id="rId4" Type="http://schemas.openxmlformats.org/officeDocument/2006/relationships/image" Target="../media/image21.png"/></Relationships>
</file>

<file path=ppt/slides/_rels/slide30.xml.rels><?xml version="1.0" encoding="UTF-8" standalone="yes"?>
<Relationships xmlns="http://schemas.openxmlformats.org/package/2006/relationships"><Relationship Id="rId3" Type="http://schemas.openxmlformats.org/officeDocument/2006/relationships/hyperlink" Target="https://arxiv.org/abs/1301.3781" TargetMode="External"/><Relationship Id="rId2" Type="http://schemas.openxmlformats.org/officeDocument/2006/relationships/notesSlide" Target="../notesSlides/notesSlide29.xml"/><Relationship Id="rId1" Type="http://schemas.openxmlformats.org/officeDocument/2006/relationships/slideLayout" Target="../slideLayouts/slideLayout13.xml"/><Relationship Id="rId5" Type="http://schemas.openxmlformats.org/officeDocument/2006/relationships/image" Target="../media/image21.png"/><Relationship Id="rId4" Type="http://schemas.openxmlformats.org/officeDocument/2006/relationships/image" Target="../media/image27.png"/></Relationships>
</file>

<file path=ppt/slides/_rels/slide31.xml.rels><?xml version="1.0" encoding="UTF-8" standalone="yes"?>
<Relationships xmlns="http://schemas.openxmlformats.org/package/2006/relationships"><Relationship Id="rId3" Type="http://schemas.openxmlformats.org/officeDocument/2006/relationships/hyperlink" Target="https://arxiv.org/abs/1301.3781" TargetMode="External"/><Relationship Id="rId2" Type="http://schemas.openxmlformats.org/officeDocument/2006/relationships/notesSlide" Target="../notesSlides/notesSlide30.xml"/><Relationship Id="rId1" Type="http://schemas.openxmlformats.org/officeDocument/2006/relationships/slideLayout" Target="../slideLayouts/slideLayout13.xml"/><Relationship Id="rId6" Type="http://schemas.openxmlformats.org/officeDocument/2006/relationships/image" Target="../media/image28.png"/><Relationship Id="rId5" Type="http://schemas.openxmlformats.org/officeDocument/2006/relationships/image" Target="../media/image21.png"/><Relationship Id="rId4" Type="http://schemas.openxmlformats.org/officeDocument/2006/relationships/image" Target="../media/image27.png"/></Relationships>
</file>

<file path=ppt/slides/_rels/slide32.xml.rels><?xml version="1.0" encoding="UTF-8" standalone="yes"?>
<Relationships xmlns="http://schemas.openxmlformats.org/package/2006/relationships"><Relationship Id="rId3" Type="http://schemas.openxmlformats.org/officeDocument/2006/relationships/hyperlink" Target="https://arxiv.org/abs/1301.3781" TargetMode="External"/><Relationship Id="rId2" Type="http://schemas.openxmlformats.org/officeDocument/2006/relationships/notesSlide" Target="../notesSlides/notesSlide31.xml"/><Relationship Id="rId1" Type="http://schemas.openxmlformats.org/officeDocument/2006/relationships/slideLayout" Target="../slideLayouts/slideLayout13.xml"/><Relationship Id="rId6" Type="http://schemas.openxmlformats.org/officeDocument/2006/relationships/image" Target="../media/image28.png"/><Relationship Id="rId5" Type="http://schemas.openxmlformats.org/officeDocument/2006/relationships/image" Target="../media/image21.png"/><Relationship Id="rId4" Type="http://schemas.openxmlformats.org/officeDocument/2006/relationships/image" Target="../media/image27.png"/></Relationships>
</file>

<file path=ppt/slides/_rels/slide3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2.xml"/><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4.xml"/></Relationships>
</file>

<file path=ppt/slides/_rels/slide3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7.xml"/><Relationship Id="rId1" Type="http://schemas.openxmlformats.org/officeDocument/2006/relationships/slideLayout" Target="../slideLayouts/slideLayout13.xml"/><Relationship Id="rId5" Type="http://schemas.openxmlformats.org/officeDocument/2006/relationships/image" Target="../media/image21.png"/><Relationship Id="rId4" Type="http://schemas.openxmlformats.org/officeDocument/2006/relationships/hyperlink" Target="https://arxiv.org/abs/1301.3781" TargetMode="External"/></Relationships>
</file>

<file path=ppt/slides/_rels/slide39.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3" Type="http://schemas.openxmlformats.org/officeDocument/2006/relationships/hyperlink" Target="https://arxiv.org/abs/1301.3781" TargetMode="External"/><Relationship Id="rId2" Type="http://schemas.openxmlformats.org/officeDocument/2006/relationships/notesSlide" Target="../notesSlides/notesSlide38.xml"/><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3" Type="http://schemas.openxmlformats.org/officeDocument/2006/relationships/hyperlink" Target="https://arxiv.org/abs/1301.3781" TargetMode="External"/><Relationship Id="rId2" Type="http://schemas.openxmlformats.org/officeDocument/2006/relationships/notesSlide" Target="../notesSlides/notesSlide39.xml"/><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3" Type="http://schemas.openxmlformats.org/officeDocument/2006/relationships/hyperlink" Target="https://arxiv.org/abs/1301.3781" TargetMode="External"/><Relationship Id="rId2" Type="http://schemas.openxmlformats.org/officeDocument/2006/relationships/notesSlide" Target="../notesSlides/notesSlide40.xml"/><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3" Type="http://schemas.openxmlformats.org/officeDocument/2006/relationships/hyperlink" Target="https://arxiv.org/abs/1301.3781" TargetMode="External"/><Relationship Id="rId2" Type="http://schemas.openxmlformats.org/officeDocument/2006/relationships/notesSlide" Target="../notesSlides/notesSlide41.xml"/><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3" Type="http://schemas.openxmlformats.org/officeDocument/2006/relationships/hyperlink" Target="https://arxiv.org/abs/1301.3781" TargetMode="External"/><Relationship Id="rId2" Type="http://schemas.openxmlformats.org/officeDocument/2006/relationships/notesSlide" Target="../notesSlides/notesSlide42.xml"/><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3" Type="http://schemas.openxmlformats.org/officeDocument/2006/relationships/hyperlink" Target="https://arxiv.org/abs/1301.3781" TargetMode="External"/><Relationship Id="rId2" Type="http://schemas.openxmlformats.org/officeDocument/2006/relationships/notesSlide" Target="../notesSlides/notesSlide43.xml"/><Relationship Id="rId1" Type="http://schemas.openxmlformats.org/officeDocument/2006/relationships/slideLayout" Target="../slideLayouts/slideLayout13.xml"/><Relationship Id="rId4" Type="http://schemas.openxmlformats.org/officeDocument/2006/relationships/image" Target="../media/image30.png"/></Relationships>
</file>

<file path=ppt/slides/_rels/slide47.xml.rels><?xml version="1.0" encoding="UTF-8" standalone="yes"?>
<Relationships xmlns="http://schemas.openxmlformats.org/package/2006/relationships"><Relationship Id="rId3" Type="http://schemas.openxmlformats.org/officeDocument/2006/relationships/hyperlink" Target="https://arxiv.org/abs/1301.3781" TargetMode="External"/><Relationship Id="rId2" Type="http://schemas.openxmlformats.org/officeDocument/2006/relationships/notesSlide" Target="../notesSlides/notesSlide44.xml"/><Relationship Id="rId1" Type="http://schemas.openxmlformats.org/officeDocument/2006/relationships/slideLayout" Target="../slideLayouts/slideLayout13.xml"/><Relationship Id="rId5" Type="http://schemas.openxmlformats.org/officeDocument/2006/relationships/image" Target="../media/image16.png"/><Relationship Id="rId4" Type="http://schemas.openxmlformats.org/officeDocument/2006/relationships/image" Target="../media/image30.png"/></Relationships>
</file>

<file path=ppt/slides/_rels/slide48.xml.rels><?xml version="1.0" encoding="UTF-8" standalone="yes"?>
<Relationships xmlns="http://schemas.openxmlformats.org/package/2006/relationships"><Relationship Id="rId3" Type="http://schemas.openxmlformats.org/officeDocument/2006/relationships/hyperlink" Target="https://arxiv.org/abs/1301.3781" TargetMode="External"/><Relationship Id="rId2" Type="http://schemas.openxmlformats.org/officeDocument/2006/relationships/notesSlide" Target="../notesSlides/notesSlide45.xml"/><Relationship Id="rId1" Type="http://schemas.openxmlformats.org/officeDocument/2006/relationships/slideLayout" Target="../slideLayouts/slideLayout13.xml"/><Relationship Id="rId6" Type="http://schemas.openxmlformats.org/officeDocument/2006/relationships/image" Target="../media/image31.png"/><Relationship Id="rId5" Type="http://schemas.openxmlformats.org/officeDocument/2006/relationships/image" Target="../media/image16.png"/><Relationship Id="rId4" Type="http://schemas.openxmlformats.org/officeDocument/2006/relationships/image" Target="../media/image30.png"/></Relationships>
</file>

<file path=ppt/slides/_rels/slide49.xml.rels><?xml version="1.0" encoding="UTF-8" standalone="yes"?>
<Relationships xmlns="http://schemas.openxmlformats.org/package/2006/relationships"><Relationship Id="rId3" Type="http://schemas.openxmlformats.org/officeDocument/2006/relationships/image" Target="../media/image31.png"/><Relationship Id="rId7" Type="http://schemas.openxmlformats.org/officeDocument/2006/relationships/image" Target="../media/image32.png"/><Relationship Id="rId2" Type="http://schemas.openxmlformats.org/officeDocument/2006/relationships/notesSlide" Target="../notesSlides/notesSlide46.xml"/><Relationship Id="rId1" Type="http://schemas.openxmlformats.org/officeDocument/2006/relationships/slideLayout" Target="../slideLayouts/slideLayout13.xml"/><Relationship Id="rId6" Type="http://schemas.openxmlformats.org/officeDocument/2006/relationships/image" Target="../media/image16.png"/><Relationship Id="rId5" Type="http://schemas.openxmlformats.org/officeDocument/2006/relationships/image" Target="../media/image30.png"/><Relationship Id="rId4" Type="http://schemas.openxmlformats.org/officeDocument/2006/relationships/hyperlink" Target="https://arxiv.org/abs/1301.3781" TargetMode="Externa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3.xml"/></Relationships>
</file>

<file path=ppt/slides/_rels/slide5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270.png"/><Relationship Id="rId1" Type="http://schemas.openxmlformats.org/officeDocument/2006/relationships/slideLayout" Target="../slideLayouts/slideLayout4.xml"/><Relationship Id="rId4" Type="http://schemas.openxmlformats.org/officeDocument/2006/relationships/image" Target="../media/image16.png"/></Relationships>
</file>

<file path=ppt/slides/_rels/slide52.xml.rels><?xml version="1.0" encoding="UTF-8" standalone="yes"?>
<Relationships xmlns="http://schemas.openxmlformats.org/package/2006/relationships"><Relationship Id="rId3" Type="http://schemas.openxmlformats.org/officeDocument/2006/relationships/image" Target="../media/image34.png"/><Relationship Id="rId7" Type="http://schemas.openxmlformats.org/officeDocument/2006/relationships/image" Target="../media/image35.png"/><Relationship Id="rId2" Type="http://schemas.openxmlformats.org/officeDocument/2006/relationships/image" Target="../media/image270.png"/><Relationship Id="rId1" Type="http://schemas.openxmlformats.org/officeDocument/2006/relationships/slideLayout" Target="../slideLayouts/slideLayout4.xml"/><Relationship Id="rId6" Type="http://schemas.openxmlformats.org/officeDocument/2006/relationships/image" Target="../media/image30.png"/><Relationship Id="rId5" Type="http://schemas.openxmlformats.org/officeDocument/2006/relationships/image" Target="../media/image16.png"/><Relationship Id="rId4" Type="http://schemas.openxmlformats.org/officeDocument/2006/relationships/image" Target="../media/image33.png"/></Relationships>
</file>

<file path=ppt/slides/_rels/slide5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270.png"/><Relationship Id="rId1" Type="http://schemas.openxmlformats.org/officeDocument/2006/relationships/slideLayout" Target="../slideLayouts/slideLayout4.xml"/><Relationship Id="rId6" Type="http://schemas.openxmlformats.org/officeDocument/2006/relationships/image" Target="../media/image30.png"/><Relationship Id="rId5" Type="http://schemas.openxmlformats.org/officeDocument/2006/relationships/image" Target="../media/image16.png"/><Relationship Id="rId4" Type="http://schemas.openxmlformats.org/officeDocument/2006/relationships/image" Target="../media/image33.png"/></Relationships>
</file>

<file path=ppt/slides/_rels/slide54.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48.xml"/><Relationship Id="rId1" Type="http://schemas.openxmlformats.org/officeDocument/2006/relationships/slideLayout" Target="../slideLayouts/slideLayout13.xml"/><Relationship Id="rId6" Type="http://schemas.openxmlformats.org/officeDocument/2006/relationships/image" Target="../media/image350.png"/><Relationship Id="rId5" Type="http://schemas.openxmlformats.org/officeDocument/2006/relationships/image" Target="../media/image38.png"/><Relationship Id="rId4" Type="http://schemas.openxmlformats.org/officeDocument/2006/relationships/image" Target="../media/image37.png"/></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3.xml"/></Relationships>
</file>

<file path=ppt/slides/_rels/slide5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0.xml"/><Relationship Id="rId1" Type="http://schemas.openxmlformats.org/officeDocument/2006/relationships/slideLayout" Target="../slideLayouts/slideLayout13.xml"/><Relationship Id="rId4" Type="http://schemas.openxmlformats.org/officeDocument/2006/relationships/image" Target="../media/image39.png"/></Relationships>
</file>

<file path=ppt/slides/_rels/slide57.xml.rels><?xml version="1.0" encoding="UTF-8" standalone="yes"?>
<Relationships xmlns="http://schemas.openxmlformats.org/package/2006/relationships"><Relationship Id="rId3" Type="http://schemas.openxmlformats.org/officeDocument/2006/relationships/image" Target="../media/image40.png"/><Relationship Id="rId7" Type="http://schemas.openxmlformats.org/officeDocument/2006/relationships/image" Target="../media/image41.png"/><Relationship Id="rId2" Type="http://schemas.openxmlformats.org/officeDocument/2006/relationships/notesSlide" Target="../notesSlides/notesSlide51.xml"/><Relationship Id="rId1" Type="http://schemas.openxmlformats.org/officeDocument/2006/relationships/slideLayout" Target="../slideLayouts/slideLayout13.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4.xml"/></Relationships>
</file>

<file path=ppt/slides/_rels/slide59.xml.rels><?xml version="1.0" encoding="UTF-8" standalone="yes"?>
<Relationships xmlns="http://schemas.openxmlformats.org/package/2006/relationships"><Relationship Id="rId3" Type="http://schemas.openxmlformats.org/officeDocument/2006/relationships/image" Target="../media/image53.png"/><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8" Type="http://schemas.openxmlformats.org/officeDocument/2006/relationships/image" Target="../media/image61.png"/><Relationship Id="rId13" Type="http://schemas.openxmlformats.org/officeDocument/2006/relationships/image" Target="../media/image66.png"/><Relationship Id="rId3" Type="http://schemas.openxmlformats.org/officeDocument/2006/relationships/image" Target="../media/image56.png"/><Relationship Id="rId7" Type="http://schemas.openxmlformats.org/officeDocument/2006/relationships/image" Target="../media/image60.png"/><Relationship Id="rId12" Type="http://schemas.openxmlformats.org/officeDocument/2006/relationships/image" Target="../media/image65.png"/><Relationship Id="rId2" Type="http://schemas.openxmlformats.org/officeDocument/2006/relationships/image" Target="../media/image55.png"/><Relationship Id="rId1" Type="http://schemas.openxmlformats.org/officeDocument/2006/relationships/slideLayout" Target="../slideLayouts/slideLayout3.xml"/><Relationship Id="rId6" Type="http://schemas.openxmlformats.org/officeDocument/2006/relationships/image" Target="../media/image59.png"/><Relationship Id="rId11" Type="http://schemas.openxmlformats.org/officeDocument/2006/relationships/image" Target="../media/image64.png"/><Relationship Id="rId5" Type="http://schemas.openxmlformats.org/officeDocument/2006/relationships/image" Target="../media/image58.png"/><Relationship Id="rId15" Type="http://schemas.openxmlformats.org/officeDocument/2006/relationships/image" Target="../media/image68.png"/><Relationship Id="rId10" Type="http://schemas.openxmlformats.org/officeDocument/2006/relationships/image" Target="../media/image63.png"/><Relationship Id="rId4" Type="http://schemas.openxmlformats.org/officeDocument/2006/relationships/image" Target="../media/image57.png"/><Relationship Id="rId9" Type="http://schemas.openxmlformats.org/officeDocument/2006/relationships/image" Target="../media/image62.png"/><Relationship Id="rId14" Type="http://schemas.openxmlformats.org/officeDocument/2006/relationships/image" Target="../media/image67.png"/></Relationships>
</file>

<file path=ppt/slides/_rels/slide62.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image" Target="../media/image69.png"/><Relationship Id="rId1" Type="http://schemas.openxmlformats.org/officeDocument/2006/relationships/slideLayout" Target="../slideLayouts/slideLayout3.xml"/><Relationship Id="rId6" Type="http://schemas.openxmlformats.org/officeDocument/2006/relationships/image" Target="../media/image73.png"/><Relationship Id="rId5" Type="http://schemas.openxmlformats.org/officeDocument/2006/relationships/image" Target="../media/image72.png"/><Relationship Id="rId4" Type="http://schemas.openxmlformats.org/officeDocument/2006/relationships/image" Target="../media/image71.png"/></Relationships>
</file>

<file path=ppt/slides/_rels/slide63.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image" Target="../media/image74.png"/><Relationship Id="rId1" Type="http://schemas.openxmlformats.org/officeDocument/2006/relationships/slideLayout" Target="../slideLayouts/slideLayout3.xml"/><Relationship Id="rId6" Type="http://schemas.openxmlformats.org/officeDocument/2006/relationships/image" Target="../media/image73.png"/><Relationship Id="rId5" Type="http://schemas.openxmlformats.org/officeDocument/2006/relationships/image" Target="../media/image72.png"/><Relationship Id="rId4" Type="http://schemas.openxmlformats.org/officeDocument/2006/relationships/image" Target="../media/image71.png"/></Relationships>
</file>

<file path=ppt/slides/_rels/slide64.xml.rels><?xml version="1.0" encoding="UTF-8" standalone="yes"?>
<Relationships xmlns="http://schemas.openxmlformats.org/package/2006/relationships"><Relationship Id="rId3" Type="http://schemas.openxmlformats.org/officeDocument/2006/relationships/image" Target="../media/image70.png"/><Relationship Id="rId7" Type="http://schemas.openxmlformats.org/officeDocument/2006/relationships/image" Target="../media/image76.png"/><Relationship Id="rId2" Type="http://schemas.openxmlformats.org/officeDocument/2006/relationships/image" Target="../media/image75.png"/><Relationship Id="rId1" Type="http://schemas.openxmlformats.org/officeDocument/2006/relationships/slideLayout" Target="../slideLayouts/slideLayout3.xml"/><Relationship Id="rId6" Type="http://schemas.openxmlformats.org/officeDocument/2006/relationships/image" Target="../media/image73.png"/><Relationship Id="rId5" Type="http://schemas.openxmlformats.org/officeDocument/2006/relationships/image" Target="../media/image72.png"/><Relationship Id="rId4" Type="http://schemas.openxmlformats.org/officeDocument/2006/relationships/image" Target="../media/image71.png"/></Relationships>
</file>

<file path=ppt/slides/_rels/slide65.xml.rels><?xml version="1.0" encoding="UTF-8" standalone="yes"?>
<Relationships xmlns="http://schemas.openxmlformats.org/package/2006/relationships"><Relationship Id="rId3" Type="http://schemas.openxmlformats.org/officeDocument/2006/relationships/image" Target="../media/image77.png"/><Relationship Id="rId7" Type="http://schemas.openxmlformats.org/officeDocument/2006/relationships/image" Target="../media/image81.png"/><Relationship Id="rId1" Type="http://schemas.openxmlformats.org/officeDocument/2006/relationships/slideLayout" Target="../slideLayouts/slideLayout3.xml"/><Relationship Id="rId6" Type="http://schemas.openxmlformats.org/officeDocument/2006/relationships/image" Target="../media/image80.png"/><Relationship Id="rId5" Type="http://schemas.openxmlformats.org/officeDocument/2006/relationships/image" Target="../media/image79.png"/><Relationship Id="rId4" Type="http://schemas.openxmlformats.org/officeDocument/2006/relationships/image" Target="../media/image78.png"/></Relationships>
</file>

<file path=ppt/slides/_rels/slide66.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image" Target="../media/image77.png"/><Relationship Id="rId1" Type="http://schemas.openxmlformats.org/officeDocument/2006/relationships/slideLayout" Target="../slideLayouts/slideLayout3.xml"/><Relationship Id="rId6" Type="http://schemas.openxmlformats.org/officeDocument/2006/relationships/image" Target="../media/image81.png"/><Relationship Id="rId5" Type="http://schemas.openxmlformats.org/officeDocument/2006/relationships/image" Target="../media/image80.png"/><Relationship Id="rId4" Type="http://schemas.openxmlformats.org/officeDocument/2006/relationships/image" Target="../media/image79.png"/></Relationships>
</file>

<file path=ppt/slides/_rels/slide67.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image" Target="../media/image77.png"/><Relationship Id="rId1" Type="http://schemas.openxmlformats.org/officeDocument/2006/relationships/slideLayout" Target="../slideLayouts/slideLayout3.xml"/><Relationship Id="rId6" Type="http://schemas.openxmlformats.org/officeDocument/2006/relationships/image" Target="../media/image81.png"/><Relationship Id="rId5" Type="http://schemas.openxmlformats.org/officeDocument/2006/relationships/image" Target="../media/image80.png"/><Relationship Id="rId4" Type="http://schemas.openxmlformats.org/officeDocument/2006/relationships/image" Target="../media/image79.png"/></Relationships>
</file>

<file path=ppt/slides/_rels/slide68.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image" Target="../media/image77.png"/><Relationship Id="rId1" Type="http://schemas.openxmlformats.org/officeDocument/2006/relationships/slideLayout" Target="../slideLayouts/slideLayout3.xml"/><Relationship Id="rId6" Type="http://schemas.openxmlformats.org/officeDocument/2006/relationships/image" Target="../media/image81.png"/><Relationship Id="rId5" Type="http://schemas.openxmlformats.org/officeDocument/2006/relationships/image" Target="../media/image80.png"/><Relationship Id="rId4" Type="http://schemas.openxmlformats.org/officeDocument/2006/relationships/image" Target="../media/image79.png"/></Relationships>
</file>

<file path=ppt/slides/_rels/slide69.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image" Target="../media/image82.png"/><Relationship Id="rId1" Type="http://schemas.openxmlformats.org/officeDocument/2006/relationships/slideLayout" Target="../slideLayouts/slideLayout3.xml"/><Relationship Id="rId6" Type="http://schemas.openxmlformats.org/officeDocument/2006/relationships/image" Target="../media/image81.png"/><Relationship Id="rId5" Type="http://schemas.openxmlformats.org/officeDocument/2006/relationships/image" Target="../media/image80.png"/><Relationship Id="rId4" Type="http://schemas.openxmlformats.org/officeDocument/2006/relationships/image" Target="../media/image79.png"/></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3.xml"/></Relationships>
</file>

<file path=ppt/slides/_rels/slide71.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54.xml"/><Relationship Id="rId1" Type="http://schemas.openxmlformats.org/officeDocument/2006/relationships/slideLayout" Target="../slideLayouts/slideLayout3.xml"/></Relationships>
</file>

<file path=ppt/slides/_rels/slide72.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55.xml"/><Relationship Id="rId1" Type="http://schemas.openxmlformats.org/officeDocument/2006/relationships/slideLayout" Target="../slideLayouts/slideLayout3.xml"/><Relationship Id="rId4" Type="http://schemas.openxmlformats.org/officeDocument/2006/relationships/image" Target="../media/image43.png"/></Relationships>
</file>

<file path=ppt/slides/_rels/slide73.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notesSlide" Target="../notesSlides/notesSlide56.xml"/><Relationship Id="rId1" Type="http://schemas.openxmlformats.org/officeDocument/2006/relationships/slideLayout" Target="../slideLayouts/slideLayout3.xml"/><Relationship Id="rId5" Type="http://schemas.openxmlformats.org/officeDocument/2006/relationships/image" Target="../media/image43.png"/><Relationship Id="rId4" Type="http://schemas.openxmlformats.org/officeDocument/2006/relationships/image" Target="../media/image85.png"/></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4.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3.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3.xml"/></Relationships>
</file>

<file path=ppt/slides/_rels/slide77.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60.xml"/><Relationship Id="rId1" Type="http://schemas.openxmlformats.org/officeDocument/2006/relationships/slideLayout" Target="../slideLayouts/slideLayout13.xml"/></Relationships>
</file>

<file path=ppt/slides/_rels/slide78.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61.xml"/><Relationship Id="rId1" Type="http://schemas.openxmlformats.org/officeDocument/2006/relationships/slideLayout" Target="../slideLayouts/slideLayout13.xml"/></Relationships>
</file>

<file path=ppt/slides/_rels/slide79.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62.xml"/><Relationship Id="rId1" Type="http://schemas.openxmlformats.org/officeDocument/2006/relationships/slideLayout" Target="../slideLayouts/slideLayout13.xml"/></Relationships>
</file>

<file path=ppt/slides/_rels/slide80.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63.xml"/><Relationship Id="rId1" Type="http://schemas.openxmlformats.org/officeDocument/2006/relationships/slideLayout" Target="../slideLayouts/slideLayout13.xml"/></Relationships>
</file>

<file path=ppt/slides/_rels/slide81.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64.xml"/><Relationship Id="rId1" Type="http://schemas.openxmlformats.org/officeDocument/2006/relationships/slideLayout" Target="../slideLayouts/slideLayout13.xml"/></Relationships>
</file>

<file path=ppt/slides/_rels/slide82.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65.xml"/><Relationship Id="rId1" Type="http://schemas.openxmlformats.org/officeDocument/2006/relationships/slideLayout" Target="../slideLayouts/slideLayout13.xml"/></Relationships>
</file>

<file path=ppt/slides/_rels/slide83.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66.xml"/><Relationship Id="rId1" Type="http://schemas.openxmlformats.org/officeDocument/2006/relationships/slideLayout" Target="../slideLayouts/slideLayout13.xml"/></Relationships>
</file>

<file path=ppt/slides/_rels/slide84.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67.xml"/><Relationship Id="rId1" Type="http://schemas.openxmlformats.org/officeDocument/2006/relationships/slideLayout" Target="../slideLayouts/slideLayout13.xml"/><Relationship Id="rId4" Type="http://schemas.openxmlformats.org/officeDocument/2006/relationships/hyperlink" Target="https://aclanthology.org/D14-1162/" TargetMode="Externa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13.xml"/></Relationships>
</file>

<file path=ppt/slides/_rels/slide86.xml.rels><?xml version="1.0" encoding="UTF-8" standalone="yes"?>
<Relationships xmlns="http://schemas.openxmlformats.org/package/2006/relationships"><Relationship Id="rId3" Type="http://schemas.openxmlformats.org/officeDocument/2006/relationships/hyperlink" Target="https://aclanthology.org/D14-1162/" TargetMode="External"/><Relationship Id="rId2" Type="http://schemas.openxmlformats.org/officeDocument/2006/relationships/notesSlide" Target="../notesSlides/notesSlide69.xml"/><Relationship Id="rId1" Type="http://schemas.openxmlformats.org/officeDocument/2006/relationships/slideLayout" Target="../slideLayouts/slideLayout13.xml"/><Relationship Id="rId4" Type="http://schemas.openxmlformats.org/officeDocument/2006/relationships/image" Target="../media/image48.png"/></Relationships>
</file>

<file path=ppt/slides/_rels/slide87.xml.rels><?xml version="1.0" encoding="UTF-8" standalone="yes"?>
<Relationships xmlns="http://schemas.openxmlformats.org/package/2006/relationships"><Relationship Id="rId3" Type="http://schemas.openxmlformats.org/officeDocument/2006/relationships/image" Target="../media/image49.jpg"/><Relationship Id="rId2" Type="http://schemas.openxmlformats.org/officeDocument/2006/relationships/notesSlide" Target="../notesSlides/notesSlide70.xml"/><Relationship Id="rId1" Type="http://schemas.openxmlformats.org/officeDocument/2006/relationships/slideLayout" Target="../slideLayouts/slideLayout13.xml"/></Relationships>
</file>

<file path=ppt/slides/_rels/slide88.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71.xml"/><Relationship Id="rId1" Type="http://schemas.openxmlformats.org/officeDocument/2006/relationships/slideLayout" Target="../slideLayouts/slideLayout13.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3" Type="http://schemas.openxmlformats.org/officeDocument/2006/relationships/image" Target="../media/image51.png"/><Relationship Id="rId7" Type="http://schemas.openxmlformats.org/officeDocument/2006/relationships/image" Target="../media/image88.jpeg"/><Relationship Id="rId2" Type="http://schemas.openxmlformats.org/officeDocument/2006/relationships/notesSlide" Target="../notesSlides/notesSlide72.xml"/><Relationship Id="rId1" Type="http://schemas.openxmlformats.org/officeDocument/2006/relationships/slideLayout" Target="../slideLayouts/slideLayout13.xml"/><Relationship Id="rId6" Type="http://schemas.openxmlformats.org/officeDocument/2006/relationships/image" Target="../media/image87.png"/><Relationship Id="rId5" Type="http://schemas.openxmlformats.org/officeDocument/2006/relationships/image" Target="../media/image86.png"/><Relationship Id="rId4" Type="http://schemas.openxmlformats.org/officeDocument/2006/relationships/image" Target="../media/image52.png"/></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15.xml"/></Relationships>
</file>

<file path=ppt/slides/_rels/slide93.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notesSlide" Target="../notesSlides/notesSlide74.xml"/><Relationship Id="rId1" Type="http://schemas.openxmlformats.org/officeDocument/2006/relationships/slideLayout" Target="../slideLayouts/slideLayout15.xml"/></Relationships>
</file>

<file path=ppt/slides/_rels/slide94.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notesSlide" Target="../notesSlides/notesSlide75.xml"/><Relationship Id="rId1" Type="http://schemas.openxmlformats.org/officeDocument/2006/relationships/slideLayout" Target="../slideLayouts/slideLayout15.xml"/><Relationship Id="rId4" Type="http://schemas.openxmlformats.org/officeDocument/2006/relationships/image" Target="../media/image91.png"/></Relationships>
</file>

<file path=ppt/slides/_rels/slide95.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notesSlide" Target="../notesSlides/notesSlide76.xml"/><Relationship Id="rId1" Type="http://schemas.openxmlformats.org/officeDocument/2006/relationships/slideLayout" Target="../slideLayouts/slideLayout15.xml"/><Relationship Id="rId4" Type="http://schemas.openxmlformats.org/officeDocument/2006/relationships/image" Target="../media/image93.png"/></Relationships>
</file>

<file path=ppt/slides/_rels/slide96.xml.rels><?xml version="1.0" encoding="UTF-8" standalone="yes"?>
<Relationships xmlns="http://schemas.openxmlformats.org/package/2006/relationships"><Relationship Id="rId3" Type="http://schemas.openxmlformats.org/officeDocument/2006/relationships/hyperlink" Target="https://aclanthology.org/N18-1202" TargetMode="External"/><Relationship Id="rId2" Type="http://schemas.openxmlformats.org/officeDocument/2006/relationships/notesSlide" Target="../notesSlides/notesSlide77.xml"/><Relationship Id="rId1" Type="http://schemas.openxmlformats.org/officeDocument/2006/relationships/slideLayout" Target="../slideLayouts/slideLayout15.xml"/><Relationship Id="rId4" Type="http://schemas.openxmlformats.org/officeDocument/2006/relationships/hyperlink" Target="https://aclanthology.org/N19-1423/" TargetMode="Externa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15.xml"/></Relationships>
</file>

<file path=ppt/slides/_rels/slide98.xml.rels><?xml version="1.0" encoding="UTF-8" standalone="yes"?>
<Relationships xmlns="http://schemas.openxmlformats.org/package/2006/relationships"><Relationship Id="rId3" Type="http://schemas.openxmlformats.org/officeDocument/2006/relationships/slideLayout" Target="../slideLayouts/slideLayout15.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94.png"/><Relationship Id="rId4" Type="http://schemas.openxmlformats.org/officeDocument/2006/relationships/notesSlide" Target="../notesSlides/notesSlide79.xml"/></Relationships>
</file>

<file path=ppt/slides/_rels/slide99.xml.rels><?xml version="1.0" encoding="UTF-8" standalone="yes"?>
<Relationships xmlns="http://schemas.openxmlformats.org/package/2006/relationships"><Relationship Id="rId3" Type="http://schemas.openxmlformats.org/officeDocument/2006/relationships/image" Target="../media/image95.jpg"/><Relationship Id="rId2" Type="http://schemas.openxmlformats.org/officeDocument/2006/relationships/notesSlide" Target="../notesSlides/notesSlide80.xml"/><Relationship Id="rId1" Type="http://schemas.openxmlformats.org/officeDocument/2006/relationships/slideLayout" Target="../slideLayouts/slideLayout15.xml"/></Relationships>
</file>

<file path=ppt/slides/_rels/slide100.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notesSlide" Target="../notesSlides/notesSlide81.xml"/><Relationship Id="rId1" Type="http://schemas.openxmlformats.org/officeDocument/2006/relationships/slideLayout" Target="../slideLayouts/slideLayout1.xml"/></Relationships>
</file>

<file path=ppt/slides/_rels/slide101.xml.rels><?xml version="1.0" encoding="UTF-8" standalone="yes"?>
<Relationships xmlns="http://schemas.openxmlformats.org/package/2006/relationships"><Relationship Id="rId3" Type="http://schemas.openxmlformats.org/officeDocument/2006/relationships/image" Target="../media/image98.jpeg"/><Relationship Id="rId2" Type="http://schemas.openxmlformats.org/officeDocument/2006/relationships/image" Target="../media/image97.png"/><Relationship Id="rId1" Type="http://schemas.openxmlformats.org/officeDocument/2006/relationships/slideLayout" Target="../slideLayouts/slideLayout3.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13.xml"/></Relationships>
</file>

<file path=ppt/slides/_rels/slide103.xml.rels><?xml version="1.0" encoding="UTF-8" standalone="yes"?>
<Relationships xmlns="http://schemas.openxmlformats.org/package/2006/relationships"><Relationship Id="rId3" Type="http://schemas.openxmlformats.org/officeDocument/2006/relationships/image" Target="../media/image99.png"/><Relationship Id="rId2" Type="http://schemas.openxmlformats.org/officeDocument/2006/relationships/notesSlide" Target="../notesSlides/notesSlide83.xml"/><Relationship Id="rId1" Type="http://schemas.openxmlformats.org/officeDocument/2006/relationships/slideLayout" Target="../slideLayouts/slideLayout13.xml"/><Relationship Id="rId5" Type="http://schemas.openxmlformats.org/officeDocument/2006/relationships/image" Target="../media/image101.jpg"/><Relationship Id="rId4" Type="http://schemas.openxmlformats.org/officeDocument/2006/relationships/image" Target="../media/image100.png"/></Relationships>
</file>

<file path=ppt/slides/_rels/slide104.xml.rels><?xml version="1.0" encoding="UTF-8" standalone="yes"?>
<Relationships xmlns="http://schemas.openxmlformats.org/package/2006/relationships"><Relationship Id="rId3" Type="http://schemas.openxmlformats.org/officeDocument/2006/relationships/image" Target="../media/image99.png"/><Relationship Id="rId2" Type="http://schemas.openxmlformats.org/officeDocument/2006/relationships/notesSlide" Target="../notesSlides/notesSlide84.xml"/><Relationship Id="rId1" Type="http://schemas.openxmlformats.org/officeDocument/2006/relationships/slideLayout" Target="../slideLayouts/slideLayout13.xml"/><Relationship Id="rId5" Type="http://schemas.openxmlformats.org/officeDocument/2006/relationships/image" Target="../media/image102.png"/><Relationship Id="rId4" Type="http://schemas.openxmlformats.org/officeDocument/2006/relationships/image" Target="../media/image100.png"/></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13.xml"/></Relationships>
</file>

<file path=ppt/slides/_rels/slide106.xml.rels><?xml version="1.0" encoding="UTF-8" standalone="yes"?>
<Relationships xmlns="http://schemas.openxmlformats.org/package/2006/relationships"><Relationship Id="rId3" Type="http://schemas.openxmlformats.org/officeDocument/2006/relationships/image" Target="../media/image103.png"/><Relationship Id="rId2" Type="http://schemas.openxmlformats.org/officeDocument/2006/relationships/notesSlide" Target="../notesSlides/notesSlide86.xml"/><Relationship Id="rId1" Type="http://schemas.openxmlformats.org/officeDocument/2006/relationships/slideLayout" Target="../slideLayouts/slideLayout13.xml"/><Relationship Id="rId4" Type="http://schemas.openxmlformats.org/officeDocument/2006/relationships/image" Target="../media/image104.png"/></Relationships>
</file>

<file path=ppt/slides/_rels/slide107.xml.rels><?xml version="1.0" encoding="UTF-8" standalone="yes"?>
<Relationships xmlns="http://schemas.openxmlformats.org/package/2006/relationships"><Relationship Id="rId3" Type="http://schemas.openxmlformats.org/officeDocument/2006/relationships/image" Target="../media/image103.png"/><Relationship Id="rId2" Type="http://schemas.openxmlformats.org/officeDocument/2006/relationships/notesSlide" Target="../notesSlides/notesSlide87.xml"/><Relationship Id="rId1" Type="http://schemas.openxmlformats.org/officeDocument/2006/relationships/slideLayout" Target="../slideLayouts/slideLayout13.xml"/><Relationship Id="rId5" Type="http://schemas.openxmlformats.org/officeDocument/2006/relationships/image" Target="../media/image105.png"/><Relationship Id="rId4" Type="http://schemas.openxmlformats.org/officeDocument/2006/relationships/image" Target="../media/image104.png"/></Relationships>
</file>

<file path=ppt/slides/_rels/slide108.xml.rels><?xml version="1.0" encoding="UTF-8" standalone="yes"?>
<Relationships xmlns="http://schemas.openxmlformats.org/package/2006/relationships"><Relationship Id="rId3" Type="http://schemas.openxmlformats.org/officeDocument/2006/relationships/image" Target="../media/image103.png"/><Relationship Id="rId2" Type="http://schemas.openxmlformats.org/officeDocument/2006/relationships/notesSlide" Target="../notesSlides/notesSlide88.xml"/><Relationship Id="rId1" Type="http://schemas.openxmlformats.org/officeDocument/2006/relationships/slideLayout" Target="../slideLayouts/slideLayout13.xml"/><Relationship Id="rId6" Type="http://schemas.openxmlformats.org/officeDocument/2006/relationships/image" Target="../media/image106.png"/><Relationship Id="rId5" Type="http://schemas.openxmlformats.org/officeDocument/2006/relationships/image" Target="../media/image105.png"/><Relationship Id="rId4" Type="http://schemas.openxmlformats.org/officeDocument/2006/relationships/image" Target="../media/image104.png"/></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13.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13.xml"/></Relationships>
</file>

<file path=ppt/slides/_rels/slide112.xml.rels><?xml version="1.0" encoding="UTF-8" standalone="yes"?>
<Relationships xmlns="http://schemas.openxmlformats.org/package/2006/relationships"><Relationship Id="rId3" Type="http://schemas.openxmlformats.org/officeDocument/2006/relationships/image" Target="../media/image107.png"/><Relationship Id="rId2" Type="http://schemas.openxmlformats.org/officeDocument/2006/relationships/notesSlide" Target="../notesSlides/notesSlide91.xml"/><Relationship Id="rId1" Type="http://schemas.openxmlformats.org/officeDocument/2006/relationships/slideLayout" Target="../slideLayouts/slideLayout13.xml"/><Relationship Id="rId4" Type="http://schemas.openxmlformats.org/officeDocument/2006/relationships/image" Target="../media/image101.jpg"/></Relationships>
</file>

<file path=ppt/slides/_rels/slide113.xml.rels><?xml version="1.0" encoding="UTF-8" standalone="yes"?>
<Relationships xmlns="http://schemas.openxmlformats.org/package/2006/relationships"><Relationship Id="rId3" Type="http://schemas.openxmlformats.org/officeDocument/2006/relationships/image" Target="../media/image107.png"/><Relationship Id="rId2" Type="http://schemas.openxmlformats.org/officeDocument/2006/relationships/notesSlide" Target="../notesSlides/notesSlide92.xml"/><Relationship Id="rId1" Type="http://schemas.openxmlformats.org/officeDocument/2006/relationships/slideLayout" Target="../slideLayouts/slideLayout13.xml"/></Relationships>
</file>

<file path=ppt/slides/_rels/slide114.xml.rels><?xml version="1.0" encoding="UTF-8" standalone="yes"?>
<Relationships xmlns="http://schemas.openxmlformats.org/package/2006/relationships"><Relationship Id="rId3" Type="http://schemas.openxmlformats.org/officeDocument/2006/relationships/image" Target="../media/image108.png"/><Relationship Id="rId2" Type="http://schemas.openxmlformats.org/officeDocument/2006/relationships/notesSlide" Target="../notesSlides/notesSlide93.xml"/><Relationship Id="rId1" Type="http://schemas.openxmlformats.org/officeDocument/2006/relationships/slideLayout" Target="../slideLayouts/slideLayout13.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13.xml"/></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13.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13.xml"/></Relationships>
</file>

<file path=ppt/slides/_rels/slide119.xml.rels><?xml version="1.0" encoding="UTF-8" standalone="yes"?>
<Relationships xmlns="http://schemas.openxmlformats.org/package/2006/relationships"><Relationship Id="rId3" Type="http://schemas.openxmlformats.org/officeDocument/2006/relationships/image" Target="../media/image280.png"/><Relationship Id="rId2" Type="http://schemas.openxmlformats.org/officeDocument/2006/relationships/notesSlide" Target="../notesSlides/notesSlide97.xml"/><Relationship Id="rId1" Type="http://schemas.openxmlformats.org/officeDocument/2006/relationships/slideLayout" Target="../slideLayouts/slideLayout13.xml"/><Relationship Id="rId4" Type="http://schemas.openxmlformats.org/officeDocument/2006/relationships/image" Target="../media/image109.png"/></Relationships>
</file>

<file path=ppt/slides/_rels/slide120.xml.rels><?xml version="1.0" encoding="UTF-8" standalone="yes"?>
<Relationships xmlns="http://schemas.openxmlformats.org/package/2006/relationships"><Relationship Id="rId3" Type="http://schemas.openxmlformats.org/officeDocument/2006/relationships/image" Target="../media/image110.png"/><Relationship Id="rId2" Type="http://schemas.openxmlformats.org/officeDocument/2006/relationships/notesSlide" Target="../notesSlides/notesSlide98.xml"/><Relationship Id="rId1" Type="http://schemas.openxmlformats.org/officeDocument/2006/relationships/slideLayout" Target="../slideLayouts/slideLayout13.xml"/><Relationship Id="rId5" Type="http://schemas.openxmlformats.org/officeDocument/2006/relationships/image" Target="../media/image109.png"/><Relationship Id="rId4" Type="http://schemas.openxmlformats.org/officeDocument/2006/relationships/image" Target="../media/image280.png"/></Relationships>
</file>

<file path=ppt/slides/_rels/slide121.xml.rels><?xml version="1.0" encoding="UTF-8" standalone="yes"?>
<Relationships xmlns="http://schemas.openxmlformats.org/package/2006/relationships"><Relationship Id="rId3" Type="http://schemas.openxmlformats.org/officeDocument/2006/relationships/image" Target="../media/image110.png"/><Relationship Id="rId2" Type="http://schemas.openxmlformats.org/officeDocument/2006/relationships/notesSlide" Target="../notesSlides/notesSlide99.xml"/><Relationship Id="rId1" Type="http://schemas.openxmlformats.org/officeDocument/2006/relationships/slideLayout" Target="../slideLayouts/slideLayout13.xml"/><Relationship Id="rId6" Type="http://schemas.openxmlformats.org/officeDocument/2006/relationships/image" Target="../media/image109.png"/><Relationship Id="rId5" Type="http://schemas.openxmlformats.org/officeDocument/2006/relationships/image" Target="../media/image280.png"/><Relationship Id="rId4" Type="http://schemas.openxmlformats.org/officeDocument/2006/relationships/image" Target="../media/image111.png"/></Relationships>
</file>

<file path=ppt/slides/_rels/slide122.xml.rels><?xml version="1.0" encoding="UTF-8" standalone="yes"?>
<Relationships xmlns="http://schemas.openxmlformats.org/package/2006/relationships"><Relationship Id="rId3" Type="http://schemas.openxmlformats.org/officeDocument/2006/relationships/image" Target="../media/image110.png"/><Relationship Id="rId2" Type="http://schemas.openxmlformats.org/officeDocument/2006/relationships/notesSlide" Target="../notesSlides/notesSlide100.xml"/><Relationship Id="rId1" Type="http://schemas.openxmlformats.org/officeDocument/2006/relationships/slideLayout" Target="../slideLayouts/slideLayout13.xml"/><Relationship Id="rId6" Type="http://schemas.openxmlformats.org/officeDocument/2006/relationships/image" Target="../media/image109.png"/><Relationship Id="rId5" Type="http://schemas.openxmlformats.org/officeDocument/2006/relationships/image" Target="../media/image280.png"/><Relationship Id="rId4" Type="http://schemas.openxmlformats.org/officeDocument/2006/relationships/image" Target="../media/image111.png"/></Relationships>
</file>

<file path=ppt/slides/_rels/slide123.xml.rels><?xml version="1.0" encoding="UTF-8" standalone="yes"?>
<Relationships xmlns="http://schemas.openxmlformats.org/package/2006/relationships"><Relationship Id="rId3" Type="http://schemas.openxmlformats.org/officeDocument/2006/relationships/image" Target="../media/image280.png"/><Relationship Id="rId2" Type="http://schemas.openxmlformats.org/officeDocument/2006/relationships/notesSlide" Target="../notesSlides/notesSlide101.xml"/><Relationship Id="rId1" Type="http://schemas.openxmlformats.org/officeDocument/2006/relationships/slideLayout" Target="../slideLayouts/slideLayout13.xml"/><Relationship Id="rId6" Type="http://schemas.openxmlformats.org/officeDocument/2006/relationships/image" Target="../media/image111.png"/><Relationship Id="rId5" Type="http://schemas.openxmlformats.org/officeDocument/2006/relationships/image" Target="../media/image112.png"/><Relationship Id="rId4" Type="http://schemas.openxmlformats.org/officeDocument/2006/relationships/image" Target="../media/image109.png"/></Relationships>
</file>

<file path=ppt/slides/_rels/slide124.xml.rels><?xml version="1.0" encoding="UTF-8" standalone="yes"?>
<Relationships xmlns="http://schemas.openxmlformats.org/package/2006/relationships"><Relationship Id="rId3" Type="http://schemas.openxmlformats.org/officeDocument/2006/relationships/image" Target="../media/image280.png"/><Relationship Id="rId2" Type="http://schemas.openxmlformats.org/officeDocument/2006/relationships/notesSlide" Target="../notesSlides/notesSlide102.xml"/><Relationship Id="rId1" Type="http://schemas.openxmlformats.org/officeDocument/2006/relationships/slideLayout" Target="../slideLayouts/slideLayout13.xml"/><Relationship Id="rId6" Type="http://schemas.openxmlformats.org/officeDocument/2006/relationships/image" Target="../media/image111.png"/><Relationship Id="rId5" Type="http://schemas.openxmlformats.org/officeDocument/2006/relationships/image" Target="../media/image112.png"/><Relationship Id="rId4" Type="http://schemas.openxmlformats.org/officeDocument/2006/relationships/image" Target="../media/image109.png"/></Relationships>
</file>

<file path=ppt/slides/_rels/slide125.xml.rels><?xml version="1.0" encoding="UTF-8" standalone="yes"?>
<Relationships xmlns="http://schemas.openxmlformats.org/package/2006/relationships"><Relationship Id="rId2" Type="http://schemas.openxmlformats.org/officeDocument/2006/relationships/notesSlide" Target="../notesSlides/notesSlide103.xml"/><Relationship Id="rId1" Type="http://schemas.openxmlformats.org/officeDocument/2006/relationships/slideLayout" Target="../slideLayouts/slideLayout13.xml"/></Relationships>
</file>

<file path=ppt/slides/_rels/slide126.xml.rels><?xml version="1.0" encoding="UTF-8" standalone="yes"?>
<Relationships xmlns="http://schemas.openxmlformats.org/package/2006/relationships"><Relationship Id="rId3" Type="http://schemas.openxmlformats.org/officeDocument/2006/relationships/image" Target="../media/image113.png"/><Relationship Id="rId2" Type="http://schemas.openxmlformats.org/officeDocument/2006/relationships/notesSlide" Target="../notesSlides/notesSlide104.xml"/><Relationship Id="rId1" Type="http://schemas.openxmlformats.org/officeDocument/2006/relationships/slideLayout" Target="../slideLayouts/slideLayout13.xml"/><Relationship Id="rId6" Type="http://schemas.openxmlformats.org/officeDocument/2006/relationships/image" Target="../media/image116.png"/><Relationship Id="rId5" Type="http://schemas.openxmlformats.org/officeDocument/2006/relationships/image" Target="../media/image115.png"/><Relationship Id="rId4" Type="http://schemas.openxmlformats.org/officeDocument/2006/relationships/image" Target="../media/image114.png"/></Relationships>
</file>

<file path=ppt/slides/_rels/slide127.xml.rels><?xml version="1.0" encoding="UTF-8" standalone="yes"?>
<Relationships xmlns="http://schemas.openxmlformats.org/package/2006/relationships"><Relationship Id="rId3" Type="http://schemas.openxmlformats.org/officeDocument/2006/relationships/image" Target="../media/image117.png"/><Relationship Id="rId2" Type="http://schemas.openxmlformats.org/officeDocument/2006/relationships/notesSlide" Target="../notesSlides/notesSlide105.xml"/><Relationship Id="rId1" Type="http://schemas.openxmlformats.org/officeDocument/2006/relationships/slideLayout" Target="../slideLayouts/slideLayout13.xml"/></Relationships>
</file>

<file path=ppt/slides/_rels/slide128.xml.rels><?xml version="1.0" encoding="UTF-8" standalone="yes"?>
<Relationships xmlns="http://schemas.openxmlformats.org/package/2006/relationships"><Relationship Id="rId3" Type="http://schemas.openxmlformats.org/officeDocument/2006/relationships/image" Target="../media/image117.png"/><Relationship Id="rId2" Type="http://schemas.openxmlformats.org/officeDocument/2006/relationships/notesSlide" Target="../notesSlides/notesSlide106.xml"/><Relationship Id="rId1" Type="http://schemas.openxmlformats.org/officeDocument/2006/relationships/slideLayout" Target="../slideLayouts/slideLayout13.xml"/></Relationships>
</file>

<file path=ppt/slides/_rels/slide129.xml.rels><?xml version="1.0" encoding="UTF-8" standalone="yes"?>
<Relationships xmlns="http://schemas.openxmlformats.org/package/2006/relationships"><Relationship Id="rId3" Type="http://schemas.openxmlformats.org/officeDocument/2006/relationships/image" Target="../media/image117.png"/><Relationship Id="rId2" Type="http://schemas.openxmlformats.org/officeDocument/2006/relationships/notesSlide" Target="../notesSlides/notesSlide107.xml"/><Relationship Id="rId1" Type="http://schemas.openxmlformats.org/officeDocument/2006/relationships/slideLayout" Target="../slideLayouts/slideLayout13.xml"/></Relationships>
</file>

<file path=ppt/slides/_rels/slide130.xml.rels><?xml version="1.0" encoding="UTF-8" standalone="yes"?>
<Relationships xmlns="http://schemas.openxmlformats.org/package/2006/relationships"><Relationship Id="rId3" Type="http://schemas.openxmlformats.org/officeDocument/2006/relationships/image" Target="../media/image113.png"/><Relationship Id="rId2" Type="http://schemas.openxmlformats.org/officeDocument/2006/relationships/notesSlide" Target="../notesSlides/notesSlide108.xml"/><Relationship Id="rId1" Type="http://schemas.openxmlformats.org/officeDocument/2006/relationships/slideLayout" Target="../slideLayouts/slideLayout13.xml"/><Relationship Id="rId6" Type="http://schemas.openxmlformats.org/officeDocument/2006/relationships/image" Target="../media/image116.png"/><Relationship Id="rId5" Type="http://schemas.openxmlformats.org/officeDocument/2006/relationships/image" Target="../media/image115.png"/><Relationship Id="rId4" Type="http://schemas.openxmlformats.org/officeDocument/2006/relationships/image" Target="../media/image114.png"/></Relationships>
</file>

<file path=ppt/slides/_rels/slide131.xml.rels><?xml version="1.0" encoding="UTF-8" standalone="yes"?>
<Relationships xmlns="http://schemas.openxmlformats.org/package/2006/relationships"><Relationship Id="rId3" Type="http://schemas.openxmlformats.org/officeDocument/2006/relationships/image" Target="../media/image118.png"/><Relationship Id="rId2" Type="http://schemas.openxmlformats.org/officeDocument/2006/relationships/notesSlide" Target="../notesSlides/notesSlide109.xml"/><Relationship Id="rId1" Type="http://schemas.openxmlformats.org/officeDocument/2006/relationships/slideLayout" Target="../slideLayouts/slideLayout13.xml"/><Relationship Id="rId5" Type="http://schemas.openxmlformats.org/officeDocument/2006/relationships/image" Target="../media/image120.png"/><Relationship Id="rId4" Type="http://schemas.openxmlformats.org/officeDocument/2006/relationships/image" Target="../media/image119.png"/></Relationships>
</file>

<file path=ppt/slides/_rels/slide132.xml.rels><?xml version="1.0" encoding="UTF-8" standalone="yes"?>
<Relationships xmlns="http://schemas.openxmlformats.org/package/2006/relationships"><Relationship Id="rId3" Type="http://schemas.openxmlformats.org/officeDocument/2006/relationships/image" Target="../media/image118.png"/><Relationship Id="rId2" Type="http://schemas.openxmlformats.org/officeDocument/2006/relationships/notesSlide" Target="../notesSlides/notesSlide110.xml"/><Relationship Id="rId1" Type="http://schemas.openxmlformats.org/officeDocument/2006/relationships/slideLayout" Target="../slideLayouts/slideLayout13.xml"/><Relationship Id="rId5" Type="http://schemas.openxmlformats.org/officeDocument/2006/relationships/image" Target="../media/image120.png"/><Relationship Id="rId4" Type="http://schemas.openxmlformats.org/officeDocument/2006/relationships/image" Target="../media/image119.png"/></Relationships>
</file>

<file path=ppt/slides/_rels/slide133.xml.rels><?xml version="1.0" encoding="UTF-8" standalone="yes"?>
<Relationships xmlns="http://schemas.openxmlformats.org/package/2006/relationships"><Relationship Id="rId3" Type="http://schemas.openxmlformats.org/officeDocument/2006/relationships/image" Target="../media/image118.png"/><Relationship Id="rId2" Type="http://schemas.openxmlformats.org/officeDocument/2006/relationships/notesSlide" Target="../notesSlides/notesSlide111.xml"/><Relationship Id="rId1" Type="http://schemas.openxmlformats.org/officeDocument/2006/relationships/slideLayout" Target="../slideLayouts/slideLayout13.xml"/><Relationship Id="rId5" Type="http://schemas.openxmlformats.org/officeDocument/2006/relationships/image" Target="../media/image120.png"/><Relationship Id="rId4" Type="http://schemas.openxmlformats.org/officeDocument/2006/relationships/image" Target="../media/image119.png"/></Relationships>
</file>

<file path=ppt/slides/_rels/slide134.xml.rels><?xml version="1.0" encoding="UTF-8" standalone="yes"?>
<Relationships xmlns="http://schemas.openxmlformats.org/package/2006/relationships"><Relationship Id="rId3" Type="http://schemas.openxmlformats.org/officeDocument/2006/relationships/image" Target="../media/image118.png"/><Relationship Id="rId2" Type="http://schemas.openxmlformats.org/officeDocument/2006/relationships/notesSlide" Target="../notesSlides/notesSlide112.xml"/><Relationship Id="rId1" Type="http://schemas.openxmlformats.org/officeDocument/2006/relationships/slideLayout" Target="../slideLayouts/slideLayout13.xml"/><Relationship Id="rId6" Type="http://schemas.openxmlformats.org/officeDocument/2006/relationships/image" Target="../media/image121.png"/><Relationship Id="rId5" Type="http://schemas.openxmlformats.org/officeDocument/2006/relationships/image" Target="../media/image120.png"/><Relationship Id="rId4" Type="http://schemas.openxmlformats.org/officeDocument/2006/relationships/image" Target="../media/image119.png"/></Relationships>
</file>

<file path=ppt/slides/_rels/slide135.xml.rels><?xml version="1.0" encoding="UTF-8" standalone="yes"?>
<Relationships xmlns="http://schemas.openxmlformats.org/package/2006/relationships"><Relationship Id="rId3" Type="http://schemas.openxmlformats.org/officeDocument/2006/relationships/image" Target="../media/image118.png"/><Relationship Id="rId2" Type="http://schemas.openxmlformats.org/officeDocument/2006/relationships/notesSlide" Target="../notesSlides/notesSlide113.xml"/><Relationship Id="rId1" Type="http://schemas.openxmlformats.org/officeDocument/2006/relationships/slideLayout" Target="../slideLayouts/slideLayout13.xml"/><Relationship Id="rId6" Type="http://schemas.openxmlformats.org/officeDocument/2006/relationships/image" Target="../media/image121.png"/><Relationship Id="rId5" Type="http://schemas.openxmlformats.org/officeDocument/2006/relationships/image" Target="../media/image120.png"/><Relationship Id="rId4" Type="http://schemas.openxmlformats.org/officeDocument/2006/relationships/image" Target="../media/image119.png"/></Relationships>
</file>

<file path=ppt/slides/_rels/slide136.xml.rels><?xml version="1.0" encoding="UTF-8" standalone="yes"?>
<Relationships xmlns="http://schemas.openxmlformats.org/package/2006/relationships"><Relationship Id="rId2" Type="http://schemas.openxmlformats.org/officeDocument/2006/relationships/notesSlide" Target="../notesSlides/notesSlide114.xml"/><Relationship Id="rId1" Type="http://schemas.openxmlformats.org/officeDocument/2006/relationships/slideLayout" Target="../slideLayouts/slideLayout13.xml"/></Relationships>
</file>

<file path=ppt/slides/_rels/slide137.xml.rels><?xml version="1.0" encoding="UTF-8" standalone="yes"?>
<Relationships xmlns="http://schemas.openxmlformats.org/package/2006/relationships"><Relationship Id="rId2" Type="http://schemas.openxmlformats.org/officeDocument/2006/relationships/image" Target="../media/image420.png"/><Relationship Id="rId1" Type="http://schemas.openxmlformats.org/officeDocument/2006/relationships/slideLayout" Target="../slideLayouts/slideLayout13.xml"/></Relationships>
</file>

<file path=ppt/slides/_rels/slide138.xml.rels><?xml version="1.0" encoding="UTF-8" standalone="yes"?>
<Relationships xmlns="http://schemas.openxmlformats.org/package/2006/relationships"><Relationship Id="rId3" Type="http://schemas.openxmlformats.org/officeDocument/2006/relationships/image" Target="../media/image122.png"/><Relationship Id="rId2" Type="http://schemas.openxmlformats.org/officeDocument/2006/relationships/image" Target="../media/image430.png"/><Relationship Id="rId1" Type="http://schemas.openxmlformats.org/officeDocument/2006/relationships/slideLayout" Target="../slideLayouts/slideLayout13.xml"/></Relationships>
</file>

<file path=ppt/slides/_rels/slide139.xml.rels><?xml version="1.0" encoding="UTF-8" standalone="yes"?>
<Relationships xmlns="http://schemas.openxmlformats.org/package/2006/relationships"><Relationship Id="rId3" Type="http://schemas.openxmlformats.org/officeDocument/2006/relationships/image" Target="../media/image122.png"/><Relationship Id="rId2" Type="http://schemas.openxmlformats.org/officeDocument/2006/relationships/image" Target="../media/image430.png"/><Relationship Id="rId1" Type="http://schemas.openxmlformats.org/officeDocument/2006/relationships/slideLayout" Target="../slideLayouts/slideLayout13.xml"/><Relationship Id="rId5" Type="http://schemas.openxmlformats.org/officeDocument/2006/relationships/image" Target="../media/image460.png"/><Relationship Id="rId4" Type="http://schemas.openxmlformats.org/officeDocument/2006/relationships/image" Target="../media/image123.png"/></Relationships>
</file>

<file path=ppt/slides/_rels/slide140.xml.rels><?xml version="1.0" encoding="UTF-8" standalone="yes"?>
<Relationships xmlns="http://schemas.openxmlformats.org/package/2006/relationships"><Relationship Id="rId2" Type="http://schemas.openxmlformats.org/officeDocument/2006/relationships/image" Target="../media/image122.png"/><Relationship Id="rId1" Type="http://schemas.openxmlformats.org/officeDocument/2006/relationships/slideLayout" Target="../slideLayouts/slideLayout13.xml"/></Relationships>
</file>

<file path=ppt/slides/_rels/slide141.xml.rels><?xml version="1.0" encoding="UTF-8" standalone="yes"?>
<Relationships xmlns="http://schemas.openxmlformats.org/package/2006/relationships"><Relationship Id="rId3" Type="http://schemas.openxmlformats.org/officeDocument/2006/relationships/image" Target="../media/image122.png"/><Relationship Id="rId2" Type="http://schemas.openxmlformats.org/officeDocument/2006/relationships/image" Target="../media/image470.png"/><Relationship Id="rId1" Type="http://schemas.openxmlformats.org/officeDocument/2006/relationships/slideLayout" Target="../slideLayouts/slideLayout13.xml"/></Relationships>
</file>

<file path=ppt/slides/_rels/slide142.xml.rels><?xml version="1.0" encoding="UTF-8" standalone="yes"?>
<Relationships xmlns="http://schemas.openxmlformats.org/package/2006/relationships"><Relationship Id="rId3" Type="http://schemas.openxmlformats.org/officeDocument/2006/relationships/image" Target="../media/image122.png"/><Relationship Id="rId2" Type="http://schemas.openxmlformats.org/officeDocument/2006/relationships/image" Target="../media/image480.png"/><Relationship Id="rId1" Type="http://schemas.openxmlformats.org/officeDocument/2006/relationships/slideLayout" Target="../slideLayouts/slideLayout13.xml"/></Relationships>
</file>

<file path=ppt/slides/_rels/slide143.xml.rels><?xml version="1.0" encoding="UTF-8" standalone="yes"?>
<Relationships xmlns="http://schemas.openxmlformats.org/package/2006/relationships"><Relationship Id="rId3" Type="http://schemas.openxmlformats.org/officeDocument/2006/relationships/image" Target="../media/image122.png"/><Relationship Id="rId2" Type="http://schemas.openxmlformats.org/officeDocument/2006/relationships/image" Target="../media/image49.png"/><Relationship Id="rId1" Type="http://schemas.openxmlformats.org/officeDocument/2006/relationships/slideLayout" Target="../slideLayouts/slideLayout13.xml"/><Relationship Id="rId4" Type="http://schemas.openxmlformats.org/officeDocument/2006/relationships/image" Target="../media/image123.png"/></Relationships>
</file>

<file path=ppt/slides/_rels/slide144.xml.rels><?xml version="1.0" encoding="UTF-8" standalone="yes"?>
<Relationships xmlns="http://schemas.openxmlformats.org/package/2006/relationships"><Relationship Id="rId3" Type="http://schemas.openxmlformats.org/officeDocument/2006/relationships/image" Target="../media/image122.png"/><Relationship Id="rId2" Type="http://schemas.openxmlformats.org/officeDocument/2006/relationships/image" Target="../media/image500.png"/><Relationship Id="rId1" Type="http://schemas.openxmlformats.org/officeDocument/2006/relationships/slideLayout" Target="../slideLayouts/slideLayout13.xml"/><Relationship Id="rId4" Type="http://schemas.openxmlformats.org/officeDocument/2006/relationships/image" Target="../media/image124.png"/></Relationships>
</file>

<file path=ppt/slides/_rels/slide145.xml.rels><?xml version="1.0" encoding="UTF-8" standalone="yes"?>
<Relationships xmlns="http://schemas.openxmlformats.org/package/2006/relationships"><Relationship Id="rId3" Type="http://schemas.openxmlformats.org/officeDocument/2006/relationships/image" Target="../media/image122.png"/><Relationship Id="rId2" Type="http://schemas.openxmlformats.org/officeDocument/2006/relationships/image" Target="../media/image500.png"/><Relationship Id="rId1" Type="http://schemas.openxmlformats.org/officeDocument/2006/relationships/slideLayout" Target="../slideLayouts/slideLayout13.xml"/><Relationship Id="rId4" Type="http://schemas.openxmlformats.org/officeDocument/2006/relationships/image" Target="../media/image124.png"/></Relationships>
</file>

<file path=ppt/slides/_rels/slide146.xml.rels><?xml version="1.0" encoding="UTF-8" standalone="yes"?>
<Relationships xmlns="http://schemas.openxmlformats.org/package/2006/relationships"><Relationship Id="rId2" Type="http://schemas.openxmlformats.org/officeDocument/2006/relationships/notesSlide" Target="../notesSlides/notesSlide115.xml"/><Relationship Id="rId1" Type="http://schemas.openxmlformats.org/officeDocument/2006/relationships/slideLayout" Target="../slideLayouts/slideLayout13.xml"/></Relationships>
</file>

<file path=ppt/slides/_rels/slide147.xml.rels><?xml version="1.0" encoding="UTF-8" standalone="yes"?>
<Relationships xmlns="http://schemas.openxmlformats.org/package/2006/relationships"><Relationship Id="rId3" Type="http://schemas.openxmlformats.org/officeDocument/2006/relationships/image" Target="../media/image125.png"/><Relationship Id="rId2" Type="http://schemas.openxmlformats.org/officeDocument/2006/relationships/notesSlide" Target="../notesSlides/notesSlide116.xml"/><Relationship Id="rId1" Type="http://schemas.openxmlformats.org/officeDocument/2006/relationships/slideLayout" Target="../slideLayouts/slideLayout13.xml"/></Relationships>
</file>

<file path=ppt/slides/_rels/slide148.xml.rels><?xml version="1.0" encoding="UTF-8" standalone="yes"?>
<Relationships xmlns="http://schemas.openxmlformats.org/package/2006/relationships"><Relationship Id="rId3" Type="http://schemas.openxmlformats.org/officeDocument/2006/relationships/image" Target="../media/image125.png"/><Relationship Id="rId2" Type="http://schemas.openxmlformats.org/officeDocument/2006/relationships/notesSlide" Target="../notesSlides/notesSlide117.xml"/><Relationship Id="rId1" Type="http://schemas.openxmlformats.org/officeDocument/2006/relationships/slideLayout" Target="../slideLayouts/slideLayout13.xml"/></Relationships>
</file>

<file path=ppt/slides/_rels/slide149.xml.rels><?xml version="1.0" encoding="UTF-8" standalone="yes"?>
<Relationships xmlns="http://schemas.openxmlformats.org/package/2006/relationships"><Relationship Id="rId3" Type="http://schemas.openxmlformats.org/officeDocument/2006/relationships/image" Target="../media/image125.png"/><Relationship Id="rId2" Type="http://schemas.openxmlformats.org/officeDocument/2006/relationships/notesSlide" Target="../notesSlides/notesSlide118.xml"/><Relationship Id="rId1" Type="http://schemas.openxmlformats.org/officeDocument/2006/relationships/slideLayout" Target="../slideLayouts/slideLayout13.xml"/></Relationships>
</file>

<file path=ppt/slides/_rels/slide150.xml.rels><?xml version="1.0" encoding="UTF-8" standalone="yes"?>
<Relationships xmlns="http://schemas.openxmlformats.org/package/2006/relationships"><Relationship Id="rId2" Type="http://schemas.openxmlformats.org/officeDocument/2006/relationships/hyperlink" Target="https://talwagner.github.io/teaching/perplexity.html" TargetMode="External"/><Relationship Id="rId1" Type="http://schemas.openxmlformats.org/officeDocument/2006/relationships/slideLayout" Target="../slideLayouts/slideLayout13.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2.xml.rels><?xml version="1.0" encoding="UTF-8" standalone="yes"?>
<Relationships xmlns="http://schemas.openxmlformats.org/package/2006/relationships"><Relationship Id="rId3" Type="http://schemas.openxmlformats.org/officeDocument/2006/relationships/image" Target="../media/image126.png"/><Relationship Id="rId2" Type="http://schemas.openxmlformats.org/officeDocument/2006/relationships/notesSlide" Target="../notesSlides/notesSlide119.xml"/><Relationship Id="rId1" Type="http://schemas.openxmlformats.org/officeDocument/2006/relationships/slideLayout" Target="../slideLayouts/slideLayout13.xml"/></Relationships>
</file>

<file path=ppt/slides/_rels/slide153.xml.rels><?xml version="1.0" encoding="UTF-8" standalone="yes"?>
<Relationships xmlns="http://schemas.openxmlformats.org/package/2006/relationships"><Relationship Id="rId3" Type="http://schemas.openxmlformats.org/officeDocument/2006/relationships/image" Target="../media/image126.png"/><Relationship Id="rId2" Type="http://schemas.openxmlformats.org/officeDocument/2006/relationships/notesSlide" Target="../notesSlides/notesSlide120.xml"/><Relationship Id="rId1" Type="http://schemas.openxmlformats.org/officeDocument/2006/relationships/slideLayout" Target="../slideLayouts/slideLayout13.xml"/></Relationships>
</file>

<file path=ppt/slides/_rels/slide154.xml.rels><?xml version="1.0" encoding="UTF-8" standalone="yes"?>
<Relationships xmlns="http://schemas.openxmlformats.org/package/2006/relationships"><Relationship Id="rId2" Type="http://schemas.openxmlformats.org/officeDocument/2006/relationships/notesSlide" Target="../notesSlides/notesSlide121.xml"/><Relationship Id="rId1" Type="http://schemas.openxmlformats.org/officeDocument/2006/relationships/slideLayout" Target="../slideLayouts/slideLayout13.xml"/></Relationships>
</file>

<file path=ppt/slides/_rels/slide155.xml.rels><?xml version="1.0" encoding="UTF-8" standalone="yes"?>
<Relationships xmlns="http://schemas.openxmlformats.org/package/2006/relationships"><Relationship Id="rId3" Type="http://schemas.openxmlformats.org/officeDocument/2006/relationships/image" Target="../media/image127.png"/><Relationship Id="rId2" Type="http://schemas.openxmlformats.org/officeDocument/2006/relationships/notesSlide" Target="../notesSlides/notesSlide122.xml"/><Relationship Id="rId1" Type="http://schemas.openxmlformats.org/officeDocument/2006/relationships/slideLayout" Target="../slideLayouts/slideLayout13.xml"/></Relationships>
</file>

<file path=ppt/slides/_rels/slide156.xml.rels><?xml version="1.0" encoding="UTF-8" standalone="yes"?>
<Relationships xmlns="http://schemas.openxmlformats.org/package/2006/relationships"><Relationship Id="rId3" Type="http://schemas.openxmlformats.org/officeDocument/2006/relationships/image" Target="../media/image128.png"/><Relationship Id="rId2" Type="http://schemas.openxmlformats.org/officeDocument/2006/relationships/notesSlide" Target="../notesSlides/notesSlide123.xml"/><Relationship Id="rId1" Type="http://schemas.openxmlformats.org/officeDocument/2006/relationships/slideLayout" Target="../slideLayouts/slideLayout13.xml"/></Relationships>
</file>

<file path=ppt/slides/_rels/slide157.xml.rels><?xml version="1.0" encoding="UTF-8" standalone="yes"?>
<Relationships xmlns="http://schemas.openxmlformats.org/package/2006/relationships"><Relationship Id="rId3" Type="http://schemas.openxmlformats.org/officeDocument/2006/relationships/image" Target="../media/image129.png"/><Relationship Id="rId2" Type="http://schemas.openxmlformats.org/officeDocument/2006/relationships/notesSlide" Target="../notesSlides/notesSlide124.xml"/><Relationship Id="rId1" Type="http://schemas.openxmlformats.org/officeDocument/2006/relationships/slideLayout" Target="../slideLayouts/slideLayout13.xml"/></Relationships>
</file>

<file path=ppt/slides/_rels/slide158.xml.rels><?xml version="1.0" encoding="UTF-8" standalone="yes"?>
<Relationships xmlns="http://schemas.openxmlformats.org/package/2006/relationships"><Relationship Id="rId2" Type="http://schemas.openxmlformats.org/officeDocument/2006/relationships/image" Target="../media/image130.png"/><Relationship Id="rId1" Type="http://schemas.openxmlformats.org/officeDocument/2006/relationships/slideLayout" Target="../slideLayouts/slideLayout13.xml"/></Relationships>
</file>

<file path=ppt/slides/_rels/slide159.xml.rels><?xml version="1.0" encoding="UTF-8" standalone="yes"?>
<Relationships xmlns="http://schemas.openxmlformats.org/package/2006/relationships"><Relationship Id="rId3" Type="http://schemas.openxmlformats.org/officeDocument/2006/relationships/image" Target="../media/image131.png"/><Relationship Id="rId2" Type="http://schemas.openxmlformats.org/officeDocument/2006/relationships/notesSlide" Target="../notesSlides/notesSlide125.xml"/><Relationship Id="rId1" Type="http://schemas.openxmlformats.org/officeDocument/2006/relationships/slideLayout" Target="../slideLayouts/slideLayout13.xml"/></Relationships>
</file>

<file path=ppt/slides/_rels/slide160.xml.rels><?xml version="1.0" encoding="UTF-8" standalone="yes"?>
<Relationships xmlns="http://schemas.openxmlformats.org/package/2006/relationships"><Relationship Id="rId3" Type="http://schemas.openxmlformats.org/officeDocument/2006/relationships/image" Target="../media/image132.png"/><Relationship Id="rId2" Type="http://schemas.openxmlformats.org/officeDocument/2006/relationships/notesSlide" Target="../notesSlides/notesSlide126.xml"/><Relationship Id="rId1" Type="http://schemas.openxmlformats.org/officeDocument/2006/relationships/slideLayout" Target="../slideLayouts/slideLayout13.xml"/></Relationships>
</file>

<file path=ppt/slides/_rels/slide161.xml.rels><?xml version="1.0" encoding="UTF-8" standalone="yes"?>
<Relationships xmlns="http://schemas.openxmlformats.org/package/2006/relationships"><Relationship Id="rId3" Type="http://schemas.openxmlformats.org/officeDocument/2006/relationships/image" Target="../media/image133.png"/><Relationship Id="rId2" Type="http://schemas.openxmlformats.org/officeDocument/2006/relationships/notesSlide" Target="../notesSlides/notesSlide127.xml"/><Relationship Id="rId1" Type="http://schemas.openxmlformats.org/officeDocument/2006/relationships/slideLayout" Target="../slideLayouts/slideLayout11.xml"/><Relationship Id="rId6" Type="http://schemas.openxmlformats.org/officeDocument/2006/relationships/hyperlink" Target="https://arxiv.org/abs/2005.14165" TargetMode="External"/><Relationship Id="rId5" Type="http://schemas.openxmlformats.org/officeDocument/2006/relationships/hyperlink" Target="https://www.semanticscholar.org/paper/Language-Models-are-Unsupervised-Multitask-Learners-Radford-Wu/9405cc0d6169988371b2755e573cc28650d14dfe" TargetMode="External"/><Relationship Id="rId4" Type="http://schemas.openxmlformats.org/officeDocument/2006/relationships/hyperlink" Target="https://platform.openai.com/playground" TargetMode="External"/></Relationships>
</file>

<file path=ppt/slides/_rels/slide162.xml.rels><?xml version="1.0" encoding="UTF-8" standalone="yes"?>
<Relationships xmlns="http://schemas.openxmlformats.org/package/2006/relationships"><Relationship Id="rId3" Type="http://schemas.openxmlformats.org/officeDocument/2006/relationships/image" Target="../media/image133.png"/><Relationship Id="rId2" Type="http://schemas.openxmlformats.org/officeDocument/2006/relationships/notesSlide" Target="../notesSlides/notesSlide128.xml"/><Relationship Id="rId1" Type="http://schemas.openxmlformats.org/officeDocument/2006/relationships/slideLayout" Target="../slideLayouts/slideLayout11.xml"/><Relationship Id="rId4" Type="http://schemas.openxmlformats.org/officeDocument/2006/relationships/hyperlink" Target="https://platform.openai.com/playground" TargetMode="External"/></Relationships>
</file>

<file path=ppt/slides/_rels/slide163.xml.rels><?xml version="1.0" encoding="UTF-8" standalone="yes"?>
<Relationships xmlns="http://schemas.openxmlformats.org/package/2006/relationships"><Relationship Id="rId2" Type="http://schemas.openxmlformats.org/officeDocument/2006/relationships/notesSlide" Target="../notesSlides/notesSlide129.xml"/><Relationship Id="rId1" Type="http://schemas.openxmlformats.org/officeDocument/2006/relationships/slideLayout" Target="../slideLayouts/slideLayout13.xml"/></Relationships>
</file>

<file path=ppt/slides/_rels/slide164.xml.rels><?xml version="1.0" encoding="UTF-8" standalone="yes"?>
<Relationships xmlns="http://schemas.openxmlformats.org/package/2006/relationships"><Relationship Id="rId3" Type="http://schemas.openxmlformats.org/officeDocument/2006/relationships/image" Target="../media/image134.png"/><Relationship Id="rId2" Type="http://schemas.openxmlformats.org/officeDocument/2006/relationships/notesSlide" Target="../notesSlides/notesSlide130.xml"/><Relationship Id="rId1" Type="http://schemas.openxmlformats.org/officeDocument/2006/relationships/slideLayout" Target="../slideLayouts/slideLayout13.xml"/></Relationships>
</file>

<file path=ppt/slides/_rels/slide165.xml.rels><?xml version="1.0" encoding="UTF-8" standalone="yes"?>
<Relationships xmlns="http://schemas.openxmlformats.org/package/2006/relationships"><Relationship Id="rId3" Type="http://schemas.openxmlformats.org/officeDocument/2006/relationships/image" Target="../media/image134.png"/><Relationship Id="rId2" Type="http://schemas.openxmlformats.org/officeDocument/2006/relationships/notesSlide" Target="../notesSlides/notesSlide131.xml"/><Relationship Id="rId1" Type="http://schemas.openxmlformats.org/officeDocument/2006/relationships/slideLayout" Target="../slideLayouts/slideLayout13.xml"/><Relationship Id="rId4" Type="http://schemas.openxmlformats.org/officeDocument/2006/relationships/image" Target="../media/image135.png"/></Relationships>
</file>

<file path=ppt/slides/_rels/slide166.xml.rels><?xml version="1.0" encoding="UTF-8" standalone="yes"?>
<Relationships xmlns="http://schemas.openxmlformats.org/package/2006/relationships"><Relationship Id="rId3" Type="http://schemas.openxmlformats.org/officeDocument/2006/relationships/image" Target="../media/image136.png"/><Relationship Id="rId2" Type="http://schemas.openxmlformats.org/officeDocument/2006/relationships/notesSlide" Target="../notesSlides/notesSlide132.xml"/><Relationship Id="rId1" Type="http://schemas.openxmlformats.org/officeDocument/2006/relationships/slideLayout" Target="../slideLayouts/slideLayout13.xml"/></Relationships>
</file>

<file path=ppt/slides/_rels/slide167.xml.rels><?xml version="1.0" encoding="UTF-8" standalone="yes"?>
<Relationships xmlns="http://schemas.openxmlformats.org/package/2006/relationships"><Relationship Id="rId3" Type="http://schemas.openxmlformats.org/officeDocument/2006/relationships/image" Target="../media/image136.png"/><Relationship Id="rId2" Type="http://schemas.openxmlformats.org/officeDocument/2006/relationships/notesSlide" Target="../notesSlides/notesSlide133.xml"/><Relationship Id="rId1" Type="http://schemas.openxmlformats.org/officeDocument/2006/relationships/slideLayout" Target="../slideLayouts/slideLayout13.xml"/></Relationships>
</file>

<file path=ppt/slides/_rels/slide168.xml.rels><?xml version="1.0" encoding="UTF-8" standalone="yes"?>
<Relationships xmlns="http://schemas.openxmlformats.org/package/2006/relationships"><Relationship Id="rId3" Type="http://schemas.openxmlformats.org/officeDocument/2006/relationships/image" Target="../media/image137.png"/><Relationship Id="rId2" Type="http://schemas.openxmlformats.org/officeDocument/2006/relationships/notesSlide" Target="../notesSlides/notesSlide134.xml"/><Relationship Id="rId1" Type="http://schemas.openxmlformats.org/officeDocument/2006/relationships/slideLayout" Target="../slideLayouts/slideLayout13.xml"/></Relationships>
</file>

<file path=ppt/slides/_rels/slide169.xml.rels><?xml version="1.0" encoding="UTF-8" standalone="yes"?>
<Relationships xmlns="http://schemas.openxmlformats.org/package/2006/relationships"><Relationship Id="rId3" Type="http://schemas.openxmlformats.org/officeDocument/2006/relationships/image" Target="../media/image137.png"/><Relationship Id="rId2" Type="http://schemas.openxmlformats.org/officeDocument/2006/relationships/notesSlide" Target="../notesSlides/notesSlide135.xml"/><Relationship Id="rId1" Type="http://schemas.openxmlformats.org/officeDocument/2006/relationships/slideLayout" Target="../slideLayouts/slideLayout13.xml"/></Relationships>
</file>

<file path=ppt/slides/_rels/slide170.xml.rels><?xml version="1.0" encoding="UTF-8" standalone="yes"?>
<Relationships xmlns="http://schemas.openxmlformats.org/package/2006/relationships"><Relationship Id="rId3" Type="http://schemas.openxmlformats.org/officeDocument/2006/relationships/image" Target="../media/image137.png"/><Relationship Id="rId2" Type="http://schemas.openxmlformats.org/officeDocument/2006/relationships/notesSlide" Target="../notesSlides/notesSlide136.xml"/><Relationship Id="rId1" Type="http://schemas.openxmlformats.org/officeDocument/2006/relationships/slideLayout" Target="../slideLayouts/slideLayout13.xml"/><Relationship Id="rId4" Type="http://schemas.openxmlformats.org/officeDocument/2006/relationships/image" Target="../media/image138.png"/></Relationships>
</file>

<file path=ppt/slides/_rels/slide171.xml.rels><?xml version="1.0" encoding="UTF-8" standalone="yes"?>
<Relationships xmlns="http://schemas.openxmlformats.org/package/2006/relationships"><Relationship Id="rId3" Type="http://schemas.openxmlformats.org/officeDocument/2006/relationships/image" Target="../media/image137.png"/><Relationship Id="rId2" Type="http://schemas.openxmlformats.org/officeDocument/2006/relationships/notesSlide" Target="../notesSlides/notesSlide137.xml"/><Relationship Id="rId1" Type="http://schemas.openxmlformats.org/officeDocument/2006/relationships/slideLayout" Target="../slideLayouts/slideLayout13.xml"/><Relationship Id="rId4" Type="http://schemas.openxmlformats.org/officeDocument/2006/relationships/image" Target="../media/image138.png"/></Relationships>
</file>

<file path=ppt/slides/_rels/slide172.xml.rels><?xml version="1.0" encoding="UTF-8" standalone="yes"?>
<Relationships xmlns="http://schemas.openxmlformats.org/package/2006/relationships"><Relationship Id="rId3" Type="http://schemas.openxmlformats.org/officeDocument/2006/relationships/image" Target="../media/image137.png"/><Relationship Id="rId2" Type="http://schemas.openxmlformats.org/officeDocument/2006/relationships/notesSlide" Target="../notesSlides/notesSlide138.xml"/><Relationship Id="rId1" Type="http://schemas.openxmlformats.org/officeDocument/2006/relationships/slideLayout" Target="../slideLayouts/slideLayout13.xml"/><Relationship Id="rId4" Type="http://schemas.openxmlformats.org/officeDocument/2006/relationships/image" Target="../media/image138.png"/></Relationships>
</file>

<file path=ppt/slides/_rels/slide173.xml.rels><?xml version="1.0" encoding="UTF-8" standalone="yes"?>
<Relationships xmlns="http://schemas.openxmlformats.org/package/2006/relationships"><Relationship Id="rId3" Type="http://schemas.openxmlformats.org/officeDocument/2006/relationships/image" Target="../media/image137.png"/><Relationship Id="rId2" Type="http://schemas.openxmlformats.org/officeDocument/2006/relationships/notesSlide" Target="../notesSlides/notesSlide139.xml"/><Relationship Id="rId1" Type="http://schemas.openxmlformats.org/officeDocument/2006/relationships/slideLayout" Target="../slideLayouts/slideLayout13.xml"/><Relationship Id="rId4" Type="http://schemas.openxmlformats.org/officeDocument/2006/relationships/image" Target="../media/image138.png"/></Relationships>
</file>

<file path=ppt/slides/_rels/slide174.xml.rels><?xml version="1.0" encoding="UTF-8" standalone="yes"?>
<Relationships xmlns="http://schemas.openxmlformats.org/package/2006/relationships"><Relationship Id="rId3" Type="http://schemas.openxmlformats.org/officeDocument/2006/relationships/image" Target="../media/image139.png"/><Relationship Id="rId2" Type="http://schemas.openxmlformats.org/officeDocument/2006/relationships/notesSlide" Target="../notesSlides/notesSlide140.xml"/><Relationship Id="rId1" Type="http://schemas.openxmlformats.org/officeDocument/2006/relationships/slideLayout" Target="../slideLayouts/slideLayout13.xml"/></Relationships>
</file>

<file path=ppt/slides/_rels/slide175.xml.rels><?xml version="1.0" encoding="UTF-8" standalone="yes"?>
<Relationships xmlns="http://schemas.openxmlformats.org/package/2006/relationships"><Relationship Id="rId3" Type="http://schemas.openxmlformats.org/officeDocument/2006/relationships/image" Target="../media/image139.png"/><Relationship Id="rId2" Type="http://schemas.openxmlformats.org/officeDocument/2006/relationships/notesSlide" Target="../notesSlides/notesSlide141.xml"/><Relationship Id="rId1" Type="http://schemas.openxmlformats.org/officeDocument/2006/relationships/slideLayout" Target="../slideLayouts/slideLayout13.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7.xml.rels><?xml version="1.0" encoding="UTF-8" standalone="yes"?>
<Relationships xmlns="http://schemas.openxmlformats.org/package/2006/relationships"><Relationship Id="rId2" Type="http://schemas.openxmlformats.org/officeDocument/2006/relationships/image" Target="../media/image140.png"/><Relationship Id="rId1" Type="http://schemas.openxmlformats.org/officeDocument/2006/relationships/slideLayout" Target="../slideLayouts/slideLayout13.xml"/></Relationships>
</file>

<file path=ppt/slides/_rels/slide178.xml.rels><?xml version="1.0" encoding="UTF-8" standalone="yes"?>
<Relationships xmlns="http://schemas.openxmlformats.org/package/2006/relationships"><Relationship Id="rId2" Type="http://schemas.openxmlformats.org/officeDocument/2006/relationships/image" Target="../media/image141.png"/><Relationship Id="rId1" Type="http://schemas.openxmlformats.org/officeDocument/2006/relationships/slideLayout" Target="../slideLayouts/slideLayout13.xml"/></Relationships>
</file>

<file path=ppt/slides/_rels/slide179.xml.rels><?xml version="1.0" encoding="UTF-8" standalone="yes"?>
<Relationships xmlns="http://schemas.openxmlformats.org/package/2006/relationships"><Relationship Id="rId3" Type="http://schemas.openxmlformats.org/officeDocument/2006/relationships/image" Target="../media/image140.png"/><Relationship Id="rId2" Type="http://schemas.openxmlformats.org/officeDocument/2006/relationships/image" Target="../media/image190.png"/><Relationship Id="rId1" Type="http://schemas.openxmlformats.org/officeDocument/2006/relationships/slideLayout" Target="../slideLayouts/slideLayout13.xml"/></Relationships>
</file>

<file path=ppt/slides/_rels/slide180.xml.rels><?xml version="1.0" encoding="UTF-8" standalone="yes"?>
<Relationships xmlns="http://schemas.openxmlformats.org/package/2006/relationships"><Relationship Id="rId2" Type="http://schemas.openxmlformats.org/officeDocument/2006/relationships/notesSlide" Target="../notesSlides/notesSlide142.xml"/><Relationship Id="rId1" Type="http://schemas.openxmlformats.org/officeDocument/2006/relationships/slideLayout" Target="../slideLayouts/slideLayout13.xml"/></Relationships>
</file>

<file path=ppt/slides/_rels/slide181.xml.rels><?xml version="1.0" encoding="UTF-8" standalone="yes"?>
<Relationships xmlns="http://schemas.openxmlformats.org/package/2006/relationships"><Relationship Id="rId3" Type="http://schemas.openxmlformats.org/officeDocument/2006/relationships/image" Target="../media/image134.png"/><Relationship Id="rId2" Type="http://schemas.openxmlformats.org/officeDocument/2006/relationships/notesSlide" Target="../notesSlides/notesSlide143.xml"/><Relationship Id="rId1" Type="http://schemas.openxmlformats.org/officeDocument/2006/relationships/slideLayout" Target="../slideLayouts/slideLayout13.xml"/></Relationships>
</file>

<file path=ppt/slides/_rels/slide182.xml.rels><?xml version="1.0" encoding="UTF-8" standalone="yes"?>
<Relationships xmlns="http://schemas.openxmlformats.org/package/2006/relationships"><Relationship Id="rId2" Type="http://schemas.openxmlformats.org/officeDocument/2006/relationships/notesSlide" Target="../notesSlides/notesSlide144.xml"/><Relationship Id="rId1" Type="http://schemas.openxmlformats.org/officeDocument/2006/relationships/slideLayout" Target="../slideLayouts/slideLayout13.xml"/></Relationships>
</file>

<file path=ppt/slides/_rels/slide183.xml.rels><?xml version="1.0" encoding="UTF-8" standalone="yes"?>
<Relationships xmlns="http://schemas.openxmlformats.org/package/2006/relationships"><Relationship Id="rId3" Type="http://schemas.openxmlformats.org/officeDocument/2006/relationships/image" Target="../media/image142.png"/><Relationship Id="rId2" Type="http://schemas.openxmlformats.org/officeDocument/2006/relationships/notesSlide" Target="../notesSlides/notesSlide145.xml"/><Relationship Id="rId1" Type="http://schemas.openxmlformats.org/officeDocument/2006/relationships/slideLayout" Target="../slideLayouts/slideLayout13.xml"/></Relationships>
</file>

<file path=ppt/slides/_rels/slide184.xml.rels><?xml version="1.0" encoding="UTF-8" standalone="yes"?>
<Relationships xmlns="http://schemas.openxmlformats.org/package/2006/relationships"><Relationship Id="rId3" Type="http://schemas.openxmlformats.org/officeDocument/2006/relationships/image" Target="../media/image143.png"/><Relationship Id="rId2" Type="http://schemas.openxmlformats.org/officeDocument/2006/relationships/notesSlide" Target="../notesSlides/notesSlide146.xml"/><Relationship Id="rId1" Type="http://schemas.openxmlformats.org/officeDocument/2006/relationships/slideLayout" Target="../slideLayouts/slideLayout13.xml"/></Relationships>
</file>

<file path=ppt/slides/_rels/slide185.xml.rels><?xml version="1.0" encoding="UTF-8" standalone="yes"?>
<Relationships xmlns="http://schemas.openxmlformats.org/package/2006/relationships"><Relationship Id="rId3" Type="http://schemas.openxmlformats.org/officeDocument/2006/relationships/image" Target="../media/image144.png"/><Relationship Id="rId2" Type="http://schemas.openxmlformats.org/officeDocument/2006/relationships/notesSlide" Target="../notesSlides/notesSlide147.xml"/><Relationship Id="rId1" Type="http://schemas.openxmlformats.org/officeDocument/2006/relationships/slideLayout" Target="../slideLayouts/slideLayout12.xml"/><Relationship Id="rId4" Type="http://schemas.openxmlformats.org/officeDocument/2006/relationships/image" Target="../media/image145.png"/></Relationships>
</file>

<file path=ppt/slides/_rels/slide186.xml.rels><?xml version="1.0" encoding="UTF-8" standalone="yes"?>
<Relationships xmlns="http://schemas.openxmlformats.org/package/2006/relationships"><Relationship Id="rId3" Type="http://schemas.openxmlformats.org/officeDocument/2006/relationships/image" Target="../media/image146.png"/><Relationship Id="rId2" Type="http://schemas.openxmlformats.org/officeDocument/2006/relationships/notesSlide" Target="../notesSlides/notesSlide148.xml"/><Relationship Id="rId1" Type="http://schemas.openxmlformats.org/officeDocument/2006/relationships/slideLayout" Target="../slideLayouts/slideLayout16.xml"/><Relationship Id="rId4" Type="http://schemas.openxmlformats.org/officeDocument/2006/relationships/image" Target="../media/image101.jpg"/></Relationships>
</file>

<file path=ppt/slides/_rels/slide187.xml.rels><?xml version="1.0" encoding="UTF-8" standalone="yes"?>
<Relationships xmlns="http://schemas.openxmlformats.org/package/2006/relationships"><Relationship Id="rId3" Type="http://schemas.openxmlformats.org/officeDocument/2006/relationships/image" Target="../media/image147.png"/><Relationship Id="rId2" Type="http://schemas.openxmlformats.org/officeDocument/2006/relationships/notesSlide" Target="../notesSlides/notesSlide149.xml"/><Relationship Id="rId1" Type="http://schemas.openxmlformats.org/officeDocument/2006/relationships/slideLayout" Target="../slideLayouts/slideLayout12.xml"/><Relationship Id="rId4" Type="http://schemas.openxmlformats.org/officeDocument/2006/relationships/image" Target="../media/image148.png"/></Relationships>
</file>

<file path=ppt/slides/_rels/slide188.xml.rels><?xml version="1.0" encoding="UTF-8" standalone="yes"?>
<Relationships xmlns="http://schemas.openxmlformats.org/package/2006/relationships"><Relationship Id="rId3" Type="http://schemas.openxmlformats.org/officeDocument/2006/relationships/image" Target="../media/image149.png"/><Relationship Id="rId2" Type="http://schemas.openxmlformats.org/officeDocument/2006/relationships/notesSlide" Target="../notesSlides/notesSlide150.xml"/><Relationship Id="rId1" Type="http://schemas.openxmlformats.org/officeDocument/2006/relationships/slideLayout" Target="../slideLayouts/slideLayout13.xml"/></Relationships>
</file>

<file path=ppt/slides/_rels/slide189.xml.rels><?xml version="1.0" encoding="UTF-8" standalone="yes"?>
<Relationships xmlns="http://schemas.openxmlformats.org/package/2006/relationships"><Relationship Id="rId3" Type="http://schemas.openxmlformats.org/officeDocument/2006/relationships/image" Target="../media/image101.jpg"/><Relationship Id="rId2" Type="http://schemas.openxmlformats.org/officeDocument/2006/relationships/notesSlide" Target="../notesSlides/notesSlide151.xml"/><Relationship Id="rId1" Type="http://schemas.openxmlformats.org/officeDocument/2006/relationships/slideLayout" Target="../slideLayouts/slideLayout13.xml"/></Relationships>
</file>

<file path=ppt/slides/_rels/slide190.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52.xml"/><Relationship Id="rId1" Type="http://schemas.openxmlformats.org/officeDocument/2006/relationships/slideLayout" Target="../slideLayouts/slideLayout13.xml"/><Relationship Id="rId5" Type="http://schemas.openxmlformats.org/officeDocument/2006/relationships/image" Target="../media/image38.png"/><Relationship Id="rId4" Type="http://schemas.openxmlformats.org/officeDocument/2006/relationships/image" Target="../media/image37.png"/></Relationships>
</file>

<file path=ppt/slides/_rels/slide191.xml.rels><?xml version="1.0" encoding="UTF-8" standalone="yes"?>
<Relationships xmlns="http://schemas.openxmlformats.org/package/2006/relationships"><Relationship Id="rId3" Type="http://schemas.openxmlformats.org/officeDocument/2006/relationships/image" Target="../media/image150.png"/><Relationship Id="rId2" Type="http://schemas.openxmlformats.org/officeDocument/2006/relationships/notesSlide" Target="../notesSlides/notesSlide153.xml"/><Relationship Id="rId1" Type="http://schemas.openxmlformats.org/officeDocument/2006/relationships/slideLayout" Target="../slideLayouts/slideLayout13.xml"/><Relationship Id="rId4" Type="http://schemas.openxmlformats.org/officeDocument/2006/relationships/image" Target="../media/image151.png"/></Relationships>
</file>

<file path=ppt/slides/_rels/slide192.xml.rels><?xml version="1.0" encoding="UTF-8" standalone="yes"?>
<Relationships xmlns="http://schemas.openxmlformats.org/package/2006/relationships"><Relationship Id="rId8" Type="http://schemas.openxmlformats.org/officeDocument/2006/relationships/image" Target="../media/image151.png"/><Relationship Id="rId3" Type="http://schemas.openxmlformats.org/officeDocument/2006/relationships/image" Target="../media/image152.png"/><Relationship Id="rId7" Type="http://schemas.openxmlformats.org/officeDocument/2006/relationships/image" Target="../media/image156.png"/><Relationship Id="rId2" Type="http://schemas.openxmlformats.org/officeDocument/2006/relationships/notesSlide" Target="../notesSlides/notesSlide154.xml"/><Relationship Id="rId1" Type="http://schemas.openxmlformats.org/officeDocument/2006/relationships/slideLayout" Target="../slideLayouts/slideLayout13.xml"/><Relationship Id="rId6" Type="http://schemas.openxmlformats.org/officeDocument/2006/relationships/image" Target="../media/image155.png"/><Relationship Id="rId5" Type="http://schemas.openxmlformats.org/officeDocument/2006/relationships/image" Target="../media/image154.png"/><Relationship Id="rId4" Type="http://schemas.openxmlformats.org/officeDocument/2006/relationships/image" Target="../media/image153.png"/><Relationship Id="rId9" Type="http://schemas.openxmlformats.org/officeDocument/2006/relationships/image" Target="../media/image157.png"/></Relationships>
</file>

<file path=ppt/slides/_rels/slide193.xml.rels><?xml version="1.0" encoding="UTF-8" standalone="yes"?>
<Relationships xmlns="http://schemas.openxmlformats.org/package/2006/relationships"><Relationship Id="rId3" Type="http://schemas.openxmlformats.org/officeDocument/2006/relationships/image" Target="../media/image151.png"/><Relationship Id="rId2" Type="http://schemas.openxmlformats.org/officeDocument/2006/relationships/notesSlide" Target="../notesSlides/notesSlide155.xml"/><Relationship Id="rId1" Type="http://schemas.openxmlformats.org/officeDocument/2006/relationships/slideLayout" Target="../slideLayouts/slideLayout13.xml"/><Relationship Id="rId4" Type="http://schemas.openxmlformats.org/officeDocument/2006/relationships/image" Target="../media/image158.png"/></Relationships>
</file>

<file path=ppt/slides/_rels/slide194.xml.rels><?xml version="1.0" encoding="UTF-8" standalone="yes"?>
<Relationships xmlns="http://schemas.openxmlformats.org/package/2006/relationships"><Relationship Id="rId3" Type="http://schemas.openxmlformats.org/officeDocument/2006/relationships/image" Target="../media/image159.png"/><Relationship Id="rId2" Type="http://schemas.openxmlformats.org/officeDocument/2006/relationships/notesSlide" Target="../notesSlides/notesSlide156.xml"/><Relationship Id="rId1" Type="http://schemas.openxmlformats.org/officeDocument/2006/relationships/slideLayout" Target="../slideLayouts/slideLayout13.xml"/></Relationships>
</file>

<file path=ppt/slides/_rels/slide195.xml.rels><?xml version="1.0" encoding="UTF-8" standalone="yes"?>
<Relationships xmlns="http://schemas.openxmlformats.org/package/2006/relationships"><Relationship Id="rId3" Type="http://schemas.openxmlformats.org/officeDocument/2006/relationships/image" Target="../media/image151.png"/><Relationship Id="rId2" Type="http://schemas.openxmlformats.org/officeDocument/2006/relationships/notesSlide" Target="../notesSlides/notesSlide157.xml"/><Relationship Id="rId1" Type="http://schemas.openxmlformats.org/officeDocument/2006/relationships/slideLayout" Target="../slideLayouts/slideLayout13.xml"/><Relationship Id="rId4" Type="http://schemas.openxmlformats.org/officeDocument/2006/relationships/image" Target="../media/image158.png"/></Relationships>
</file>

<file path=ppt/slides/_rels/slide196.xml.rels><?xml version="1.0" encoding="UTF-8" standalone="yes"?>
<Relationships xmlns="http://schemas.openxmlformats.org/package/2006/relationships"><Relationship Id="rId3" Type="http://schemas.openxmlformats.org/officeDocument/2006/relationships/image" Target="../media/image151.png"/><Relationship Id="rId2" Type="http://schemas.openxmlformats.org/officeDocument/2006/relationships/notesSlide" Target="../notesSlides/notesSlide158.xml"/><Relationship Id="rId1" Type="http://schemas.openxmlformats.org/officeDocument/2006/relationships/slideLayout" Target="../slideLayouts/slideLayout13.xml"/><Relationship Id="rId5" Type="http://schemas.openxmlformats.org/officeDocument/2006/relationships/image" Target="../media/image160.png"/><Relationship Id="rId4" Type="http://schemas.openxmlformats.org/officeDocument/2006/relationships/image" Target="../media/image158.png"/></Relationships>
</file>

<file path=ppt/slides/_rels/slide197.xml.rels><?xml version="1.0" encoding="UTF-8" standalone="yes"?>
<Relationships xmlns="http://schemas.openxmlformats.org/package/2006/relationships"><Relationship Id="rId3" Type="http://schemas.openxmlformats.org/officeDocument/2006/relationships/image" Target="../media/image151.png"/><Relationship Id="rId2" Type="http://schemas.openxmlformats.org/officeDocument/2006/relationships/notesSlide" Target="../notesSlides/notesSlide159.xml"/><Relationship Id="rId1" Type="http://schemas.openxmlformats.org/officeDocument/2006/relationships/slideLayout" Target="../slideLayouts/slideLayout13.xml"/><Relationship Id="rId5" Type="http://schemas.openxmlformats.org/officeDocument/2006/relationships/image" Target="../media/image161.png"/><Relationship Id="rId4" Type="http://schemas.openxmlformats.org/officeDocument/2006/relationships/image" Target="../media/image158.png"/></Relationships>
</file>

<file path=ppt/slides/_rels/slide198.xml.rels><?xml version="1.0" encoding="UTF-8" standalone="yes"?>
<Relationships xmlns="http://schemas.openxmlformats.org/package/2006/relationships"><Relationship Id="rId2" Type="http://schemas.openxmlformats.org/officeDocument/2006/relationships/notesSlide" Target="../notesSlides/notesSlide160.xml"/><Relationship Id="rId1" Type="http://schemas.openxmlformats.org/officeDocument/2006/relationships/slideLayout" Target="../slideLayouts/slideLayout13.xml"/></Relationships>
</file>

<file path=ppt/slides/_rels/slide199.xml.rels><?xml version="1.0" encoding="UTF-8" standalone="yes"?>
<Relationships xmlns="http://schemas.openxmlformats.org/package/2006/relationships"><Relationship Id="rId2" Type="http://schemas.openxmlformats.org/officeDocument/2006/relationships/notesSlide" Target="../notesSlides/notesSlide161.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2"/>
        <p:cNvGrpSpPr/>
        <p:nvPr/>
      </p:nvGrpSpPr>
      <p:grpSpPr>
        <a:xfrm>
          <a:off x="0" y="0"/>
          <a:ext cx="0" cy="0"/>
          <a:chOff x="0" y="0"/>
          <a:chExt cx="0" cy="0"/>
        </a:xfrm>
      </p:grpSpPr>
      <p:sp>
        <p:nvSpPr>
          <p:cNvPr id="73" name="Google Shape;73;p17"/>
          <p:cNvSpPr txBox="1">
            <a:spLocks noGrp="1"/>
          </p:cNvSpPr>
          <p:nvPr>
            <p:ph type="ctrTitle"/>
          </p:nvPr>
        </p:nvSpPr>
        <p:spPr>
          <a:xfrm>
            <a:off x="311708" y="592175"/>
            <a:ext cx="8520600" cy="20526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r>
              <a:rPr lang="en-GB" sz="4000"/>
              <a:t>Natural Language Processing</a:t>
            </a:r>
            <a:endParaRPr sz="4000"/>
          </a:p>
        </p:txBody>
      </p:sp>
      <p:sp>
        <p:nvSpPr>
          <p:cNvPr id="74" name="Google Shape;74;p17"/>
          <p:cNvSpPr txBox="1">
            <a:spLocks noGrp="1"/>
          </p:cNvSpPr>
          <p:nvPr>
            <p:ph type="subTitle" idx="1"/>
          </p:nvPr>
        </p:nvSpPr>
        <p:spPr>
          <a:xfrm>
            <a:off x="311700" y="2681725"/>
            <a:ext cx="8520600" cy="7926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r>
              <a:rPr lang="en-GB"/>
              <a:t>Word Representations</a:t>
            </a:r>
            <a:endParaRPr/>
          </a:p>
        </p:txBody>
      </p:sp>
      <p:sp>
        <p:nvSpPr>
          <p:cNvPr id="75" name="Google Shape;75;p17"/>
          <p:cNvSpPr txBox="1">
            <a:spLocks noGrp="1"/>
          </p:cNvSpPr>
          <p:nvPr>
            <p:ph type="subTitle" idx="1"/>
          </p:nvPr>
        </p:nvSpPr>
        <p:spPr>
          <a:xfrm>
            <a:off x="311700" y="3358875"/>
            <a:ext cx="8520600" cy="6165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r>
              <a:rPr lang="en-GB" sz="2200"/>
              <a:t>Fall 2025/26</a:t>
            </a:r>
            <a:endParaRPr sz="2200"/>
          </a:p>
        </p:txBody>
      </p:sp>
      <p:pic>
        <p:nvPicPr>
          <p:cNvPr id="76" name="Google Shape;76;p17"/>
          <p:cNvPicPr preferRelativeResize="0"/>
          <p:nvPr/>
        </p:nvPicPr>
        <p:blipFill rotWithShape="1">
          <a:blip r:embed="rId3">
            <a:alphaModFix/>
          </a:blip>
          <a:srcRect/>
          <a:stretch/>
        </p:blipFill>
        <p:spPr>
          <a:xfrm>
            <a:off x="3060975" y="3975421"/>
            <a:ext cx="1093949" cy="1093975"/>
          </a:xfrm>
          <a:prstGeom prst="rect">
            <a:avLst/>
          </a:prstGeom>
          <a:noFill/>
          <a:ln>
            <a:noFill/>
          </a:ln>
        </p:spPr>
      </p:pic>
      <p:pic>
        <p:nvPicPr>
          <p:cNvPr id="77" name="Google Shape;77;p17"/>
          <p:cNvPicPr preferRelativeResize="0"/>
          <p:nvPr/>
        </p:nvPicPr>
        <p:blipFill>
          <a:blip r:embed="rId4">
            <a:alphaModFix/>
          </a:blip>
          <a:stretch>
            <a:fillRect/>
          </a:stretch>
        </p:blipFill>
        <p:spPr>
          <a:xfrm>
            <a:off x="4328525" y="4097046"/>
            <a:ext cx="1568150" cy="850725"/>
          </a:xfrm>
          <a:prstGeom prst="rect">
            <a:avLst/>
          </a:prstGeom>
          <a:noFill/>
          <a:ln>
            <a:noFill/>
          </a:ln>
        </p:spPr>
      </p:pic>
      <p:sp>
        <p:nvSpPr>
          <p:cNvPr id="78" name="Google Shape;78;p17"/>
          <p:cNvSpPr txBox="1"/>
          <p:nvPr/>
        </p:nvSpPr>
        <p:spPr>
          <a:xfrm>
            <a:off x="0" y="4374600"/>
            <a:ext cx="3626400" cy="7389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i="0" u="none" strike="noStrike" cap="none">
                <a:solidFill>
                  <a:srgbClr val="000000"/>
                </a:solidFill>
              </a:rPr>
              <a:t>Based on slides from Mor</a:t>
            </a:r>
            <a:r>
              <a:rPr lang="en-GB"/>
              <a:t> Geva, </a:t>
            </a:r>
            <a:r>
              <a:rPr lang="en-GB" i="0" u="none" strike="noStrike" cap="none">
                <a:solidFill>
                  <a:srgbClr val="000000"/>
                </a:solidFill>
              </a:rPr>
              <a:t>Maor Ivgi, Jonathan Berant, Richard Socher, Chris Manning, and Hugo Lachorelle</a:t>
            </a:r>
            <a:endParaRPr>
              <a:solidFill>
                <a:srgbClr val="00000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8"/>
          <p:cNvSpPr txBox="1">
            <a:spLocks noGrp="1"/>
          </p:cNvSpPr>
          <p:nvPr>
            <p:ph type="title"/>
          </p:nvPr>
        </p:nvSpPr>
        <p:spPr>
          <a:xfrm>
            <a:off x="471501" y="205375"/>
            <a:ext cx="6386400" cy="7458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chemeClr val="dk1"/>
              </a:buClr>
              <a:buSzPts val="3300"/>
              <a:buFont typeface="Century Gothic"/>
              <a:buNone/>
            </a:pPr>
            <a:r>
              <a:rPr lang="en-GB" dirty="0"/>
              <a:t>Announcements</a:t>
            </a:r>
            <a:endParaRPr dirty="0"/>
          </a:p>
        </p:txBody>
      </p:sp>
      <p:sp>
        <p:nvSpPr>
          <p:cNvPr id="85" name="Google Shape;85;p18"/>
          <p:cNvSpPr txBox="1">
            <a:spLocks noGrp="1"/>
          </p:cNvSpPr>
          <p:nvPr>
            <p:ph type="body" idx="1"/>
          </p:nvPr>
        </p:nvSpPr>
        <p:spPr>
          <a:xfrm>
            <a:off x="471500" y="1103125"/>
            <a:ext cx="8081400" cy="3646200"/>
          </a:xfrm>
          <a:prstGeom prst="rect">
            <a:avLst/>
          </a:prstGeom>
          <a:noFill/>
          <a:ln>
            <a:noFill/>
          </a:ln>
        </p:spPr>
        <p:txBody>
          <a:bodyPr spcFirstLastPara="1" wrap="square" lIns="68575" tIns="34275" rIns="68575" bIns="34275" anchor="t" anchorCtr="0">
            <a:normAutofit/>
          </a:bodyPr>
          <a:lstStyle/>
          <a:p>
            <a:pPr marL="457200" lvl="0" indent="-368300" algn="l" rtl="0">
              <a:lnSpc>
                <a:spcPct val="150000"/>
              </a:lnSpc>
              <a:spcBef>
                <a:spcPts val="0"/>
              </a:spcBef>
              <a:spcAft>
                <a:spcPts val="0"/>
              </a:spcAft>
              <a:buSzPts val="2200"/>
              <a:buChar char="●"/>
            </a:pPr>
            <a:r>
              <a:rPr lang="en-US" sz="2200" b="1" dirty="0"/>
              <a:t>Hi, I’m Tal Wagner</a:t>
            </a:r>
          </a:p>
          <a:p>
            <a:pPr lvl="1" indent="-368300">
              <a:lnSpc>
                <a:spcPct val="150000"/>
              </a:lnSpc>
              <a:spcBef>
                <a:spcPts val="0"/>
              </a:spcBef>
              <a:buSzPts val="2200"/>
              <a:buChar char="●"/>
            </a:pPr>
            <a:r>
              <a:rPr lang="en-US" sz="2200" dirty="0"/>
              <a:t>I teach this class on other semesters</a:t>
            </a:r>
          </a:p>
          <a:p>
            <a:pPr lvl="1" indent="-368300">
              <a:lnSpc>
                <a:spcPct val="150000"/>
              </a:lnSpc>
              <a:spcBef>
                <a:spcPts val="0"/>
              </a:spcBef>
              <a:buSzPts val="2200"/>
              <a:buChar char="●"/>
            </a:pPr>
            <a:r>
              <a:rPr lang="en-US" sz="2200" dirty="0"/>
              <a:t>I’m filling in for Mor this week</a:t>
            </a:r>
          </a:p>
          <a:p>
            <a:pPr marL="546100" lvl="1" indent="0">
              <a:lnSpc>
                <a:spcPct val="150000"/>
              </a:lnSpc>
              <a:spcBef>
                <a:spcPts val="0"/>
              </a:spcBef>
              <a:buSzPts val="2200"/>
              <a:buNone/>
            </a:pPr>
            <a:endParaRPr lang="en-US" sz="2200" dirty="0"/>
          </a:p>
          <a:p>
            <a:pPr indent="-368300">
              <a:spcBef>
                <a:spcPts val="0"/>
              </a:spcBef>
              <a:buSzPts val="2200"/>
            </a:pPr>
            <a:r>
              <a:rPr lang="en-US" sz="2200" dirty="0"/>
              <a:t>This is a one-time classroom</a:t>
            </a:r>
          </a:p>
          <a:p>
            <a:pPr indent="-368300">
              <a:spcBef>
                <a:spcPts val="0"/>
              </a:spcBef>
              <a:buSzPts val="2200"/>
            </a:pPr>
            <a:r>
              <a:rPr lang="en-US" sz="2200" dirty="0"/>
              <a:t>Starting next week you’ll be in </a:t>
            </a:r>
            <a:r>
              <a:rPr lang="en-US" sz="2200" dirty="0" err="1"/>
              <a:t>Holtzblat</a:t>
            </a:r>
            <a:r>
              <a:rPr lang="en-US" sz="2200" dirty="0"/>
              <a:t> Hall (</a:t>
            </a:r>
            <a:r>
              <a:rPr lang="he-IL" sz="2200" dirty="0"/>
              <a:t>אולם </a:t>
            </a:r>
            <a:r>
              <a:rPr lang="he-IL" sz="2200" dirty="0" err="1"/>
              <a:t>הולצבלט</a:t>
            </a:r>
            <a:r>
              <a:rPr lang="en-US" sz="2200" dirty="0"/>
              <a:t>)</a:t>
            </a:r>
            <a:endParaRPr lang="he-IL" sz="2200" dirty="0"/>
          </a:p>
          <a:p>
            <a:pPr lvl="1" indent="-368300">
              <a:spcBef>
                <a:spcPts val="0"/>
              </a:spcBef>
              <a:buSzPts val="2200"/>
            </a:pPr>
            <a:endParaRPr sz="2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494BBD-815D-0E3B-7AD5-1581B8030013}"/>
              </a:ext>
            </a:extLst>
          </p:cNvPr>
          <p:cNvSpPr>
            <a:spLocks noGrp="1"/>
          </p:cNvSpPr>
          <p:nvPr>
            <p:ph type="title"/>
          </p:nvPr>
        </p:nvSpPr>
        <p:spPr/>
        <p:txBody>
          <a:bodyPr/>
          <a:lstStyle/>
          <a:p>
            <a:r>
              <a:rPr lang="en-US" dirty="0"/>
              <a:t>Today’s Plan</a:t>
            </a:r>
          </a:p>
        </p:txBody>
      </p:sp>
      <p:sp>
        <p:nvSpPr>
          <p:cNvPr id="3" name="Text Placeholder 2">
            <a:extLst>
              <a:ext uri="{FF2B5EF4-FFF2-40B4-BE49-F238E27FC236}">
                <a16:creationId xmlns:a16="http://schemas.microsoft.com/office/drawing/2014/main" id="{4D5AA2DC-4210-00C1-C061-4077F699D906}"/>
              </a:ext>
            </a:extLst>
          </p:cNvPr>
          <p:cNvSpPr>
            <a:spLocks noGrp="1"/>
          </p:cNvSpPr>
          <p:nvPr>
            <p:ph type="body" idx="1"/>
          </p:nvPr>
        </p:nvSpPr>
        <p:spPr>
          <a:xfrm>
            <a:off x="628650" y="1069960"/>
            <a:ext cx="7886700" cy="3799695"/>
          </a:xfrm>
        </p:spPr>
        <p:txBody>
          <a:bodyPr>
            <a:normAutofit/>
          </a:bodyPr>
          <a:lstStyle/>
          <a:p>
            <a:r>
              <a:rPr lang="en-US" b="1" dirty="0"/>
              <a:t>Word representations:</a:t>
            </a:r>
          </a:p>
          <a:p>
            <a:pPr lvl="1"/>
            <a:r>
              <a:rPr lang="en-US" dirty="0"/>
              <a:t>Recap: </a:t>
            </a:r>
            <a:r>
              <a:rPr lang="en-US" dirty="0" err="1"/>
              <a:t>Skipgram</a:t>
            </a:r>
            <a:r>
              <a:rPr lang="en-US" dirty="0"/>
              <a:t> </a:t>
            </a:r>
          </a:p>
          <a:p>
            <a:pPr lvl="1"/>
            <a:r>
              <a:rPr lang="en-US" dirty="0" err="1"/>
              <a:t>Skipgram</a:t>
            </a:r>
            <a:r>
              <a:rPr lang="en-US" dirty="0"/>
              <a:t> with negative sampling</a:t>
            </a:r>
          </a:p>
          <a:p>
            <a:pPr lvl="1"/>
            <a:r>
              <a:rPr lang="en-US" dirty="0"/>
              <a:t>Relation to matrix factorization</a:t>
            </a:r>
          </a:p>
          <a:p>
            <a:pPr lvl="1"/>
            <a:r>
              <a:rPr lang="en-US" dirty="0"/>
              <a:t>Evaluating word representations</a:t>
            </a:r>
          </a:p>
          <a:p>
            <a:r>
              <a:rPr lang="en-US" b="1" dirty="0"/>
              <a:t>Language modeling:</a:t>
            </a:r>
          </a:p>
          <a:p>
            <a:pPr lvl="1"/>
            <a:r>
              <a:rPr lang="en-US" dirty="0"/>
              <a:t>We will start if we have time</a:t>
            </a:r>
          </a:p>
        </p:txBody>
      </p:sp>
    </p:spTree>
    <p:extLst>
      <p:ext uri="{BB962C8B-B14F-4D97-AF65-F5344CB8AC3E}">
        <p14:creationId xmlns:p14="http://schemas.microsoft.com/office/powerpoint/2010/main" val="30480163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p19"/>
          <p:cNvSpPr txBox="1">
            <a:spLocks noGrp="1"/>
          </p:cNvSpPr>
          <p:nvPr>
            <p:ph type="title"/>
          </p:nvPr>
        </p:nvSpPr>
        <p:spPr>
          <a:xfrm>
            <a:off x="471501" y="205375"/>
            <a:ext cx="6386400" cy="7458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chemeClr val="dk1"/>
              </a:buClr>
              <a:buSzPts val="3300"/>
              <a:buFont typeface="Century Gothic"/>
              <a:buNone/>
            </a:pPr>
            <a:r>
              <a:rPr lang="en-GB" dirty="0"/>
              <a:t>Word Vectors: Recap</a:t>
            </a:r>
            <a:endParaRPr dirty="0"/>
          </a:p>
        </p:txBody>
      </p:sp>
      <p:sp>
        <p:nvSpPr>
          <p:cNvPr id="93" name="Google Shape;93;p19"/>
          <p:cNvSpPr txBox="1">
            <a:spLocks noGrp="1"/>
          </p:cNvSpPr>
          <p:nvPr>
            <p:ph type="body" idx="1"/>
          </p:nvPr>
        </p:nvSpPr>
        <p:spPr>
          <a:xfrm>
            <a:off x="471500" y="1103125"/>
            <a:ext cx="8081400" cy="3646200"/>
          </a:xfrm>
          <a:prstGeom prst="rect">
            <a:avLst/>
          </a:prstGeom>
          <a:noFill/>
          <a:ln>
            <a:noFill/>
          </a:ln>
        </p:spPr>
        <p:txBody>
          <a:bodyPr spcFirstLastPara="1" wrap="square" lIns="68575" tIns="34275" rIns="68575" bIns="34275" anchor="t" anchorCtr="0">
            <a:normAutofit/>
          </a:bodyPr>
          <a:lstStyle/>
          <a:p>
            <a:pPr marL="457200" lvl="0" indent="-368300" algn="l" rtl="0">
              <a:lnSpc>
                <a:spcPct val="150000"/>
              </a:lnSpc>
              <a:spcBef>
                <a:spcPts val="0"/>
              </a:spcBef>
              <a:spcAft>
                <a:spcPts val="0"/>
              </a:spcAft>
              <a:buSzPts val="2200"/>
              <a:buChar char="●"/>
            </a:pPr>
            <a:r>
              <a:rPr lang="en-GB" sz="2200" b="1" dirty="0"/>
              <a:t>Goal</a:t>
            </a:r>
            <a:r>
              <a:rPr lang="en-GB" sz="2200" dirty="0"/>
              <a:t>: Represent words as vectors </a:t>
            </a:r>
            <a:r>
              <a:rPr lang="en-GB" sz="2200" dirty="0" err="1"/>
              <a:t>s.t.</a:t>
            </a:r>
            <a:r>
              <a:rPr lang="en-GB" sz="2200" dirty="0"/>
              <a:t> inner product captures semantic similarity</a:t>
            </a:r>
            <a:endParaRPr sz="2200" dirty="0"/>
          </a:p>
          <a:p>
            <a:pPr marL="457200" lvl="0" indent="-368300" algn="l" rtl="0">
              <a:spcBef>
                <a:spcPts val="0"/>
              </a:spcBef>
              <a:spcAft>
                <a:spcPts val="0"/>
              </a:spcAft>
              <a:buSzPts val="2200"/>
              <a:buChar char="●"/>
            </a:pPr>
            <a:r>
              <a:rPr lang="en-GB" sz="2200" dirty="0"/>
              <a:t>We saw three methods:</a:t>
            </a:r>
            <a:endParaRPr sz="2200" dirty="0"/>
          </a:p>
          <a:p>
            <a:pPr marL="914400" lvl="1" indent="-368300" algn="l" rtl="0">
              <a:spcBef>
                <a:spcPts val="0"/>
              </a:spcBef>
              <a:spcAft>
                <a:spcPts val="0"/>
              </a:spcAft>
              <a:buSzPts val="2200"/>
              <a:buChar char="○"/>
            </a:pPr>
            <a:r>
              <a:rPr lang="en-GB" sz="2200" dirty="0"/>
              <a:t>One-hot vectors</a:t>
            </a:r>
            <a:endParaRPr sz="2200" dirty="0"/>
          </a:p>
          <a:p>
            <a:pPr marL="914400" lvl="1" indent="-368300" algn="l" rtl="0">
              <a:spcBef>
                <a:spcPts val="0"/>
              </a:spcBef>
              <a:spcAft>
                <a:spcPts val="0"/>
              </a:spcAft>
              <a:buSzPts val="2200"/>
              <a:buChar char="○"/>
            </a:pPr>
            <a:r>
              <a:rPr lang="en-GB" sz="2200" dirty="0"/>
              <a:t>Rows of co-occurrence matrix</a:t>
            </a:r>
            <a:endParaRPr sz="2200" dirty="0"/>
          </a:p>
          <a:p>
            <a:pPr marL="914400" lvl="1" indent="-368300" algn="l" rtl="0">
              <a:spcBef>
                <a:spcPts val="0"/>
              </a:spcBef>
              <a:spcAft>
                <a:spcPts val="0"/>
              </a:spcAft>
              <a:buSzPts val="2200"/>
              <a:buChar char="○"/>
            </a:pPr>
            <a:r>
              <a:rPr lang="en-GB" sz="2200" dirty="0"/>
              <a:t>Word2vec – </a:t>
            </a:r>
            <a:r>
              <a:rPr lang="en-GB" sz="2200" dirty="0" err="1"/>
              <a:t>skipgram</a:t>
            </a:r>
            <a:endParaRPr sz="2200" dirty="0"/>
          </a:p>
        </p:txBody>
      </p:sp>
      <p:pic>
        <p:nvPicPr>
          <p:cNvPr id="94" name="Google Shape;94;p19" title="Screenshot 2025-10-20 at 6.54.00 AM.png"/>
          <p:cNvPicPr preferRelativeResize="0"/>
          <p:nvPr/>
        </p:nvPicPr>
        <p:blipFill>
          <a:blip r:embed="rId3">
            <a:alphaModFix/>
          </a:blip>
          <a:stretch>
            <a:fillRect/>
          </a:stretch>
        </p:blipFill>
        <p:spPr>
          <a:xfrm>
            <a:off x="4616438" y="1654265"/>
            <a:ext cx="3380375" cy="662375"/>
          </a:xfrm>
          <a:prstGeom prst="rect">
            <a:avLst/>
          </a:prstGeom>
          <a:noFill/>
          <a:ln w="9525" cap="flat" cmpd="sng">
            <a:solidFill>
              <a:schemeClr val="accent1"/>
            </a:solidFill>
            <a:prstDash val="solid"/>
            <a:round/>
            <a:headEnd type="none" w="sm" len="sm"/>
            <a:tailEnd type="none" w="sm" len="sm"/>
          </a:ln>
        </p:spPr>
      </p:pic>
      <p:pic>
        <p:nvPicPr>
          <p:cNvPr id="95" name="Google Shape;95;p19" title="ChatGPT Image Oct 19, 2025, 05_01_57 PM.png"/>
          <p:cNvPicPr preferRelativeResize="0"/>
          <p:nvPr/>
        </p:nvPicPr>
        <p:blipFill>
          <a:blip r:embed="rId4">
            <a:alphaModFix/>
          </a:blip>
          <a:stretch>
            <a:fillRect/>
          </a:stretch>
        </p:blipFill>
        <p:spPr>
          <a:xfrm>
            <a:off x="1827800" y="3660998"/>
            <a:ext cx="1995709" cy="1330473"/>
          </a:xfrm>
          <a:prstGeom prst="rect">
            <a:avLst/>
          </a:prstGeom>
          <a:noFill/>
          <a:ln>
            <a:noFill/>
          </a:ln>
        </p:spPr>
      </p:pic>
      <p:grpSp>
        <p:nvGrpSpPr>
          <p:cNvPr id="96" name="Google Shape;96;p19"/>
          <p:cNvGrpSpPr/>
          <p:nvPr/>
        </p:nvGrpSpPr>
        <p:grpSpPr>
          <a:xfrm>
            <a:off x="3912775" y="3981988"/>
            <a:ext cx="3283836" cy="629594"/>
            <a:chOff x="2560204" y="3377188"/>
            <a:chExt cx="6772193" cy="1298400"/>
          </a:xfrm>
        </p:grpSpPr>
        <p:sp>
          <p:nvSpPr>
            <p:cNvPr id="97" name="Google Shape;97;p19"/>
            <p:cNvSpPr txBox="1"/>
            <p:nvPr/>
          </p:nvSpPr>
          <p:spPr>
            <a:xfrm>
              <a:off x="2560204" y="3377188"/>
              <a:ext cx="2056800" cy="1292700"/>
            </a:xfrm>
            <a:prstGeom prst="rect">
              <a:avLst/>
            </a:prstGeom>
            <a:blipFill rotWithShape="1">
              <a:blip r:embed="rId5">
                <a:alphaModFix/>
              </a:blip>
              <a:stretch>
                <a:fillRect l="-3089" b="-1939"/>
              </a:stretch>
            </a:blipFill>
            <a:ln>
              <a:noFill/>
            </a:ln>
          </p:spPr>
          <p:txBody>
            <a:bodyPr spcFirstLastPara="1" wrap="square" lIns="44350" tIns="22150" rIns="44350" bIns="22150" anchor="t" anchorCtr="0">
              <a:noAutofit/>
            </a:bodyPr>
            <a:lstStyle/>
            <a:p>
              <a:pPr marL="0" marR="0" lvl="0" indent="0" algn="l" rtl="0">
                <a:spcBef>
                  <a:spcPts val="0"/>
                </a:spcBef>
                <a:spcAft>
                  <a:spcPts val="0"/>
                </a:spcAft>
                <a:buNone/>
              </a:pPr>
              <a:r>
                <a:rPr lang="en-GB" sz="905">
                  <a:latin typeface="Century Gothic"/>
                  <a:ea typeface="Century Gothic"/>
                  <a:cs typeface="Century Gothic"/>
                  <a:sym typeface="Century Gothic"/>
                </a:rPr>
                <a:t> </a:t>
              </a:r>
              <a:endParaRPr sz="711"/>
            </a:p>
          </p:txBody>
        </p:sp>
        <p:sp>
          <p:nvSpPr>
            <p:cNvPr id="98" name="Google Shape;98;p19"/>
            <p:cNvSpPr txBox="1"/>
            <p:nvPr/>
          </p:nvSpPr>
          <p:spPr>
            <a:xfrm>
              <a:off x="4974898" y="3377188"/>
              <a:ext cx="2149500" cy="1298400"/>
            </a:xfrm>
            <a:prstGeom prst="rect">
              <a:avLst/>
            </a:prstGeom>
            <a:blipFill rotWithShape="1">
              <a:blip r:embed="rId6">
                <a:alphaModFix/>
              </a:blip>
              <a:stretch>
                <a:fillRect l="-2939" b="-959"/>
              </a:stretch>
            </a:blipFill>
            <a:ln>
              <a:noFill/>
            </a:ln>
          </p:spPr>
          <p:txBody>
            <a:bodyPr spcFirstLastPara="1" wrap="square" lIns="44350" tIns="22150" rIns="44350" bIns="22150" anchor="t" anchorCtr="0">
              <a:noAutofit/>
            </a:bodyPr>
            <a:lstStyle/>
            <a:p>
              <a:pPr marL="0" marR="0" lvl="0" indent="0" algn="l" rtl="0">
                <a:spcBef>
                  <a:spcPts val="0"/>
                </a:spcBef>
                <a:spcAft>
                  <a:spcPts val="0"/>
                </a:spcAft>
                <a:buNone/>
              </a:pPr>
              <a:r>
                <a:rPr lang="en-GB" sz="905">
                  <a:latin typeface="Century Gothic"/>
                  <a:ea typeface="Century Gothic"/>
                  <a:cs typeface="Century Gothic"/>
                  <a:sym typeface="Century Gothic"/>
                </a:rPr>
                <a:t> </a:t>
              </a:r>
              <a:endParaRPr sz="711"/>
            </a:p>
          </p:txBody>
        </p:sp>
        <p:sp>
          <p:nvSpPr>
            <p:cNvPr id="99" name="Google Shape;99;p19"/>
            <p:cNvSpPr txBox="1"/>
            <p:nvPr/>
          </p:nvSpPr>
          <p:spPr>
            <a:xfrm>
              <a:off x="7496997" y="3377188"/>
              <a:ext cx="1835400" cy="1298400"/>
            </a:xfrm>
            <a:prstGeom prst="rect">
              <a:avLst/>
            </a:prstGeom>
            <a:blipFill rotWithShape="1">
              <a:blip r:embed="rId7">
                <a:alphaModFix/>
              </a:blip>
              <a:stretch>
                <a:fillRect l="-2759" b="-959"/>
              </a:stretch>
            </a:blipFill>
            <a:ln>
              <a:noFill/>
            </a:ln>
          </p:spPr>
          <p:txBody>
            <a:bodyPr spcFirstLastPara="1" wrap="square" lIns="44350" tIns="22150" rIns="44350" bIns="22150" anchor="t" anchorCtr="0">
              <a:noAutofit/>
            </a:bodyPr>
            <a:lstStyle/>
            <a:p>
              <a:pPr marL="0" marR="0" lvl="0" indent="0" algn="l" rtl="0">
                <a:spcBef>
                  <a:spcPts val="0"/>
                </a:spcBef>
                <a:spcAft>
                  <a:spcPts val="0"/>
                </a:spcAft>
                <a:buNone/>
              </a:pPr>
              <a:r>
                <a:rPr lang="en-GB" sz="905">
                  <a:latin typeface="Century Gothic"/>
                  <a:ea typeface="Century Gothic"/>
                  <a:cs typeface="Century Gothic"/>
                  <a:sym typeface="Century Gothic"/>
                </a:rPr>
                <a:t> </a:t>
              </a:r>
              <a:endParaRPr sz="711"/>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20"/>
          <p:cNvSpPr txBox="1">
            <a:spLocks noGrp="1"/>
          </p:cNvSpPr>
          <p:nvPr>
            <p:ph type="title"/>
          </p:nvPr>
        </p:nvSpPr>
        <p:spPr>
          <a:xfrm>
            <a:off x="471502" y="205375"/>
            <a:ext cx="6945600" cy="7458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chemeClr val="dk1"/>
              </a:buClr>
              <a:buSzPts val="3300"/>
              <a:buFont typeface="Century Gothic"/>
              <a:buNone/>
            </a:pPr>
            <a:r>
              <a:rPr lang="en-GB"/>
              <a:t>Word representation – </a:t>
            </a:r>
            <a:r>
              <a:rPr lang="en-GB">
                <a:solidFill>
                  <a:srgbClr val="00B0F0"/>
                </a:solidFill>
              </a:rPr>
              <a:t>discrete</a:t>
            </a:r>
            <a:r>
              <a:rPr lang="en-GB"/>
              <a:t> vectors</a:t>
            </a:r>
            <a:endParaRPr/>
          </a:p>
        </p:txBody>
      </p:sp>
      <p:sp>
        <p:nvSpPr>
          <p:cNvPr id="105" name="Google Shape;105;p20"/>
          <p:cNvSpPr txBox="1">
            <a:spLocks noGrp="1"/>
          </p:cNvSpPr>
          <p:nvPr>
            <p:ph type="body" idx="1"/>
          </p:nvPr>
        </p:nvSpPr>
        <p:spPr>
          <a:xfrm>
            <a:off x="471500" y="1026925"/>
            <a:ext cx="5780100" cy="996900"/>
          </a:xfrm>
          <a:prstGeom prst="rect">
            <a:avLst/>
          </a:prstGeom>
          <a:noFill/>
          <a:ln>
            <a:noFill/>
          </a:ln>
        </p:spPr>
        <p:txBody>
          <a:bodyPr spcFirstLastPara="1" wrap="square" lIns="68575" tIns="34275" rIns="68575" bIns="34275" anchor="t" anchorCtr="0">
            <a:noAutofit/>
          </a:bodyPr>
          <a:lstStyle/>
          <a:p>
            <a:pPr marL="457200" lvl="0" indent="-342900" algn="l" rtl="0">
              <a:lnSpc>
                <a:spcPct val="150000"/>
              </a:lnSpc>
              <a:spcBef>
                <a:spcPts val="0"/>
              </a:spcBef>
              <a:spcAft>
                <a:spcPts val="0"/>
              </a:spcAft>
              <a:buClr>
                <a:schemeClr val="dk1"/>
              </a:buClr>
              <a:buSzPts val="1800"/>
              <a:buChar char="●"/>
            </a:pPr>
            <a:r>
              <a:rPr lang="en-GB" dirty="0">
                <a:solidFill>
                  <a:schemeClr val="dk1"/>
                </a:solidFill>
              </a:rPr>
              <a:t>Define a vocabulary     – ordered set of words, </a:t>
            </a:r>
            <a:endParaRPr dirty="0">
              <a:solidFill>
                <a:schemeClr val="dk1"/>
              </a:solidFill>
            </a:endParaRPr>
          </a:p>
          <a:p>
            <a:pPr marL="457200" lvl="0" indent="-342900" algn="l" rtl="0">
              <a:lnSpc>
                <a:spcPct val="150000"/>
              </a:lnSpc>
              <a:spcBef>
                <a:spcPts val="0"/>
              </a:spcBef>
              <a:spcAft>
                <a:spcPts val="0"/>
              </a:spcAft>
              <a:buClr>
                <a:schemeClr val="dk1"/>
              </a:buClr>
              <a:buSzPts val="1800"/>
              <a:buChar char="●"/>
            </a:pPr>
            <a:r>
              <a:rPr lang="en-GB" dirty="0">
                <a:solidFill>
                  <a:schemeClr val="dk1"/>
                </a:solidFill>
              </a:rPr>
              <a:t>A word will be represented by </a:t>
            </a:r>
            <a:endParaRPr dirty="0"/>
          </a:p>
        </p:txBody>
      </p:sp>
      <p:sp>
        <p:nvSpPr>
          <p:cNvPr id="106" name="Google Shape;106;p20"/>
          <p:cNvSpPr txBox="1"/>
          <p:nvPr/>
        </p:nvSpPr>
        <p:spPr>
          <a:xfrm>
            <a:off x="5593035" y="1462732"/>
            <a:ext cx="2403300" cy="3462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GB" sz="1800">
                <a:solidFill>
                  <a:srgbClr val="00B0F0"/>
                </a:solidFill>
              </a:rPr>
              <a:t>One-hot encoding</a:t>
            </a:r>
            <a:endParaRPr sz="1800">
              <a:solidFill>
                <a:srgbClr val="00B0F0"/>
              </a:solidFill>
            </a:endParaRPr>
          </a:p>
        </p:txBody>
      </p:sp>
      <p:pic>
        <p:nvPicPr>
          <p:cNvPr id="107" name="Google Shape;107;p20" descr="\mathcal{V}" title="MathEquation,#000000"/>
          <p:cNvPicPr preferRelativeResize="0"/>
          <p:nvPr/>
        </p:nvPicPr>
        <p:blipFill>
          <a:blip r:embed="rId3">
            <a:alphaModFix/>
          </a:blip>
          <a:stretch>
            <a:fillRect/>
          </a:stretch>
        </p:blipFill>
        <p:spPr>
          <a:xfrm>
            <a:off x="3081440" y="1165275"/>
            <a:ext cx="178462" cy="244730"/>
          </a:xfrm>
          <a:prstGeom prst="rect">
            <a:avLst/>
          </a:prstGeom>
          <a:noFill/>
          <a:ln>
            <a:noFill/>
          </a:ln>
        </p:spPr>
      </p:pic>
      <p:pic>
        <p:nvPicPr>
          <p:cNvPr id="108" name="Google Shape;108;p20" descr="|\mathcal{V}|=C" title="MathEquation,#000000"/>
          <p:cNvPicPr preferRelativeResize="0"/>
          <p:nvPr/>
        </p:nvPicPr>
        <p:blipFill>
          <a:blip r:embed="rId4">
            <a:alphaModFix/>
          </a:blip>
          <a:stretch>
            <a:fillRect/>
          </a:stretch>
        </p:blipFill>
        <p:spPr>
          <a:xfrm>
            <a:off x="5796213" y="1148669"/>
            <a:ext cx="770812" cy="280400"/>
          </a:xfrm>
          <a:prstGeom prst="rect">
            <a:avLst/>
          </a:prstGeom>
          <a:noFill/>
          <a:ln>
            <a:noFill/>
          </a:ln>
        </p:spPr>
      </p:pic>
      <p:pic>
        <p:nvPicPr>
          <p:cNvPr id="109" name="Google Shape;109;p20" descr="e_i \in \{0,1\}^C" title="MathEquation,#000000"/>
          <p:cNvPicPr preferRelativeResize="0"/>
          <p:nvPr/>
        </p:nvPicPr>
        <p:blipFill>
          <a:blip r:embed="rId5">
            <a:alphaModFix/>
          </a:blip>
          <a:stretch>
            <a:fillRect/>
          </a:stretch>
        </p:blipFill>
        <p:spPr>
          <a:xfrm>
            <a:off x="4127710" y="1506331"/>
            <a:ext cx="1337976" cy="346200"/>
          </a:xfrm>
          <a:prstGeom prst="rect">
            <a:avLst/>
          </a:prstGeom>
          <a:noFill/>
          <a:ln>
            <a:noFill/>
          </a:ln>
        </p:spPr>
      </p:pic>
      <p:sp>
        <p:nvSpPr>
          <p:cNvPr id="110" name="Google Shape;110;p20"/>
          <p:cNvSpPr txBox="1"/>
          <p:nvPr/>
        </p:nvSpPr>
        <p:spPr>
          <a:xfrm>
            <a:off x="5667081" y="2082427"/>
            <a:ext cx="3235500" cy="1454100"/>
          </a:xfrm>
          <a:prstGeom prst="rect">
            <a:avLst/>
          </a:prstGeom>
          <a:blipFill rotWithShape="1">
            <a:blip r:embed="rId6">
              <a:alphaModFix/>
            </a:blip>
            <a:stretch>
              <a:fillRect l="-1739" t="-1279" b="-5769"/>
            </a:stretch>
          </a:blipFill>
          <a:ln w="19050" cap="flat" cmpd="sng">
            <a:solidFill>
              <a:srgbClr val="00B0F0"/>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r>
              <a:rPr lang="en-GB" sz="1400">
                <a:latin typeface="Century Gothic"/>
                <a:ea typeface="Century Gothic"/>
                <a:cs typeface="Century Gothic"/>
                <a:sym typeface="Century Gothic"/>
              </a:rPr>
              <a:t> </a:t>
            </a:r>
            <a:endParaRPr sz="1100"/>
          </a:p>
        </p:txBody>
      </p:sp>
      <p:sp>
        <p:nvSpPr>
          <p:cNvPr id="111" name="Google Shape;111;p20"/>
          <p:cNvSpPr txBox="1">
            <a:spLocks noGrp="1"/>
          </p:cNvSpPr>
          <p:nvPr>
            <p:ph type="body" idx="1"/>
          </p:nvPr>
        </p:nvSpPr>
        <p:spPr>
          <a:xfrm>
            <a:off x="471500" y="2733200"/>
            <a:ext cx="5780100" cy="2088900"/>
          </a:xfrm>
          <a:prstGeom prst="rect">
            <a:avLst/>
          </a:prstGeom>
          <a:noFill/>
          <a:ln>
            <a:noFill/>
          </a:ln>
        </p:spPr>
        <p:txBody>
          <a:bodyPr spcFirstLastPara="1" wrap="square" lIns="68575" tIns="34275" rIns="68575" bIns="34275" anchor="t" anchorCtr="0">
            <a:noAutofit/>
          </a:bodyPr>
          <a:lstStyle/>
          <a:p>
            <a:pPr marL="457200" lvl="0" indent="-342900" algn="l" rtl="0">
              <a:lnSpc>
                <a:spcPct val="150000"/>
              </a:lnSpc>
              <a:spcBef>
                <a:spcPts val="0"/>
              </a:spcBef>
              <a:spcAft>
                <a:spcPts val="0"/>
              </a:spcAft>
              <a:buSzPts val="1800"/>
              <a:buChar char="●"/>
            </a:pPr>
            <a:r>
              <a:rPr lang="en-GB">
                <a:solidFill>
                  <a:schemeClr val="dk1"/>
                </a:solidFill>
              </a:rPr>
              <a:t>What is the size of such vocabulary?</a:t>
            </a:r>
            <a:endParaRPr>
              <a:solidFill>
                <a:schemeClr val="dk1"/>
              </a:solidFill>
            </a:endParaRPr>
          </a:p>
          <a:p>
            <a:pPr marL="457200" lvl="0" indent="-342900" algn="l" rtl="0">
              <a:lnSpc>
                <a:spcPct val="150000"/>
              </a:lnSpc>
              <a:spcBef>
                <a:spcPts val="0"/>
              </a:spcBef>
              <a:spcAft>
                <a:spcPts val="0"/>
              </a:spcAft>
              <a:buClr>
                <a:schemeClr val="dk1"/>
              </a:buClr>
              <a:buSzPts val="1800"/>
              <a:buChar char="●"/>
            </a:pPr>
            <a:r>
              <a:rPr lang="en-GB">
                <a:solidFill>
                  <a:schemeClr val="dk1"/>
                </a:solidFill>
              </a:rPr>
              <a:t>How would we represent a sentence?</a:t>
            </a:r>
            <a:endParaRPr>
              <a:solidFill>
                <a:schemeClr val="dk1"/>
              </a:solidFill>
            </a:endParaRPr>
          </a:p>
          <a:p>
            <a:pPr marL="914400" lvl="1" indent="-342900" algn="l" rtl="0">
              <a:lnSpc>
                <a:spcPct val="150000"/>
              </a:lnSpc>
              <a:spcBef>
                <a:spcPts val="0"/>
              </a:spcBef>
              <a:spcAft>
                <a:spcPts val="0"/>
              </a:spcAft>
              <a:buClr>
                <a:schemeClr val="dk1"/>
              </a:buClr>
              <a:buSzPts val="1800"/>
              <a:buChar char="○"/>
            </a:pPr>
            <a:endParaRPr>
              <a:solidFill>
                <a:schemeClr val="dk1"/>
              </a:solidFill>
            </a:endParaRPr>
          </a:p>
          <a:p>
            <a:pPr marL="914400" lvl="1" indent="-342900" algn="l" rtl="0">
              <a:lnSpc>
                <a:spcPct val="150000"/>
              </a:lnSpc>
              <a:spcBef>
                <a:spcPts val="0"/>
              </a:spcBef>
              <a:spcAft>
                <a:spcPts val="0"/>
              </a:spcAft>
              <a:buClr>
                <a:schemeClr val="dk1"/>
              </a:buClr>
              <a:buSzPts val="1800"/>
              <a:buChar char="○"/>
            </a:pPr>
            <a:r>
              <a:rPr lang="en-GB">
                <a:solidFill>
                  <a:schemeClr val="dk1"/>
                </a:solidFill>
              </a:rPr>
              <a:t>What would happen to the order? repetitions?</a:t>
            </a:r>
            <a:endParaRPr>
              <a:solidFill>
                <a:schemeClr val="dk1"/>
              </a:solidFill>
            </a:endParaRPr>
          </a:p>
        </p:txBody>
      </p:sp>
      <p:sp>
        <p:nvSpPr>
          <p:cNvPr id="112" name="Google Shape;112;p20"/>
          <p:cNvSpPr txBox="1"/>
          <p:nvPr/>
        </p:nvSpPr>
        <p:spPr>
          <a:xfrm>
            <a:off x="1400342" y="3604548"/>
            <a:ext cx="4266600" cy="3462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GB" sz="1800">
                <a:solidFill>
                  <a:srgbClr val="00B0F0"/>
                </a:solidFill>
              </a:rPr>
              <a:t>Bag of words: </a:t>
            </a:r>
            <a:r>
              <a:rPr lang="en-GB" sz="1800">
                <a:solidFill>
                  <a:schemeClr val="dk1"/>
                </a:solidFill>
              </a:rPr>
              <a:t>“Hello World” → [1,1,0]</a:t>
            </a:r>
            <a:endParaRPr sz="1800">
              <a:solidFill>
                <a:schemeClr val="dk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6">
          <a:extLst>
            <a:ext uri="{FF2B5EF4-FFF2-40B4-BE49-F238E27FC236}">
              <a16:creationId xmlns:a16="http://schemas.microsoft.com/office/drawing/2014/main" id="{F49E4A69-5D23-F158-ABF5-524D2BC5AED0}"/>
            </a:ext>
          </a:extLst>
        </p:cNvPr>
        <p:cNvGrpSpPr/>
        <p:nvPr/>
      </p:nvGrpSpPr>
      <p:grpSpPr>
        <a:xfrm>
          <a:off x="0" y="0"/>
          <a:ext cx="0" cy="0"/>
          <a:chOff x="0" y="0"/>
          <a:chExt cx="0" cy="0"/>
        </a:xfrm>
      </p:grpSpPr>
      <p:sp>
        <p:nvSpPr>
          <p:cNvPr id="117" name="Google Shape;117;p21">
            <a:extLst>
              <a:ext uri="{FF2B5EF4-FFF2-40B4-BE49-F238E27FC236}">
                <a16:creationId xmlns:a16="http://schemas.microsoft.com/office/drawing/2014/main" id="{2943330E-A90D-35BA-BAC6-2D763665B6D3}"/>
              </a:ext>
            </a:extLst>
          </p:cNvPr>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p>
            <a:pPr marL="0" lvl="0" indent="0" algn="l" rtl="0">
              <a:lnSpc>
                <a:spcPct val="90000"/>
              </a:lnSpc>
              <a:spcBef>
                <a:spcPts val="0"/>
              </a:spcBef>
              <a:spcAft>
                <a:spcPts val="0"/>
              </a:spcAft>
              <a:buNone/>
            </a:pPr>
            <a:r>
              <a:rPr lang="en-GB"/>
              <a:t>One-Hot Word Vectors: Pros &amp; Cons</a:t>
            </a:r>
            <a:endParaRPr/>
          </a:p>
          <a:p>
            <a:pPr marL="0" lvl="0" indent="0" algn="l" rtl="0">
              <a:spcBef>
                <a:spcPts val="0"/>
              </a:spcBef>
              <a:spcAft>
                <a:spcPts val="0"/>
              </a:spcAft>
              <a:buNone/>
            </a:pPr>
            <a:endParaRPr/>
          </a:p>
        </p:txBody>
      </p:sp>
      <p:sp>
        <p:nvSpPr>
          <p:cNvPr id="122" name="Google Shape;122;p21">
            <a:extLst>
              <a:ext uri="{FF2B5EF4-FFF2-40B4-BE49-F238E27FC236}">
                <a16:creationId xmlns:a16="http://schemas.microsoft.com/office/drawing/2014/main" id="{855D738B-2BB2-D109-BC6F-65D10128F9DD}"/>
              </a:ext>
            </a:extLst>
          </p:cNvPr>
          <p:cNvSpPr txBox="1">
            <a:spLocks noGrp="1"/>
          </p:cNvSpPr>
          <p:nvPr>
            <p:ph type="body" idx="1"/>
          </p:nvPr>
        </p:nvSpPr>
        <p:spPr>
          <a:xfrm>
            <a:off x="312550" y="1154622"/>
            <a:ext cx="8520600" cy="1713600"/>
          </a:xfrm>
          <a:prstGeom prst="rect">
            <a:avLst/>
          </a:prstGeom>
        </p:spPr>
        <p:txBody>
          <a:bodyPr spcFirstLastPara="1" wrap="square" lIns="91425" tIns="91425" rIns="91425" bIns="91425" anchor="t" anchorCtr="0">
            <a:normAutofit fontScale="92500" lnSpcReduction="20000"/>
          </a:bodyPr>
          <a:lstStyle/>
          <a:p>
            <a:pPr marL="0" lvl="0" indent="0" algn="l" rtl="0">
              <a:spcBef>
                <a:spcPts val="0"/>
              </a:spcBef>
              <a:spcAft>
                <a:spcPts val="0"/>
              </a:spcAft>
              <a:buNone/>
            </a:pPr>
            <a:r>
              <a:rPr lang="en-GB" b="1">
                <a:solidFill>
                  <a:schemeClr val="accent1"/>
                </a:solidFill>
              </a:rPr>
              <a:t>Pros:</a:t>
            </a:r>
            <a:endParaRPr b="1">
              <a:solidFill>
                <a:schemeClr val="accent1"/>
              </a:solidFill>
            </a:endParaRPr>
          </a:p>
          <a:p>
            <a:pPr marL="457200" lvl="0" indent="-334327" algn="l" rtl="0">
              <a:spcBef>
                <a:spcPts val="1200"/>
              </a:spcBef>
              <a:spcAft>
                <a:spcPts val="0"/>
              </a:spcAft>
              <a:buClr>
                <a:schemeClr val="dk1"/>
              </a:buClr>
              <a:buSzPct val="100000"/>
              <a:buChar char="●"/>
            </a:pPr>
            <a:r>
              <a:rPr lang="en-GB"/>
              <a:t>Natural way to compose words into sentences</a:t>
            </a:r>
            <a:endParaRPr/>
          </a:p>
          <a:p>
            <a:pPr marL="914400" lvl="1" indent="-357822" algn="l" rtl="0">
              <a:spcBef>
                <a:spcPts val="0"/>
              </a:spcBef>
              <a:spcAft>
                <a:spcPts val="0"/>
              </a:spcAft>
              <a:buSzPct val="122222"/>
              <a:buChar char="○"/>
            </a:pPr>
            <a:r>
              <a:rPr lang="en-GB"/>
              <a:t>(“Natural” does not mean “ideal”: e.g., it loses word ordering)</a:t>
            </a:r>
            <a:endParaRPr/>
          </a:p>
          <a:p>
            <a:pPr marL="457200" lvl="0" indent="-334327" algn="l" rtl="0">
              <a:spcBef>
                <a:spcPts val="0"/>
              </a:spcBef>
              <a:spcAft>
                <a:spcPts val="0"/>
              </a:spcAft>
              <a:buSzPct val="100000"/>
              <a:buChar char="●"/>
            </a:pPr>
            <a:r>
              <a:rPr lang="en-GB" b="1"/>
              <a:t>Dot-product</a:t>
            </a:r>
            <a:r>
              <a:rPr lang="en-GB"/>
              <a:t> between two sentence vectors = </a:t>
            </a:r>
            <a:r>
              <a:rPr lang="en-GB" b="1"/>
              <a:t>size of lexical overlap</a:t>
            </a:r>
            <a:endParaRPr/>
          </a:p>
        </p:txBody>
      </p:sp>
      <p:sp>
        <p:nvSpPr>
          <p:cNvPr id="6" name="Rectangle 5">
            <a:extLst>
              <a:ext uri="{FF2B5EF4-FFF2-40B4-BE49-F238E27FC236}">
                <a16:creationId xmlns:a16="http://schemas.microsoft.com/office/drawing/2014/main" id="{2C8B5378-FDFC-FA41-AD37-B7F0A68D1479}"/>
              </a:ext>
            </a:extLst>
          </p:cNvPr>
          <p:cNvSpPr/>
          <p:nvPr/>
        </p:nvSpPr>
        <p:spPr>
          <a:xfrm>
            <a:off x="278616" y="1666671"/>
            <a:ext cx="8586767" cy="1488425"/>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22176745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6">
          <a:extLst>
            <a:ext uri="{FF2B5EF4-FFF2-40B4-BE49-F238E27FC236}">
              <a16:creationId xmlns:a16="http://schemas.microsoft.com/office/drawing/2014/main" id="{5550A858-70B2-592A-7368-C0C8A6FCEF21}"/>
            </a:ext>
          </a:extLst>
        </p:cNvPr>
        <p:cNvGrpSpPr/>
        <p:nvPr/>
      </p:nvGrpSpPr>
      <p:grpSpPr>
        <a:xfrm>
          <a:off x="0" y="0"/>
          <a:ext cx="0" cy="0"/>
          <a:chOff x="0" y="0"/>
          <a:chExt cx="0" cy="0"/>
        </a:xfrm>
      </p:grpSpPr>
      <p:sp>
        <p:nvSpPr>
          <p:cNvPr id="117" name="Google Shape;117;p21">
            <a:extLst>
              <a:ext uri="{FF2B5EF4-FFF2-40B4-BE49-F238E27FC236}">
                <a16:creationId xmlns:a16="http://schemas.microsoft.com/office/drawing/2014/main" id="{722B5397-D561-D837-69E1-02DF67D16BEF}"/>
              </a:ext>
            </a:extLst>
          </p:cNvPr>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p>
            <a:pPr marL="0" lvl="0" indent="0" algn="l" rtl="0">
              <a:lnSpc>
                <a:spcPct val="90000"/>
              </a:lnSpc>
              <a:spcBef>
                <a:spcPts val="0"/>
              </a:spcBef>
              <a:spcAft>
                <a:spcPts val="0"/>
              </a:spcAft>
              <a:buNone/>
            </a:pPr>
            <a:r>
              <a:rPr lang="en-GB"/>
              <a:t>One-Hot Word Vectors: Pros &amp; Cons</a:t>
            </a:r>
            <a:endParaRPr/>
          </a:p>
          <a:p>
            <a:pPr marL="0" lvl="0" indent="0" algn="l" rtl="0">
              <a:spcBef>
                <a:spcPts val="0"/>
              </a:spcBef>
              <a:spcAft>
                <a:spcPts val="0"/>
              </a:spcAft>
              <a:buNone/>
            </a:pPr>
            <a:endParaRPr/>
          </a:p>
        </p:txBody>
      </p:sp>
      <p:sp>
        <p:nvSpPr>
          <p:cNvPr id="122" name="Google Shape;122;p21">
            <a:extLst>
              <a:ext uri="{FF2B5EF4-FFF2-40B4-BE49-F238E27FC236}">
                <a16:creationId xmlns:a16="http://schemas.microsoft.com/office/drawing/2014/main" id="{6D0CD921-DE89-1BAD-D482-3E950D2CE74B}"/>
              </a:ext>
            </a:extLst>
          </p:cNvPr>
          <p:cNvSpPr txBox="1">
            <a:spLocks noGrp="1"/>
          </p:cNvSpPr>
          <p:nvPr>
            <p:ph type="body" idx="1"/>
          </p:nvPr>
        </p:nvSpPr>
        <p:spPr>
          <a:xfrm>
            <a:off x="312550" y="1154622"/>
            <a:ext cx="8520600" cy="1713600"/>
          </a:xfrm>
          <a:prstGeom prst="rect">
            <a:avLst/>
          </a:prstGeom>
        </p:spPr>
        <p:txBody>
          <a:bodyPr spcFirstLastPara="1" wrap="square" lIns="91425" tIns="91425" rIns="91425" bIns="91425" anchor="t" anchorCtr="0">
            <a:normAutofit fontScale="92500" lnSpcReduction="20000"/>
          </a:bodyPr>
          <a:lstStyle/>
          <a:p>
            <a:pPr marL="0" lvl="0" indent="0" algn="l" rtl="0">
              <a:spcBef>
                <a:spcPts val="0"/>
              </a:spcBef>
              <a:spcAft>
                <a:spcPts val="0"/>
              </a:spcAft>
              <a:buNone/>
            </a:pPr>
            <a:r>
              <a:rPr lang="en-GB" b="1">
                <a:solidFill>
                  <a:schemeClr val="accent1"/>
                </a:solidFill>
              </a:rPr>
              <a:t>Pros:</a:t>
            </a:r>
            <a:endParaRPr b="1">
              <a:solidFill>
                <a:schemeClr val="accent1"/>
              </a:solidFill>
            </a:endParaRPr>
          </a:p>
          <a:p>
            <a:pPr marL="457200" lvl="0" indent="-334327" algn="l" rtl="0">
              <a:spcBef>
                <a:spcPts val="1200"/>
              </a:spcBef>
              <a:spcAft>
                <a:spcPts val="0"/>
              </a:spcAft>
              <a:buClr>
                <a:schemeClr val="dk1"/>
              </a:buClr>
              <a:buSzPct val="100000"/>
              <a:buChar char="●"/>
            </a:pPr>
            <a:r>
              <a:rPr lang="en-GB"/>
              <a:t>Natural way to compose words into sentences</a:t>
            </a:r>
            <a:endParaRPr/>
          </a:p>
          <a:p>
            <a:pPr marL="914400" lvl="1" indent="-357822" algn="l" rtl="0">
              <a:spcBef>
                <a:spcPts val="0"/>
              </a:spcBef>
              <a:spcAft>
                <a:spcPts val="0"/>
              </a:spcAft>
              <a:buSzPct val="122222"/>
              <a:buChar char="○"/>
            </a:pPr>
            <a:r>
              <a:rPr lang="en-GB"/>
              <a:t>(“Natural” does not mean “ideal”: e.g., it loses word ordering)</a:t>
            </a:r>
            <a:endParaRPr/>
          </a:p>
          <a:p>
            <a:pPr marL="457200" lvl="0" indent="-334327" algn="l" rtl="0">
              <a:spcBef>
                <a:spcPts val="0"/>
              </a:spcBef>
              <a:spcAft>
                <a:spcPts val="0"/>
              </a:spcAft>
              <a:buSzPct val="100000"/>
              <a:buChar char="●"/>
            </a:pPr>
            <a:r>
              <a:rPr lang="en-GB" b="1"/>
              <a:t>Dot-product</a:t>
            </a:r>
            <a:r>
              <a:rPr lang="en-GB"/>
              <a:t> between two sentence vectors = </a:t>
            </a:r>
            <a:r>
              <a:rPr lang="en-GB" b="1"/>
              <a:t>size of lexical overlap</a:t>
            </a:r>
            <a:endParaRPr/>
          </a:p>
        </p:txBody>
      </p:sp>
    </p:spTree>
    <p:extLst>
      <p:ext uri="{BB962C8B-B14F-4D97-AF65-F5344CB8AC3E}">
        <p14:creationId xmlns:p14="http://schemas.microsoft.com/office/powerpoint/2010/main" val="3524929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6">
          <a:extLst>
            <a:ext uri="{FF2B5EF4-FFF2-40B4-BE49-F238E27FC236}">
              <a16:creationId xmlns:a16="http://schemas.microsoft.com/office/drawing/2014/main" id="{57226FE9-7A13-44AD-DF5D-49CF191895C2}"/>
            </a:ext>
          </a:extLst>
        </p:cNvPr>
        <p:cNvGrpSpPr/>
        <p:nvPr/>
      </p:nvGrpSpPr>
      <p:grpSpPr>
        <a:xfrm>
          <a:off x="0" y="0"/>
          <a:ext cx="0" cy="0"/>
          <a:chOff x="0" y="0"/>
          <a:chExt cx="0" cy="0"/>
        </a:xfrm>
      </p:grpSpPr>
      <p:sp>
        <p:nvSpPr>
          <p:cNvPr id="117" name="Google Shape;117;p21">
            <a:extLst>
              <a:ext uri="{FF2B5EF4-FFF2-40B4-BE49-F238E27FC236}">
                <a16:creationId xmlns:a16="http://schemas.microsoft.com/office/drawing/2014/main" id="{344962EF-14D4-CB4C-69CC-5F749054DF0C}"/>
              </a:ext>
            </a:extLst>
          </p:cNvPr>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p>
            <a:pPr marL="0" lvl="0" indent="0" algn="l" rtl="0">
              <a:lnSpc>
                <a:spcPct val="90000"/>
              </a:lnSpc>
              <a:spcBef>
                <a:spcPts val="0"/>
              </a:spcBef>
              <a:spcAft>
                <a:spcPts val="0"/>
              </a:spcAft>
              <a:buNone/>
            </a:pPr>
            <a:r>
              <a:rPr lang="en-GB"/>
              <a:t>One-Hot Word Vectors: Pros &amp; Cons</a:t>
            </a:r>
            <a:endParaRPr/>
          </a:p>
          <a:p>
            <a:pPr marL="0" lvl="0" indent="0" algn="l" rtl="0">
              <a:spcBef>
                <a:spcPts val="0"/>
              </a:spcBef>
              <a:spcAft>
                <a:spcPts val="0"/>
              </a:spcAft>
              <a:buNone/>
            </a:pPr>
            <a:endParaRPr/>
          </a:p>
        </p:txBody>
      </p:sp>
      <p:sp>
        <p:nvSpPr>
          <p:cNvPr id="118" name="Google Shape;118;p21">
            <a:extLst>
              <a:ext uri="{FF2B5EF4-FFF2-40B4-BE49-F238E27FC236}">
                <a16:creationId xmlns:a16="http://schemas.microsoft.com/office/drawing/2014/main" id="{520F41C6-9AC2-70B3-9066-4035B18D3CAE}"/>
              </a:ext>
            </a:extLst>
          </p:cNvPr>
          <p:cNvSpPr txBox="1">
            <a:spLocks noGrp="1"/>
          </p:cNvSpPr>
          <p:nvPr>
            <p:ph type="body" idx="1"/>
          </p:nvPr>
        </p:nvSpPr>
        <p:spPr>
          <a:xfrm>
            <a:off x="311700" y="2868225"/>
            <a:ext cx="8520600" cy="2100000"/>
          </a:xfrm>
          <a:prstGeom prst="rect">
            <a:avLst/>
          </a:prstGeom>
        </p:spPr>
        <p:txBody>
          <a:bodyPr spcFirstLastPara="1" wrap="square" lIns="91425" tIns="91425" rIns="91425" bIns="91425" anchor="t" anchorCtr="0">
            <a:normAutofit fontScale="92500" lnSpcReduction="20000"/>
          </a:bodyPr>
          <a:lstStyle/>
          <a:p>
            <a:pPr marL="0" lvl="0" indent="0" algn="l" rtl="0">
              <a:spcBef>
                <a:spcPts val="0"/>
              </a:spcBef>
              <a:spcAft>
                <a:spcPts val="0"/>
              </a:spcAft>
              <a:buNone/>
            </a:pPr>
            <a:r>
              <a:rPr lang="en-GB" b="1" dirty="0">
                <a:solidFill>
                  <a:srgbClr val="FF0000"/>
                </a:solidFill>
              </a:rPr>
              <a:t>Cons:</a:t>
            </a:r>
            <a:endParaRPr b="1" dirty="0">
              <a:solidFill>
                <a:srgbClr val="FF0000"/>
              </a:solidFill>
            </a:endParaRPr>
          </a:p>
          <a:p>
            <a:pPr marL="457200" lvl="0" indent="-325755" algn="l" rtl="0">
              <a:spcBef>
                <a:spcPts val="1200"/>
              </a:spcBef>
              <a:spcAft>
                <a:spcPts val="0"/>
              </a:spcAft>
              <a:buSzPct val="100000"/>
              <a:buChar char="●"/>
            </a:pPr>
            <a:r>
              <a:rPr lang="en-GB" dirty="0"/>
              <a:t>No semantic similarity between words</a:t>
            </a:r>
            <a:endParaRPr dirty="0"/>
          </a:p>
          <a:p>
            <a:pPr marL="914400" lvl="1" indent="-347344" algn="l" rtl="0">
              <a:spcBef>
                <a:spcPts val="0"/>
              </a:spcBef>
              <a:spcAft>
                <a:spcPts val="0"/>
              </a:spcAft>
              <a:buSzPct val="122222"/>
              <a:buChar char="○"/>
            </a:pPr>
            <a:r>
              <a:rPr lang="en-GB" dirty="0"/>
              <a:t>All word vectors are pairwise orthogonal</a:t>
            </a:r>
            <a:endParaRPr dirty="0"/>
          </a:p>
          <a:p>
            <a:pPr marL="914400" lvl="1" indent="-347344" algn="l" rtl="0">
              <a:spcBef>
                <a:spcPts val="0"/>
              </a:spcBef>
              <a:spcAft>
                <a:spcPts val="0"/>
              </a:spcAft>
              <a:buSzPct val="122222"/>
              <a:buChar char="○"/>
            </a:pPr>
            <a:r>
              <a:rPr lang="en-GB" dirty="0">
                <a:solidFill>
                  <a:srgbClr val="6AA84F"/>
                </a:solidFill>
              </a:rPr>
              <a:t>a great movie ≈ a great film</a:t>
            </a:r>
            <a:r>
              <a:rPr lang="en-GB" dirty="0"/>
              <a:t> ; </a:t>
            </a:r>
            <a:r>
              <a:rPr lang="en-GB" dirty="0">
                <a:solidFill>
                  <a:srgbClr val="C00000"/>
                </a:solidFill>
              </a:rPr>
              <a:t>a great movie ≉  a great meal</a:t>
            </a:r>
            <a:endParaRPr dirty="0">
              <a:solidFill>
                <a:srgbClr val="C00000"/>
              </a:solidFill>
            </a:endParaRPr>
          </a:p>
          <a:p>
            <a:pPr marL="914400" lvl="1" indent="-347344" algn="l" rtl="0">
              <a:spcBef>
                <a:spcPts val="0"/>
              </a:spcBef>
              <a:spcAft>
                <a:spcPts val="0"/>
              </a:spcAft>
              <a:buSzPct val="122222"/>
              <a:buChar char="○"/>
            </a:pPr>
            <a:r>
              <a:rPr lang="en-GB" dirty="0"/>
              <a:t>Ideally we want: </a:t>
            </a:r>
            <a:endParaRPr dirty="0"/>
          </a:p>
        </p:txBody>
      </p:sp>
      <p:sp>
        <p:nvSpPr>
          <p:cNvPr id="119" name="Google Shape;119;p21">
            <a:extLst>
              <a:ext uri="{FF2B5EF4-FFF2-40B4-BE49-F238E27FC236}">
                <a16:creationId xmlns:a16="http://schemas.microsoft.com/office/drawing/2014/main" id="{39B24FD0-1029-FB3E-073A-0021554642F3}"/>
              </a:ext>
            </a:extLst>
          </p:cNvPr>
          <p:cNvSpPr txBox="1"/>
          <p:nvPr/>
        </p:nvSpPr>
        <p:spPr>
          <a:xfrm>
            <a:off x="3135475" y="4557022"/>
            <a:ext cx="5372100" cy="346200"/>
          </a:xfrm>
          <a:prstGeom prst="rect">
            <a:avLst/>
          </a:prstGeom>
          <a:blipFill rotWithShape="1">
            <a:blip r:embed="rId3">
              <a:alphaModFix/>
            </a:blip>
            <a:stretch>
              <a:fillRect b="-17949"/>
            </a:stretch>
          </a:blipFill>
          <a:ln w="28575" cap="flat" cmpd="sng">
            <a:solidFill>
              <a:srgbClr val="00B0F0"/>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r>
              <a:rPr lang="en-GB" sz="1400">
                <a:latin typeface="Century Gothic"/>
                <a:ea typeface="Century Gothic"/>
                <a:cs typeface="Century Gothic"/>
                <a:sym typeface="Century Gothic"/>
              </a:rPr>
              <a:t> </a:t>
            </a:r>
            <a:endParaRPr sz="1100"/>
          </a:p>
        </p:txBody>
      </p:sp>
      <p:sp>
        <p:nvSpPr>
          <p:cNvPr id="122" name="Google Shape;122;p21">
            <a:extLst>
              <a:ext uri="{FF2B5EF4-FFF2-40B4-BE49-F238E27FC236}">
                <a16:creationId xmlns:a16="http://schemas.microsoft.com/office/drawing/2014/main" id="{FF72847A-FD0E-10ED-4083-1F6196010FC8}"/>
              </a:ext>
            </a:extLst>
          </p:cNvPr>
          <p:cNvSpPr txBox="1">
            <a:spLocks noGrp="1"/>
          </p:cNvSpPr>
          <p:nvPr>
            <p:ph type="body" idx="1"/>
          </p:nvPr>
        </p:nvSpPr>
        <p:spPr>
          <a:xfrm>
            <a:off x="312550" y="1154622"/>
            <a:ext cx="8520600" cy="1713600"/>
          </a:xfrm>
          <a:prstGeom prst="rect">
            <a:avLst/>
          </a:prstGeom>
        </p:spPr>
        <p:txBody>
          <a:bodyPr spcFirstLastPara="1" wrap="square" lIns="91425" tIns="91425" rIns="91425" bIns="91425" anchor="t" anchorCtr="0">
            <a:normAutofit fontScale="92500" lnSpcReduction="20000"/>
          </a:bodyPr>
          <a:lstStyle/>
          <a:p>
            <a:pPr marL="0" lvl="0" indent="0" algn="l" rtl="0">
              <a:spcBef>
                <a:spcPts val="0"/>
              </a:spcBef>
              <a:spcAft>
                <a:spcPts val="0"/>
              </a:spcAft>
              <a:buNone/>
            </a:pPr>
            <a:r>
              <a:rPr lang="en-GB" b="1">
                <a:solidFill>
                  <a:schemeClr val="accent1"/>
                </a:solidFill>
              </a:rPr>
              <a:t>Pros:</a:t>
            </a:r>
            <a:endParaRPr b="1">
              <a:solidFill>
                <a:schemeClr val="accent1"/>
              </a:solidFill>
            </a:endParaRPr>
          </a:p>
          <a:p>
            <a:pPr marL="457200" lvl="0" indent="-334327" algn="l" rtl="0">
              <a:spcBef>
                <a:spcPts val="1200"/>
              </a:spcBef>
              <a:spcAft>
                <a:spcPts val="0"/>
              </a:spcAft>
              <a:buClr>
                <a:schemeClr val="dk1"/>
              </a:buClr>
              <a:buSzPct val="100000"/>
              <a:buChar char="●"/>
            </a:pPr>
            <a:r>
              <a:rPr lang="en-GB"/>
              <a:t>Natural way to compose words into sentences</a:t>
            </a:r>
            <a:endParaRPr/>
          </a:p>
          <a:p>
            <a:pPr marL="914400" lvl="1" indent="-357822" algn="l" rtl="0">
              <a:spcBef>
                <a:spcPts val="0"/>
              </a:spcBef>
              <a:spcAft>
                <a:spcPts val="0"/>
              </a:spcAft>
              <a:buSzPct val="122222"/>
              <a:buChar char="○"/>
            </a:pPr>
            <a:r>
              <a:rPr lang="en-GB"/>
              <a:t>(“Natural” does not mean “ideal”: e.g., it loses word ordering)</a:t>
            </a:r>
            <a:endParaRPr/>
          </a:p>
          <a:p>
            <a:pPr marL="457200" lvl="0" indent="-334327" algn="l" rtl="0">
              <a:spcBef>
                <a:spcPts val="0"/>
              </a:spcBef>
              <a:spcAft>
                <a:spcPts val="0"/>
              </a:spcAft>
              <a:buSzPct val="100000"/>
              <a:buChar char="●"/>
            </a:pPr>
            <a:r>
              <a:rPr lang="en-GB" b="1"/>
              <a:t>Dot-product</a:t>
            </a:r>
            <a:r>
              <a:rPr lang="en-GB"/>
              <a:t> between two sentence vectors = </a:t>
            </a:r>
            <a:r>
              <a:rPr lang="en-GB" b="1"/>
              <a:t>size of lexical overlap</a:t>
            </a:r>
            <a:endParaRPr/>
          </a:p>
        </p:txBody>
      </p:sp>
      <p:sp>
        <p:nvSpPr>
          <p:cNvPr id="2" name="Rectangle 1">
            <a:extLst>
              <a:ext uri="{FF2B5EF4-FFF2-40B4-BE49-F238E27FC236}">
                <a16:creationId xmlns:a16="http://schemas.microsoft.com/office/drawing/2014/main" id="{822F47F1-5A58-F31E-AB54-2B5519CC5C46}"/>
              </a:ext>
            </a:extLst>
          </p:cNvPr>
          <p:cNvSpPr/>
          <p:nvPr/>
        </p:nvSpPr>
        <p:spPr>
          <a:xfrm>
            <a:off x="245533" y="3479800"/>
            <a:ext cx="8586767" cy="1488425"/>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25703360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6">
          <a:extLst>
            <a:ext uri="{FF2B5EF4-FFF2-40B4-BE49-F238E27FC236}">
              <a16:creationId xmlns:a16="http://schemas.microsoft.com/office/drawing/2014/main" id="{D34490E1-DB4B-F845-FABC-D53293CEBE19}"/>
            </a:ext>
          </a:extLst>
        </p:cNvPr>
        <p:cNvGrpSpPr/>
        <p:nvPr/>
      </p:nvGrpSpPr>
      <p:grpSpPr>
        <a:xfrm>
          <a:off x="0" y="0"/>
          <a:ext cx="0" cy="0"/>
          <a:chOff x="0" y="0"/>
          <a:chExt cx="0" cy="0"/>
        </a:xfrm>
      </p:grpSpPr>
      <p:sp>
        <p:nvSpPr>
          <p:cNvPr id="117" name="Google Shape;117;p21">
            <a:extLst>
              <a:ext uri="{FF2B5EF4-FFF2-40B4-BE49-F238E27FC236}">
                <a16:creationId xmlns:a16="http://schemas.microsoft.com/office/drawing/2014/main" id="{96F1A68E-11B0-0F49-FC7E-2D7A39BB2084}"/>
              </a:ext>
            </a:extLst>
          </p:cNvPr>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p>
            <a:pPr marL="0" lvl="0" indent="0" algn="l" rtl="0">
              <a:lnSpc>
                <a:spcPct val="90000"/>
              </a:lnSpc>
              <a:spcBef>
                <a:spcPts val="0"/>
              </a:spcBef>
              <a:spcAft>
                <a:spcPts val="0"/>
              </a:spcAft>
              <a:buNone/>
            </a:pPr>
            <a:r>
              <a:rPr lang="en-GB"/>
              <a:t>One-Hot Word Vectors: Pros &amp; Cons</a:t>
            </a:r>
            <a:endParaRPr/>
          </a:p>
          <a:p>
            <a:pPr marL="0" lvl="0" indent="0" algn="l" rtl="0">
              <a:spcBef>
                <a:spcPts val="0"/>
              </a:spcBef>
              <a:spcAft>
                <a:spcPts val="0"/>
              </a:spcAft>
              <a:buNone/>
            </a:pPr>
            <a:endParaRPr/>
          </a:p>
        </p:txBody>
      </p:sp>
      <p:sp>
        <p:nvSpPr>
          <p:cNvPr id="118" name="Google Shape;118;p21">
            <a:extLst>
              <a:ext uri="{FF2B5EF4-FFF2-40B4-BE49-F238E27FC236}">
                <a16:creationId xmlns:a16="http://schemas.microsoft.com/office/drawing/2014/main" id="{1CA6D32A-DA39-FAC2-200B-FD1D578121B5}"/>
              </a:ext>
            </a:extLst>
          </p:cNvPr>
          <p:cNvSpPr txBox="1">
            <a:spLocks noGrp="1"/>
          </p:cNvSpPr>
          <p:nvPr>
            <p:ph type="body" idx="1"/>
          </p:nvPr>
        </p:nvSpPr>
        <p:spPr>
          <a:xfrm>
            <a:off x="311700" y="2868225"/>
            <a:ext cx="8520600" cy="2100000"/>
          </a:xfrm>
          <a:prstGeom prst="rect">
            <a:avLst/>
          </a:prstGeom>
        </p:spPr>
        <p:txBody>
          <a:bodyPr spcFirstLastPara="1" wrap="square" lIns="91425" tIns="91425" rIns="91425" bIns="91425" anchor="t" anchorCtr="0">
            <a:normAutofit fontScale="92500" lnSpcReduction="20000"/>
          </a:bodyPr>
          <a:lstStyle/>
          <a:p>
            <a:pPr marL="0" lvl="0" indent="0" algn="l" rtl="0">
              <a:spcBef>
                <a:spcPts val="0"/>
              </a:spcBef>
              <a:spcAft>
                <a:spcPts val="0"/>
              </a:spcAft>
              <a:buNone/>
            </a:pPr>
            <a:r>
              <a:rPr lang="en-GB" b="1" dirty="0">
                <a:solidFill>
                  <a:srgbClr val="FF0000"/>
                </a:solidFill>
              </a:rPr>
              <a:t>Cons:</a:t>
            </a:r>
            <a:endParaRPr b="1" dirty="0">
              <a:solidFill>
                <a:srgbClr val="FF0000"/>
              </a:solidFill>
            </a:endParaRPr>
          </a:p>
          <a:p>
            <a:pPr marL="457200" lvl="0" indent="-325755" algn="l" rtl="0">
              <a:spcBef>
                <a:spcPts val="1200"/>
              </a:spcBef>
              <a:spcAft>
                <a:spcPts val="0"/>
              </a:spcAft>
              <a:buSzPct val="100000"/>
              <a:buChar char="●"/>
            </a:pPr>
            <a:r>
              <a:rPr lang="en-GB" dirty="0"/>
              <a:t>No semantic similarity between words</a:t>
            </a:r>
            <a:endParaRPr dirty="0"/>
          </a:p>
          <a:p>
            <a:pPr marL="914400" lvl="1" indent="-347344" algn="l" rtl="0">
              <a:spcBef>
                <a:spcPts val="0"/>
              </a:spcBef>
              <a:spcAft>
                <a:spcPts val="0"/>
              </a:spcAft>
              <a:buSzPct val="122222"/>
              <a:buChar char="○"/>
            </a:pPr>
            <a:r>
              <a:rPr lang="en-GB" dirty="0"/>
              <a:t>All word vectors are pairwise orthogonal</a:t>
            </a:r>
            <a:endParaRPr dirty="0"/>
          </a:p>
          <a:p>
            <a:pPr marL="914400" lvl="1" indent="-347344" algn="l" rtl="0">
              <a:spcBef>
                <a:spcPts val="0"/>
              </a:spcBef>
              <a:spcAft>
                <a:spcPts val="0"/>
              </a:spcAft>
              <a:buSzPct val="122222"/>
              <a:buChar char="○"/>
            </a:pPr>
            <a:r>
              <a:rPr lang="en-GB" dirty="0">
                <a:solidFill>
                  <a:srgbClr val="6AA84F"/>
                </a:solidFill>
              </a:rPr>
              <a:t>a great movie ≈ a great film</a:t>
            </a:r>
            <a:r>
              <a:rPr lang="en-GB" dirty="0"/>
              <a:t> ; </a:t>
            </a:r>
            <a:r>
              <a:rPr lang="en-GB" dirty="0">
                <a:solidFill>
                  <a:srgbClr val="C00000"/>
                </a:solidFill>
              </a:rPr>
              <a:t>a great movie ≉  a great meal</a:t>
            </a:r>
            <a:endParaRPr dirty="0">
              <a:solidFill>
                <a:srgbClr val="C00000"/>
              </a:solidFill>
            </a:endParaRPr>
          </a:p>
          <a:p>
            <a:pPr marL="914400" lvl="1" indent="-347344" algn="l" rtl="0">
              <a:spcBef>
                <a:spcPts val="0"/>
              </a:spcBef>
              <a:spcAft>
                <a:spcPts val="0"/>
              </a:spcAft>
              <a:buSzPct val="122222"/>
              <a:buChar char="○"/>
            </a:pPr>
            <a:r>
              <a:rPr lang="en-GB" dirty="0"/>
              <a:t>Ideally we want: </a:t>
            </a:r>
            <a:endParaRPr dirty="0"/>
          </a:p>
        </p:txBody>
      </p:sp>
      <p:sp>
        <p:nvSpPr>
          <p:cNvPr id="119" name="Google Shape;119;p21">
            <a:extLst>
              <a:ext uri="{FF2B5EF4-FFF2-40B4-BE49-F238E27FC236}">
                <a16:creationId xmlns:a16="http://schemas.microsoft.com/office/drawing/2014/main" id="{FBC0E529-A4CB-7C37-D15A-B6A88295F086}"/>
              </a:ext>
            </a:extLst>
          </p:cNvPr>
          <p:cNvSpPr txBox="1"/>
          <p:nvPr/>
        </p:nvSpPr>
        <p:spPr>
          <a:xfrm>
            <a:off x="3135475" y="4557022"/>
            <a:ext cx="5372100" cy="346200"/>
          </a:xfrm>
          <a:prstGeom prst="rect">
            <a:avLst/>
          </a:prstGeom>
          <a:blipFill rotWithShape="1">
            <a:blip r:embed="rId3">
              <a:alphaModFix/>
            </a:blip>
            <a:stretch>
              <a:fillRect b="-17949"/>
            </a:stretch>
          </a:blipFill>
          <a:ln w="28575" cap="flat" cmpd="sng">
            <a:solidFill>
              <a:srgbClr val="00B0F0"/>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r>
              <a:rPr lang="en-GB" sz="1400">
                <a:latin typeface="Century Gothic"/>
                <a:ea typeface="Century Gothic"/>
                <a:cs typeface="Century Gothic"/>
                <a:sym typeface="Century Gothic"/>
              </a:rPr>
              <a:t> </a:t>
            </a:r>
            <a:endParaRPr sz="1100"/>
          </a:p>
        </p:txBody>
      </p:sp>
      <p:sp>
        <p:nvSpPr>
          <p:cNvPr id="122" name="Google Shape;122;p21">
            <a:extLst>
              <a:ext uri="{FF2B5EF4-FFF2-40B4-BE49-F238E27FC236}">
                <a16:creationId xmlns:a16="http://schemas.microsoft.com/office/drawing/2014/main" id="{1A74733B-1652-9D3B-ECFF-F203116B20B1}"/>
              </a:ext>
            </a:extLst>
          </p:cNvPr>
          <p:cNvSpPr txBox="1">
            <a:spLocks noGrp="1"/>
          </p:cNvSpPr>
          <p:nvPr>
            <p:ph type="body" idx="1"/>
          </p:nvPr>
        </p:nvSpPr>
        <p:spPr>
          <a:xfrm>
            <a:off x="312550" y="1154622"/>
            <a:ext cx="8520600" cy="1713600"/>
          </a:xfrm>
          <a:prstGeom prst="rect">
            <a:avLst/>
          </a:prstGeom>
        </p:spPr>
        <p:txBody>
          <a:bodyPr spcFirstLastPara="1" wrap="square" lIns="91425" tIns="91425" rIns="91425" bIns="91425" anchor="t" anchorCtr="0">
            <a:normAutofit fontScale="92500" lnSpcReduction="20000"/>
          </a:bodyPr>
          <a:lstStyle/>
          <a:p>
            <a:pPr marL="0" lvl="0" indent="0" algn="l" rtl="0">
              <a:spcBef>
                <a:spcPts val="0"/>
              </a:spcBef>
              <a:spcAft>
                <a:spcPts val="0"/>
              </a:spcAft>
              <a:buNone/>
            </a:pPr>
            <a:r>
              <a:rPr lang="en-GB" b="1">
                <a:solidFill>
                  <a:schemeClr val="accent1"/>
                </a:solidFill>
              </a:rPr>
              <a:t>Pros:</a:t>
            </a:r>
            <a:endParaRPr b="1">
              <a:solidFill>
                <a:schemeClr val="accent1"/>
              </a:solidFill>
            </a:endParaRPr>
          </a:p>
          <a:p>
            <a:pPr marL="457200" lvl="0" indent="-334327" algn="l" rtl="0">
              <a:spcBef>
                <a:spcPts val="1200"/>
              </a:spcBef>
              <a:spcAft>
                <a:spcPts val="0"/>
              </a:spcAft>
              <a:buClr>
                <a:schemeClr val="dk1"/>
              </a:buClr>
              <a:buSzPct val="100000"/>
              <a:buChar char="●"/>
            </a:pPr>
            <a:r>
              <a:rPr lang="en-GB"/>
              <a:t>Natural way to compose words into sentences</a:t>
            </a:r>
            <a:endParaRPr/>
          </a:p>
          <a:p>
            <a:pPr marL="914400" lvl="1" indent="-357822" algn="l" rtl="0">
              <a:spcBef>
                <a:spcPts val="0"/>
              </a:spcBef>
              <a:spcAft>
                <a:spcPts val="0"/>
              </a:spcAft>
              <a:buSzPct val="122222"/>
              <a:buChar char="○"/>
            </a:pPr>
            <a:r>
              <a:rPr lang="en-GB"/>
              <a:t>(“Natural” does not mean “ideal”: e.g., it loses word ordering)</a:t>
            </a:r>
            <a:endParaRPr/>
          </a:p>
          <a:p>
            <a:pPr marL="457200" lvl="0" indent="-334327" algn="l" rtl="0">
              <a:spcBef>
                <a:spcPts val="0"/>
              </a:spcBef>
              <a:spcAft>
                <a:spcPts val="0"/>
              </a:spcAft>
              <a:buSzPct val="100000"/>
              <a:buChar char="●"/>
            </a:pPr>
            <a:r>
              <a:rPr lang="en-GB" b="1"/>
              <a:t>Dot-product</a:t>
            </a:r>
            <a:r>
              <a:rPr lang="en-GB"/>
              <a:t> between two sentence vectors = </a:t>
            </a:r>
            <a:r>
              <a:rPr lang="en-GB" b="1"/>
              <a:t>size of lexical overlap</a:t>
            </a:r>
            <a:endParaRPr/>
          </a:p>
        </p:txBody>
      </p:sp>
    </p:spTree>
    <p:extLst>
      <p:ext uri="{BB962C8B-B14F-4D97-AF65-F5344CB8AC3E}">
        <p14:creationId xmlns:p14="http://schemas.microsoft.com/office/powerpoint/2010/main" val="7103877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sp>
        <p:nvSpPr>
          <p:cNvPr id="129" name="Google Shape;129;p22"/>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Distributional Semantics</a:t>
            </a:r>
            <a:endParaRPr/>
          </a:p>
        </p:txBody>
      </p:sp>
      <p:sp>
        <p:nvSpPr>
          <p:cNvPr id="130" name="Google Shape;130;p22"/>
          <p:cNvSpPr txBox="1">
            <a:spLocks noGrp="1"/>
          </p:cNvSpPr>
          <p:nvPr>
            <p:ph type="body" idx="1"/>
          </p:nvPr>
        </p:nvSpPr>
        <p:spPr>
          <a:xfrm>
            <a:off x="311700" y="1152475"/>
            <a:ext cx="8650500" cy="34164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en-GB">
                <a:solidFill>
                  <a:schemeClr val="dk1"/>
                </a:solidFill>
              </a:rPr>
              <a:t>Key insight:</a:t>
            </a:r>
            <a:r>
              <a:rPr lang="en-GB"/>
              <a:t> </a:t>
            </a:r>
            <a:r>
              <a:rPr lang="en-GB">
                <a:solidFill>
                  <a:srgbClr val="548135"/>
                </a:solidFill>
              </a:rPr>
              <a:t>“You shall know a word by the company it keeps” </a:t>
            </a:r>
            <a:r>
              <a:rPr lang="en-GB">
                <a:solidFill>
                  <a:schemeClr val="dk1"/>
                </a:solidFill>
              </a:rPr>
              <a:t>(J. R. Firth 1957)</a:t>
            </a:r>
            <a:endParaRPr>
              <a:solidFill>
                <a:schemeClr val="dk1"/>
              </a:solidFill>
            </a:endParaRPr>
          </a:p>
          <a:p>
            <a:pPr marL="457200" lvl="0" indent="-342900" algn="l" rtl="0">
              <a:spcBef>
                <a:spcPts val="0"/>
              </a:spcBef>
              <a:spcAft>
                <a:spcPts val="0"/>
              </a:spcAft>
              <a:buClr>
                <a:schemeClr val="dk1"/>
              </a:buClr>
              <a:buSzPts val="1800"/>
              <a:buChar char="●"/>
            </a:pPr>
            <a:r>
              <a:rPr lang="en-GB">
                <a:solidFill>
                  <a:schemeClr val="dk1"/>
                </a:solidFill>
              </a:rPr>
              <a:t>Given a </a:t>
            </a:r>
            <a:r>
              <a:rPr lang="en-GB" b="1">
                <a:solidFill>
                  <a:schemeClr val="dk1"/>
                </a:solidFill>
              </a:rPr>
              <a:t>word</a:t>
            </a:r>
            <a:r>
              <a:rPr lang="en-GB">
                <a:solidFill>
                  <a:schemeClr val="dk1"/>
                </a:solidFill>
              </a:rPr>
              <a:t> </a:t>
            </a:r>
            <a:r>
              <a:rPr lang="en-GB" i="1">
                <a:solidFill>
                  <a:schemeClr val="dk1"/>
                </a:solidFill>
              </a:rPr>
              <a:t>w</a:t>
            </a:r>
            <a:r>
              <a:rPr lang="en-GB">
                <a:solidFill>
                  <a:schemeClr val="dk1"/>
                </a:solidFill>
              </a:rPr>
              <a:t> in a text, define its </a:t>
            </a:r>
            <a:r>
              <a:rPr lang="en-GB" b="1">
                <a:solidFill>
                  <a:srgbClr val="C55A11"/>
                </a:solidFill>
              </a:rPr>
              <a:t>context</a:t>
            </a:r>
            <a:r>
              <a:rPr lang="en-GB">
                <a:solidFill>
                  <a:schemeClr val="dk1"/>
                </a:solidFill>
              </a:rPr>
              <a:t> as the set of words that appear nearby (within a fixed-size widow).</a:t>
            </a:r>
            <a:endParaRPr/>
          </a:p>
          <a:p>
            <a:pPr marL="457200" lvl="0" indent="0" algn="l" rtl="0">
              <a:spcBef>
                <a:spcPts val="1200"/>
              </a:spcBef>
              <a:spcAft>
                <a:spcPts val="1200"/>
              </a:spcAft>
              <a:buNone/>
            </a:pPr>
            <a:endParaRPr>
              <a:solidFill>
                <a:schemeClr val="dk1"/>
              </a:solidFill>
            </a:endParaRPr>
          </a:p>
        </p:txBody>
      </p:sp>
      <p:sp>
        <p:nvSpPr>
          <p:cNvPr id="131" name="Google Shape;131;p22"/>
          <p:cNvSpPr txBox="1"/>
          <p:nvPr/>
        </p:nvSpPr>
        <p:spPr>
          <a:xfrm>
            <a:off x="633050" y="2457865"/>
            <a:ext cx="7793700" cy="2258100"/>
          </a:xfrm>
          <a:prstGeom prst="rect">
            <a:avLst/>
          </a:prstGeom>
          <a:noFill/>
          <a:ln w="28575" cap="flat" cmpd="sng">
            <a:solidFill>
              <a:srgbClr val="00B0F0"/>
            </a:solidFill>
            <a:prstDash val="solid"/>
            <a:round/>
            <a:headEnd type="none" w="sm" len="sm"/>
            <a:tailEnd type="none" w="sm" len="sm"/>
          </a:ln>
        </p:spPr>
        <p:txBody>
          <a:bodyPr spcFirstLastPara="1" wrap="square" lIns="68575" tIns="34275" rIns="68575" bIns="34275" anchor="t" anchorCtr="0">
            <a:spAutoFit/>
          </a:bodyPr>
          <a:lstStyle/>
          <a:p>
            <a:pPr marL="0" marR="0" lvl="0" indent="0" algn="l" rtl="0">
              <a:lnSpc>
                <a:spcPct val="115000"/>
              </a:lnSpc>
              <a:spcBef>
                <a:spcPts val="0"/>
              </a:spcBef>
              <a:spcAft>
                <a:spcPts val="0"/>
              </a:spcAft>
              <a:buNone/>
            </a:pPr>
            <a:r>
              <a:rPr lang="en-GB" sz="1800">
                <a:solidFill>
                  <a:schemeClr val="dk1"/>
                </a:solidFill>
              </a:rPr>
              <a:t>“… </a:t>
            </a:r>
            <a:r>
              <a:rPr lang="en-GB" sz="1800">
                <a:solidFill>
                  <a:srgbClr val="C55A11"/>
                </a:solidFill>
              </a:rPr>
              <a:t>cashed a check at the </a:t>
            </a:r>
            <a:r>
              <a:rPr lang="en-GB" sz="1800" b="1">
                <a:solidFill>
                  <a:schemeClr val="dk1"/>
                </a:solidFill>
              </a:rPr>
              <a:t>bank</a:t>
            </a:r>
            <a:r>
              <a:rPr lang="en-GB" sz="1800">
                <a:solidFill>
                  <a:srgbClr val="C55A11"/>
                </a:solidFill>
              </a:rPr>
              <a:t> across the street </a:t>
            </a:r>
            <a:r>
              <a:rPr lang="en-GB" sz="1800">
                <a:solidFill>
                  <a:schemeClr val="dk1"/>
                </a:solidFill>
              </a:rPr>
              <a:t>”</a:t>
            </a:r>
            <a:endParaRPr sz="1100"/>
          </a:p>
          <a:p>
            <a:pPr marL="0" marR="0" lvl="0" indent="0" algn="l" rtl="0">
              <a:lnSpc>
                <a:spcPct val="115000"/>
              </a:lnSpc>
              <a:spcBef>
                <a:spcPts val="0"/>
              </a:spcBef>
              <a:spcAft>
                <a:spcPts val="0"/>
              </a:spcAft>
              <a:buNone/>
            </a:pPr>
            <a:r>
              <a:rPr lang="en-GB" sz="1800">
                <a:solidFill>
                  <a:schemeClr val="dk1"/>
                </a:solidFill>
              </a:rPr>
              <a:t>“</a:t>
            </a:r>
            <a:r>
              <a:rPr lang="en-GB" sz="1800">
                <a:solidFill>
                  <a:srgbClr val="C55A11"/>
                </a:solidFill>
              </a:rPr>
              <a:t>… played happily on the </a:t>
            </a:r>
            <a:r>
              <a:rPr lang="en-GB" sz="1800" b="1">
                <a:solidFill>
                  <a:schemeClr val="dk1"/>
                </a:solidFill>
              </a:rPr>
              <a:t>bank</a:t>
            </a:r>
            <a:r>
              <a:rPr lang="en-GB" sz="1800">
                <a:solidFill>
                  <a:srgbClr val="C55A11"/>
                </a:solidFill>
              </a:rPr>
              <a:t>, watching the ducks swim by </a:t>
            </a:r>
            <a:r>
              <a:rPr lang="en-GB" sz="1800">
                <a:solidFill>
                  <a:schemeClr val="dk1"/>
                </a:solidFill>
              </a:rPr>
              <a:t>”</a:t>
            </a:r>
            <a:endParaRPr sz="1800">
              <a:solidFill>
                <a:srgbClr val="C55A11"/>
              </a:solidFill>
            </a:endParaRPr>
          </a:p>
          <a:p>
            <a:pPr marL="0" marR="0" lvl="0" indent="0" algn="l" rtl="0">
              <a:lnSpc>
                <a:spcPct val="115000"/>
              </a:lnSpc>
              <a:spcBef>
                <a:spcPts val="0"/>
              </a:spcBef>
              <a:spcAft>
                <a:spcPts val="0"/>
              </a:spcAft>
              <a:buNone/>
            </a:pPr>
            <a:r>
              <a:rPr lang="en-GB" sz="1800">
                <a:solidFill>
                  <a:schemeClr val="dk1"/>
                </a:solidFill>
              </a:rPr>
              <a:t>“</a:t>
            </a:r>
            <a:r>
              <a:rPr lang="en-GB" sz="1800">
                <a:solidFill>
                  <a:srgbClr val="C55A11"/>
                </a:solidFill>
              </a:rPr>
              <a:t>… adjusted the controls on the </a:t>
            </a:r>
            <a:r>
              <a:rPr lang="en-GB" sz="1800" b="1">
                <a:solidFill>
                  <a:schemeClr val="dk1"/>
                </a:solidFill>
              </a:rPr>
              <a:t>bank</a:t>
            </a:r>
            <a:r>
              <a:rPr lang="en-GB" sz="1800">
                <a:solidFill>
                  <a:srgbClr val="C55A11"/>
                </a:solidFill>
              </a:rPr>
              <a:t> to dim the lights in the auditorium </a:t>
            </a:r>
            <a:r>
              <a:rPr lang="en-GB" sz="1800">
                <a:solidFill>
                  <a:schemeClr val="dk1"/>
                </a:solidFill>
              </a:rPr>
              <a:t>”</a:t>
            </a:r>
            <a:endParaRPr sz="1800">
              <a:solidFill>
                <a:srgbClr val="C55A11"/>
              </a:solidFill>
            </a:endParaRPr>
          </a:p>
          <a:p>
            <a:pPr marL="0" marR="0" lvl="0" indent="0" algn="l" rtl="0">
              <a:lnSpc>
                <a:spcPct val="115000"/>
              </a:lnSpc>
              <a:spcBef>
                <a:spcPts val="0"/>
              </a:spcBef>
              <a:spcAft>
                <a:spcPts val="0"/>
              </a:spcAft>
              <a:buNone/>
            </a:pPr>
            <a:r>
              <a:rPr lang="en-GB" sz="1800">
                <a:solidFill>
                  <a:schemeClr val="dk1"/>
                </a:solidFill>
              </a:rPr>
              <a:t>“</a:t>
            </a:r>
            <a:r>
              <a:rPr lang="en-GB" sz="1800">
                <a:solidFill>
                  <a:srgbClr val="C55A11"/>
                </a:solidFill>
              </a:rPr>
              <a:t>… she will </a:t>
            </a:r>
            <a:r>
              <a:rPr lang="en-GB" sz="1800" b="1">
                <a:solidFill>
                  <a:schemeClr val="dk1"/>
                </a:solidFill>
              </a:rPr>
              <a:t>bank</a:t>
            </a:r>
            <a:r>
              <a:rPr lang="en-GB" sz="1800">
                <a:solidFill>
                  <a:srgbClr val="C55A11"/>
                </a:solidFill>
              </a:rPr>
              <a:t> on her quick thinking to overcome the challenges </a:t>
            </a:r>
            <a:r>
              <a:rPr lang="en-GB" sz="1800">
                <a:solidFill>
                  <a:schemeClr val="dk1"/>
                </a:solidFill>
              </a:rPr>
              <a:t>”</a:t>
            </a:r>
            <a:endParaRPr sz="1800">
              <a:solidFill>
                <a:srgbClr val="C55A11"/>
              </a:solidFill>
            </a:endParaRPr>
          </a:p>
          <a:p>
            <a:pPr marL="0" marR="0" lvl="0" indent="0" algn="l" rtl="0">
              <a:lnSpc>
                <a:spcPct val="115000"/>
              </a:lnSpc>
              <a:spcBef>
                <a:spcPts val="0"/>
              </a:spcBef>
              <a:spcAft>
                <a:spcPts val="0"/>
              </a:spcAft>
              <a:buNone/>
            </a:pPr>
            <a:r>
              <a:rPr lang="en-GB" sz="1800">
                <a:solidFill>
                  <a:schemeClr val="dk1"/>
                </a:solidFill>
              </a:rPr>
              <a:t>“</a:t>
            </a:r>
            <a:r>
              <a:rPr lang="en-GB" sz="1800">
                <a:solidFill>
                  <a:srgbClr val="C55A11"/>
                </a:solidFill>
              </a:rPr>
              <a:t>… the hospital requested donations to replenish their blood </a:t>
            </a:r>
            <a:r>
              <a:rPr lang="en-GB" sz="1800" b="1">
                <a:solidFill>
                  <a:schemeClr val="dk1"/>
                </a:solidFill>
              </a:rPr>
              <a:t>bank </a:t>
            </a:r>
            <a:r>
              <a:rPr lang="en-GB" sz="1800">
                <a:solidFill>
                  <a:schemeClr val="dk1"/>
                </a:solidFill>
              </a:rPr>
              <a:t>”</a:t>
            </a:r>
            <a:endParaRPr sz="1800">
              <a:solidFill>
                <a:srgbClr val="C55A11"/>
              </a:solidFill>
            </a:endParaRPr>
          </a:p>
          <a:p>
            <a:pPr marL="0" marR="0" lvl="0" indent="0" algn="l" rtl="0">
              <a:lnSpc>
                <a:spcPct val="115000"/>
              </a:lnSpc>
              <a:spcBef>
                <a:spcPts val="0"/>
              </a:spcBef>
              <a:spcAft>
                <a:spcPts val="0"/>
              </a:spcAft>
              <a:buNone/>
            </a:pPr>
            <a:r>
              <a:rPr lang="en-GB" sz="1800">
                <a:solidFill>
                  <a:schemeClr val="dk1"/>
                </a:solidFill>
              </a:rPr>
              <a:t>“</a:t>
            </a:r>
            <a:r>
              <a:rPr lang="en-GB" sz="1800">
                <a:solidFill>
                  <a:srgbClr val="C55A11"/>
                </a:solidFill>
              </a:rPr>
              <a:t>… she made a </a:t>
            </a:r>
            <a:r>
              <a:rPr lang="en-GB" sz="1800" b="1">
                <a:solidFill>
                  <a:schemeClr val="dk1"/>
                </a:solidFill>
              </a:rPr>
              <a:t>bank</a:t>
            </a:r>
            <a:r>
              <a:rPr lang="en-GB" sz="1800">
                <a:solidFill>
                  <a:srgbClr val="C55A11"/>
                </a:solidFill>
              </a:rPr>
              <a:t> shot, pocketing the eight ball in the corner </a:t>
            </a:r>
            <a:r>
              <a:rPr lang="en-GB" sz="1800">
                <a:solidFill>
                  <a:schemeClr val="dk1"/>
                </a:solidFill>
              </a:rPr>
              <a:t>”</a:t>
            </a:r>
            <a:endParaRPr sz="1800">
              <a:solidFill>
                <a:srgbClr val="C55A11"/>
              </a:solidFill>
            </a:endParaRPr>
          </a:p>
          <a:p>
            <a:pPr marL="0" marR="0" lvl="0" indent="0" algn="l" rtl="0">
              <a:lnSpc>
                <a:spcPct val="115000"/>
              </a:lnSpc>
              <a:spcBef>
                <a:spcPts val="0"/>
              </a:spcBef>
              <a:spcAft>
                <a:spcPts val="0"/>
              </a:spcAft>
              <a:buNone/>
            </a:pPr>
            <a:r>
              <a:rPr lang="en-GB" sz="1800">
                <a:solidFill>
                  <a:schemeClr val="dk1"/>
                </a:solidFill>
              </a:rPr>
              <a:t>“</a:t>
            </a:r>
            <a:r>
              <a:rPr lang="en-GB" sz="1800">
                <a:solidFill>
                  <a:srgbClr val="C55A11"/>
                </a:solidFill>
              </a:rPr>
              <a:t>… the pilot needed to </a:t>
            </a:r>
            <a:r>
              <a:rPr lang="en-GB" sz="1800" b="1">
                <a:solidFill>
                  <a:schemeClr val="dk1"/>
                </a:solidFill>
              </a:rPr>
              <a:t>bank</a:t>
            </a:r>
            <a:r>
              <a:rPr lang="en-GB" sz="1800">
                <a:solidFill>
                  <a:srgbClr val="C55A11"/>
                </a:solidFill>
              </a:rPr>
              <a:t> the plane sharply to the right </a:t>
            </a:r>
            <a:r>
              <a:rPr lang="en-GB" sz="1800">
                <a:solidFill>
                  <a:schemeClr val="dk1"/>
                </a:solidFill>
              </a:rPr>
              <a:t>”</a:t>
            </a:r>
            <a:endParaRPr sz="1800">
              <a:solidFill>
                <a:schemeClr val="dk1"/>
              </a:solidFill>
            </a:endParaRPr>
          </a:p>
        </p:txBody>
      </p:sp>
      <p:sp>
        <p:nvSpPr>
          <p:cNvPr id="132" name="Google Shape;132;p22"/>
          <p:cNvSpPr txBox="1"/>
          <p:nvPr/>
        </p:nvSpPr>
        <p:spPr>
          <a:xfrm>
            <a:off x="4675925" y="382175"/>
            <a:ext cx="3680100" cy="698400"/>
          </a:xfrm>
          <a:prstGeom prst="rect">
            <a:avLst/>
          </a:prstGeom>
          <a:solidFill>
            <a:schemeClr val="accent6"/>
          </a:solidFill>
          <a:ln w="19050" cap="flat" cmpd="sng">
            <a:solidFill>
              <a:schemeClr val="accent5"/>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GB" sz="1800" b="1">
                <a:solidFill>
                  <a:schemeClr val="accent5"/>
                </a:solidFill>
              </a:rPr>
              <a:t>Hypothesis: </a:t>
            </a:r>
            <a:r>
              <a:rPr lang="en-GB" sz="1800">
                <a:solidFill>
                  <a:schemeClr val="accent5"/>
                </a:solidFill>
              </a:rPr>
              <a:t>Context distribution captures word meaning</a:t>
            </a:r>
            <a:endParaRPr sz="1800">
              <a:solidFill>
                <a:schemeClr val="accent5"/>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sp>
        <p:nvSpPr>
          <p:cNvPr id="137" name="Google Shape;137;p23"/>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Co-occurrence Matrix</a:t>
            </a:r>
            <a:endParaRPr/>
          </a:p>
        </p:txBody>
      </p:sp>
      <p:sp>
        <p:nvSpPr>
          <p:cNvPr id="138" name="Google Shape;138;p23"/>
          <p:cNvSpPr txBox="1">
            <a:spLocks noGrp="1"/>
          </p:cNvSpPr>
          <p:nvPr>
            <p:ph type="body" idx="1"/>
          </p:nvPr>
        </p:nvSpPr>
        <p:spPr>
          <a:xfrm>
            <a:off x="311700" y="1152475"/>
            <a:ext cx="8520600" cy="520500"/>
          </a:xfrm>
          <a:prstGeom prst="rect">
            <a:avLst/>
          </a:prstGeom>
        </p:spPr>
        <p:txBody>
          <a:bodyPr spcFirstLastPara="1" wrap="square" lIns="91425" tIns="91425" rIns="91425" bIns="91425" anchor="t" anchorCtr="0">
            <a:normAutofit fontScale="92500" lnSpcReduction="20000"/>
          </a:bodyPr>
          <a:lstStyle/>
          <a:p>
            <a:pPr marL="457200" lvl="0" indent="-342900" algn="l" rtl="0">
              <a:spcBef>
                <a:spcPts val="0"/>
              </a:spcBef>
              <a:spcAft>
                <a:spcPts val="0"/>
              </a:spcAft>
              <a:buSzPts val="1800"/>
              <a:buChar char="●"/>
            </a:pPr>
            <a:r>
              <a:rPr lang="en-GB"/>
              <a:t>Given a large corpus, form the matrix of word co-occurrence counts</a:t>
            </a:r>
            <a:endParaRPr b="1"/>
          </a:p>
        </p:txBody>
      </p:sp>
      <p:sp>
        <p:nvSpPr>
          <p:cNvPr id="139" name="Google Shape;139;p23"/>
          <p:cNvSpPr txBox="1">
            <a:spLocks noGrp="1"/>
          </p:cNvSpPr>
          <p:nvPr>
            <p:ph type="body" idx="1"/>
          </p:nvPr>
        </p:nvSpPr>
        <p:spPr>
          <a:xfrm>
            <a:off x="431625" y="3239126"/>
            <a:ext cx="8520600" cy="15096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en-GB"/>
              <a:t>The vector representation of a word is its </a:t>
            </a:r>
            <a:r>
              <a:rPr lang="en-GB">
                <a:solidFill>
                  <a:schemeClr val="accent5"/>
                </a:solidFill>
              </a:rPr>
              <a:t>row in the matrix</a:t>
            </a:r>
            <a:endParaRPr>
              <a:solidFill>
                <a:schemeClr val="accent5"/>
              </a:solidFill>
            </a:endParaRPr>
          </a:p>
          <a:p>
            <a:pPr marL="914400" lvl="1" indent="-368300" algn="l" rtl="0">
              <a:spcBef>
                <a:spcPts val="0"/>
              </a:spcBef>
              <a:spcAft>
                <a:spcPts val="0"/>
              </a:spcAft>
              <a:buSzPts val="2200"/>
              <a:buChar char="○"/>
            </a:pPr>
            <a:r>
              <a:rPr lang="en-GB"/>
              <a:t>Better: take the log-counts </a:t>
            </a:r>
            <a:r>
              <a:rPr lang="en-GB" b="1"/>
              <a:t>(why?)</a:t>
            </a:r>
            <a:endParaRPr b="1"/>
          </a:p>
          <a:p>
            <a:pPr marL="914400" lvl="1" indent="-368300" algn="l" rtl="0">
              <a:spcBef>
                <a:spcPts val="0"/>
              </a:spcBef>
              <a:spcAft>
                <a:spcPts val="0"/>
              </a:spcAft>
              <a:buSzPts val="2200"/>
              <a:buChar char="○"/>
            </a:pPr>
            <a:r>
              <a:rPr lang="en-GB"/>
              <a:t>Better: normalize the rows </a:t>
            </a:r>
            <a:r>
              <a:rPr lang="en-GB" b="1"/>
              <a:t>(why?)</a:t>
            </a:r>
            <a:endParaRPr>
              <a:solidFill>
                <a:srgbClr val="C55A11"/>
              </a:solidFill>
            </a:endParaRPr>
          </a:p>
        </p:txBody>
      </p:sp>
      <p:graphicFrame>
        <p:nvGraphicFramePr>
          <p:cNvPr id="140" name="Google Shape;140;p23"/>
          <p:cNvGraphicFramePr/>
          <p:nvPr/>
        </p:nvGraphicFramePr>
        <p:xfrm>
          <a:off x="988827" y="1933343"/>
          <a:ext cx="7657000" cy="1188630"/>
        </p:xfrm>
        <a:graphic>
          <a:graphicData uri="http://schemas.openxmlformats.org/drawingml/2006/table">
            <a:tbl>
              <a:tblPr>
                <a:noFill/>
                <a:tableStyleId>{607A8313-7948-4317-B581-54D8B66CF1AD}</a:tableStyleId>
              </a:tblPr>
              <a:tblGrid>
                <a:gridCol w="382850">
                  <a:extLst>
                    <a:ext uri="{9D8B030D-6E8A-4147-A177-3AD203B41FA5}">
                      <a16:colId xmlns:a16="http://schemas.microsoft.com/office/drawing/2014/main" val="20000"/>
                    </a:ext>
                  </a:extLst>
                </a:gridCol>
                <a:gridCol w="382850">
                  <a:extLst>
                    <a:ext uri="{9D8B030D-6E8A-4147-A177-3AD203B41FA5}">
                      <a16:colId xmlns:a16="http://schemas.microsoft.com/office/drawing/2014/main" val="20001"/>
                    </a:ext>
                  </a:extLst>
                </a:gridCol>
                <a:gridCol w="382850">
                  <a:extLst>
                    <a:ext uri="{9D8B030D-6E8A-4147-A177-3AD203B41FA5}">
                      <a16:colId xmlns:a16="http://schemas.microsoft.com/office/drawing/2014/main" val="20002"/>
                    </a:ext>
                  </a:extLst>
                </a:gridCol>
                <a:gridCol w="382850">
                  <a:extLst>
                    <a:ext uri="{9D8B030D-6E8A-4147-A177-3AD203B41FA5}">
                      <a16:colId xmlns:a16="http://schemas.microsoft.com/office/drawing/2014/main" val="20003"/>
                    </a:ext>
                  </a:extLst>
                </a:gridCol>
                <a:gridCol w="382850">
                  <a:extLst>
                    <a:ext uri="{9D8B030D-6E8A-4147-A177-3AD203B41FA5}">
                      <a16:colId xmlns:a16="http://schemas.microsoft.com/office/drawing/2014/main" val="20004"/>
                    </a:ext>
                  </a:extLst>
                </a:gridCol>
                <a:gridCol w="382850">
                  <a:extLst>
                    <a:ext uri="{9D8B030D-6E8A-4147-A177-3AD203B41FA5}">
                      <a16:colId xmlns:a16="http://schemas.microsoft.com/office/drawing/2014/main" val="20005"/>
                    </a:ext>
                  </a:extLst>
                </a:gridCol>
                <a:gridCol w="382850">
                  <a:extLst>
                    <a:ext uri="{9D8B030D-6E8A-4147-A177-3AD203B41FA5}">
                      <a16:colId xmlns:a16="http://schemas.microsoft.com/office/drawing/2014/main" val="20006"/>
                    </a:ext>
                  </a:extLst>
                </a:gridCol>
                <a:gridCol w="382850">
                  <a:extLst>
                    <a:ext uri="{9D8B030D-6E8A-4147-A177-3AD203B41FA5}">
                      <a16:colId xmlns:a16="http://schemas.microsoft.com/office/drawing/2014/main" val="20007"/>
                    </a:ext>
                  </a:extLst>
                </a:gridCol>
                <a:gridCol w="382850">
                  <a:extLst>
                    <a:ext uri="{9D8B030D-6E8A-4147-A177-3AD203B41FA5}">
                      <a16:colId xmlns:a16="http://schemas.microsoft.com/office/drawing/2014/main" val="20008"/>
                    </a:ext>
                  </a:extLst>
                </a:gridCol>
                <a:gridCol w="382850">
                  <a:extLst>
                    <a:ext uri="{9D8B030D-6E8A-4147-A177-3AD203B41FA5}">
                      <a16:colId xmlns:a16="http://schemas.microsoft.com/office/drawing/2014/main" val="20009"/>
                    </a:ext>
                  </a:extLst>
                </a:gridCol>
                <a:gridCol w="382850">
                  <a:extLst>
                    <a:ext uri="{9D8B030D-6E8A-4147-A177-3AD203B41FA5}">
                      <a16:colId xmlns:a16="http://schemas.microsoft.com/office/drawing/2014/main" val="20010"/>
                    </a:ext>
                  </a:extLst>
                </a:gridCol>
                <a:gridCol w="382850">
                  <a:extLst>
                    <a:ext uri="{9D8B030D-6E8A-4147-A177-3AD203B41FA5}">
                      <a16:colId xmlns:a16="http://schemas.microsoft.com/office/drawing/2014/main" val="20011"/>
                    </a:ext>
                  </a:extLst>
                </a:gridCol>
                <a:gridCol w="382850">
                  <a:extLst>
                    <a:ext uri="{9D8B030D-6E8A-4147-A177-3AD203B41FA5}">
                      <a16:colId xmlns:a16="http://schemas.microsoft.com/office/drawing/2014/main" val="20012"/>
                    </a:ext>
                  </a:extLst>
                </a:gridCol>
                <a:gridCol w="382850">
                  <a:extLst>
                    <a:ext uri="{9D8B030D-6E8A-4147-A177-3AD203B41FA5}">
                      <a16:colId xmlns:a16="http://schemas.microsoft.com/office/drawing/2014/main" val="20013"/>
                    </a:ext>
                  </a:extLst>
                </a:gridCol>
                <a:gridCol w="382850">
                  <a:extLst>
                    <a:ext uri="{9D8B030D-6E8A-4147-A177-3AD203B41FA5}">
                      <a16:colId xmlns:a16="http://schemas.microsoft.com/office/drawing/2014/main" val="20014"/>
                    </a:ext>
                  </a:extLst>
                </a:gridCol>
                <a:gridCol w="382850">
                  <a:extLst>
                    <a:ext uri="{9D8B030D-6E8A-4147-A177-3AD203B41FA5}">
                      <a16:colId xmlns:a16="http://schemas.microsoft.com/office/drawing/2014/main" val="20015"/>
                    </a:ext>
                  </a:extLst>
                </a:gridCol>
                <a:gridCol w="382850">
                  <a:extLst>
                    <a:ext uri="{9D8B030D-6E8A-4147-A177-3AD203B41FA5}">
                      <a16:colId xmlns:a16="http://schemas.microsoft.com/office/drawing/2014/main" val="20016"/>
                    </a:ext>
                  </a:extLst>
                </a:gridCol>
                <a:gridCol w="382850">
                  <a:extLst>
                    <a:ext uri="{9D8B030D-6E8A-4147-A177-3AD203B41FA5}">
                      <a16:colId xmlns:a16="http://schemas.microsoft.com/office/drawing/2014/main" val="20017"/>
                    </a:ext>
                  </a:extLst>
                </a:gridCol>
                <a:gridCol w="382850">
                  <a:extLst>
                    <a:ext uri="{9D8B030D-6E8A-4147-A177-3AD203B41FA5}">
                      <a16:colId xmlns:a16="http://schemas.microsoft.com/office/drawing/2014/main" val="20018"/>
                    </a:ext>
                  </a:extLst>
                </a:gridCol>
                <a:gridCol w="382850">
                  <a:extLst>
                    <a:ext uri="{9D8B030D-6E8A-4147-A177-3AD203B41FA5}">
                      <a16:colId xmlns:a16="http://schemas.microsoft.com/office/drawing/2014/main" val="20019"/>
                    </a:ext>
                  </a:extLst>
                </a:gridCol>
              </a:tblGrid>
              <a:tr h="381000">
                <a:tc>
                  <a:txBody>
                    <a:bodyPr/>
                    <a:lstStyle/>
                    <a:p>
                      <a:pPr marL="0" lvl="0" indent="0" algn="l" rtl="0">
                        <a:spcBef>
                          <a:spcPts val="0"/>
                        </a:spcBef>
                        <a:spcAft>
                          <a:spcPts val="0"/>
                        </a:spcAft>
                        <a:buNone/>
                      </a:pPr>
                      <a:endParaRPr/>
                    </a:p>
                  </a:txBody>
                  <a:tcPr marL="91425" marR="91425" marT="91425" marB="91425"/>
                </a:tc>
                <a:tc>
                  <a:txBody>
                    <a:bodyPr/>
                    <a:lstStyle/>
                    <a:p>
                      <a:pPr marL="0" lvl="0" indent="0" algn="l" rtl="0">
                        <a:spcBef>
                          <a:spcPts val="0"/>
                        </a:spcBef>
                        <a:spcAft>
                          <a:spcPts val="0"/>
                        </a:spcAft>
                        <a:buNone/>
                      </a:pPr>
                      <a:r>
                        <a:rPr lang="en-GB"/>
                        <a:t>14</a:t>
                      </a:r>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tc>
                  <a:txBody>
                    <a:bodyPr/>
                    <a:lstStyle/>
                    <a:p>
                      <a:pPr marL="0" lvl="0" indent="0" algn="l" rtl="0">
                        <a:spcBef>
                          <a:spcPts val="0"/>
                        </a:spcBef>
                        <a:spcAft>
                          <a:spcPts val="0"/>
                        </a:spcAft>
                        <a:buNone/>
                      </a:pPr>
                      <a:r>
                        <a:rPr lang="en-GB"/>
                        <a:t>12</a:t>
                      </a:r>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tc>
                  <a:txBody>
                    <a:bodyPr/>
                    <a:lstStyle/>
                    <a:p>
                      <a:pPr marL="0" lvl="0" indent="0" algn="l" rtl="0">
                        <a:spcBef>
                          <a:spcPts val="0"/>
                        </a:spcBef>
                        <a:spcAft>
                          <a:spcPts val="0"/>
                        </a:spcAft>
                        <a:buNone/>
                      </a:pPr>
                      <a:r>
                        <a:rPr lang="en-GB"/>
                        <a:t>27</a:t>
                      </a:r>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tc>
                  <a:txBody>
                    <a:bodyPr/>
                    <a:lstStyle/>
                    <a:p>
                      <a:pPr marL="0" lvl="0" indent="0" algn="l" rtl="0">
                        <a:spcBef>
                          <a:spcPts val="0"/>
                        </a:spcBef>
                        <a:spcAft>
                          <a:spcPts val="0"/>
                        </a:spcAft>
                        <a:buNone/>
                      </a:pPr>
                      <a:r>
                        <a:rPr lang="en-GB"/>
                        <a:t>3</a:t>
                      </a:r>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tc>
                  <a:txBody>
                    <a:bodyPr/>
                    <a:lstStyle/>
                    <a:p>
                      <a:pPr marL="0" lvl="0" indent="0" algn="l" rtl="0">
                        <a:spcBef>
                          <a:spcPts val="0"/>
                        </a:spcBef>
                        <a:spcAft>
                          <a:spcPts val="0"/>
                        </a:spcAft>
                        <a:buNone/>
                      </a:pPr>
                      <a:r>
                        <a:rPr lang="en-GB"/>
                        <a:t>10</a:t>
                      </a:r>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tc>
                  <a:txBody>
                    <a:bodyPr/>
                    <a:lstStyle/>
                    <a:p>
                      <a:pPr marL="0" lvl="0" indent="0" algn="l" rtl="0">
                        <a:spcBef>
                          <a:spcPts val="0"/>
                        </a:spcBef>
                        <a:spcAft>
                          <a:spcPts val="0"/>
                        </a:spcAft>
                        <a:buNone/>
                      </a:pPr>
                      <a:r>
                        <a:rPr lang="en-GB"/>
                        <a:t>0</a:t>
                      </a:r>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extLst>
                  <a:ext uri="{0D108BD9-81ED-4DB2-BD59-A6C34878D82A}">
                    <a16:rowId xmlns:a16="http://schemas.microsoft.com/office/drawing/2014/main" val="10000"/>
                  </a:ext>
                </a:extLst>
              </a:tr>
              <a:tr h="381000">
                <a:tc>
                  <a:txBody>
                    <a:bodyPr/>
                    <a:lstStyle/>
                    <a:p>
                      <a:pPr marL="0" lvl="0" indent="0" algn="l" rtl="0">
                        <a:spcBef>
                          <a:spcPts val="0"/>
                        </a:spcBef>
                        <a:spcAft>
                          <a:spcPts val="0"/>
                        </a:spcAft>
                        <a:buNone/>
                      </a:pPr>
                      <a:endParaRPr/>
                    </a:p>
                  </a:txBody>
                  <a:tcPr marL="91425" marR="91425" marT="91425" marB="91425">
                    <a:solidFill>
                      <a:schemeClr val="accent6"/>
                    </a:solidFill>
                  </a:tcPr>
                </a:tc>
                <a:tc>
                  <a:txBody>
                    <a:bodyPr/>
                    <a:lstStyle/>
                    <a:p>
                      <a:pPr marL="0" lvl="0" indent="0" algn="l" rtl="0">
                        <a:spcBef>
                          <a:spcPts val="0"/>
                        </a:spcBef>
                        <a:spcAft>
                          <a:spcPts val="0"/>
                        </a:spcAft>
                        <a:buNone/>
                      </a:pPr>
                      <a:r>
                        <a:rPr lang="en-GB"/>
                        <a:t>13</a:t>
                      </a:r>
                      <a:endParaRPr/>
                    </a:p>
                  </a:txBody>
                  <a:tcPr marL="91425" marR="91425" marT="91425" marB="91425">
                    <a:solidFill>
                      <a:schemeClr val="accent6"/>
                    </a:solidFill>
                  </a:tcPr>
                </a:tc>
                <a:tc>
                  <a:txBody>
                    <a:bodyPr/>
                    <a:lstStyle/>
                    <a:p>
                      <a:pPr marL="0" lvl="0" indent="0" algn="l" rtl="0">
                        <a:spcBef>
                          <a:spcPts val="0"/>
                        </a:spcBef>
                        <a:spcAft>
                          <a:spcPts val="0"/>
                        </a:spcAft>
                        <a:buNone/>
                      </a:pPr>
                      <a:endParaRPr/>
                    </a:p>
                  </a:txBody>
                  <a:tcPr marL="91425" marR="91425" marT="91425" marB="91425">
                    <a:solidFill>
                      <a:schemeClr val="accent6"/>
                    </a:solidFill>
                  </a:tcPr>
                </a:tc>
                <a:tc>
                  <a:txBody>
                    <a:bodyPr/>
                    <a:lstStyle/>
                    <a:p>
                      <a:pPr marL="0" lvl="0" indent="0" algn="l" rtl="0">
                        <a:spcBef>
                          <a:spcPts val="0"/>
                        </a:spcBef>
                        <a:spcAft>
                          <a:spcPts val="0"/>
                        </a:spcAft>
                        <a:buNone/>
                      </a:pPr>
                      <a:endParaRPr/>
                    </a:p>
                  </a:txBody>
                  <a:tcPr marL="91425" marR="91425" marT="91425" marB="91425">
                    <a:solidFill>
                      <a:schemeClr val="accent6"/>
                    </a:solidFill>
                  </a:tcPr>
                </a:tc>
                <a:tc>
                  <a:txBody>
                    <a:bodyPr/>
                    <a:lstStyle/>
                    <a:p>
                      <a:pPr marL="0" lvl="0" indent="0" algn="l" rtl="0">
                        <a:spcBef>
                          <a:spcPts val="0"/>
                        </a:spcBef>
                        <a:spcAft>
                          <a:spcPts val="0"/>
                        </a:spcAft>
                        <a:buNone/>
                      </a:pPr>
                      <a:endParaRPr/>
                    </a:p>
                  </a:txBody>
                  <a:tcPr marL="91425" marR="91425" marT="91425" marB="91425">
                    <a:solidFill>
                      <a:schemeClr val="accent6"/>
                    </a:solidFill>
                  </a:tcPr>
                </a:tc>
                <a:tc>
                  <a:txBody>
                    <a:bodyPr/>
                    <a:lstStyle/>
                    <a:p>
                      <a:pPr marL="0" lvl="0" indent="0" algn="l" rtl="0">
                        <a:spcBef>
                          <a:spcPts val="0"/>
                        </a:spcBef>
                        <a:spcAft>
                          <a:spcPts val="0"/>
                        </a:spcAft>
                        <a:buNone/>
                      </a:pPr>
                      <a:r>
                        <a:rPr lang="en-GB"/>
                        <a:t>15</a:t>
                      </a:r>
                      <a:endParaRPr/>
                    </a:p>
                  </a:txBody>
                  <a:tcPr marL="91425" marR="91425" marT="91425" marB="91425">
                    <a:solidFill>
                      <a:schemeClr val="accent6"/>
                    </a:solidFill>
                  </a:tcPr>
                </a:tc>
                <a:tc>
                  <a:txBody>
                    <a:bodyPr/>
                    <a:lstStyle/>
                    <a:p>
                      <a:pPr marL="0" lvl="0" indent="0" algn="l" rtl="0">
                        <a:spcBef>
                          <a:spcPts val="0"/>
                        </a:spcBef>
                        <a:spcAft>
                          <a:spcPts val="0"/>
                        </a:spcAft>
                        <a:buNone/>
                      </a:pPr>
                      <a:endParaRPr/>
                    </a:p>
                  </a:txBody>
                  <a:tcPr marL="91425" marR="91425" marT="91425" marB="91425">
                    <a:solidFill>
                      <a:schemeClr val="accent6"/>
                    </a:solidFill>
                  </a:tcPr>
                </a:tc>
                <a:tc>
                  <a:txBody>
                    <a:bodyPr/>
                    <a:lstStyle/>
                    <a:p>
                      <a:pPr marL="0" lvl="0" indent="0" algn="l" rtl="0">
                        <a:spcBef>
                          <a:spcPts val="0"/>
                        </a:spcBef>
                        <a:spcAft>
                          <a:spcPts val="0"/>
                        </a:spcAft>
                        <a:buNone/>
                      </a:pPr>
                      <a:r>
                        <a:rPr lang="en-GB"/>
                        <a:t>29</a:t>
                      </a:r>
                      <a:endParaRPr/>
                    </a:p>
                  </a:txBody>
                  <a:tcPr marL="91425" marR="91425" marT="91425" marB="91425">
                    <a:solidFill>
                      <a:schemeClr val="accent6"/>
                    </a:solidFill>
                  </a:tcPr>
                </a:tc>
                <a:tc>
                  <a:txBody>
                    <a:bodyPr/>
                    <a:lstStyle/>
                    <a:p>
                      <a:pPr marL="0" lvl="0" indent="0" algn="l" rtl="0">
                        <a:spcBef>
                          <a:spcPts val="0"/>
                        </a:spcBef>
                        <a:spcAft>
                          <a:spcPts val="0"/>
                        </a:spcAft>
                        <a:buNone/>
                      </a:pPr>
                      <a:endParaRPr/>
                    </a:p>
                  </a:txBody>
                  <a:tcPr marL="91425" marR="91425" marT="91425" marB="91425">
                    <a:solidFill>
                      <a:schemeClr val="accent6"/>
                    </a:solidFill>
                  </a:tcPr>
                </a:tc>
                <a:tc>
                  <a:txBody>
                    <a:bodyPr/>
                    <a:lstStyle/>
                    <a:p>
                      <a:pPr marL="0" lvl="0" indent="0" algn="l" rtl="0">
                        <a:spcBef>
                          <a:spcPts val="0"/>
                        </a:spcBef>
                        <a:spcAft>
                          <a:spcPts val="0"/>
                        </a:spcAft>
                        <a:buNone/>
                      </a:pPr>
                      <a:r>
                        <a:rPr lang="en-GB"/>
                        <a:t>2</a:t>
                      </a:r>
                      <a:endParaRPr/>
                    </a:p>
                  </a:txBody>
                  <a:tcPr marL="91425" marR="91425" marT="91425" marB="91425">
                    <a:solidFill>
                      <a:schemeClr val="accent6"/>
                    </a:solidFill>
                  </a:tcPr>
                </a:tc>
                <a:tc>
                  <a:txBody>
                    <a:bodyPr/>
                    <a:lstStyle/>
                    <a:p>
                      <a:pPr marL="0" lvl="0" indent="0" algn="l" rtl="0">
                        <a:spcBef>
                          <a:spcPts val="0"/>
                        </a:spcBef>
                        <a:spcAft>
                          <a:spcPts val="0"/>
                        </a:spcAft>
                        <a:buNone/>
                      </a:pPr>
                      <a:endParaRPr/>
                    </a:p>
                  </a:txBody>
                  <a:tcPr marL="91425" marR="91425" marT="91425" marB="91425">
                    <a:solidFill>
                      <a:schemeClr val="accent6"/>
                    </a:solidFill>
                  </a:tcPr>
                </a:tc>
                <a:tc>
                  <a:txBody>
                    <a:bodyPr/>
                    <a:lstStyle/>
                    <a:p>
                      <a:pPr marL="0" lvl="0" indent="0" algn="l" rtl="0">
                        <a:spcBef>
                          <a:spcPts val="0"/>
                        </a:spcBef>
                        <a:spcAft>
                          <a:spcPts val="0"/>
                        </a:spcAft>
                        <a:buNone/>
                      </a:pPr>
                      <a:endParaRPr/>
                    </a:p>
                  </a:txBody>
                  <a:tcPr marL="91425" marR="91425" marT="91425" marB="91425">
                    <a:solidFill>
                      <a:schemeClr val="accent6"/>
                    </a:solidFill>
                  </a:tcPr>
                </a:tc>
                <a:tc>
                  <a:txBody>
                    <a:bodyPr/>
                    <a:lstStyle/>
                    <a:p>
                      <a:pPr marL="0" lvl="0" indent="0" algn="l" rtl="0">
                        <a:spcBef>
                          <a:spcPts val="0"/>
                        </a:spcBef>
                        <a:spcAft>
                          <a:spcPts val="0"/>
                        </a:spcAft>
                        <a:buNone/>
                      </a:pPr>
                      <a:r>
                        <a:rPr lang="en-GB"/>
                        <a:t>9</a:t>
                      </a:r>
                      <a:endParaRPr/>
                    </a:p>
                  </a:txBody>
                  <a:tcPr marL="91425" marR="91425" marT="91425" marB="91425">
                    <a:solidFill>
                      <a:schemeClr val="accent6"/>
                    </a:solidFill>
                  </a:tcPr>
                </a:tc>
                <a:tc>
                  <a:txBody>
                    <a:bodyPr/>
                    <a:lstStyle/>
                    <a:p>
                      <a:pPr marL="0" lvl="0" indent="0" algn="l" rtl="0">
                        <a:spcBef>
                          <a:spcPts val="0"/>
                        </a:spcBef>
                        <a:spcAft>
                          <a:spcPts val="0"/>
                        </a:spcAft>
                        <a:buNone/>
                      </a:pPr>
                      <a:endParaRPr/>
                    </a:p>
                  </a:txBody>
                  <a:tcPr marL="91425" marR="91425" marT="91425" marB="91425">
                    <a:solidFill>
                      <a:schemeClr val="accent6"/>
                    </a:solidFill>
                  </a:tcPr>
                </a:tc>
                <a:tc>
                  <a:txBody>
                    <a:bodyPr/>
                    <a:lstStyle/>
                    <a:p>
                      <a:pPr marL="0" lvl="0" indent="0" algn="l" rtl="0">
                        <a:spcBef>
                          <a:spcPts val="0"/>
                        </a:spcBef>
                        <a:spcAft>
                          <a:spcPts val="0"/>
                        </a:spcAft>
                        <a:buNone/>
                      </a:pPr>
                      <a:endParaRPr/>
                    </a:p>
                  </a:txBody>
                  <a:tcPr marL="91425" marR="91425" marT="91425" marB="91425">
                    <a:solidFill>
                      <a:schemeClr val="accent6"/>
                    </a:solidFill>
                  </a:tcPr>
                </a:tc>
                <a:tc>
                  <a:txBody>
                    <a:bodyPr/>
                    <a:lstStyle/>
                    <a:p>
                      <a:pPr marL="0" lvl="0" indent="0" algn="l" rtl="0">
                        <a:spcBef>
                          <a:spcPts val="0"/>
                        </a:spcBef>
                        <a:spcAft>
                          <a:spcPts val="0"/>
                        </a:spcAft>
                        <a:buNone/>
                      </a:pPr>
                      <a:endParaRPr/>
                    </a:p>
                  </a:txBody>
                  <a:tcPr marL="91425" marR="91425" marT="91425" marB="91425">
                    <a:solidFill>
                      <a:schemeClr val="accent6"/>
                    </a:solidFill>
                  </a:tcPr>
                </a:tc>
                <a:tc>
                  <a:txBody>
                    <a:bodyPr/>
                    <a:lstStyle/>
                    <a:p>
                      <a:pPr marL="0" lvl="0" indent="0" algn="l" rtl="0">
                        <a:spcBef>
                          <a:spcPts val="0"/>
                        </a:spcBef>
                        <a:spcAft>
                          <a:spcPts val="0"/>
                        </a:spcAft>
                        <a:buNone/>
                      </a:pPr>
                      <a:r>
                        <a:rPr lang="en-GB"/>
                        <a:t>1</a:t>
                      </a:r>
                      <a:endParaRPr/>
                    </a:p>
                  </a:txBody>
                  <a:tcPr marL="91425" marR="91425" marT="91425" marB="91425">
                    <a:solidFill>
                      <a:schemeClr val="accent6"/>
                    </a:solidFill>
                  </a:tcPr>
                </a:tc>
                <a:tc>
                  <a:txBody>
                    <a:bodyPr/>
                    <a:lstStyle/>
                    <a:p>
                      <a:pPr marL="0" lvl="0" indent="0" algn="l" rtl="0">
                        <a:spcBef>
                          <a:spcPts val="0"/>
                        </a:spcBef>
                        <a:spcAft>
                          <a:spcPts val="0"/>
                        </a:spcAft>
                        <a:buNone/>
                      </a:pPr>
                      <a:endParaRPr/>
                    </a:p>
                  </a:txBody>
                  <a:tcPr marL="91425" marR="91425" marT="91425" marB="91425">
                    <a:solidFill>
                      <a:schemeClr val="accent6"/>
                    </a:solidFill>
                  </a:tcPr>
                </a:tc>
                <a:tc>
                  <a:txBody>
                    <a:bodyPr/>
                    <a:lstStyle/>
                    <a:p>
                      <a:pPr marL="0" lvl="0" indent="0" algn="l" rtl="0">
                        <a:spcBef>
                          <a:spcPts val="0"/>
                        </a:spcBef>
                        <a:spcAft>
                          <a:spcPts val="0"/>
                        </a:spcAft>
                        <a:buNone/>
                      </a:pPr>
                      <a:endParaRPr/>
                    </a:p>
                  </a:txBody>
                  <a:tcPr marL="91425" marR="91425" marT="91425" marB="91425">
                    <a:solidFill>
                      <a:schemeClr val="accent6"/>
                    </a:solidFill>
                  </a:tcPr>
                </a:tc>
                <a:tc>
                  <a:txBody>
                    <a:bodyPr/>
                    <a:lstStyle/>
                    <a:p>
                      <a:pPr marL="0" lvl="0" indent="0" algn="l" rtl="0">
                        <a:spcBef>
                          <a:spcPts val="0"/>
                        </a:spcBef>
                        <a:spcAft>
                          <a:spcPts val="0"/>
                        </a:spcAft>
                        <a:buNone/>
                      </a:pPr>
                      <a:endParaRPr/>
                    </a:p>
                  </a:txBody>
                  <a:tcPr marL="91425" marR="91425" marT="91425" marB="91425">
                    <a:solidFill>
                      <a:schemeClr val="accent6"/>
                    </a:solidFill>
                  </a:tcPr>
                </a:tc>
                <a:extLst>
                  <a:ext uri="{0D108BD9-81ED-4DB2-BD59-A6C34878D82A}">
                    <a16:rowId xmlns:a16="http://schemas.microsoft.com/office/drawing/2014/main" val="10001"/>
                  </a:ext>
                </a:extLst>
              </a:tr>
              <a:tr h="381000">
                <a:tc>
                  <a:txBody>
                    <a:bodyPr/>
                    <a:lstStyle/>
                    <a:p>
                      <a:pPr marL="0" lvl="0" indent="0" algn="l" rtl="0">
                        <a:spcBef>
                          <a:spcPts val="0"/>
                        </a:spcBef>
                        <a:spcAft>
                          <a:spcPts val="0"/>
                        </a:spcAft>
                        <a:buNone/>
                      </a:pPr>
                      <a:endParaRPr/>
                    </a:p>
                  </a:txBody>
                  <a:tcPr marL="91425" marR="91425" marT="91425" marB="91425"/>
                </a:tc>
                <a:tc>
                  <a:txBody>
                    <a:bodyPr/>
                    <a:lstStyle/>
                    <a:p>
                      <a:pPr marL="0" lvl="0" indent="0" algn="l" rtl="0">
                        <a:spcBef>
                          <a:spcPts val="0"/>
                        </a:spcBef>
                        <a:spcAft>
                          <a:spcPts val="0"/>
                        </a:spcAft>
                        <a:buNone/>
                      </a:pPr>
                      <a:r>
                        <a:rPr lang="en-GB"/>
                        <a:t>3</a:t>
                      </a:r>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tc>
                  <a:txBody>
                    <a:bodyPr/>
                    <a:lstStyle/>
                    <a:p>
                      <a:pPr marL="0" lvl="0" indent="0" algn="l" rtl="0">
                        <a:spcBef>
                          <a:spcPts val="0"/>
                        </a:spcBef>
                        <a:spcAft>
                          <a:spcPts val="0"/>
                        </a:spcAft>
                        <a:buNone/>
                      </a:pPr>
                      <a:r>
                        <a:rPr lang="en-GB"/>
                        <a:t>1</a:t>
                      </a:r>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tc>
                  <a:txBody>
                    <a:bodyPr/>
                    <a:lstStyle/>
                    <a:p>
                      <a:pPr marL="0" lvl="0" indent="0" algn="l" rtl="0">
                        <a:spcBef>
                          <a:spcPts val="0"/>
                        </a:spcBef>
                        <a:spcAft>
                          <a:spcPts val="0"/>
                        </a:spcAft>
                        <a:buNone/>
                      </a:pPr>
                      <a:r>
                        <a:rPr lang="en-GB"/>
                        <a:t>14</a:t>
                      </a:r>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tc>
                  <a:txBody>
                    <a:bodyPr/>
                    <a:lstStyle/>
                    <a:p>
                      <a:pPr marL="0" lvl="0" indent="0" algn="l" rtl="0">
                        <a:spcBef>
                          <a:spcPts val="0"/>
                        </a:spcBef>
                        <a:spcAft>
                          <a:spcPts val="0"/>
                        </a:spcAft>
                        <a:buNone/>
                      </a:pPr>
                      <a:r>
                        <a:rPr lang="en-GB"/>
                        <a:t>33</a:t>
                      </a:r>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tc>
                  <a:txBody>
                    <a:bodyPr/>
                    <a:lstStyle/>
                    <a:p>
                      <a:pPr marL="0" lvl="0" indent="0" algn="l" rtl="0">
                        <a:spcBef>
                          <a:spcPts val="0"/>
                        </a:spcBef>
                        <a:spcAft>
                          <a:spcPts val="0"/>
                        </a:spcAft>
                        <a:buNone/>
                      </a:pPr>
                      <a:r>
                        <a:rPr lang="en-GB"/>
                        <a:t>12</a:t>
                      </a:r>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tc>
                  <a:txBody>
                    <a:bodyPr/>
                    <a:lstStyle/>
                    <a:p>
                      <a:pPr marL="0" lvl="0" indent="0" algn="l" rtl="0">
                        <a:spcBef>
                          <a:spcPts val="0"/>
                        </a:spcBef>
                        <a:spcAft>
                          <a:spcPts val="0"/>
                        </a:spcAft>
                        <a:buNone/>
                      </a:pPr>
                      <a:r>
                        <a:rPr lang="en-GB"/>
                        <a:t>29</a:t>
                      </a:r>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extLst>
                  <a:ext uri="{0D108BD9-81ED-4DB2-BD59-A6C34878D82A}">
                    <a16:rowId xmlns:a16="http://schemas.microsoft.com/office/drawing/2014/main" val="10002"/>
                  </a:ext>
                </a:extLst>
              </a:tr>
            </a:tbl>
          </a:graphicData>
        </a:graphic>
      </p:graphicFrame>
      <p:sp>
        <p:nvSpPr>
          <p:cNvPr id="141" name="Google Shape;141;p23"/>
          <p:cNvSpPr txBox="1"/>
          <p:nvPr/>
        </p:nvSpPr>
        <p:spPr>
          <a:xfrm>
            <a:off x="215784" y="1928325"/>
            <a:ext cx="8511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b="1">
                <a:solidFill>
                  <a:schemeClr val="accent5"/>
                </a:solidFill>
              </a:rPr>
              <a:t>movie</a:t>
            </a:r>
            <a:endParaRPr b="1">
              <a:solidFill>
                <a:schemeClr val="accent5"/>
              </a:solidFill>
            </a:endParaRPr>
          </a:p>
        </p:txBody>
      </p:sp>
      <p:sp>
        <p:nvSpPr>
          <p:cNvPr id="142" name="Google Shape;142;p23"/>
          <p:cNvSpPr txBox="1"/>
          <p:nvPr/>
        </p:nvSpPr>
        <p:spPr>
          <a:xfrm>
            <a:off x="1182240" y="1528125"/>
            <a:ext cx="8511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b="1">
                <a:solidFill>
                  <a:srgbClr val="C55A11"/>
                </a:solidFill>
              </a:rPr>
              <a:t>cinema</a:t>
            </a:r>
            <a:endParaRPr b="1">
              <a:solidFill>
                <a:srgbClr val="C55A11"/>
              </a:solidFill>
            </a:endParaRPr>
          </a:p>
        </p:txBody>
      </p:sp>
      <p:sp>
        <p:nvSpPr>
          <p:cNvPr id="143" name="Google Shape;143;p23"/>
          <p:cNvSpPr txBox="1"/>
          <p:nvPr/>
        </p:nvSpPr>
        <p:spPr>
          <a:xfrm>
            <a:off x="2683945" y="1528125"/>
            <a:ext cx="8511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b="1">
                <a:solidFill>
                  <a:srgbClr val="C55A11"/>
                </a:solidFill>
              </a:rPr>
              <a:t>tickets</a:t>
            </a:r>
            <a:endParaRPr b="1">
              <a:solidFill>
                <a:srgbClr val="C55A11"/>
              </a:solidFill>
            </a:endParaRPr>
          </a:p>
        </p:txBody>
      </p:sp>
      <p:sp>
        <p:nvSpPr>
          <p:cNvPr id="144" name="Google Shape;144;p23"/>
          <p:cNvSpPr txBox="1"/>
          <p:nvPr/>
        </p:nvSpPr>
        <p:spPr>
          <a:xfrm>
            <a:off x="3624249" y="1528125"/>
            <a:ext cx="8511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b="1">
                <a:solidFill>
                  <a:srgbClr val="C55A11"/>
                </a:solidFill>
              </a:rPr>
              <a:t>star</a:t>
            </a:r>
            <a:endParaRPr b="1">
              <a:solidFill>
                <a:srgbClr val="C55A11"/>
              </a:solidFill>
            </a:endParaRPr>
          </a:p>
        </p:txBody>
      </p:sp>
      <p:sp>
        <p:nvSpPr>
          <p:cNvPr id="145" name="Google Shape;145;p23"/>
          <p:cNvSpPr txBox="1"/>
          <p:nvPr/>
        </p:nvSpPr>
        <p:spPr>
          <a:xfrm>
            <a:off x="5386242" y="1528125"/>
            <a:ext cx="8511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b="1">
                <a:solidFill>
                  <a:srgbClr val="C55A11"/>
                </a:solidFill>
              </a:rPr>
              <a:t>review</a:t>
            </a:r>
            <a:endParaRPr b="1">
              <a:solidFill>
                <a:srgbClr val="C55A11"/>
              </a:solidFill>
            </a:endParaRPr>
          </a:p>
        </p:txBody>
      </p:sp>
      <p:sp>
        <p:nvSpPr>
          <p:cNvPr id="146" name="Google Shape;146;p23"/>
          <p:cNvSpPr txBox="1"/>
          <p:nvPr/>
        </p:nvSpPr>
        <p:spPr>
          <a:xfrm>
            <a:off x="215792" y="2327550"/>
            <a:ext cx="851100" cy="400200"/>
          </a:xfrm>
          <a:prstGeom prst="rect">
            <a:avLst/>
          </a:prstGeom>
          <a:solidFill>
            <a:schemeClr val="accent6"/>
          </a:solid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b="1">
                <a:solidFill>
                  <a:schemeClr val="accent5"/>
                </a:solidFill>
              </a:rPr>
              <a:t>film</a:t>
            </a:r>
            <a:endParaRPr b="1">
              <a:solidFill>
                <a:schemeClr val="accent5"/>
              </a:solidFill>
            </a:endParaRPr>
          </a:p>
        </p:txBody>
      </p:sp>
      <p:sp>
        <p:nvSpPr>
          <p:cNvPr id="147" name="Google Shape;147;p23"/>
          <p:cNvSpPr txBox="1"/>
          <p:nvPr/>
        </p:nvSpPr>
        <p:spPr>
          <a:xfrm>
            <a:off x="215803" y="2725750"/>
            <a:ext cx="11559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b="1">
                <a:solidFill>
                  <a:schemeClr val="accent5"/>
                </a:solidFill>
              </a:rPr>
              <a:t>restaurant</a:t>
            </a:r>
            <a:endParaRPr b="1">
              <a:solidFill>
                <a:schemeClr val="accent5"/>
              </a:solidFill>
            </a:endParaRPr>
          </a:p>
        </p:txBody>
      </p:sp>
      <p:sp>
        <p:nvSpPr>
          <p:cNvPr id="148" name="Google Shape;148;p23"/>
          <p:cNvSpPr txBox="1"/>
          <p:nvPr/>
        </p:nvSpPr>
        <p:spPr>
          <a:xfrm>
            <a:off x="4366735" y="1528125"/>
            <a:ext cx="8511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b="1">
                <a:solidFill>
                  <a:srgbClr val="C55A11"/>
                </a:solidFill>
              </a:rPr>
              <a:t>chef</a:t>
            </a:r>
            <a:endParaRPr b="1">
              <a:solidFill>
                <a:srgbClr val="C55A11"/>
              </a:solidFill>
            </a:endParaRPr>
          </a:p>
        </p:txBody>
      </p:sp>
      <p:sp>
        <p:nvSpPr>
          <p:cNvPr id="149" name="Google Shape;149;p23"/>
          <p:cNvSpPr txBox="1"/>
          <p:nvPr/>
        </p:nvSpPr>
        <p:spPr>
          <a:xfrm>
            <a:off x="6927790" y="1528125"/>
            <a:ext cx="8511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b="1">
                <a:solidFill>
                  <a:srgbClr val="C55A11"/>
                </a:solidFill>
              </a:rPr>
              <a:t>entree</a:t>
            </a:r>
            <a:endParaRPr b="1">
              <a:solidFill>
                <a:srgbClr val="C55A11"/>
              </a:solidFill>
            </a:endParaRPr>
          </a:p>
        </p:txBody>
      </p:sp>
      <p:sp>
        <p:nvSpPr>
          <p:cNvPr id="150" name="Google Shape;150;p23"/>
          <p:cNvSpPr txBox="1"/>
          <p:nvPr/>
        </p:nvSpPr>
        <p:spPr>
          <a:xfrm>
            <a:off x="7497275" y="259825"/>
            <a:ext cx="1512900" cy="831300"/>
          </a:xfrm>
          <a:prstGeom prst="rect">
            <a:avLst/>
          </a:prstGeom>
          <a:noFill/>
          <a:ln w="9525" cap="flat" cmpd="sng">
            <a:solidFill>
              <a:srgbClr val="C55A11"/>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GB">
                <a:solidFill>
                  <a:srgbClr val="C55A11"/>
                </a:solidFill>
              </a:rPr>
              <a:t>Coordinate per each vocabulary word</a:t>
            </a:r>
            <a:endParaRPr>
              <a:solidFill>
                <a:srgbClr val="C55A11"/>
              </a:solidFill>
            </a:endParaRPr>
          </a:p>
        </p:txBody>
      </p:sp>
      <p:sp>
        <p:nvSpPr>
          <p:cNvPr id="151" name="Google Shape;151;p23"/>
          <p:cNvSpPr/>
          <p:nvPr/>
        </p:nvSpPr>
        <p:spPr>
          <a:xfrm rot="6360214">
            <a:off x="7766895" y="1433811"/>
            <a:ext cx="811760" cy="136646"/>
          </a:xfrm>
          <a:prstGeom prst="rightArrow">
            <a:avLst>
              <a:gd name="adj1" fmla="val 50000"/>
              <a:gd name="adj2" fmla="val 50000"/>
            </a:avLst>
          </a:prstGeom>
          <a:noFill/>
          <a:ln w="9525" cap="flat" cmpd="sng">
            <a:solidFill>
              <a:srgbClr val="C55A1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152" name="Google Shape;152;p23" title="Screenshot 2025-10-20 at 6.54.00 AM.png"/>
          <p:cNvPicPr preferRelativeResize="0"/>
          <p:nvPr/>
        </p:nvPicPr>
        <p:blipFill>
          <a:blip r:embed="rId3">
            <a:alphaModFix/>
          </a:blip>
          <a:stretch>
            <a:fillRect/>
          </a:stretch>
        </p:blipFill>
        <p:spPr>
          <a:xfrm>
            <a:off x="5103463" y="4155324"/>
            <a:ext cx="3380375" cy="66237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56">
          <a:extLst>
            <a:ext uri="{FF2B5EF4-FFF2-40B4-BE49-F238E27FC236}">
              <a16:creationId xmlns:a16="http://schemas.microsoft.com/office/drawing/2014/main" id="{6832889B-81A8-070F-1020-B516F11E44EA}"/>
            </a:ext>
          </a:extLst>
        </p:cNvPr>
        <p:cNvGrpSpPr/>
        <p:nvPr/>
      </p:nvGrpSpPr>
      <p:grpSpPr>
        <a:xfrm>
          <a:off x="0" y="0"/>
          <a:ext cx="0" cy="0"/>
          <a:chOff x="0" y="0"/>
          <a:chExt cx="0" cy="0"/>
        </a:xfrm>
      </p:grpSpPr>
      <p:sp>
        <p:nvSpPr>
          <p:cNvPr id="157" name="Google Shape;157;p24">
            <a:extLst>
              <a:ext uri="{FF2B5EF4-FFF2-40B4-BE49-F238E27FC236}">
                <a16:creationId xmlns:a16="http://schemas.microsoft.com/office/drawing/2014/main" id="{EDE1253C-171C-4E83-0E69-6AB383A5890A}"/>
              </a:ext>
            </a:extLst>
          </p:cNvPr>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Clr>
                <a:schemeClr val="dk1"/>
              </a:buClr>
              <a:buSzPct val="39285"/>
              <a:buFont typeface="Arial"/>
              <a:buNone/>
            </a:pPr>
            <a:r>
              <a:rPr lang="en-GB"/>
              <a:t>Co-occurrence Matrix: Pros &amp; Cons</a:t>
            </a:r>
            <a:endParaRPr/>
          </a:p>
          <a:p>
            <a:pPr marL="0" lvl="0" indent="0" algn="l" rtl="0">
              <a:spcBef>
                <a:spcPts val="0"/>
              </a:spcBef>
              <a:spcAft>
                <a:spcPts val="0"/>
              </a:spcAft>
              <a:buNone/>
            </a:pPr>
            <a:endParaRPr/>
          </a:p>
        </p:txBody>
      </p:sp>
      <p:sp>
        <p:nvSpPr>
          <p:cNvPr id="158" name="Google Shape;158;p24">
            <a:extLst>
              <a:ext uri="{FF2B5EF4-FFF2-40B4-BE49-F238E27FC236}">
                <a16:creationId xmlns:a16="http://schemas.microsoft.com/office/drawing/2014/main" id="{78DD6BD6-8271-32F1-64F2-7483CD879974}"/>
              </a:ext>
            </a:extLst>
          </p:cNvPr>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Clr>
                <a:schemeClr val="dk1"/>
              </a:buClr>
              <a:buSzPts val="1100"/>
              <a:buFont typeface="Arial"/>
              <a:buNone/>
            </a:pPr>
            <a:r>
              <a:rPr lang="en-GB" b="1" dirty="0">
                <a:solidFill>
                  <a:schemeClr val="accent1"/>
                </a:solidFill>
              </a:rPr>
              <a:t>Pros:</a:t>
            </a:r>
            <a:endParaRPr b="1" dirty="0">
              <a:solidFill>
                <a:schemeClr val="accent1"/>
              </a:solidFill>
            </a:endParaRPr>
          </a:p>
        </p:txBody>
      </p:sp>
    </p:spTree>
    <p:extLst>
      <p:ext uri="{BB962C8B-B14F-4D97-AF65-F5344CB8AC3E}">
        <p14:creationId xmlns:p14="http://schemas.microsoft.com/office/powerpoint/2010/main" val="5318154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p2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Clr>
                <a:schemeClr val="dk1"/>
              </a:buClr>
              <a:buSzPct val="39285"/>
              <a:buFont typeface="Arial"/>
              <a:buNone/>
            </a:pPr>
            <a:r>
              <a:rPr lang="en-GB"/>
              <a:t>Co-occurrence Matrix: Pros &amp; Cons</a:t>
            </a:r>
            <a:endParaRPr/>
          </a:p>
          <a:p>
            <a:pPr marL="0" lvl="0" indent="0" algn="l" rtl="0">
              <a:spcBef>
                <a:spcPts val="0"/>
              </a:spcBef>
              <a:spcAft>
                <a:spcPts val="0"/>
              </a:spcAft>
              <a:buNone/>
            </a:pPr>
            <a:endParaRPr/>
          </a:p>
        </p:txBody>
      </p:sp>
      <p:sp>
        <p:nvSpPr>
          <p:cNvPr id="158" name="Google Shape;158;p2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Clr>
                <a:schemeClr val="dk1"/>
              </a:buClr>
              <a:buSzPts val="1100"/>
              <a:buFont typeface="Arial"/>
              <a:buNone/>
            </a:pPr>
            <a:r>
              <a:rPr lang="en-GB" b="1" dirty="0">
                <a:solidFill>
                  <a:schemeClr val="accent1"/>
                </a:solidFill>
              </a:rPr>
              <a:t>Pros:</a:t>
            </a:r>
            <a:endParaRPr b="1" dirty="0">
              <a:solidFill>
                <a:schemeClr val="accent1"/>
              </a:solidFill>
            </a:endParaRPr>
          </a:p>
          <a:p>
            <a:pPr marL="457200" lvl="0" indent="-342900" algn="l" rtl="0">
              <a:spcBef>
                <a:spcPts val="1200"/>
              </a:spcBef>
              <a:spcAft>
                <a:spcPts val="0"/>
              </a:spcAft>
              <a:buSzPts val="1800"/>
              <a:buChar char="●"/>
            </a:pPr>
            <a:r>
              <a:rPr lang="en-GB" dirty="0"/>
              <a:t>Capture semantics (to an extent)</a:t>
            </a:r>
            <a:endParaRPr dirty="0"/>
          </a:p>
          <a:p>
            <a:pPr marL="914400" lvl="1" indent="-368300" algn="l" rtl="0">
              <a:spcBef>
                <a:spcPts val="0"/>
              </a:spcBef>
              <a:spcAft>
                <a:spcPts val="0"/>
              </a:spcAft>
              <a:buSzPts val="2200"/>
              <a:buChar char="○"/>
            </a:pPr>
            <a:r>
              <a:rPr lang="en-GB" dirty="0"/>
              <a:t>E.g., synonyms would have similar context distributions → similar vectors</a:t>
            </a:r>
            <a:endParaRPr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56">
          <a:extLst>
            <a:ext uri="{FF2B5EF4-FFF2-40B4-BE49-F238E27FC236}">
              <a16:creationId xmlns:a16="http://schemas.microsoft.com/office/drawing/2014/main" id="{E9A0A992-4F20-3A89-0CD5-9EB0A3A6B4D4}"/>
            </a:ext>
          </a:extLst>
        </p:cNvPr>
        <p:cNvGrpSpPr/>
        <p:nvPr/>
      </p:nvGrpSpPr>
      <p:grpSpPr>
        <a:xfrm>
          <a:off x="0" y="0"/>
          <a:ext cx="0" cy="0"/>
          <a:chOff x="0" y="0"/>
          <a:chExt cx="0" cy="0"/>
        </a:xfrm>
      </p:grpSpPr>
      <p:sp>
        <p:nvSpPr>
          <p:cNvPr id="157" name="Google Shape;157;p24">
            <a:extLst>
              <a:ext uri="{FF2B5EF4-FFF2-40B4-BE49-F238E27FC236}">
                <a16:creationId xmlns:a16="http://schemas.microsoft.com/office/drawing/2014/main" id="{AE017A05-02C4-7615-AEC7-852E5EFD83E6}"/>
              </a:ext>
            </a:extLst>
          </p:cNvPr>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Clr>
                <a:schemeClr val="dk1"/>
              </a:buClr>
              <a:buSzPct val="39285"/>
              <a:buFont typeface="Arial"/>
              <a:buNone/>
            </a:pPr>
            <a:r>
              <a:rPr lang="en-GB"/>
              <a:t>Co-occurrence Matrix: Pros &amp; Cons</a:t>
            </a:r>
            <a:endParaRPr/>
          </a:p>
          <a:p>
            <a:pPr marL="0" lvl="0" indent="0" algn="l" rtl="0">
              <a:spcBef>
                <a:spcPts val="0"/>
              </a:spcBef>
              <a:spcAft>
                <a:spcPts val="0"/>
              </a:spcAft>
              <a:buNone/>
            </a:pPr>
            <a:endParaRPr/>
          </a:p>
        </p:txBody>
      </p:sp>
      <p:sp>
        <p:nvSpPr>
          <p:cNvPr id="158" name="Google Shape;158;p24">
            <a:extLst>
              <a:ext uri="{FF2B5EF4-FFF2-40B4-BE49-F238E27FC236}">
                <a16:creationId xmlns:a16="http://schemas.microsoft.com/office/drawing/2014/main" id="{4D49B2E9-81EF-DB3F-4B9F-07F7CBAF148E}"/>
              </a:ext>
            </a:extLst>
          </p:cNvPr>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Clr>
                <a:schemeClr val="dk1"/>
              </a:buClr>
              <a:buSzPts val="1100"/>
              <a:buFont typeface="Arial"/>
              <a:buNone/>
            </a:pPr>
            <a:r>
              <a:rPr lang="en-GB" b="1" dirty="0">
                <a:solidFill>
                  <a:schemeClr val="accent1"/>
                </a:solidFill>
              </a:rPr>
              <a:t>Pros:</a:t>
            </a:r>
            <a:endParaRPr b="1" dirty="0">
              <a:solidFill>
                <a:schemeClr val="accent1"/>
              </a:solidFill>
            </a:endParaRPr>
          </a:p>
          <a:p>
            <a:pPr marL="457200" lvl="0" indent="-342900" algn="l" rtl="0">
              <a:spcBef>
                <a:spcPts val="1200"/>
              </a:spcBef>
              <a:spcAft>
                <a:spcPts val="0"/>
              </a:spcAft>
              <a:buSzPts val="1800"/>
              <a:buChar char="●"/>
            </a:pPr>
            <a:r>
              <a:rPr lang="en-GB" dirty="0"/>
              <a:t>Capture semantics (to an extent)</a:t>
            </a:r>
            <a:endParaRPr dirty="0"/>
          </a:p>
          <a:p>
            <a:pPr marL="914400" lvl="1" indent="-368300" algn="l" rtl="0">
              <a:spcBef>
                <a:spcPts val="0"/>
              </a:spcBef>
              <a:spcAft>
                <a:spcPts val="0"/>
              </a:spcAft>
              <a:buSzPts val="2200"/>
              <a:buChar char="○"/>
            </a:pPr>
            <a:r>
              <a:rPr lang="en-GB" dirty="0"/>
              <a:t>E.g., synonyms would have similar context distributions → similar vectors</a:t>
            </a:r>
            <a:endParaRPr dirty="0"/>
          </a:p>
          <a:p>
            <a:pPr marL="0" lvl="0" indent="0" algn="l" rtl="0">
              <a:spcBef>
                <a:spcPts val="1200"/>
              </a:spcBef>
              <a:spcAft>
                <a:spcPts val="0"/>
              </a:spcAft>
              <a:buNone/>
            </a:pPr>
            <a:r>
              <a:rPr lang="en-GB" b="1" dirty="0">
                <a:solidFill>
                  <a:srgbClr val="FF0000"/>
                </a:solidFill>
              </a:rPr>
              <a:t>Cons:</a:t>
            </a:r>
            <a:endParaRPr b="1" dirty="0">
              <a:solidFill>
                <a:srgbClr val="FF0000"/>
              </a:solidFill>
            </a:endParaRPr>
          </a:p>
        </p:txBody>
      </p:sp>
    </p:spTree>
    <p:extLst>
      <p:ext uri="{BB962C8B-B14F-4D97-AF65-F5344CB8AC3E}">
        <p14:creationId xmlns:p14="http://schemas.microsoft.com/office/powerpoint/2010/main" val="15977769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56">
          <a:extLst>
            <a:ext uri="{FF2B5EF4-FFF2-40B4-BE49-F238E27FC236}">
              <a16:creationId xmlns:a16="http://schemas.microsoft.com/office/drawing/2014/main" id="{475492AB-952E-F0DA-028E-A8EF5E414587}"/>
            </a:ext>
          </a:extLst>
        </p:cNvPr>
        <p:cNvGrpSpPr/>
        <p:nvPr/>
      </p:nvGrpSpPr>
      <p:grpSpPr>
        <a:xfrm>
          <a:off x="0" y="0"/>
          <a:ext cx="0" cy="0"/>
          <a:chOff x="0" y="0"/>
          <a:chExt cx="0" cy="0"/>
        </a:xfrm>
      </p:grpSpPr>
      <p:sp>
        <p:nvSpPr>
          <p:cNvPr id="157" name="Google Shape;157;p24">
            <a:extLst>
              <a:ext uri="{FF2B5EF4-FFF2-40B4-BE49-F238E27FC236}">
                <a16:creationId xmlns:a16="http://schemas.microsoft.com/office/drawing/2014/main" id="{20C82051-FE17-83D0-1AB2-EADF56181B3F}"/>
              </a:ext>
            </a:extLst>
          </p:cNvPr>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Clr>
                <a:schemeClr val="dk1"/>
              </a:buClr>
              <a:buSzPct val="39285"/>
              <a:buFont typeface="Arial"/>
              <a:buNone/>
            </a:pPr>
            <a:r>
              <a:rPr lang="en-GB"/>
              <a:t>Co-occurrence Matrix: Pros &amp; Cons</a:t>
            </a:r>
            <a:endParaRPr/>
          </a:p>
          <a:p>
            <a:pPr marL="0" lvl="0" indent="0" algn="l" rtl="0">
              <a:spcBef>
                <a:spcPts val="0"/>
              </a:spcBef>
              <a:spcAft>
                <a:spcPts val="0"/>
              </a:spcAft>
              <a:buNone/>
            </a:pPr>
            <a:endParaRPr/>
          </a:p>
        </p:txBody>
      </p:sp>
      <p:sp>
        <p:nvSpPr>
          <p:cNvPr id="158" name="Google Shape;158;p24">
            <a:extLst>
              <a:ext uri="{FF2B5EF4-FFF2-40B4-BE49-F238E27FC236}">
                <a16:creationId xmlns:a16="http://schemas.microsoft.com/office/drawing/2014/main" id="{E29B5A9D-3B5B-E012-1CF6-BDD2A93A4343}"/>
              </a:ext>
            </a:extLst>
          </p:cNvPr>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Clr>
                <a:schemeClr val="dk1"/>
              </a:buClr>
              <a:buSzPts val="1100"/>
              <a:buFont typeface="Arial"/>
              <a:buNone/>
            </a:pPr>
            <a:r>
              <a:rPr lang="en-GB" b="1" dirty="0">
                <a:solidFill>
                  <a:schemeClr val="accent1"/>
                </a:solidFill>
              </a:rPr>
              <a:t>Pros:</a:t>
            </a:r>
            <a:endParaRPr b="1" dirty="0">
              <a:solidFill>
                <a:schemeClr val="accent1"/>
              </a:solidFill>
            </a:endParaRPr>
          </a:p>
          <a:p>
            <a:pPr marL="457200" lvl="0" indent="-342900" algn="l" rtl="0">
              <a:spcBef>
                <a:spcPts val="1200"/>
              </a:spcBef>
              <a:spcAft>
                <a:spcPts val="0"/>
              </a:spcAft>
              <a:buSzPts val="1800"/>
              <a:buChar char="●"/>
            </a:pPr>
            <a:r>
              <a:rPr lang="en-GB" dirty="0"/>
              <a:t>Capture semantics (to an extent)</a:t>
            </a:r>
            <a:endParaRPr dirty="0"/>
          </a:p>
          <a:p>
            <a:pPr marL="914400" lvl="1" indent="-368300" algn="l" rtl="0">
              <a:spcBef>
                <a:spcPts val="0"/>
              </a:spcBef>
              <a:spcAft>
                <a:spcPts val="0"/>
              </a:spcAft>
              <a:buSzPts val="2200"/>
              <a:buChar char="○"/>
            </a:pPr>
            <a:r>
              <a:rPr lang="en-GB" dirty="0"/>
              <a:t>E.g., synonyms would have similar context distributions → similar vectors</a:t>
            </a:r>
            <a:endParaRPr dirty="0"/>
          </a:p>
          <a:p>
            <a:pPr marL="0" lvl="0" indent="0" algn="l" rtl="0">
              <a:spcBef>
                <a:spcPts val="1200"/>
              </a:spcBef>
              <a:spcAft>
                <a:spcPts val="0"/>
              </a:spcAft>
              <a:buNone/>
            </a:pPr>
            <a:r>
              <a:rPr lang="en-GB" b="1" dirty="0">
                <a:solidFill>
                  <a:srgbClr val="FF0000"/>
                </a:solidFill>
              </a:rPr>
              <a:t>Cons:</a:t>
            </a:r>
            <a:endParaRPr b="1" dirty="0">
              <a:solidFill>
                <a:srgbClr val="FF0000"/>
              </a:solidFill>
            </a:endParaRPr>
          </a:p>
          <a:p>
            <a:pPr marL="457200" lvl="0" indent="-342900" algn="l" rtl="0">
              <a:spcBef>
                <a:spcPts val="1200"/>
              </a:spcBef>
              <a:spcAft>
                <a:spcPts val="0"/>
              </a:spcAft>
              <a:buSzPts val="1800"/>
              <a:buChar char="●"/>
            </a:pPr>
            <a:r>
              <a:rPr lang="en-GB" b="1" dirty="0"/>
              <a:t>Efficiency</a:t>
            </a:r>
            <a:r>
              <a:rPr lang="en-GB" dirty="0"/>
              <a:t>: dimension is huge (as large as vocabulary size)</a:t>
            </a:r>
            <a:endParaRPr dirty="0"/>
          </a:p>
          <a:p>
            <a:pPr marL="457200" lvl="0" indent="-342900" algn="l" rtl="0">
              <a:spcBef>
                <a:spcPts val="0"/>
              </a:spcBef>
              <a:spcAft>
                <a:spcPts val="0"/>
              </a:spcAft>
              <a:buSzPts val="1800"/>
              <a:buChar char="●"/>
            </a:pPr>
            <a:r>
              <a:rPr lang="en-GB" b="1" dirty="0"/>
              <a:t>Generalization?</a:t>
            </a:r>
            <a:r>
              <a:rPr lang="en-GB" dirty="0"/>
              <a:t> Basically memorizes corpus</a:t>
            </a:r>
            <a:endParaRPr dirty="0"/>
          </a:p>
        </p:txBody>
      </p:sp>
    </p:spTree>
    <p:extLst>
      <p:ext uri="{BB962C8B-B14F-4D97-AF65-F5344CB8AC3E}">
        <p14:creationId xmlns:p14="http://schemas.microsoft.com/office/powerpoint/2010/main" val="312189392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434">
          <a:extLst>
            <a:ext uri="{FF2B5EF4-FFF2-40B4-BE49-F238E27FC236}">
              <a16:creationId xmlns:a16="http://schemas.microsoft.com/office/drawing/2014/main" id="{2A3DE653-7157-032D-9B47-EFB4691E92C1}"/>
            </a:ext>
          </a:extLst>
        </p:cNvPr>
        <p:cNvGrpSpPr/>
        <p:nvPr/>
      </p:nvGrpSpPr>
      <p:grpSpPr>
        <a:xfrm>
          <a:off x="0" y="0"/>
          <a:ext cx="0" cy="0"/>
          <a:chOff x="0" y="0"/>
          <a:chExt cx="0" cy="0"/>
        </a:xfrm>
      </p:grpSpPr>
      <p:sp>
        <p:nvSpPr>
          <p:cNvPr id="435" name="Google Shape;435;p44">
            <a:extLst>
              <a:ext uri="{FF2B5EF4-FFF2-40B4-BE49-F238E27FC236}">
                <a16:creationId xmlns:a16="http://schemas.microsoft.com/office/drawing/2014/main" id="{4C87A7EA-1B91-1ED7-64B6-BD71CF50587B}"/>
              </a:ext>
            </a:extLst>
          </p:cNvPr>
          <p:cNvSpPr txBox="1">
            <a:spLocks noGrp="1"/>
          </p:cNvSpPr>
          <p:nvPr>
            <p:ph type="title"/>
          </p:nvPr>
        </p:nvSpPr>
        <p:spPr>
          <a:xfrm>
            <a:off x="467929" y="1314625"/>
            <a:ext cx="8184900" cy="1604700"/>
          </a:xfrm>
          <a:prstGeom prst="rect">
            <a:avLst/>
          </a:prstGeom>
          <a:noFill/>
          <a:ln>
            <a:noFill/>
          </a:ln>
        </p:spPr>
        <p:txBody>
          <a:bodyPr spcFirstLastPara="1" wrap="square" lIns="68575" tIns="34275" rIns="68575" bIns="34275" anchor="b" anchorCtr="0">
            <a:normAutofit/>
          </a:bodyPr>
          <a:lstStyle/>
          <a:p>
            <a:pPr marL="0" lvl="0" indent="0" algn="l" rtl="0">
              <a:lnSpc>
                <a:spcPct val="90000"/>
              </a:lnSpc>
              <a:spcBef>
                <a:spcPts val="0"/>
              </a:spcBef>
              <a:spcAft>
                <a:spcPts val="0"/>
              </a:spcAft>
              <a:buClr>
                <a:schemeClr val="dk1"/>
              </a:buClr>
              <a:buSzPts val="4500"/>
              <a:buFont typeface="Century Gothic"/>
              <a:buNone/>
            </a:pPr>
            <a:r>
              <a:rPr lang="en-GB" dirty="0" err="1"/>
              <a:t>Skipgram</a:t>
            </a:r>
            <a:r>
              <a:rPr lang="en-GB" dirty="0"/>
              <a:t> (word2vec): Recap</a:t>
            </a:r>
            <a:endParaRPr dirty="0"/>
          </a:p>
        </p:txBody>
      </p:sp>
    </p:spTree>
    <p:extLst>
      <p:ext uri="{BB962C8B-B14F-4D97-AF65-F5344CB8AC3E}">
        <p14:creationId xmlns:p14="http://schemas.microsoft.com/office/powerpoint/2010/main" val="107435060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488"/>
        <p:cNvGrpSpPr/>
        <p:nvPr/>
      </p:nvGrpSpPr>
      <p:grpSpPr>
        <a:xfrm>
          <a:off x="0" y="0"/>
          <a:ext cx="0" cy="0"/>
          <a:chOff x="0" y="0"/>
          <a:chExt cx="0" cy="0"/>
        </a:xfrm>
      </p:grpSpPr>
      <p:sp>
        <p:nvSpPr>
          <p:cNvPr id="489" name="Google Shape;489;p65"/>
          <p:cNvSpPr txBox="1">
            <a:spLocks noGrp="1"/>
          </p:cNvSpPr>
          <p:nvPr>
            <p:ph type="title"/>
          </p:nvPr>
        </p:nvSpPr>
        <p:spPr>
          <a:xfrm>
            <a:off x="471488" y="205383"/>
            <a:ext cx="5915100" cy="7458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chemeClr val="dk1"/>
              </a:buClr>
              <a:buSzPts val="3300"/>
              <a:buFont typeface="Century Gothic"/>
              <a:buNone/>
            </a:pPr>
            <a:r>
              <a:rPr lang="en-GB"/>
              <a:t>Supervised learning - reminder</a:t>
            </a:r>
            <a:endParaRPr/>
          </a:p>
        </p:txBody>
      </p:sp>
      <p:sp>
        <p:nvSpPr>
          <p:cNvPr id="490" name="Google Shape;490;p65"/>
          <p:cNvSpPr txBox="1">
            <a:spLocks noGrp="1"/>
          </p:cNvSpPr>
          <p:nvPr>
            <p:ph type="body" idx="1"/>
          </p:nvPr>
        </p:nvSpPr>
        <p:spPr>
          <a:xfrm>
            <a:off x="471500" y="1103125"/>
            <a:ext cx="8520000" cy="1361700"/>
          </a:xfrm>
          <a:prstGeom prst="rect">
            <a:avLst/>
          </a:prstGeom>
          <a:noFill/>
          <a:ln>
            <a:noFill/>
          </a:ln>
        </p:spPr>
        <p:txBody>
          <a:bodyPr spcFirstLastPara="1" wrap="square" lIns="68575" tIns="34275" rIns="68575" bIns="34275" anchor="t" anchorCtr="0">
            <a:noAutofit/>
          </a:bodyPr>
          <a:lstStyle/>
          <a:p>
            <a:pPr marL="457200" lvl="0" indent="-342900" algn="l" rtl="0">
              <a:lnSpc>
                <a:spcPct val="150000"/>
              </a:lnSpc>
              <a:spcBef>
                <a:spcPts val="0"/>
              </a:spcBef>
              <a:spcAft>
                <a:spcPts val="0"/>
              </a:spcAft>
              <a:buSzPts val="1800"/>
              <a:buChar char="●"/>
            </a:pPr>
            <a:r>
              <a:rPr lang="en-GB"/>
              <a:t>Input: training set</a:t>
            </a:r>
            <a:br>
              <a:rPr lang="en-GB"/>
            </a:br>
            <a:endParaRPr/>
          </a:p>
          <a:p>
            <a:pPr marL="0" lvl="0" indent="0" algn="l" rtl="0">
              <a:lnSpc>
                <a:spcPct val="150000"/>
              </a:lnSpc>
              <a:spcBef>
                <a:spcPts val="0"/>
              </a:spcBef>
              <a:spcAft>
                <a:spcPts val="0"/>
              </a:spcAft>
              <a:buNone/>
            </a:pPr>
            <a:endParaRPr/>
          </a:p>
          <a:p>
            <a:pPr marL="457200" lvl="0" indent="-342900" algn="l" rtl="0">
              <a:lnSpc>
                <a:spcPct val="150000"/>
              </a:lnSpc>
              <a:spcBef>
                <a:spcPts val="0"/>
              </a:spcBef>
              <a:spcAft>
                <a:spcPts val="0"/>
              </a:spcAft>
              <a:buSzPts val="1800"/>
              <a:buChar char="●"/>
            </a:pPr>
            <a:r>
              <a:rPr lang="en-GB"/>
              <a:t>Output: probabilistic model</a:t>
            </a:r>
            <a:endParaRPr/>
          </a:p>
        </p:txBody>
      </p:sp>
      <p:pic>
        <p:nvPicPr>
          <p:cNvPr id="491" name="Google Shape;491;p65" descr="\{(x_i, y_i)\}^N_{i=1} , \ (x_i, y_i) \sim D(\mathcal{X} \times \mathcal{Y})" title="MathEquation,#000000"/>
          <p:cNvPicPr preferRelativeResize="0"/>
          <p:nvPr/>
        </p:nvPicPr>
        <p:blipFill>
          <a:blip r:embed="rId3">
            <a:alphaModFix/>
          </a:blip>
          <a:stretch>
            <a:fillRect/>
          </a:stretch>
        </p:blipFill>
        <p:spPr>
          <a:xfrm>
            <a:off x="2367315" y="1555100"/>
            <a:ext cx="4615362" cy="438450"/>
          </a:xfrm>
          <a:prstGeom prst="rect">
            <a:avLst/>
          </a:prstGeom>
          <a:noFill/>
          <a:ln>
            <a:noFill/>
          </a:ln>
        </p:spPr>
      </p:pic>
      <p:pic>
        <p:nvPicPr>
          <p:cNvPr id="492" name="Google Shape;492;p65" descr="f: \mathcal{X} \rightarrow \mathcal{Y}&#10;\\&#10;\arg\max_y p(y\;|\;x)" title="MathEquation,#000000"/>
          <p:cNvPicPr preferRelativeResize="0"/>
          <p:nvPr/>
        </p:nvPicPr>
        <p:blipFill>
          <a:blip r:embed="rId4">
            <a:alphaModFix/>
          </a:blip>
          <a:stretch>
            <a:fillRect/>
          </a:stretch>
        </p:blipFill>
        <p:spPr>
          <a:xfrm>
            <a:off x="2391349" y="2867801"/>
            <a:ext cx="2283850" cy="8165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497"/>
        <p:cNvGrpSpPr/>
        <p:nvPr/>
      </p:nvGrpSpPr>
      <p:grpSpPr>
        <a:xfrm>
          <a:off x="0" y="0"/>
          <a:ext cx="0" cy="0"/>
          <a:chOff x="0" y="0"/>
          <a:chExt cx="0" cy="0"/>
        </a:xfrm>
      </p:grpSpPr>
      <p:sp>
        <p:nvSpPr>
          <p:cNvPr id="498" name="Google Shape;498;p66"/>
          <p:cNvSpPr txBox="1">
            <a:spLocks noGrp="1"/>
          </p:cNvSpPr>
          <p:nvPr>
            <p:ph type="title"/>
          </p:nvPr>
        </p:nvSpPr>
        <p:spPr>
          <a:xfrm>
            <a:off x="628650" y="273844"/>
            <a:ext cx="7886700" cy="994200"/>
          </a:xfrm>
          <a:prstGeom prst="rect">
            <a:avLst/>
          </a:prstGeom>
        </p:spPr>
        <p:txBody>
          <a:bodyPr spcFirstLastPara="1" wrap="square" lIns="68575" tIns="34275" rIns="68575" bIns="34275" anchor="ctr" anchorCtr="0">
            <a:normAutofit/>
          </a:bodyPr>
          <a:lstStyle/>
          <a:p>
            <a:pPr marL="0" lvl="0" indent="0" algn="l" rtl="0">
              <a:spcBef>
                <a:spcPts val="0"/>
              </a:spcBef>
              <a:spcAft>
                <a:spcPts val="0"/>
              </a:spcAft>
              <a:buNone/>
            </a:pPr>
            <a:r>
              <a:rPr lang="en-GB"/>
              <a:t>Self-Supervised Learning</a:t>
            </a:r>
            <a:endParaRPr/>
          </a:p>
        </p:txBody>
      </p:sp>
      <p:sp>
        <p:nvSpPr>
          <p:cNvPr id="499" name="Google Shape;499;p66"/>
          <p:cNvSpPr txBox="1">
            <a:spLocks noGrp="1"/>
          </p:cNvSpPr>
          <p:nvPr>
            <p:ph type="body" idx="1"/>
          </p:nvPr>
        </p:nvSpPr>
        <p:spPr>
          <a:xfrm>
            <a:off x="628650" y="1260980"/>
            <a:ext cx="7886700" cy="3263400"/>
          </a:xfrm>
          <a:prstGeom prst="rect">
            <a:avLst/>
          </a:prstGeom>
        </p:spPr>
        <p:txBody>
          <a:bodyPr spcFirstLastPara="1" wrap="square" lIns="68575" tIns="34275" rIns="68575" bIns="34275" anchor="t" anchorCtr="0">
            <a:normAutofit/>
          </a:bodyPr>
          <a:lstStyle/>
          <a:p>
            <a:pPr marL="457200" lvl="0" indent="-342900" algn="l" rtl="0">
              <a:spcBef>
                <a:spcPts val="800"/>
              </a:spcBef>
              <a:spcAft>
                <a:spcPts val="0"/>
              </a:spcAft>
              <a:buSzPts val="1800"/>
              <a:buChar char="●"/>
            </a:pPr>
            <a:r>
              <a:rPr lang="en-GB"/>
              <a:t>Collect unlabeled data</a:t>
            </a:r>
            <a:endParaRPr/>
          </a:p>
          <a:p>
            <a:pPr marL="457200" lvl="0" indent="-342900" algn="l" rtl="0">
              <a:spcBef>
                <a:spcPts val="0"/>
              </a:spcBef>
              <a:spcAft>
                <a:spcPts val="0"/>
              </a:spcAft>
              <a:buSzPts val="1800"/>
              <a:buChar char="●"/>
            </a:pPr>
            <a:r>
              <a:rPr lang="en-GB"/>
              <a:t>Create synthetic “proxy” task (potentially useless on its own)</a:t>
            </a:r>
            <a:endParaRPr/>
          </a:p>
          <a:p>
            <a:pPr marL="457200" lvl="0" indent="-342900" algn="l" rtl="0">
              <a:spcBef>
                <a:spcPts val="0"/>
              </a:spcBef>
              <a:spcAft>
                <a:spcPts val="0"/>
              </a:spcAft>
              <a:buSzPts val="1800"/>
              <a:buChar char="●"/>
            </a:pPr>
            <a:r>
              <a:rPr lang="en-GB"/>
              <a:t>Hope it spurs the model to learn something useful from the data</a:t>
            </a:r>
            <a:endParaRPr/>
          </a:p>
          <a:p>
            <a:pPr marL="457200" lvl="0" indent="-342900" algn="l" rtl="0">
              <a:spcBef>
                <a:spcPts val="0"/>
              </a:spcBef>
              <a:spcAft>
                <a:spcPts val="0"/>
              </a:spcAft>
              <a:buSzPts val="1800"/>
              <a:buChar char="●"/>
            </a:pPr>
            <a:r>
              <a:rPr lang="en-GB"/>
              <a:t>Advantage: no manual labeling needed</a:t>
            </a:r>
            <a:endParaRPr/>
          </a:p>
          <a:p>
            <a:pPr marL="457200" lvl="0" indent="0" algn="l" rtl="0">
              <a:spcBef>
                <a:spcPts val="1200"/>
              </a:spcBef>
              <a:spcAft>
                <a:spcPts val="1200"/>
              </a:spcAft>
              <a:buNone/>
            </a:pP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504"/>
        <p:cNvGrpSpPr/>
        <p:nvPr/>
      </p:nvGrpSpPr>
      <p:grpSpPr>
        <a:xfrm>
          <a:off x="0" y="0"/>
          <a:ext cx="0" cy="0"/>
          <a:chOff x="0" y="0"/>
          <a:chExt cx="0" cy="0"/>
        </a:xfrm>
      </p:grpSpPr>
      <p:sp>
        <p:nvSpPr>
          <p:cNvPr id="505" name="Google Shape;505;p67"/>
          <p:cNvSpPr txBox="1">
            <a:spLocks noGrp="1"/>
          </p:cNvSpPr>
          <p:nvPr>
            <p:ph type="title"/>
          </p:nvPr>
        </p:nvSpPr>
        <p:spPr>
          <a:xfrm>
            <a:off x="628650" y="273844"/>
            <a:ext cx="7886700" cy="994200"/>
          </a:xfrm>
          <a:prstGeom prst="rect">
            <a:avLst/>
          </a:prstGeom>
        </p:spPr>
        <p:txBody>
          <a:bodyPr spcFirstLastPara="1" wrap="square" lIns="68575" tIns="34275" rIns="68575" bIns="34275" anchor="ctr" anchorCtr="0">
            <a:normAutofit/>
          </a:bodyPr>
          <a:lstStyle/>
          <a:p>
            <a:pPr marL="0" lvl="0" indent="0" algn="l" rtl="0">
              <a:spcBef>
                <a:spcPts val="0"/>
              </a:spcBef>
              <a:spcAft>
                <a:spcPts val="0"/>
              </a:spcAft>
              <a:buNone/>
            </a:pPr>
            <a:r>
              <a:rPr lang="en-GB"/>
              <a:t>Self-Supervised Learning</a:t>
            </a:r>
            <a:endParaRPr/>
          </a:p>
        </p:txBody>
      </p:sp>
      <p:sp>
        <p:nvSpPr>
          <p:cNvPr id="506" name="Google Shape;506;p67"/>
          <p:cNvSpPr txBox="1">
            <a:spLocks noGrp="1"/>
          </p:cNvSpPr>
          <p:nvPr>
            <p:ph type="body" idx="1"/>
          </p:nvPr>
        </p:nvSpPr>
        <p:spPr>
          <a:xfrm>
            <a:off x="628650" y="1260980"/>
            <a:ext cx="7886700" cy="3263400"/>
          </a:xfrm>
          <a:prstGeom prst="rect">
            <a:avLst/>
          </a:prstGeom>
        </p:spPr>
        <p:txBody>
          <a:bodyPr spcFirstLastPara="1" wrap="square" lIns="68575" tIns="34275" rIns="68575" bIns="34275" anchor="t" anchorCtr="0">
            <a:normAutofit/>
          </a:bodyPr>
          <a:lstStyle/>
          <a:p>
            <a:pPr marL="457200" lvl="0" indent="-342900" algn="l" rtl="0">
              <a:spcBef>
                <a:spcPts val="800"/>
              </a:spcBef>
              <a:spcAft>
                <a:spcPts val="0"/>
              </a:spcAft>
              <a:buSzPts val="1800"/>
              <a:buChar char="●"/>
            </a:pPr>
            <a:r>
              <a:rPr lang="en-GB"/>
              <a:t>Collect unlabeled data</a:t>
            </a:r>
            <a:endParaRPr/>
          </a:p>
          <a:p>
            <a:pPr marL="457200" lvl="0" indent="-342900" algn="l" rtl="0">
              <a:spcBef>
                <a:spcPts val="0"/>
              </a:spcBef>
              <a:spcAft>
                <a:spcPts val="0"/>
              </a:spcAft>
              <a:buSzPts val="1800"/>
              <a:buChar char="●"/>
            </a:pPr>
            <a:r>
              <a:rPr lang="en-GB"/>
              <a:t>Create synthetic “proxy” task (potentially useless on its own)</a:t>
            </a:r>
            <a:endParaRPr/>
          </a:p>
          <a:p>
            <a:pPr marL="457200" lvl="0" indent="-342900" algn="l" rtl="0">
              <a:spcBef>
                <a:spcPts val="0"/>
              </a:spcBef>
              <a:spcAft>
                <a:spcPts val="0"/>
              </a:spcAft>
              <a:buSzPts val="1800"/>
              <a:buChar char="●"/>
            </a:pPr>
            <a:r>
              <a:rPr lang="en-GB"/>
              <a:t>Hope it spurs the model to learn something useful from the data</a:t>
            </a:r>
            <a:endParaRPr/>
          </a:p>
          <a:p>
            <a:pPr marL="457200" lvl="0" indent="-342900" algn="l" rtl="0">
              <a:spcBef>
                <a:spcPts val="0"/>
              </a:spcBef>
              <a:spcAft>
                <a:spcPts val="0"/>
              </a:spcAft>
              <a:buSzPts val="1800"/>
              <a:buChar char="●"/>
            </a:pPr>
            <a:r>
              <a:rPr lang="en-GB"/>
              <a:t>Advantage: no manual labeling needed</a:t>
            </a:r>
            <a:endParaRPr/>
          </a:p>
          <a:p>
            <a:pPr marL="457200" lvl="0" indent="-342900" algn="l" rtl="0">
              <a:spcBef>
                <a:spcPts val="0"/>
              </a:spcBef>
              <a:spcAft>
                <a:spcPts val="0"/>
              </a:spcAft>
              <a:buSzPts val="1800"/>
              <a:buChar char="●"/>
            </a:pPr>
            <a:r>
              <a:rPr lang="en-GB"/>
              <a:t>Example: masking</a:t>
            </a:r>
            <a:endParaRPr/>
          </a:p>
        </p:txBody>
      </p:sp>
      <p:sp>
        <p:nvSpPr>
          <p:cNvPr id="508" name="Google Shape;508;p67"/>
          <p:cNvSpPr txBox="1"/>
          <p:nvPr/>
        </p:nvSpPr>
        <p:spPr>
          <a:xfrm>
            <a:off x="628650" y="3454600"/>
            <a:ext cx="3732600" cy="454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800">
                <a:solidFill>
                  <a:schemeClr val="accent1"/>
                </a:solidFill>
              </a:rPr>
              <a:t>The fox jumped over the fence</a:t>
            </a:r>
            <a:endParaRPr sz="1800">
              <a:solidFill>
                <a:schemeClr val="accent1"/>
              </a:solidFill>
            </a:endParaRPr>
          </a:p>
        </p:txBody>
      </p:sp>
      <p:sp>
        <p:nvSpPr>
          <p:cNvPr id="509" name="Google Shape;509;p67"/>
          <p:cNvSpPr txBox="1"/>
          <p:nvPr/>
        </p:nvSpPr>
        <p:spPr>
          <a:xfrm>
            <a:off x="628650" y="4178125"/>
            <a:ext cx="3732600" cy="454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800">
                <a:solidFill>
                  <a:schemeClr val="accent1"/>
                </a:solidFill>
              </a:rPr>
              <a:t>The fox ______ over the fence</a:t>
            </a:r>
            <a:endParaRPr sz="1800">
              <a:solidFill>
                <a:schemeClr val="accent1"/>
              </a:solidFill>
            </a:endParaRPr>
          </a:p>
        </p:txBody>
      </p:sp>
      <p:sp>
        <p:nvSpPr>
          <p:cNvPr id="510" name="Google Shape;510;p67"/>
          <p:cNvSpPr/>
          <p:nvPr/>
        </p:nvSpPr>
        <p:spPr>
          <a:xfrm rot="5400000">
            <a:off x="2168317" y="3921812"/>
            <a:ext cx="350100" cy="270600"/>
          </a:xfrm>
          <a:prstGeom prst="rightArrow">
            <a:avLst>
              <a:gd name="adj1" fmla="val 50000"/>
              <a:gd name="adj2" fmla="val 50000"/>
            </a:avLst>
          </a:prstGeom>
          <a:solidFill>
            <a:schemeClr val="accent5"/>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514"/>
        <p:cNvGrpSpPr/>
        <p:nvPr/>
      </p:nvGrpSpPr>
      <p:grpSpPr>
        <a:xfrm>
          <a:off x="0" y="0"/>
          <a:ext cx="0" cy="0"/>
          <a:chOff x="0" y="0"/>
          <a:chExt cx="0" cy="0"/>
        </a:xfrm>
      </p:grpSpPr>
      <p:sp>
        <p:nvSpPr>
          <p:cNvPr id="515" name="Google Shape;515;p68"/>
          <p:cNvSpPr txBox="1">
            <a:spLocks noGrp="1"/>
          </p:cNvSpPr>
          <p:nvPr>
            <p:ph type="title"/>
          </p:nvPr>
        </p:nvSpPr>
        <p:spPr>
          <a:xfrm>
            <a:off x="628650" y="273844"/>
            <a:ext cx="7886700" cy="994200"/>
          </a:xfrm>
          <a:prstGeom prst="rect">
            <a:avLst/>
          </a:prstGeom>
        </p:spPr>
        <p:txBody>
          <a:bodyPr spcFirstLastPara="1" wrap="square" lIns="68575" tIns="34275" rIns="68575" bIns="34275" anchor="ctr" anchorCtr="0">
            <a:normAutofit/>
          </a:bodyPr>
          <a:lstStyle/>
          <a:p>
            <a:pPr marL="0" lvl="0" indent="0" algn="l" rtl="0">
              <a:spcBef>
                <a:spcPts val="0"/>
              </a:spcBef>
              <a:spcAft>
                <a:spcPts val="0"/>
              </a:spcAft>
              <a:buNone/>
            </a:pPr>
            <a:r>
              <a:rPr lang="en-GB"/>
              <a:t>Self-Supervised Learning</a:t>
            </a:r>
            <a:endParaRPr/>
          </a:p>
        </p:txBody>
      </p:sp>
      <p:sp>
        <p:nvSpPr>
          <p:cNvPr id="516" name="Google Shape;516;p68"/>
          <p:cNvSpPr txBox="1">
            <a:spLocks noGrp="1"/>
          </p:cNvSpPr>
          <p:nvPr>
            <p:ph type="body" idx="1"/>
          </p:nvPr>
        </p:nvSpPr>
        <p:spPr>
          <a:xfrm>
            <a:off x="628650" y="1260980"/>
            <a:ext cx="7886700" cy="3263400"/>
          </a:xfrm>
          <a:prstGeom prst="rect">
            <a:avLst/>
          </a:prstGeom>
        </p:spPr>
        <p:txBody>
          <a:bodyPr spcFirstLastPara="1" wrap="square" lIns="68575" tIns="34275" rIns="68575" bIns="34275" anchor="t" anchorCtr="0">
            <a:normAutofit/>
          </a:bodyPr>
          <a:lstStyle/>
          <a:p>
            <a:pPr marL="457200" lvl="0" indent="-342900" algn="l" rtl="0">
              <a:spcBef>
                <a:spcPts val="800"/>
              </a:spcBef>
              <a:spcAft>
                <a:spcPts val="0"/>
              </a:spcAft>
              <a:buSzPts val="1800"/>
              <a:buChar char="●"/>
            </a:pPr>
            <a:r>
              <a:rPr lang="en-GB"/>
              <a:t>Collect unlabeled data</a:t>
            </a:r>
            <a:endParaRPr/>
          </a:p>
          <a:p>
            <a:pPr marL="457200" lvl="0" indent="-342900" algn="l" rtl="0">
              <a:spcBef>
                <a:spcPts val="0"/>
              </a:spcBef>
              <a:spcAft>
                <a:spcPts val="0"/>
              </a:spcAft>
              <a:buSzPts val="1800"/>
              <a:buChar char="●"/>
            </a:pPr>
            <a:r>
              <a:rPr lang="en-GB"/>
              <a:t>Create synthetic “proxy” task (potentially useless on its own)</a:t>
            </a:r>
            <a:endParaRPr/>
          </a:p>
          <a:p>
            <a:pPr marL="457200" lvl="0" indent="-342900" algn="l" rtl="0">
              <a:spcBef>
                <a:spcPts val="0"/>
              </a:spcBef>
              <a:spcAft>
                <a:spcPts val="0"/>
              </a:spcAft>
              <a:buSzPts val="1800"/>
              <a:buChar char="●"/>
            </a:pPr>
            <a:r>
              <a:rPr lang="en-GB"/>
              <a:t>Hope it spurs the model to learn something useful from the data</a:t>
            </a:r>
            <a:endParaRPr/>
          </a:p>
          <a:p>
            <a:pPr marL="457200" lvl="0" indent="-342900" algn="l" rtl="0">
              <a:spcBef>
                <a:spcPts val="0"/>
              </a:spcBef>
              <a:spcAft>
                <a:spcPts val="0"/>
              </a:spcAft>
              <a:buSzPts val="1800"/>
              <a:buChar char="●"/>
            </a:pPr>
            <a:r>
              <a:rPr lang="en-GB"/>
              <a:t>Advantage: no manual labeling needed</a:t>
            </a:r>
            <a:endParaRPr/>
          </a:p>
          <a:p>
            <a:pPr marL="457200" lvl="0" indent="-342900" algn="l" rtl="0">
              <a:spcBef>
                <a:spcPts val="0"/>
              </a:spcBef>
              <a:spcAft>
                <a:spcPts val="0"/>
              </a:spcAft>
              <a:buSzPts val="1800"/>
              <a:buChar char="●"/>
            </a:pPr>
            <a:r>
              <a:rPr lang="en-GB"/>
              <a:t>Example: masking</a:t>
            </a:r>
            <a:endParaRPr/>
          </a:p>
        </p:txBody>
      </p:sp>
      <p:pic>
        <p:nvPicPr>
          <p:cNvPr id="518" name="Google Shape;518;p68" title="Screenshot 2025-10-20 at 10.22.44 AM.png"/>
          <p:cNvPicPr preferRelativeResize="0"/>
          <p:nvPr/>
        </p:nvPicPr>
        <p:blipFill>
          <a:blip r:embed="rId3">
            <a:alphaModFix/>
          </a:blip>
          <a:stretch>
            <a:fillRect/>
          </a:stretch>
        </p:blipFill>
        <p:spPr>
          <a:xfrm>
            <a:off x="5182049" y="3454599"/>
            <a:ext cx="1712751" cy="1310051"/>
          </a:xfrm>
          <a:prstGeom prst="rect">
            <a:avLst/>
          </a:prstGeom>
          <a:noFill/>
          <a:ln>
            <a:noFill/>
          </a:ln>
        </p:spPr>
      </p:pic>
      <p:pic>
        <p:nvPicPr>
          <p:cNvPr id="519" name="Google Shape;519;p68" title="Screenshot 2025-10-20 at 10.22.44 AM.png"/>
          <p:cNvPicPr preferRelativeResize="0"/>
          <p:nvPr/>
        </p:nvPicPr>
        <p:blipFill>
          <a:blip r:embed="rId3">
            <a:alphaModFix/>
          </a:blip>
          <a:stretch>
            <a:fillRect/>
          </a:stretch>
        </p:blipFill>
        <p:spPr>
          <a:xfrm>
            <a:off x="7185349" y="3454599"/>
            <a:ext cx="1712751" cy="1310051"/>
          </a:xfrm>
          <a:prstGeom prst="rect">
            <a:avLst/>
          </a:prstGeom>
          <a:noFill/>
          <a:ln>
            <a:noFill/>
          </a:ln>
        </p:spPr>
      </p:pic>
      <p:sp>
        <p:nvSpPr>
          <p:cNvPr id="520" name="Google Shape;520;p68"/>
          <p:cNvSpPr/>
          <p:nvPr/>
        </p:nvSpPr>
        <p:spPr>
          <a:xfrm>
            <a:off x="6764925" y="4069774"/>
            <a:ext cx="541200" cy="249000"/>
          </a:xfrm>
          <a:prstGeom prst="rightArrow">
            <a:avLst>
              <a:gd name="adj1" fmla="val 50000"/>
              <a:gd name="adj2" fmla="val 50000"/>
            </a:avLst>
          </a:prstGeom>
          <a:solidFill>
            <a:schemeClr val="accent5"/>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21" name="Google Shape;521;p68"/>
          <p:cNvSpPr/>
          <p:nvPr/>
        </p:nvSpPr>
        <p:spPr>
          <a:xfrm>
            <a:off x="7414350" y="3855224"/>
            <a:ext cx="541200" cy="508800"/>
          </a:xfrm>
          <a:prstGeom prst="rect">
            <a:avLst/>
          </a:prstGeom>
          <a:solidFill>
            <a:schemeClr val="dk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22" name="Google Shape;522;p68"/>
          <p:cNvSpPr txBox="1"/>
          <p:nvPr/>
        </p:nvSpPr>
        <p:spPr>
          <a:xfrm>
            <a:off x="628650" y="3454600"/>
            <a:ext cx="3732600" cy="454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800">
                <a:solidFill>
                  <a:schemeClr val="accent1"/>
                </a:solidFill>
              </a:rPr>
              <a:t>The fox jumped over the fence</a:t>
            </a:r>
            <a:endParaRPr sz="1800">
              <a:solidFill>
                <a:schemeClr val="accent1"/>
              </a:solidFill>
            </a:endParaRPr>
          </a:p>
        </p:txBody>
      </p:sp>
      <p:sp>
        <p:nvSpPr>
          <p:cNvPr id="523" name="Google Shape;523;p68"/>
          <p:cNvSpPr txBox="1"/>
          <p:nvPr/>
        </p:nvSpPr>
        <p:spPr>
          <a:xfrm>
            <a:off x="628650" y="4178125"/>
            <a:ext cx="3732600" cy="454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800">
                <a:solidFill>
                  <a:schemeClr val="accent1"/>
                </a:solidFill>
              </a:rPr>
              <a:t>The fox ______ over the fence</a:t>
            </a:r>
            <a:endParaRPr sz="1800">
              <a:solidFill>
                <a:schemeClr val="accent1"/>
              </a:solidFill>
            </a:endParaRPr>
          </a:p>
        </p:txBody>
      </p:sp>
      <p:sp>
        <p:nvSpPr>
          <p:cNvPr id="524" name="Google Shape;524;p68"/>
          <p:cNvSpPr/>
          <p:nvPr/>
        </p:nvSpPr>
        <p:spPr>
          <a:xfrm rot="5400000">
            <a:off x="2168317" y="3921812"/>
            <a:ext cx="350100" cy="270600"/>
          </a:xfrm>
          <a:prstGeom prst="rightArrow">
            <a:avLst>
              <a:gd name="adj1" fmla="val 50000"/>
              <a:gd name="adj2" fmla="val 50000"/>
            </a:avLst>
          </a:prstGeom>
          <a:solidFill>
            <a:schemeClr val="accent5"/>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535"/>
        <p:cNvGrpSpPr/>
        <p:nvPr/>
      </p:nvGrpSpPr>
      <p:grpSpPr>
        <a:xfrm>
          <a:off x="0" y="0"/>
          <a:ext cx="0" cy="0"/>
          <a:chOff x="0" y="0"/>
          <a:chExt cx="0" cy="0"/>
        </a:xfrm>
      </p:grpSpPr>
      <p:sp>
        <p:nvSpPr>
          <p:cNvPr id="536" name="Google Shape;536;p70"/>
          <p:cNvSpPr txBox="1">
            <a:spLocks noGrp="1"/>
          </p:cNvSpPr>
          <p:nvPr>
            <p:ph type="title"/>
          </p:nvPr>
        </p:nvSpPr>
        <p:spPr>
          <a:xfrm>
            <a:off x="471488" y="205383"/>
            <a:ext cx="5915100" cy="7458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chemeClr val="dk1"/>
              </a:buClr>
              <a:buSzPts val="3300"/>
              <a:buFont typeface="Century Gothic"/>
              <a:buNone/>
            </a:pPr>
            <a:r>
              <a:rPr lang="en-GB"/>
              <a:t>Word2Vec (Skipgram)</a:t>
            </a:r>
            <a:endParaRPr/>
          </a:p>
        </p:txBody>
      </p:sp>
      <p:sp>
        <p:nvSpPr>
          <p:cNvPr id="537" name="Google Shape;537;p70"/>
          <p:cNvSpPr txBox="1"/>
          <p:nvPr/>
        </p:nvSpPr>
        <p:spPr>
          <a:xfrm>
            <a:off x="1" y="4870133"/>
            <a:ext cx="2689800" cy="2847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GB" sz="1400" u="sng">
                <a:solidFill>
                  <a:schemeClr val="dk1"/>
                </a:solidFill>
                <a:hlinkClick r:id="rId3">
                  <a:extLst>
                    <a:ext uri="{A12FA001-AC4F-418D-AE19-62706E023703}">
                      <ahyp:hlinkClr xmlns:ahyp="http://schemas.microsoft.com/office/drawing/2018/hyperlinkcolor" val="tx"/>
                    </a:ext>
                  </a:extLst>
                </a:hlinkClick>
              </a:rPr>
              <a:t>Mikolov et al., 2013</a:t>
            </a:r>
            <a:endParaRPr sz="1400">
              <a:solidFill>
                <a:schemeClr val="dk1"/>
              </a:solidFill>
            </a:endParaRPr>
          </a:p>
        </p:txBody>
      </p:sp>
      <p:sp>
        <p:nvSpPr>
          <p:cNvPr id="538" name="Google Shape;538;p70"/>
          <p:cNvSpPr txBox="1">
            <a:spLocks noGrp="1"/>
          </p:cNvSpPr>
          <p:nvPr>
            <p:ph type="body" idx="1"/>
          </p:nvPr>
        </p:nvSpPr>
        <p:spPr>
          <a:xfrm>
            <a:off x="471500" y="1026925"/>
            <a:ext cx="6081900" cy="1700700"/>
          </a:xfrm>
          <a:prstGeom prst="rect">
            <a:avLst/>
          </a:prstGeom>
          <a:noFill/>
          <a:ln>
            <a:noFill/>
          </a:ln>
        </p:spPr>
        <p:txBody>
          <a:bodyPr spcFirstLastPara="1" wrap="square" lIns="68575" tIns="34275" rIns="68575" bIns="34275" anchor="t" anchorCtr="0">
            <a:noAutofit/>
          </a:bodyPr>
          <a:lstStyle/>
          <a:p>
            <a:pPr marL="0" lvl="0" indent="0" algn="l" rtl="0">
              <a:lnSpc>
                <a:spcPct val="90000"/>
              </a:lnSpc>
              <a:spcBef>
                <a:spcPts val="0"/>
              </a:spcBef>
              <a:spcAft>
                <a:spcPts val="0"/>
              </a:spcAft>
              <a:buClr>
                <a:schemeClr val="dk1"/>
              </a:buClr>
              <a:buSzPts val="2300"/>
              <a:buNone/>
            </a:pPr>
            <a:r>
              <a:rPr lang="en-GB" sz="1700" dirty="0"/>
              <a:t>TL;DR: predict words from </a:t>
            </a:r>
            <a:r>
              <a:rPr lang="en-GB" sz="1700" dirty="0" err="1"/>
              <a:t>neighboring</a:t>
            </a:r>
            <a:r>
              <a:rPr lang="en-GB" sz="1700" dirty="0"/>
              <a:t> words</a:t>
            </a:r>
            <a:endParaRPr sz="1700" dirty="0"/>
          </a:p>
          <a:p>
            <a:pPr marL="457200" lvl="0" indent="0" algn="l" rtl="0">
              <a:lnSpc>
                <a:spcPct val="150000"/>
              </a:lnSpc>
              <a:spcBef>
                <a:spcPts val="800"/>
              </a:spcBef>
              <a:spcAft>
                <a:spcPts val="0"/>
              </a:spcAft>
              <a:buNone/>
            </a:pPr>
            <a:endParaRPr sz="17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63"/>
        <p:cNvGrpSpPr/>
        <p:nvPr/>
      </p:nvGrpSpPr>
      <p:grpSpPr>
        <a:xfrm>
          <a:off x="0" y="0"/>
          <a:ext cx="0" cy="0"/>
          <a:chOff x="0" y="0"/>
          <a:chExt cx="0" cy="0"/>
        </a:xfrm>
      </p:grpSpPr>
      <p:sp>
        <p:nvSpPr>
          <p:cNvPr id="165" name="Google Shape;165;p25"/>
          <p:cNvSpPr txBox="1">
            <a:spLocks noGrp="1"/>
          </p:cNvSpPr>
          <p:nvPr>
            <p:ph type="title"/>
          </p:nvPr>
        </p:nvSpPr>
        <p:spPr>
          <a:xfrm>
            <a:off x="471488" y="205383"/>
            <a:ext cx="5915100" cy="7458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chemeClr val="dk1"/>
              </a:buClr>
              <a:buSzPts val="3300"/>
              <a:buFont typeface="Century Gothic"/>
              <a:buNone/>
            </a:pPr>
            <a:r>
              <a:rPr lang="en-GB"/>
              <a:t>Word2Vec (Skipgram)</a:t>
            </a:r>
            <a:endParaRPr/>
          </a:p>
        </p:txBody>
      </p:sp>
      <p:sp>
        <p:nvSpPr>
          <p:cNvPr id="166" name="Google Shape;166;p25"/>
          <p:cNvSpPr txBox="1"/>
          <p:nvPr/>
        </p:nvSpPr>
        <p:spPr>
          <a:xfrm>
            <a:off x="1" y="4870133"/>
            <a:ext cx="2689800" cy="2847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GB" sz="1400" u="sng">
                <a:solidFill>
                  <a:schemeClr val="dk1"/>
                </a:solidFill>
                <a:hlinkClick r:id="rId3">
                  <a:extLst>
                    <a:ext uri="{A12FA001-AC4F-418D-AE19-62706E023703}">
                      <ahyp:hlinkClr xmlns:ahyp="http://schemas.microsoft.com/office/drawing/2018/hyperlinkcolor" val="tx"/>
                    </a:ext>
                  </a:extLst>
                </a:hlinkClick>
              </a:rPr>
              <a:t>Mikolov et al., 2013</a:t>
            </a:r>
            <a:endParaRPr sz="1400">
              <a:solidFill>
                <a:schemeClr val="dk1"/>
              </a:solidFill>
            </a:endParaRPr>
          </a:p>
        </p:txBody>
      </p:sp>
      <p:sp>
        <p:nvSpPr>
          <p:cNvPr id="167" name="Google Shape;167;p25"/>
          <p:cNvSpPr txBox="1">
            <a:spLocks noGrp="1"/>
          </p:cNvSpPr>
          <p:nvPr>
            <p:ph type="body" idx="1"/>
          </p:nvPr>
        </p:nvSpPr>
        <p:spPr>
          <a:xfrm>
            <a:off x="471500" y="1026925"/>
            <a:ext cx="6081900" cy="1700700"/>
          </a:xfrm>
          <a:prstGeom prst="rect">
            <a:avLst/>
          </a:prstGeom>
          <a:noFill/>
          <a:ln>
            <a:noFill/>
          </a:ln>
        </p:spPr>
        <p:txBody>
          <a:bodyPr spcFirstLastPara="1" wrap="square" lIns="68575" tIns="34275" rIns="68575" bIns="34275" anchor="t" anchorCtr="0">
            <a:noAutofit/>
          </a:bodyPr>
          <a:lstStyle/>
          <a:p>
            <a:pPr marL="0" lvl="0" indent="0" algn="l" rtl="0">
              <a:lnSpc>
                <a:spcPct val="90000"/>
              </a:lnSpc>
              <a:spcBef>
                <a:spcPts val="0"/>
              </a:spcBef>
              <a:spcAft>
                <a:spcPts val="0"/>
              </a:spcAft>
              <a:buClr>
                <a:schemeClr val="dk1"/>
              </a:buClr>
              <a:buSzPts val="2300"/>
              <a:buNone/>
            </a:pPr>
            <a:r>
              <a:rPr lang="en-GB" sz="1700"/>
              <a:t>TL;DR: predict words from neighboring words</a:t>
            </a:r>
            <a:endParaRPr sz="1700"/>
          </a:p>
          <a:p>
            <a:pPr marL="457200" lvl="0" indent="-336550" algn="l" rtl="0">
              <a:lnSpc>
                <a:spcPct val="150000"/>
              </a:lnSpc>
              <a:spcBef>
                <a:spcPts val="800"/>
              </a:spcBef>
              <a:spcAft>
                <a:spcPts val="0"/>
              </a:spcAft>
              <a:buSzPts val="1700"/>
              <a:buChar char="●"/>
            </a:pPr>
            <a:r>
              <a:rPr lang="en-GB" sz="1700"/>
              <a:t>Define</a:t>
            </a:r>
            <a:r>
              <a:rPr lang="en-GB" sz="1700">
                <a:solidFill>
                  <a:schemeClr val="accent1"/>
                </a:solidFill>
              </a:rPr>
              <a:t> self-supervised</a:t>
            </a:r>
            <a:r>
              <a:rPr lang="en-GB" sz="1700"/>
              <a:t> learning task from raw data:</a:t>
            </a:r>
            <a:endParaRPr sz="1700"/>
          </a:p>
          <a:p>
            <a:pPr marL="914400" lvl="1" indent="-336550" algn="l" rtl="0">
              <a:lnSpc>
                <a:spcPct val="150000"/>
              </a:lnSpc>
              <a:spcBef>
                <a:spcPts val="0"/>
              </a:spcBef>
              <a:spcAft>
                <a:spcPts val="0"/>
              </a:spcAft>
              <a:buSzPts val="1700"/>
              <a:buChar char="○"/>
            </a:pPr>
            <a:r>
              <a:rPr lang="en-GB" sz="1700"/>
              <a:t>Input: “</a:t>
            </a:r>
            <a:r>
              <a:rPr lang="en-GB" sz="1700">
                <a:solidFill>
                  <a:schemeClr val="accent1"/>
                </a:solidFill>
              </a:rPr>
              <a:t>center</a:t>
            </a:r>
            <a:r>
              <a:rPr lang="en-GB" sz="1700"/>
              <a:t>” word, label: “</a:t>
            </a:r>
            <a:r>
              <a:rPr lang="en-GB" sz="1700">
                <a:solidFill>
                  <a:schemeClr val="accent1"/>
                </a:solidFill>
              </a:rPr>
              <a:t>outside</a:t>
            </a:r>
            <a:r>
              <a:rPr lang="en-GB" sz="1700"/>
              <a:t>” (context) word</a:t>
            </a:r>
            <a:endParaRPr sz="1700"/>
          </a:p>
          <a:p>
            <a:pPr marL="457200" lvl="0" indent="0" algn="l" rtl="0">
              <a:lnSpc>
                <a:spcPct val="150000"/>
              </a:lnSpc>
              <a:spcBef>
                <a:spcPts val="800"/>
              </a:spcBef>
              <a:spcAft>
                <a:spcPts val="0"/>
              </a:spcAft>
              <a:buNone/>
            </a:pPr>
            <a:endParaRPr sz="1700"/>
          </a:p>
        </p:txBody>
      </p:sp>
      <p:sp>
        <p:nvSpPr>
          <p:cNvPr id="168" name="Google Shape;168;p25"/>
          <p:cNvSpPr txBox="1"/>
          <p:nvPr/>
        </p:nvSpPr>
        <p:spPr>
          <a:xfrm>
            <a:off x="6237050" y="1103375"/>
            <a:ext cx="2768400" cy="2655300"/>
          </a:xfrm>
          <a:prstGeom prst="rect">
            <a:avLst/>
          </a:prstGeom>
          <a:noFill/>
          <a:ln>
            <a:noFill/>
          </a:ln>
        </p:spPr>
        <p:txBody>
          <a:bodyPr spcFirstLastPara="1" wrap="square" lIns="68575" tIns="34275" rIns="68575" bIns="34275" anchor="t" anchorCtr="0">
            <a:spAutoFit/>
          </a:bodyPr>
          <a:lstStyle/>
          <a:p>
            <a:pPr marL="723900" marR="0" lvl="1" indent="-368300" algn="l" rtl="0">
              <a:spcBef>
                <a:spcPts val="0"/>
              </a:spcBef>
              <a:spcAft>
                <a:spcPts val="0"/>
              </a:spcAft>
              <a:buClr>
                <a:schemeClr val="dk1"/>
              </a:buClr>
              <a:buSzPts val="1400"/>
              <a:buAutoNum type="arabicPeriod"/>
            </a:pPr>
            <a:r>
              <a:rPr lang="en-GB" i="0" u="none" strike="noStrike" cap="none">
                <a:solidFill>
                  <a:schemeClr val="dk1"/>
                </a:solidFill>
              </a:rPr>
              <a:t>(x, y) = (bank, that)</a:t>
            </a:r>
            <a:endParaRPr/>
          </a:p>
          <a:p>
            <a:pPr marL="723900" marR="0" lvl="1" indent="-368300" algn="l" rtl="0">
              <a:spcBef>
                <a:spcPts val="0"/>
              </a:spcBef>
              <a:spcAft>
                <a:spcPts val="0"/>
              </a:spcAft>
              <a:buClr>
                <a:schemeClr val="dk1"/>
              </a:buClr>
              <a:buSzPts val="1400"/>
              <a:buAutoNum type="arabicPeriod"/>
            </a:pPr>
            <a:r>
              <a:rPr lang="en-GB" i="0" u="none" strike="noStrike" cap="none">
                <a:solidFill>
                  <a:schemeClr val="dk1"/>
                </a:solidFill>
              </a:rPr>
              <a:t>(x, y) = (bank, holds)</a:t>
            </a:r>
            <a:endParaRPr/>
          </a:p>
          <a:p>
            <a:pPr marL="723900" marR="0" lvl="1" indent="-368300" algn="l" rtl="0">
              <a:spcBef>
                <a:spcPts val="0"/>
              </a:spcBef>
              <a:spcAft>
                <a:spcPts val="0"/>
              </a:spcAft>
              <a:buClr>
                <a:schemeClr val="dk1"/>
              </a:buClr>
              <a:buSzPts val="1400"/>
              <a:buAutoNum type="arabicPeriod"/>
            </a:pPr>
            <a:r>
              <a:rPr lang="en-GB" i="0" u="none" strike="noStrike" cap="none">
                <a:solidFill>
                  <a:schemeClr val="dk1"/>
                </a:solidFill>
              </a:rPr>
              <a:t>(x, y) = (holds, bank)</a:t>
            </a:r>
            <a:endParaRPr/>
          </a:p>
          <a:p>
            <a:pPr marL="723900" marR="0" lvl="1" indent="-368300" algn="l" rtl="0">
              <a:spcBef>
                <a:spcPts val="0"/>
              </a:spcBef>
              <a:spcAft>
                <a:spcPts val="0"/>
              </a:spcAft>
              <a:buClr>
                <a:schemeClr val="dk1"/>
              </a:buClr>
              <a:buSzPts val="1400"/>
              <a:buAutoNum type="arabicPeriod"/>
            </a:pPr>
            <a:r>
              <a:rPr lang="en-GB" i="0" u="none" strike="noStrike" cap="none">
                <a:solidFill>
                  <a:schemeClr val="dk1"/>
                </a:solidFill>
              </a:rPr>
              <a:t>(x, y) = (holds, the)</a:t>
            </a:r>
            <a:endParaRPr/>
          </a:p>
          <a:p>
            <a:pPr marL="723900" marR="0" lvl="1" indent="-368300" algn="l" rtl="0">
              <a:spcBef>
                <a:spcPts val="0"/>
              </a:spcBef>
              <a:spcAft>
                <a:spcPts val="0"/>
              </a:spcAft>
              <a:buClr>
                <a:schemeClr val="dk1"/>
              </a:buClr>
              <a:buSzPts val="1400"/>
              <a:buAutoNum type="arabicPeriod"/>
            </a:pPr>
            <a:r>
              <a:rPr lang="en-GB" i="0" u="none" strike="noStrike" cap="none">
                <a:solidFill>
                  <a:schemeClr val="dk1"/>
                </a:solidFill>
              </a:rPr>
              <a:t>(x, y) = (the, holds)</a:t>
            </a:r>
            <a:endParaRPr/>
          </a:p>
          <a:p>
            <a:pPr marL="723900" marR="0" lvl="1" indent="-368300" algn="l" rtl="0">
              <a:spcBef>
                <a:spcPts val="0"/>
              </a:spcBef>
              <a:spcAft>
                <a:spcPts val="0"/>
              </a:spcAft>
              <a:buClr>
                <a:schemeClr val="dk1"/>
              </a:buClr>
              <a:buSzPts val="1400"/>
              <a:buAutoNum type="arabicPeriod"/>
            </a:pPr>
            <a:r>
              <a:rPr lang="en-GB" i="0" u="none" strike="noStrike" cap="none">
                <a:solidFill>
                  <a:schemeClr val="dk1"/>
                </a:solidFill>
              </a:rPr>
              <a:t>(x, y) = (the, mortgage)</a:t>
            </a:r>
            <a:endParaRPr/>
          </a:p>
          <a:p>
            <a:pPr marL="723900" marR="0" lvl="1" indent="-368300" algn="l" rtl="0">
              <a:spcBef>
                <a:spcPts val="0"/>
              </a:spcBef>
              <a:spcAft>
                <a:spcPts val="0"/>
              </a:spcAft>
              <a:buClr>
                <a:schemeClr val="dk1"/>
              </a:buClr>
              <a:buSzPts val="1400"/>
              <a:buAutoNum type="arabicPeriod"/>
            </a:pPr>
            <a:r>
              <a:rPr lang="en-GB" i="0" u="none" strike="noStrike" cap="none">
                <a:solidFill>
                  <a:schemeClr val="dk1"/>
                </a:solidFill>
              </a:rPr>
              <a:t>(x, y) = (mortgage, the)</a:t>
            </a:r>
            <a:endParaRPr/>
          </a:p>
          <a:p>
            <a:pPr marL="685800" lvl="1" indent="-254000" algn="l" rtl="0">
              <a:spcBef>
                <a:spcPts val="0"/>
              </a:spcBef>
              <a:spcAft>
                <a:spcPts val="0"/>
              </a:spcAft>
              <a:buClr>
                <a:schemeClr val="dk1"/>
              </a:buClr>
              <a:buSzPts val="1400"/>
              <a:buAutoNum type="arabicPeriod"/>
            </a:pPr>
            <a:r>
              <a:rPr lang="en-GB">
                <a:solidFill>
                  <a:schemeClr val="dk1"/>
                </a:solidFill>
              </a:rPr>
              <a:t>(x, y) = (mortgage, on)</a:t>
            </a:r>
            <a:endParaRPr>
              <a:solidFill>
                <a:schemeClr val="dk1"/>
              </a:solidFill>
            </a:endParaRPr>
          </a:p>
          <a:p>
            <a:pPr marL="685800" lvl="1" indent="-254000" algn="l" rtl="0">
              <a:spcBef>
                <a:spcPts val="0"/>
              </a:spcBef>
              <a:spcAft>
                <a:spcPts val="0"/>
              </a:spcAft>
              <a:buClr>
                <a:schemeClr val="dk1"/>
              </a:buClr>
              <a:buSzPts val="1400"/>
              <a:buAutoNum type="arabicPeriod"/>
            </a:pPr>
            <a:r>
              <a:rPr lang="en-GB">
                <a:solidFill>
                  <a:schemeClr val="dk1"/>
                </a:solidFill>
              </a:rPr>
              <a:t>(x, y) = (on, mortgage),</a:t>
            </a:r>
            <a:endParaRPr>
              <a:solidFill>
                <a:schemeClr val="dk1"/>
              </a:solidFill>
            </a:endParaRPr>
          </a:p>
          <a:p>
            <a:pPr marL="685800" lvl="1" indent="-254000" algn="l" rtl="0">
              <a:spcBef>
                <a:spcPts val="0"/>
              </a:spcBef>
              <a:spcAft>
                <a:spcPts val="0"/>
              </a:spcAft>
              <a:buClr>
                <a:schemeClr val="dk1"/>
              </a:buClr>
              <a:buSzPts val="1400"/>
              <a:buAutoNum type="arabicPeriod"/>
            </a:pPr>
            <a:r>
              <a:rPr lang="en-GB">
                <a:solidFill>
                  <a:schemeClr val="dk1"/>
                </a:solidFill>
              </a:rPr>
              <a:t>(x, y) = (on, my)</a:t>
            </a:r>
            <a:endParaRPr>
              <a:solidFill>
                <a:schemeClr val="dk1"/>
              </a:solidFill>
            </a:endParaRPr>
          </a:p>
          <a:p>
            <a:pPr marL="685800" lvl="1" indent="-254000" algn="l" rtl="0">
              <a:spcBef>
                <a:spcPts val="0"/>
              </a:spcBef>
              <a:spcAft>
                <a:spcPts val="0"/>
              </a:spcAft>
              <a:buClr>
                <a:schemeClr val="dk1"/>
              </a:buClr>
              <a:buSzPts val="1400"/>
              <a:buAutoNum type="arabicPeriod"/>
            </a:pPr>
            <a:r>
              <a:rPr lang="en-GB">
                <a:solidFill>
                  <a:schemeClr val="dk1"/>
                </a:solidFill>
              </a:rPr>
              <a:t>(x, y) = (my, on)</a:t>
            </a:r>
            <a:endParaRPr>
              <a:solidFill>
                <a:schemeClr val="dk1"/>
              </a:solidFill>
            </a:endParaRPr>
          </a:p>
          <a:p>
            <a:pPr marL="685800" lvl="1" indent="-254000" algn="l" rtl="0">
              <a:spcBef>
                <a:spcPts val="0"/>
              </a:spcBef>
              <a:spcAft>
                <a:spcPts val="0"/>
              </a:spcAft>
              <a:buClr>
                <a:schemeClr val="dk1"/>
              </a:buClr>
              <a:buSzPts val="1400"/>
              <a:buAutoNum type="arabicPeriod"/>
            </a:pPr>
            <a:r>
              <a:rPr lang="en-GB">
                <a:solidFill>
                  <a:schemeClr val="dk1"/>
                </a:solidFill>
              </a:rPr>
              <a:t>(x, y) = (my, home)</a:t>
            </a:r>
            <a:endParaRPr>
              <a:solidFill>
                <a:srgbClr val="00B0F0"/>
              </a:solidFill>
            </a:endParaRPr>
          </a:p>
        </p:txBody>
      </p:sp>
      <p:sp>
        <p:nvSpPr>
          <p:cNvPr id="169" name="Google Shape;169;p25"/>
          <p:cNvSpPr txBox="1"/>
          <p:nvPr/>
        </p:nvSpPr>
        <p:spPr>
          <a:xfrm>
            <a:off x="6537635" y="291925"/>
            <a:ext cx="2208000" cy="5727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800"/>
              </a:spcBef>
              <a:spcAft>
                <a:spcPts val="0"/>
              </a:spcAft>
              <a:buNone/>
            </a:pPr>
            <a:r>
              <a:rPr lang="en-GB" i="1">
                <a:solidFill>
                  <a:schemeClr val="accent5"/>
                </a:solidFill>
              </a:rPr>
              <a:t>“… that bank holds the mortgage on my home…”</a:t>
            </a:r>
            <a:endParaRPr>
              <a:solidFill>
                <a:schemeClr val="accent5"/>
              </a:solidFill>
            </a:endParaRPr>
          </a:p>
        </p:txBody>
      </p:sp>
      <p:sp>
        <p:nvSpPr>
          <p:cNvPr id="170" name="Google Shape;170;p25"/>
          <p:cNvSpPr/>
          <p:nvPr/>
        </p:nvSpPr>
        <p:spPr>
          <a:xfrm rot="5400000">
            <a:off x="7446192" y="837012"/>
            <a:ext cx="350100" cy="270600"/>
          </a:xfrm>
          <a:prstGeom prst="rightArrow">
            <a:avLst>
              <a:gd name="adj1" fmla="val 50000"/>
              <a:gd name="adj2" fmla="val 50000"/>
            </a:avLst>
          </a:prstGeom>
          <a:solidFill>
            <a:schemeClr val="accent5"/>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74"/>
        <p:cNvGrpSpPr/>
        <p:nvPr/>
      </p:nvGrpSpPr>
      <p:grpSpPr>
        <a:xfrm>
          <a:off x="0" y="0"/>
          <a:ext cx="0" cy="0"/>
          <a:chOff x="0" y="0"/>
          <a:chExt cx="0" cy="0"/>
        </a:xfrm>
      </p:grpSpPr>
      <p:sp>
        <p:nvSpPr>
          <p:cNvPr id="175" name="Google Shape;175;p26"/>
          <p:cNvSpPr txBox="1">
            <a:spLocks noGrp="1"/>
          </p:cNvSpPr>
          <p:nvPr>
            <p:ph type="title"/>
          </p:nvPr>
        </p:nvSpPr>
        <p:spPr>
          <a:xfrm>
            <a:off x="471488" y="205383"/>
            <a:ext cx="5915100" cy="7458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chemeClr val="dk1"/>
              </a:buClr>
              <a:buSzPts val="3300"/>
              <a:buFont typeface="Century Gothic"/>
              <a:buNone/>
            </a:pPr>
            <a:r>
              <a:rPr lang="en-GB"/>
              <a:t>Word2Vec (Skipgram)</a:t>
            </a:r>
            <a:endParaRPr/>
          </a:p>
        </p:txBody>
      </p:sp>
      <p:sp>
        <p:nvSpPr>
          <p:cNvPr id="176" name="Google Shape;176;p26"/>
          <p:cNvSpPr txBox="1"/>
          <p:nvPr/>
        </p:nvSpPr>
        <p:spPr>
          <a:xfrm>
            <a:off x="1" y="4870133"/>
            <a:ext cx="2689800" cy="2847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GB" sz="1400" u="sng">
                <a:solidFill>
                  <a:schemeClr val="dk1"/>
                </a:solidFill>
                <a:hlinkClick r:id="rId3">
                  <a:extLst>
                    <a:ext uri="{A12FA001-AC4F-418D-AE19-62706E023703}">
                      <ahyp:hlinkClr xmlns:ahyp="http://schemas.microsoft.com/office/drawing/2018/hyperlinkcolor" val="tx"/>
                    </a:ext>
                  </a:extLst>
                </a:hlinkClick>
              </a:rPr>
              <a:t>Mikolov et al., 2013</a:t>
            </a:r>
            <a:endParaRPr sz="1400">
              <a:solidFill>
                <a:schemeClr val="dk1"/>
              </a:solidFill>
            </a:endParaRPr>
          </a:p>
        </p:txBody>
      </p:sp>
      <p:pic>
        <p:nvPicPr>
          <p:cNvPr id="177" name="Google Shape;177;p26" descr="p_\theta (o|c) = \frac{\exp(u_o^T v_c)}{\sum_{w\in \mathcal{V}} \exp(u_w^T v_c)}" title="MathEquation,#000000"/>
          <p:cNvPicPr preferRelativeResize="0"/>
          <p:nvPr/>
        </p:nvPicPr>
        <p:blipFill>
          <a:blip r:embed="rId4">
            <a:alphaModFix/>
          </a:blip>
          <a:stretch>
            <a:fillRect/>
          </a:stretch>
        </p:blipFill>
        <p:spPr>
          <a:xfrm>
            <a:off x="3235675" y="2569228"/>
            <a:ext cx="3808874" cy="823675"/>
          </a:xfrm>
          <a:prstGeom prst="rect">
            <a:avLst/>
          </a:prstGeom>
          <a:noFill/>
          <a:ln>
            <a:noFill/>
          </a:ln>
        </p:spPr>
      </p:pic>
      <p:sp>
        <p:nvSpPr>
          <p:cNvPr id="178" name="Google Shape;178;p26"/>
          <p:cNvSpPr txBox="1"/>
          <p:nvPr/>
        </p:nvSpPr>
        <p:spPr>
          <a:xfrm>
            <a:off x="1012357" y="2554694"/>
            <a:ext cx="2127000" cy="5925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GB" sz="1700">
                <a:solidFill>
                  <a:schemeClr val="dk2"/>
                </a:solidFill>
              </a:rPr>
              <a:t>Example: </a:t>
            </a:r>
            <a:br>
              <a:rPr lang="en-GB" sz="1700">
                <a:solidFill>
                  <a:srgbClr val="00B0F0"/>
                </a:solidFill>
              </a:rPr>
            </a:br>
            <a:r>
              <a:rPr lang="en-GB" sz="1700">
                <a:solidFill>
                  <a:srgbClr val="00B0F0"/>
                </a:solidFill>
              </a:rPr>
              <a:t>p(“holds” | “bank”)</a:t>
            </a:r>
            <a:endParaRPr sz="1700"/>
          </a:p>
        </p:txBody>
      </p:sp>
      <p:sp>
        <p:nvSpPr>
          <p:cNvPr id="179" name="Google Shape;179;p26"/>
          <p:cNvSpPr txBox="1">
            <a:spLocks noGrp="1"/>
          </p:cNvSpPr>
          <p:nvPr>
            <p:ph type="body" idx="1"/>
          </p:nvPr>
        </p:nvSpPr>
        <p:spPr>
          <a:xfrm>
            <a:off x="471500" y="1026925"/>
            <a:ext cx="6081900" cy="1700700"/>
          </a:xfrm>
          <a:prstGeom prst="rect">
            <a:avLst/>
          </a:prstGeom>
          <a:noFill/>
          <a:ln>
            <a:noFill/>
          </a:ln>
        </p:spPr>
        <p:txBody>
          <a:bodyPr spcFirstLastPara="1" wrap="square" lIns="68575" tIns="34275" rIns="68575" bIns="34275" anchor="t" anchorCtr="0">
            <a:noAutofit/>
          </a:bodyPr>
          <a:lstStyle/>
          <a:p>
            <a:pPr marL="0" lvl="0" indent="0" algn="l" rtl="0">
              <a:lnSpc>
                <a:spcPct val="90000"/>
              </a:lnSpc>
              <a:spcBef>
                <a:spcPts val="0"/>
              </a:spcBef>
              <a:spcAft>
                <a:spcPts val="0"/>
              </a:spcAft>
              <a:buClr>
                <a:schemeClr val="dk1"/>
              </a:buClr>
              <a:buSzPts val="2300"/>
              <a:buNone/>
            </a:pPr>
            <a:r>
              <a:rPr lang="en-GB" sz="1700"/>
              <a:t>TL;DR: predict words from neighboring words</a:t>
            </a:r>
            <a:endParaRPr sz="1700"/>
          </a:p>
          <a:p>
            <a:pPr marL="457200" lvl="0" indent="-336550" algn="l" rtl="0">
              <a:lnSpc>
                <a:spcPct val="150000"/>
              </a:lnSpc>
              <a:spcBef>
                <a:spcPts val="800"/>
              </a:spcBef>
              <a:spcAft>
                <a:spcPts val="0"/>
              </a:spcAft>
              <a:buSzPts val="1700"/>
              <a:buChar char="●"/>
            </a:pPr>
            <a:r>
              <a:rPr lang="en-GB" sz="1700"/>
              <a:t>Define</a:t>
            </a:r>
            <a:r>
              <a:rPr lang="en-GB" sz="1700">
                <a:solidFill>
                  <a:schemeClr val="accent1"/>
                </a:solidFill>
              </a:rPr>
              <a:t> self-supervised</a:t>
            </a:r>
            <a:r>
              <a:rPr lang="en-GB" sz="1700"/>
              <a:t> learning task from raw data:</a:t>
            </a:r>
            <a:endParaRPr sz="1700"/>
          </a:p>
          <a:p>
            <a:pPr marL="914400" lvl="1" indent="-336550" algn="l" rtl="0">
              <a:lnSpc>
                <a:spcPct val="150000"/>
              </a:lnSpc>
              <a:spcBef>
                <a:spcPts val="0"/>
              </a:spcBef>
              <a:spcAft>
                <a:spcPts val="0"/>
              </a:spcAft>
              <a:buSzPts val="1700"/>
              <a:buChar char="○"/>
            </a:pPr>
            <a:r>
              <a:rPr lang="en-GB" sz="1700"/>
              <a:t>Input: “</a:t>
            </a:r>
            <a:r>
              <a:rPr lang="en-GB" sz="1700">
                <a:solidFill>
                  <a:schemeClr val="accent1"/>
                </a:solidFill>
              </a:rPr>
              <a:t>center</a:t>
            </a:r>
            <a:r>
              <a:rPr lang="en-GB" sz="1700"/>
              <a:t>” word, label: “</a:t>
            </a:r>
            <a:r>
              <a:rPr lang="en-GB" sz="1700">
                <a:solidFill>
                  <a:schemeClr val="accent1"/>
                </a:solidFill>
              </a:rPr>
              <a:t>outside</a:t>
            </a:r>
            <a:r>
              <a:rPr lang="en-GB" sz="1700"/>
              <a:t>” (context) word</a:t>
            </a:r>
            <a:endParaRPr sz="1700"/>
          </a:p>
          <a:p>
            <a:pPr marL="457200" lvl="0" indent="-336550" algn="l" rtl="0">
              <a:lnSpc>
                <a:spcPct val="150000"/>
              </a:lnSpc>
              <a:spcBef>
                <a:spcPts val="0"/>
              </a:spcBef>
              <a:spcAft>
                <a:spcPts val="0"/>
              </a:spcAft>
              <a:buSzPts val="1700"/>
              <a:buChar char="●"/>
            </a:pPr>
            <a:r>
              <a:rPr lang="en-GB" sz="1700"/>
              <a:t>Define </a:t>
            </a:r>
            <a:r>
              <a:rPr lang="en-GB" sz="1700">
                <a:solidFill>
                  <a:schemeClr val="accent1"/>
                </a:solidFill>
              </a:rPr>
              <a:t>model</a:t>
            </a:r>
            <a:r>
              <a:rPr lang="en-GB" sz="1700"/>
              <a:t> for predicting label from input:</a:t>
            </a:r>
            <a:endParaRPr sz="1700"/>
          </a:p>
        </p:txBody>
      </p:sp>
      <p:pic>
        <p:nvPicPr>
          <p:cNvPr id="180" name="Google Shape;180;p26" descr="u_o \in \mathbb{R}^d" title="MathEquation,#000000"/>
          <p:cNvPicPr preferRelativeResize="0"/>
          <p:nvPr/>
        </p:nvPicPr>
        <p:blipFill>
          <a:blip r:embed="rId5">
            <a:alphaModFix/>
          </a:blip>
          <a:stretch>
            <a:fillRect/>
          </a:stretch>
        </p:blipFill>
        <p:spPr>
          <a:xfrm>
            <a:off x="870200" y="3813850"/>
            <a:ext cx="840896" cy="309023"/>
          </a:xfrm>
          <a:prstGeom prst="rect">
            <a:avLst/>
          </a:prstGeom>
          <a:noFill/>
          <a:ln>
            <a:noFill/>
          </a:ln>
        </p:spPr>
      </p:pic>
      <p:pic>
        <p:nvPicPr>
          <p:cNvPr id="181" name="Google Shape;181;p26" descr="v_c \in \mathbb{R}^d" title="MathEquation,#000000"/>
          <p:cNvPicPr preferRelativeResize="0"/>
          <p:nvPr/>
        </p:nvPicPr>
        <p:blipFill>
          <a:blip r:embed="rId6">
            <a:alphaModFix/>
          </a:blip>
          <a:stretch>
            <a:fillRect/>
          </a:stretch>
        </p:blipFill>
        <p:spPr>
          <a:xfrm>
            <a:off x="885359" y="4128228"/>
            <a:ext cx="810566" cy="309022"/>
          </a:xfrm>
          <a:prstGeom prst="rect">
            <a:avLst/>
          </a:prstGeom>
          <a:noFill/>
          <a:ln>
            <a:noFill/>
          </a:ln>
        </p:spPr>
      </p:pic>
      <p:pic>
        <p:nvPicPr>
          <p:cNvPr id="182" name="Google Shape;182;p26" descr="\theta" title="MathEquation,#00b0f0"/>
          <p:cNvPicPr preferRelativeResize="0"/>
          <p:nvPr/>
        </p:nvPicPr>
        <p:blipFill>
          <a:blip r:embed="rId7">
            <a:alphaModFix/>
          </a:blip>
          <a:stretch>
            <a:fillRect/>
          </a:stretch>
        </p:blipFill>
        <p:spPr>
          <a:xfrm>
            <a:off x="1711100" y="3465270"/>
            <a:ext cx="122374" cy="235405"/>
          </a:xfrm>
          <a:prstGeom prst="rect">
            <a:avLst/>
          </a:prstGeom>
          <a:noFill/>
          <a:ln>
            <a:noFill/>
          </a:ln>
        </p:spPr>
      </p:pic>
      <p:sp>
        <p:nvSpPr>
          <p:cNvPr id="183" name="Google Shape;183;p26"/>
          <p:cNvSpPr txBox="1"/>
          <p:nvPr/>
        </p:nvSpPr>
        <p:spPr>
          <a:xfrm>
            <a:off x="1797924" y="3782408"/>
            <a:ext cx="4077300" cy="3309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GB" sz="1700">
                <a:solidFill>
                  <a:schemeClr val="dk1"/>
                </a:solidFill>
              </a:rPr>
              <a:t>vector for “outside” word(s) (context) </a:t>
            </a:r>
            <a:r>
              <a:rPr lang="en-GB" sz="1700" i="1">
                <a:solidFill>
                  <a:schemeClr val="dk1"/>
                </a:solidFill>
                <a:latin typeface="Times New Roman"/>
                <a:ea typeface="Times New Roman"/>
                <a:cs typeface="Times New Roman"/>
                <a:sym typeface="Times New Roman"/>
              </a:rPr>
              <a:t>o</a:t>
            </a:r>
            <a:endParaRPr sz="1700" i="1">
              <a:solidFill>
                <a:schemeClr val="dk1"/>
              </a:solidFill>
              <a:latin typeface="Times New Roman"/>
              <a:ea typeface="Times New Roman"/>
              <a:cs typeface="Times New Roman"/>
              <a:sym typeface="Times New Roman"/>
            </a:endParaRPr>
          </a:p>
        </p:txBody>
      </p:sp>
      <p:sp>
        <p:nvSpPr>
          <p:cNvPr id="184" name="Google Shape;184;p26"/>
          <p:cNvSpPr txBox="1"/>
          <p:nvPr/>
        </p:nvSpPr>
        <p:spPr>
          <a:xfrm>
            <a:off x="1797924" y="4119959"/>
            <a:ext cx="4077300" cy="3309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GB" sz="1700">
                <a:solidFill>
                  <a:schemeClr val="dk1"/>
                </a:solidFill>
              </a:rPr>
              <a:t>vector for “center” word </a:t>
            </a:r>
            <a:r>
              <a:rPr lang="en-GB" sz="1700" i="1">
                <a:solidFill>
                  <a:schemeClr val="dk1"/>
                </a:solidFill>
                <a:latin typeface="Times New Roman"/>
                <a:ea typeface="Times New Roman"/>
                <a:cs typeface="Times New Roman"/>
                <a:sym typeface="Times New Roman"/>
              </a:rPr>
              <a:t>c</a:t>
            </a:r>
            <a:endParaRPr sz="1700" i="1">
              <a:solidFill>
                <a:schemeClr val="dk1"/>
              </a:solidFill>
              <a:latin typeface="Times New Roman"/>
              <a:ea typeface="Times New Roman"/>
              <a:cs typeface="Times New Roman"/>
              <a:sym typeface="Times New Roman"/>
            </a:endParaRPr>
          </a:p>
        </p:txBody>
      </p:sp>
      <p:sp>
        <p:nvSpPr>
          <p:cNvPr id="185" name="Google Shape;185;p26"/>
          <p:cNvSpPr txBox="1"/>
          <p:nvPr/>
        </p:nvSpPr>
        <p:spPr>
          <a:xfrm>
            <a:off x="471498" y="3422200"/>
            <a:ext cx="3522600" cy="3309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GB" sz="1700">
                <a:solidFill>
                  <a:schemeClr val="accent1"/>
                </a:solidFill>
              </a:rPr>
              <a:t>Parameters   :  </a:t>
            </a:r>
            <a:r>
              <a:rPr lang="en-GB" sz="1700">
                <a:solidFill>
                  <a:schemeClr val="dk2"/>
                </a:solidFill>
              </a:rPr>
              <a:t>(how many?)</a:t>
            </a:r>
            <a:endParaRPr sz="1700" i="1">
              <a:solidFill>
                <a:schemeClr val="dk2"/>
              </a:solidFill>
              <a:latin typeface="Times New Roman"/>
              <a:ea typeface="Times New Roman"/>
              <a:cs typeface="Times New Roman"/>
              <a:sym typeface="Times New Roman"/>
            </a:endParaRPr>
          </a:p>
        </p:txBody>
      </p:sp>
      <p:cxnSp>
        <p:nvCxnSpPr>
          <p:cNvPr id="187" name="Google Shape;187;p26"/>
          <p:cNvCxnSpPr>
            <a:stCxn id="188" idx="1"/>
          </p:cNvCxnSpPr>
          <p:nvPr/>
        </p:nvCxnSpPr>
        <p:spPr>
          <a:xfrm flipH="1">
            <a:off x="6266900" y="1799275"/>
            <a:ext cx="473100" cy="721500"/>
          </a:xfrm>
          <a:prstGeom prst="straightConnector1">
            <a:avLst/>
          </a:prstGeom>
          <a:noFill/>
          <a:ln w="9525" cap="flat" cmpd="sng">
            <a:solidFill>
              <a:srgbClr val="C55A11"/>
            </a:solidFill>
            <a:prstDash val="solid"/>
            <a:miter lim="800000"/>
            <a:headEnd type="none" w="sm" len="sm"/>
            <a:tailEnd type="triangle" w="med" len="med"/>
          </a:ln>
        </p:spPr>
      </p:cxnSp>
      <p:sp>
        <p:nvSpPr>
          <p:cNvPr id="188" name="Google Shape;188;p26"/>
          <p:cNvSpPr txBox="1"/>
          <p:nvPr/>
        </p:nvSpPr>
        <p:spPr>
          <a:xfrm>
            <a:off x="6740000" y="1241275"/>
            <a:ext cx="2330400" cy="11160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GB" sz="1700">
                <a:solidFill>
                  <a:srgbClr val="C55A11"/>
                </a:solidFill>
              </a:rPr>
              <a:t>Dot product compares similarity of </a:t>
            </a:r>
            <a:r>
              <a:rPr lang="en-GB" sz="1700" i="1">
                <a:solidFill>
                  <a:srgbClr val="C55A11"/>
                </a:solidFill>
                <a:latin typeface="Times New Roman"/>
                <a:ea typeface="Times New Roman"/>
                <a:cs typeface="Times New Roman"/>
                <a:sym typeface="Times New Roman"/>
              </a:rPr>
              <a:t>o</a:t>
            </a:r>
            <a:r>
              <a:rPr lang="en-GB" sz="1700">
                <a:solidFill>
                  <a:srgbClr val="C55A11"/>
                </a:solidFill>
              </a:rPr>
              <a:t> and </a:t>
            </a:r>
            <a:r>
              <a:rPr lang="en-GB" sz="1700" i="1">
                <a:solidFill>
                  <a:srgbClr val="C55A11"/>
                </a:solidFill>
                <a:latin typeface="Times New Roman"/>
                <a:ea typeface="Times New Roman"/>
                <a:cs typeface="Times New Roman"/>
                <a:sym typeface="Times New Roman"/>
              </a:rPr>
              <a:t>c</a:t>
            </a:r>
            <a:r>
              <a:rPr lang="en-GB" sz="1700">
                <a:solidFill>
                  <a:srgbClr val="C55A11"/>
                </a:solidFill>
              </a:rPr>
              <a:t>. Exponent makes everything positive</a:t>
            </a:r>
            <a:endParaRPr sz="1700" i="1">
              <a:solidFill>
                <a:srgbClr val="C55A11"/>
              </a:solidFill>
              <a:latin typeface="Times New Roman"/>
              <a:ea typeface="Times New Roman"/>
              <a:cs typeface="Times New Roman"/>
              <a:sym typeface="Times New Roman"/>
            </a:endParaRPr>
          </a:p>
        </p:txBody>
      </p:sp>
      <p:sp>
        <p:nvSpPr>
          <p:cNvPr id="189" name="Google Shape;189;p26"/>
          <p:cNvSpPr txBox="1"/>
          <p:nvPr/>
        </p:nvSpPr>
        <p:spPr>
          <a:xfrm>
            <a:off x="6740000" y="3604850"/>
            <a:ext cx="2330400" cy="11160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GB" sz="1700">
                <a:solidFill>
                  <a:srgbClr val="7030A0"/>
                </a:solidFill>
              </a:rPr>
              <a:t>Normalize over the entire vocabulary to give a probability distribution</a:t>
            </a:r>
            <a:endParaRPr sz="1700" i="1">
              <a:solidFill>
                <a:srgbClr val="7030A0"/>
              </a:solidFill>
              <a:latin typeface="Times New Roman"/>
              <a:ea typeface="Times New Roman"/>
              <a:cs typeface="Times New Roman"/>
              <a:sym typeface="Times New Roman"/>
            </a:endParaRPr>
          </a:p>
        </p:txBody>
      </p:sp>
      <p:cxnSp>
        <p:nvCxnSpPr>
          <p:cNvPr id="190" name="Google Shape;190;p26"/>
          <p:cNvCxnSpPr>
            <a:stCxn id="189" idx="1"/>
          </p:cNvCxnSpPr>
          <p:nvPr/>
        </p:nvCxnSpPr>
        <p:spPr>
          <a:xfrm rot="10800000">
            <a:off x="6192200" y="3429950"/>
            <a:ext cx="547800" cy="732900"/>
          </a:xfrm>
          <a:prstGeom prst="straightConnector1">
            <a:avLst/>
          </a:prstGeom>
          <a:noFill/>
          <a:ln w="9525" cap="flat" cmpd="sng">
            <a:solidFill>
              <a:srgbClr val="7030A0"/>
            </a:solidFill>
            <a:prstDash val="solid"/>
            <a:miter lim="800000"/>
            <a:headEnd type="none" w="sm" len="sm"/>
            <a:tailEnd type="triangle" w="med" len="med"/>
          </a:ln>
        </p:spPr>
      </p:cxnSp>
      <p:sp>
        <p:nvSpPr>
          <p:cNvPr id="191" name="Google Shape;191;p26"/>
          <p:cNvSpPr txBox="1"/>
          <p:nvPr/>
        </p:nvSpPr>
        <p:spPr>
          <a:xfrm>
            <a:off x="7539777" y="2807974"/>
            <a:ext cx="1242300" cy="3462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GB" sz="1800">
                <a:solidFill>
                  <a:srgbClr val="00B0F0"/>
                </a:solidFill>
              </a:rPr>
              <a:t>“softmax”</a:t>
            </a:r>
            <a:endParaRPr sz="1100"/>
          </a:p>
        </p:txBody>
      </p:sp>
      <p:cxnSp>
        <p:nvCxnSpPr>
          <p:cNvPr id="192" name="Google Shape;192;p26"/>
          <p:cNvCxnSpPr>
            <a:stCxn id="191" idx="1"/>
          </p:cNvCxnSpPr>
          <p:nvPr/>
        </p:nvCxnSpPr>
        <p:spPr>
          <a:xfrm rot="10800000">
            <a:off x="7044477" y="2981074"/>
            <a:ext cx="495300" cy="0"/>
          </a:xfrm>
          <a:prstGeom prst="straightConnector1">
            <a:avLst/>
          </a:prstGeom>
          <a:noFill/>
          <a:ln w="9525" cap="flat" cmpd="sng">
            <a:solidFill>
              <a:srgbClr val="00B0F0"/>
            </a:solidFill>
            <a:prstDash val="solid"/>
            <a:miter lim="800000"/>
            <a:headEnd type="none" w="sm" len="sm"/>
            <a:tailEnd type="triangle" w="med" len="med"/>
          </a:ln>
        </p:spPr>
      </p:cxnSp>
      <p:sp>
        <p:nvSpPr>
          <p:cNvPr id="193" name="Google Shape;193;p26"/>
          <p:cNvSpPr txBox="1"/>
          <p:nvPr/>
        </p:nvSpPr>
        <p:spPr>
          <a:xfrm>
            <a:off x="3187571" y="3363251"/>
            <a:ext cx="1953600" cy="412500"/>
          </a:xfrm>
          <a:prstGeom prst="rect">
            <a:avLst/>
          </a:prstGeom>
          <a:blipFill rotWithShape="1">
            <a:blip r:embed="rId8">
              <a:alphaModFix/>
            </a:blip>
            <a:stretch>
              <a:fillRect/>
            </a:stretch>
          </a:blipFill>
          <a:ln>
            <a:noFill/>
          </a:ln>
        </p:spPr>
        <p:txBody>
          <a:bodyPr spcFirstLastPara="1" wrap="square" lIns="68575" tIns="34275" rIns="68575" bIns="34275" anchor="t" anchorCtr="0">
            <a:noAutofit/>
          </a:bodyPr>
          <a:lstStyle/>
          <a:p>
            <a:pPr marL="0" marR="0" lvl="0" indent="0" algn="l" rtl="0">
              <a:spcBef>
                <a:spcPts val="0"/>
              </a:spcBef>
              <a:spcAft>
                <a:spcPts val="0"/>
              </a:spcAft>
              <a:buNone/>
            </a:pPr>
            <a:r>
              <a:rPr lang="en-GB" sz="1400">
                <a:latin typeface="Century Gothic"/>
                <a:ea typeface="Century Gothic"/>
                <a:cs typeface="Century Gothic"/>
                <a:sym typeface="Century Gothic"/>
              </a:rPr>
              <a:t> </a:t>
            </a:r>
            <a:endParaRPr sz="110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sp>
        <p:nvSpPr>
          <p:cNvPr id="199" name="Google Shape;199;p27"/>
          <p:cNvSpPr txBox="1">
            <a:spLocks noGrp="1"/>
          </p:cNvSpPr>
          <p:nvPr>
            <p:ph type="title"/>
          </p:nvPr>
        </p:nvSpPr>
        <p:spPr>
          <a:xfrm>
            <a:off x="471488" y="205383"/>
            <a:ext cx="5915100" cy="7458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chemeClr val="dk1"/>
              </a:buClr>
              <a:buSzPts val="3300"/>
              <a:buFont typeface="Century Gothic"/>
              <a:buNone/>
            </a:pPr>
            <a:r>
              <a:rPr lang="en-GB"/>
              <a:t>Word2Vec (Skipgram)</a:t>
            </a:r>
            <a:endParaRPr/>
          </a:p>
        </p:txBody>
      </p:sp>
      <p:sp>
        <p:nvSpPr>
          <p:cNvPr id="200" name="Google Shape;200;p27"/>
          <p:cNvSpPr txBox="1"/>
          <p:nvPr/>
        </p:nvSpPr>
        <p:spPr>
          <a:xfrm>
            <a:off x="1" y="4870133"/>
            <a:ext cx="2689800" cy="2847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GB" sz="1400" u="sng">
                <a:solidFill>
                  <a:schemeClr val="dk1"/>
                </a:solidFill>
                <a:hlinkClick r:id="rId3">
                  <a:extLst>
                    <a:ext uri="{A12FA001-AC4F-418D-AE19-62706E023703}">
                      <ahyp:hlinkClr xmlns:ahyp="http://schemas.microsoft.com/office/drawing/2018/hyperlinkcolor" val="tx"/>
                    </a:ext>
                  </a:extLst>
                </a:hlinkClick>
              </a:rPr>
              <a:t>Mikolov et al., 2013</a:t>
            </a:r>
            <a:endParaRPr sz="1400">
              <a:solidFill>
                <a:schemeClr val="dk1"/>
              </a:solidFill>
            </a:endParaRPr>
          </a:p>
        </p:txBody>
      </p:sp>
      <p:sp>
        <p:nvSpPr>
          <p:cNvPr id="201" name="Google Shape;201;p27"/>
          <p:cNvSpPr txBox="1">
            <a:spLocks noGrp="1"/>
          </p:cNvSpPr>
          <p:nvPr>
            <p:ph type="body" idx="1"/>
          </p:nvPr>
        </p:nvSpPr>
        <p:spPr>
          <a:xfrm>
            <a:off x="471500" y="1026925"/>
            <a:ext cx="7267500" cy="2198700"/>
          </a:xfrm>
          <a:prstGeom prst="rect">
            <a:avLst/>
          </a:prstGeom>
          <a:noFill/>
          <a:ln>
            <a:noFill/>
          </a:ln>
        </p:spPr>
        <p:txBody>
          <a:bodyPr spcFirstLastPara="1" wrap="square" lIns="68575" tIns="34275" rIns="68575" bIns="34275" anchor="t" anchorCtr="0">
            <a:noAutofit/>
          </a:bodyPr>
          <a:lstStyle/>
          <a:p>
            <a:pPr marL="0" lvl="0" indent="0" algn="l" rtl="0">
              <a:lnSpc>
                <a:spcPct val="90000"/>
              </a:lnSpc>
              <a:spcBef>
                <a:spcPts val="0"/>
              </a:spcBef>
              <a:spcAft>
                <a:spcPts val="0"/>
              </a:spcAft>
              <a:buClr>
                <a:schemeClr val="dk1"/>
              </a:buClr>
              <a:buSzPts val="2300"/>
              <a:buNone/>
            </a:pPr>
            <a:r>
              <a:rPr lang="en-GB" sz="1700"/>
              <a:t>TL;DR: predict words from neighboring words</a:t>
            </a:r>
            <a:endParaRPr sz="1700"/>
          </a:p>
          <a:p>
            <a:pPr marL="457200" lvl="0" indent="-336550" algn="l" rtl="0">
              <a:lnSpc>
                <a:spcPct val="150000"/>
              </a:lnSpc>
              <a:spcBef>
                <a:spcPts val="800"/>
              </a:spcBef>
              <a:spcAft>
                <a:spcPts val="0"/>
              </a:spcAft>
              <a:buSzPts val="1700"/>
              <a:buChar char="●"/>
            </a:pPr>
            <a:r>
              <a:rPr lang="en-GB" sz="1700"/>
              <a:t>Define</a:t>
            </a:r>
            <a:r>
              <a:rPr lang="en-GB" sz="1700">
                <a:solidFill>
                  <a:schemeClr val="accent1"/>
                </a:solidFill>
              </a:rPr>
              <a:t> self-supervised</a:t>
            </a:r>
            <a:r>
              <a:rPr lang="en-GB" sz="1700"/>
              <a:t> learning task from raw data:</a:t>
            </a:r>
            <a:endParaRPr sz="1700"/>
          </a:p>
          <a:p>
            <a:pPr marL="914400" lvl="1" indent="-336550" algn="l" rtl="0">
              <a:lnSpc>
                <a:spcPct val="150000"/>
              </a:lnSpc>
              <a:spcBef>
                <a:spcPts val="0"/>
              </a:spcBef>
              <a:spcAft>
                <a:spcPts val="0"/>
              </a:spcAft>
              <a:buSzPts val="1700"/>
              <a:buChar char="○"/>
            </a:pPr>
            <a:r>
              <a:rPr lang="en-GB" sz="1700"/>
              <a:t>Input: “</a:t>
            </a:r>
            <a:r>
              <a:rPr lang="en-GB" sz="1700">
                <a:solidFill>
                  <a:schemeClr val="accent1"/>
                </a:solidFill>
              </a:rPr>
              <a:t>center</a:t>
            </a:r>
            <a:r>
              <a:rPr lang="en-GB" sz="1700"/>
              <a:t>” word, label: “</a:t>
            </a:r>
            <a:r>
              <a:rPr lang="en-GB" sz="1700">
                <a:solidFill>
                  <a:schemeClr val="accent1"/>
                </a:solidFill>
              </a:rPr>
              <a:t>outside</a:t>
            </a:r>
            <a:r>
              <a:rPr lang="en-GB" sz="1700"/>
              <a:t>” (context) word</a:t>
            </a:r>
            <a:endParaRPr sz="1700"/>
          </a:p>
          <a:p>
            <a:pPr marL="457200" lvl="0" indent="-336550" algn="l" rtl="0">
              <a:lnSpc>
                <a:spcPct val="150000"/>
              </a:lnSpc>
              <a:spcBef>
                <a:spcPts val="0"/>
              </a:spcBef>
              <a:spcAft>
                <a:spcPts val="0"/>
              </a:spcAft>
              <a:buSzPts val="1700"/>
              <a:buChar char="●"/>
            </a:pPr>
            <a:r>
              <a:rPr lang="en-GB" sz="1700"/>
              <a:t>Define </a:t>
            </a:r>
            <a:r>
              <a:rPr lang="en-GB" sz="1700">
                <a:solidFill>
                  <a:schemeClr val="accent1"/>
                </a:solidFill>
              </a:rPr>
              <a:t>model</a:t>
            </a:r>
            <a:r>
              <a:rPr lang="en-GB" sz="1700"/>
              <a:t> for predicting label from input:</a:t>
            </a:r>
            <a:endParaRPr sz="1700"/>
          </a:p>
          <a:p>
            <a:pPr marL="457200" lvl="0" indent="-336550" algn="l" rtl="0">
              <a:spcBef>
                <a:spcPts val="0"/>
              </a:spcBef>
              <a:spcAft>
                <a:spcPts val="0"/>
              </a:spcAft>
              <a:buSzPts val="1700"/>
              <a:buChar char="●"/>
            </a:pPr>
            <a:r>
              <a:rPr lang="en-GB" sz="1700"/>
              <a:t>Define </a:t>
            </a:r>
            <a:r>
              <a:rPr lang="en-GB" sz="1700">
                <a:solidFill>
                  <a:schemeClr val="accent1"/>
                </a:solidFill>
              </a:rPr>
              <a:t>objective function</a:t>
            </a:r>
            <a:r>
              <a:rPr lang="en-GB" sz="1700"/>
              <a:t> for corpus of length </a:t>
            </a:r>
            <a:r>
              <a:rPr lang="en-GB" sz="1700" i="1">
                <a:solidFill>
                  <a:srgbClr val="00B0F0"/>
                </a:solidFill>
                <a:latin typeface="Times New Roman"/>
                <a:ea typeface="Times New Roman"/>
                <a:cs typeface="Times New Roman"/>
                <a:sym typeface="Times New Roman"/>
              </a:rPr>
              <a:t>T</a:t>
            </a:r>
            <a:r>
              <a:rPr lang="en-GB" sz="1700"/>
              <a:t> and window </a:t>
            </a:r>
            <a:r>
              <a:rPr lang="en-GB" sz="1700" i="1">
                <a:solidFill>
                  <a:srgbClr val="00B0F0"/>
                </a:solidFill>
                <a:latin typeface="Times New Roman"/>
                <a:ea typeface="Times New Roman"/>
                <a:cs typeface="Times New Roman"/>
                <a:sym typeface="Times New Roman"/>
              </a:rPr>
              <a:t>m</a:t>
            </a:r>
            <a:endParaRPr sz="1700" i="1">
              <a:solidFill>
                <a:srgbClr val="00B0F0"/>
              </a:solidFill>
              <a:latin typeface="Times New Roman"/>
              <a:ea typeface="Times New Roman"/>
              <a:cs typeface="Times New Roman"/>
              <a:sym typeface="Times New Roman"/>
            </a:endParaRPr>
          </a:p>
          <a:p>
            <a:pPr marL="457200" lvl="0" indent="0" algn="l" rtl="0">
              <a:lnSpc>
                <a:spcPct val="150000"/>
              </a:lnSpc>
              <a:spcBef>
                <a:spcPts val="800"/>
              </a:spcBef>
              <a:spcAft>
                <a:spcPts val="0"/>
              </a:spcAft>
              <a:buNone/>
            </a:pPr>
            <a:endParaRPr sz="1700"/>
          </a:p>
        </p:txBody>
      </p:sp>
      <p:sp>
        <p:nvSpPr>
          <p:cNvPr id="202" name="Google Shape;202;p27"/>
          <p:cNvSpPr txBox="1"/>
          <p:nvPr/>
        </p:nvSpPr>
        <p:spPr>
          <a:xfrm>
            <a:off x="617581" y="3046048"/>
            <a:ext cx="2535900" cy="3462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GB" sz="1800">
                <a:solidFill>
                  <a:srgbClr val="00B0F0"/>
                </a:solidFill>
              </a:rPr>
              <a:t>Objective to maximize:</a:t>
            </a:r>
            <a:endParaRPr sz="1800"/>
          </a:p>
        </p:txBody>
      </p:sp>
      <p:pic>
        <p:nvPicPr>
          <p:cNvPr id="203" name="Google Shape;203;p27" descr="\mathcal{L}(\theta) = \prod_{t=1}^T \prod_{-m\leq j \leq m,\; j\neq 0} p_{\theta} (w_{t+j}|w_t)" title="MathEquation,#000000"/>
          <p:cNvPicPr preferRelativeResize="0"/>
          <p:nvPr/>
        </p:nvPicPr>
        <p:blipFill>
          <a:blip r:embed="rId4">
            <a:alphaModFix/>
          </a:blip>
          <a:stretch>
            <a:fillRect/>
          </a:stretch>
        </p:blipFill>
        <p:spPr>
          <a:xfrm>
            <a:off x="3229150" y="3046048"/>
            <a:ext cx="4914450" cy="460750"/>
          </a:xfrm>
          <a:prstGeom prst="rect">
            <a:avLst/>
          </a:prstGeom>
          <a:noFill/>
          <a:ln>
            <a:noFill/>
          </a:ln>
        </p:spPr>
      </p:pic>
      <p:sp>
        <p:nvSpPr>
          <p:cNvPr id="204" name="Google Shape;204;p27"/>
          <p:cNvSpPr txBox="1"/>
          <p:nvPr/>
        </p:nvSpPr>
        <p:spPr>
          <a:xfrm>
            <a:off x="617581" y="3973673"/>
            <a:ext cx="2535900" cy="3462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GB" sz="1800">
                <a:solidFill>
                  <a:srgbClr val="00B0F0"/>
                </a:solidFill>
              </a:rPr>
              <a:t>Loss to minimize:</a:t>
            </a:r>
            <a:endParaRPr sz="1800"/>
          </a:p>
        </p:txBody>
      </p:sp>
      <p:sp>
        <p:nvSpPr>
          <p:cNvPr id="205" name="Google Shape;205;p27"/>
          <p:cNvSpPr txBox="1"/>
          <p:nvPr/>
        </p:nvSpPr>
        <p:spPr>
          <a:xfrm>
            <a:off x="617577" y="4417598"/>
            <a:ext cx="2619900" cy="3462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GB" sz="1800">
                <a:solidFill>
                  <a:srgbClr val="00B0F0"/>
                </a:solidFill>
              </a:rPr>
              <a:t>Negative log-likelihood</a:t>
            </a:r>
            <a:endParaRPr sz="1800"/>
          </a:p>
        </p:txBody>
      </p:sp>
      <p:pic>
        <p:nvPicPr>
          <p:cNvPr id="206" name="Google Shape;206;p27" descr="\mathcal{J}(\theta) = -\log(\mathcal{L}(\theta))" title="MathEquation,#000000"/>
          <p:cNvPicPr preferRelativeResize="0"/>
          <p:nvPr/>
        </p:nvPicPr>
        <p:blipFill>
          <a:blip r:embed="rId5">
            <a:alphaModFix/>
          </a:blip>
          <a:stretch>
            <a:fillRect/>
          </a:stretch>
        </p:blipFill>
        <p:spPr>
          <a:xfrm>
            <a:off x="3194168" y="3964498"/>
            <a:ext cx="2535900" cy="364544"/>
          </a:xfrm>
          <a:prstGeom prst="rect">
            <a:avLst/>
          </a:prstGeom>
          <a:noFill/>
          <a:ln>
            <a:noFill/>
          </a:ln>
        </p:spPr>
      </p:pic>
      <p:pic>
        <p:nvPicPr>
          <p:cNvPr id="207" name="Google Shape;207;p27" descr="=  \sum_{t=1}^T \sum_{-m\leq j \leq m,\; j\neq 0} \log\Big(p_{\theta} (w_{t+j}|w_t)\Big)" title="MathEquation,#000000"/>
          <p:cNvPicPr preferRelativeResize="0"/>
          <p:nvPr/>
        </p:nvPicPr>
        <p:blipFill>
          <a:blip r:embed="rId6">
            <a:alphaModFix/>
          </a:blip>
          <a:stretch>
            <a:fillRect/>
          </a:stretch>
        </p:blipFill>
        <p:spPr>
          <a:xfrm>
            <a:off x="3913650" y="4378864"/>
            <a:ext cx="5155350" cy="586425"/>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pic>
        <p:nvPicPr>
          <p:cNvPr id="212" name="Google Shape;212;p28"/>
          <p:cNvPicPr preferRelativeResize="0"/>
          <p:nvPr/>
        </p:nvPicPr>
        <p:blipFill rotWithShape="1">
          <a:blip r:embed="rId3">
            <a:alphaModFix/>
          </a:blip>
          <a:srcRect/>
          <a:stretch/>
        </p:blipFill>
        <p:spPr>
          <a:xfrm>
            <a:off x="2552580" y="3149775"/>
            <a:ext cx="3494144" cy="1893551"/>
          </a:xfrm>
          <a:prstGeom prst="rect">
            <a:avLst/>
          </a:prstGeom>
          <a:noFill/>
          <a:ln>
            <a:noFill/>
          </a:ln>
        </p:spPr>
      </p:pic>
      <p:sp>
        <p:nvSpPr>
          <p:cNvPr id="213" name="Google Shape;213;p28"/>
          <p:cNvSpPr txBox="1">
            <a:spLocks noGrp="1"/>
          </p:cNvSpPr>
          <p:nvPr>
            <p:ph type="title"/>
          </p:nvPr>
        </p:nvSpPr>
        <p:spPr>
          <a:xfrm>
            <a:off x="471488" y="205383"/>
            <a:ext cx="5915100" cy="7458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chemeClr val="dk1"/>
              </a:buClr>
              <a:buSzPts val="3300"/>
              <a:buFont typeface="Century Gothic"/>
              <a:buNone/>
            </a:pPr>
            <a:r>
              <a:rPr lang="en-GB"/>
              <a:t>Word2Vec (Skipgram)</a:t>
            </a:r>
            <a:endParaRPr/>
          </a:p>
        </p:txBody>
      </p:sp>
      <p:sp>
        <p:nvSpPr>
          <p:cNvPr id="214" name="Google Shape;214;p28"/>
          <p:cNvSpPr txBox="1"/>
          <p:nvPr/>
        </p:nvSpPr>
        <p:spPr>
          <a:xfrm>
            <a:off x="1" y="4870133"/>
            <a:ext cx="2689800" cy="2847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GB" sz="1400" u="sng">
                <a:solidFill>
                  <a:schemeClr val="dk1"/>
                </a:solidFill>
                <a:hlinkClick r:id="rId4">
                  <a:extLst>
                    <a:ext uri="{A12FA001-AC4F-418D-AE19-62706E023703}">
                      <ahyp:hlinkClr xmlns:ahyp="http://schemas.microsoft.com/office/drawing/2018/hyperlinkcolor" val="tx"/>
                    </a:ext>
                  </a:extLst>
                </a:hlinkClick>
              </a:rPr>
              <a:t>Mikolov et al., 2013</a:t>
            </a:r>
            <a:endParaRPr sz="1400">
              <a:solidFill>
                <a:schemeClr val="dk1"/>
              </a:solidFill>
            </a:endParaRPr>
          </a:p>
        </p:txBody>
      </p:sp>
      <p:sp>
        <p:nvSpPr>
          <p:cNvPr id="215" name="Google Shape;215;p28"/>
          <p:cNvSpPr txBox="1">
            <a:spLocks noGrp="1"/>
          </p:cNvSpPr>
          <p:nvPr>
            <p:ph type="body" idx="1"/>
          </p:nvPr>
        </p:nvSpPr>
        <p:spPr>
          <a:xfrm>
            <a:off x="471500" y="1026925"/>
            <a:ext cx="7765500" cy="2501700"/>
          </a:xfrm>
          <a:prstGeom prst="rect">
            <a:avLst/>
          </a:prstGeom>
          <a:noFill/>
          <a:ln>
            <a:noFill/>
          </a:ln>
        </p:spPr>
        <p:txBody>
          <a:bodyPr spcFirstLastPara="1" wrap="square" lIns="68575" tIns="34275" rIns="68575" bIns="34275" anchor="t" anchorCtr="0">
            <a:noAutofit/>
          </a:bodyPr>
          <a:lstStyle/>
          <a:p>
            <a:pPr marL="0" lvl="0" indent="0" algn="l" rtl="0">
              <a:lnSpc>
                <a:spcPct val="90000"/>
              </a:lnSpc>
              <a:spcBef>
                <a:spcPts val="0"/>
              </a:spcBef>
              <a:spcAft>
                <a:spcPts val="0"/>
              </a:spcAft>
              <a:buClr>
                <a:schemeClr val="dk1"/>
              </a:buClr>
              <a:buSzPts val="2300"/>
              <a:buNone/>
            </a:pPr>
            <a:r>
              <a:rPr lang="en-GB" sz="1700"/>
              <a:t>TL;DR: predict words from neighboring words</a:t>
            </a:r>
            <a:endParaRPr sz="1700"/>
          </a:p>
          <a:p>
            <a:pPr marL="457200" lvl="0" indent="-336550" algn="l" rtl="0">
              <a:lnSpc>
                <a:spcPct val="150000"/>
              </a:lnSpc>
              <a:spcBef>
                <a:spcPts val="800"/>
              </a:spcBef>
              <a:spcAft>
                <a:spcPts val="0"/>
              </a:spcAft>
              <a:buSzPts val="1700"/>
              <a:buChar char="●"/>
            </a:pPr>
            <a:r>
              <a:rPr lang="en-GB" sz="1700"/>
              <a:t>Define</a:t>
            </a:r>
            <a:r>
              <a:rPr lang="en-GB" sz="1700">
                <a:solidFill>
                  <a:schemeClr val="accent1"/>
                </a:solidFill>
              </a:rPr>
              <a:t> self-supervised</a:t>
            </a:r>
            <a:r>
              <a:rPr lang="en-GB" sz="1700"/>
              <a:t> learning task from raw data:</a:t>
            </a:r>
            <a:endParaRPr sz="1700"/>
          </a:p>
          <a:p>
            <a:pPr marL="914400" lvl="1" indent="-336550" algn="l" rtl="0">
              <a:lnSpc>
                <a:spcPct val="150000"/>
              </a:lnSpc>
              <a:spcBef>
                <a:spcPts val="0"/>
              </a:spcBef>
              <a:spcAft>
                <a:spcPts val="0"/>
              </a:spcAft>
              <a:buSzPts val="1700"/>
              <a:buChar char="○"/>
            </a:pPr>
            <a:r>
              <a:rPr lang="en-GB" sz="1700"/>
              <a:t>Input: “</a:t>
            </a:r>
            <a:r>
              <a:rPr lang="en-GB" sz="1700">
                <a:solidFill>
                  <a:schemeClr val="accent1"/>
                </a:solidFill>
              </a:rPr>
              <a:t>center</a:t>
            </a:r>
            <a:r>
              <a:rPr lang="en-GB" sz="1700"/>
              <a:t>” word, label: “</a:t>
            </a:r>
            <a:r>
              <a:rPr lang="en-GB" sz="1700">
                <a:solidFill>
                  <a:schemeClr val="accent1"/>
                </a:solidFill>
              </a:rPr>
              <a:t>outside</a:t>
            </a:r>
            <a:r>
              <a:rPr lang="en-GB" sz="1700"/>
              <a:t>” (context) word</a:t>
            </a:r>
            <a:endParaRPr sz="1700"/>
          </a:p>
          <a:p>
            <a:pPr marL="457200" lvl="0" indent="-336550" algn="l" rtl="0">
              <a:lnSpc>
                <a:spcPct val="150000"/>
              </a:lnSpc>
              <a:spcBef>
                <a:spcPts val="0"/>
              </a:spcBef>
              <a:spcAft>
                <a:spcPts val="0"/>
              </a:spcAft>
              <a:buSzPts val="1700"/>
              <a:buChar char="●"/>
            </a:pPr>
            <a:r>
              <a:rPr lang="en-GB" sz="1700"/>
              <a:t>Define </a:t>
            </a:r>
            <a:r>
              <a:rPr lang="en-GB" sz="1700">
                <a:solidFill>
                  <a:schemeClr val="accent1"/>
                </a:solidFill>
              </a:rPr>
              <a:t>model</a:t>
            </a:r>
            <a:r>
              <a:rPr lang="en-GB" sz="1700"/>
              <a:t> for predicting label from input:</a:t>
            </a:r>
            <a:endParaRPr sz="1700"/>
          </a:p>
          <a:p>
            <a:pPr marL="457200" lvl="0" indent="-336550" algn="l" rtl="0">
              <a:spcBef>
                <a:spcPts val="0"/>
              </a:spcBef>
              <a:spcAft>
                <a:spcPts val="0"/>
              </a:spcAft>
              <a:buSzPts val="1700"/>
              <a:buChar char="●"/>
            </a:pPr>
            <a:r>
              <a:rPr lang="en-GB" sz="1700"/>
              <a:t>Define </a:t>
            </a:r>
            <a:r>
              <a:rPr lang="en-GB" sz="1700">
                <a:solidFill>
                  <a:schemeClr val="accent1"/>
                </a:solidFill>
              </a:rPr>
              <a:t>objective function</a:t>
            </a:r>
            <a:r>
              <a:rPr lang="en-GB" sz="1700"/>
              <a:t> for corpus of length </a:t>
            </a:r>
            <a:r>
              <a:rPr lang="en-GB" sz="1700" i="1">
                <a:solidFill>
                  <a:srgbClr val="00B0F0"/>
                </a:solidFill>
                <a:latin typeface="Times New Roman"/>
                <a:ea typeface="Times New Roman"/>
                <a:cs typeface="Times New Roman"/>
                <a:sym typeface="Times New Roman"/>
              </a:rPr>
              <a:t>T</a:t>
            </a:r>
            <a:r>
              <a:rPr lang="en-GB" sz="1700"/>
              <a:t> and window </a:t>
            </a:r>
            <a:r>
              <a:rPr lang="en-GB" sz="1700" i="1">
                <a:solidFill>
                  <a:srgbClr val="00B0F0"/>
                </a:solidFill>
                <a:latin typeface="Times New Roman"/>
                <a:ea typeface="Times New Roman"/>
                <a:cs typeface="Times New Roman"/>
                <a:sym typeface="Times New Roman"/>
              </a:rPr>
              <a:t>m</a:t>
            </a:r>
            <a:endParaRPr sz="1700" i="1">
              <a:solidFill>
                <a:srgbClr val="00B0F0"/>
              </a:solidFill>
              <a:latin typeface="Times New Roman"/>
              <a:ea typeface="Times New Roman"/>
              <a:cs typeface="Times New Roman"/>
              <a:sym typeface="Times New Roman"/>
            </a:endParaRPr>
          </a:p>
          <a:p>
            <a:pPr marL="457200" lvl="0" indent="-336550" algn="l" rtl="0">
              <a:spcBef>
                <a:spcPts val="0"/>
              </a:spcBef>
              <a:spcAft>
                <a:spcPts val="0"/>
              </a:spcAft>
              <a:buSzPts val="1700"/>
              <a:buChar char="●"/>
            </a:pPr>
            <a:r>
              <a:rPr lang="en-GB" sz="1700">
                <a:solidFill>
                  <a:schemeClr val="accent1"/>
                </a:solidFill>
              </a:rPr>
              <a:t>Optimize</a:t>
            </a:r>
            <a:r>
              <a:rPr lang="en-GB" sz="1700"/>
              <a:t> with SGD (iteratively adjust the word vectors to minimize NLL)</a:t>
            </a:r>
            <a:endParaRPr sz="1700" i="1">
              <a:solidFill>
                <a:srgbClr val="00B0F0"/>
              </a:solidFill>
              <a:latin typeface="Times New Roman"/>
              <a:ea typeface="Times New Roman"/>
              <a:cs typeface="Times New Roman"/>
              <a:sym typeface="Times New Roman"/>
            </a:endParaRPr>
          </a:p>
          <a:p>
            <a:pPr marL="457200" lvl="0" indent="0" algn="l" rtl="0">
              <a:lnSpc>
                <a:spcPct val="150000"/>
              </a:lnSpc>
              <a:spcBef>
                <a:spcPts val="800"/>
              </a:spcBef>
              <a:spcAft>
                <a:spcPts val="0"/>
              </a:spcAft>
              <a:buNone/>
            </a:pPr>
            <a:endParaRPr sz="1700"/>
          </a:p>
        </p:txBody>
      </p:sp>
      <p:pic>
        <p:nvPicPr>
          <p:cNvPr id="216" name="Google Shape;216;p28" descr="\mathcal{L}(\theta) = \prod_{t=1}^T \prod_{-m\leq j \leq m,\; j\neq 0} p_{\theta} (w_{t+j}|w_t)" title="MathEquation,#000000"/>
          <p:cNvPicPr preferRelativeResize="0"/>
          <p:nvPr/>
        </p:nvPicPr>
        <p:blipFill>
          <a:blip r:embed="rId5">
            <a:alphaModFix/>
          </a:blip>
          <a:stretch>
            <a:fillRect/>
          </a:stretch>
        </p:blipFill>
        <p:spPr>
          <a:xfrm>
            <a:off x="4710113" y="407775"/>
            <a:ext cx="4275926" cy="400875"/>
          </a:xfrm>
          <a:prstGeom prst="rect">
            <a:avLst/>
          </a:prstGeom>
          <a:noFill/>
          <a:ln>
            <a:noFill/>
          </a:ln>
        </p:spPr>
      </p:pic>
    </p:spTree>
    <p:extLst>
      <p:ext uri="{BB962C8B-B14F-4D97-AF65-F5344CB8AC3E}">
        <p14:creationId xmlns:p14="http://schemas.microsoft.com/office/powerpoint/2010/main" val="275688592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20">
          <a:extLst>
            <a:ext uri="{FF2B5EF4-FFF2-40B4-BE49-F238E27FC236}">
              <a16:creationId xmlns:a16="http://schemas.microsoft.com/office/drawing/2014/main" id="{FC86679A-4E99-9EE7-9220-607E3542162D}"/>
            </a:ext>
          </a:extLst>
        </p:cNvPr>
        <p:cNvGrpSpPr/>
        <p:nvPr/>
      </p:nvGrpSpPr>
      <p:grpSpPr>
        <a:xfrm>
          <a:off x="0" y="0"/>
          <a:ext cx="0" cy="0"/>
          <a:chOff x="0" y="0"/>
          <a:chExt cx="0" cy="0"/>
        </a:xfrm>
      </p:grpSpPr>
      <p:sp>
        <p:nvSpPr>
          <p:cNvPr id="221" name="Google Shape;221;p29">
            <a:extLst>
              <a:ext uri="{FF2B5EF4-FFF2-40B4-BE49-F238E27FC236}">
                <a16:creationId xmlns:a16="http://schemas.microsoft.com/office/drawing/2014/main" id="{74FBD764-6038-03B9-294F-8378A18B338E}"/>
              </a:ext>
            </a:extLst>
          </p:cNvPr>
          <p:cNvSpPr txBox="1">
            <a:spLocks noGrp="1"/>
          </p:cNvSpPr>
          <p:nvPr>
            <p:ph type="title"/>
          </p:nvPr>
        </p:nvSpPr>
        <p:spPr>
          <a:xfrm>
            <a:off x="628650" y="273844"/>
            <a:ext cx="7886700" cy="994200"/>
          </a:xfrm>
          <a:prstGeom prst="rect">
            <a:avLst/>
          </a:prstGeom>
        </p:spPr>
        <p:txBody>
          <a:bodyPr spcFirstLastPara="1" wrap="square" lIns="68575" tIns="34275" rIns="68575" bIns="34275" anchor="ctr" anchorCtr="0">
            <a:normAutofit/>
          </a:bodyPr>
          <a:lstStyle/>
          <a:p>
            <a:pPr marL="0" lvl="0" indent="0" algn="l" rtl="0">
              <a:spcBef>
                <a:spcPts val="0"/>
              </a:spcBef>
              <a:spcAft>
                <a:spcPts val="0"/>
              </a:spcAft>
              <a:buNone/>
            </a:pPr>
            <a:r>
              <a:rPr lang="en-GB"/>
              <a:t>Skipgram: Neural Network</a:t>
            </a:r>
            <a:endParaRPr/>
          </a:p>
        </p:txBody>
      </p:sp>
      <p:sp>
        <p:nvSpPr>
          <p:cNvPr id="224" name="Google Shape;224;p29">
            <a:extLst>
              <a:ext uri="{FF2B5EF4-FFF2-40B4-BE49-F238E27FC236}">
                <a16:creationId xmlns:a16="http://schemas.microsoft.com/office/drawing/2014/main" id="{5D5D36FE-ED47-E789-54E1-3ECB83ED81FF}"/>
              </a:ext>
            </a:extLst>
          </p:cNvPr>
          <p:cNvSpPr/>
          <p:nvPr/>
        </p:nvSpPr>
        <p:spPr>
          <a:xfrm rot="5400000">
            <a:off x="1861725" y="1540325"/>
            <a:ext cx="920100" cy="1937400"/>
          </a:xfrm>
          <a:prstGeom prst="rect">
            <a:avLst/>
          </a:prstGeom>
          <a:solidFill>
            <a:srgbClr val="CFE2F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5" name="Google Shape;225;p29">
            <a:extLst>
              <a:ext uri="{FF2B5EF4-FFF2-40B4-BE49-F238E27FC236}">
                <a16:creationId xmlns:a16="http://schemas.microsoft.com/office/drawing/2014/main" id="{BF061B38-772E-B619-620B-FF32DBB650E7}"/>
              </a:ext>
            </a:extLst>
          </p:cNvPr>
          <p:cNvSpPr/>
          <p:nvPr/>
        </p:nvSpPr>
        <p:spPr>
          <a:xfrm rot="10800000">
            <a:off x="3508375" y="2048963"/>
            <a:ext cx="920100" cy="1937400"/>
          </a:xfrm>
          <a:prstGeom prst="rect">
            <a:avLst/>
          </a:prstGeom>
          <a:solidFill>
            <a:srgbClr val="CFE2F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6" name="Google Shape;226;p29">
            <a:extLst>
              <a:ext uri="{FF2B5EF4-FFF2-40B4-BE49-F238E27FC236}">
                <a16:creationId xmlns:a16="http://schemas.microsoft.com/office/drawing/2014/main" id="{4F21EE6E-14E7-6380-EBAB-96337187F326}"/>
              </a:ext>
            </a:extLst>
          </p:cNvPr>
          <p:cNvSpPr/>
          <p:nvPr/>
        </p:nvSpPr>
        <p:spPr>
          <a:xfrm rot="10800000">
            <a:off x="952175" y="2048963"/>
            <a:ext cx="183000" cy="19374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7" name="Google Shape;227;p29">
            <a:extLst>
              <a:ext uri="{FF2B5EF4-FFF2-40B4-BE49-F238E27FC236}">
                <a16:creationId xmlns:a16="http://schemas.microsoft.com/office/drawing/2014/main" id="{CC2B0F42-2C65-93A6-F700-7474255E6660}"/>
              </a:ext>
            </a:extLst>
          </p:cNvPr>
          <p:cNvSpPr/>
          <p:nvPr/>
        </p:nvSpPr>
        <p:spPr>
          <a:xfrm rot="10800000">
            <a:off x="5886773" y="2048976"/>
            <a:ext cx="183000" cy="1937400"/>
          </a:xfrm>
          <a:prstGeom prst="rect">
            <a:avLst/>
          </a:prstGeom>
          <a:solidFill>
            <a:srgbClr val="FCE5CD"/>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8" name="Google Shape;228;p29">
            <a:extLst>
              <a:ext uri="{FF2B5EF4-FFF2-40B4-BE49-F238E27FC236}">
                <a16:creationId xmlns:a16="http://schemas.microsoft.com/office/drawing/2014/main" id="{E5F070E0-C4C2-AEFE-0861-F10D16AC116D}"/>
              </a:ext>
            </a:extLst>
          </p:cNvPr>
          <p:cNvSpPr/>
          <p:nvPr/>
        </p:nvSpPr>
        <p:spPr>
          <a:xfrm>
            <a:off x="4697562" y="2619375"/>
            <a:ext cx="920100" cy="660250"/>
          </a:xfrm>
          <a:prstGeom prst="flowChartDecision">
            <a:avLst/>
          </a:prstGeom>
          <a:solidFill>
            <a:srgbClr val="D9D2E9"/>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9" name="Google Shape;229;p29">
            <a:extLst>
              <a:ext uri="{FF2B5EF4-FFF2-40B4-BE49-F238E27FC236}">
                <a16:creationId xmlns:a16="http://schemas.microsoft.com/office/drawing/2014/main" id="{158FB0EE-9836-4B9A-D3E3-F4CD176E5548}"/>
              </a:ext>
            </a:extLst>
          </p:cNvPr>
          <p:cNvSpPr/>
          <p:nvPr/>
        </p:nvSpPr>
        <p:spPr>
          <a:xfrm>
            <a:off x="4481075" y="2933275"/>
            <a:ext cx="183000" cy="35700"/>
          </a:xfrm>
          <a:prstGeom prst="right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30" name="Google Shape;230;p29">
            <a:extLst>
              <a:ext uri="{FF2B5EF4-FFF2-40B4-BE49-F238E27FC236}">
                <a16:creationId xmlns:a16="http://schemas.microsoft.com/office/drawing/2014/main" id="{48ED0246-E5A0-80DE-A395-39050D0B4283}"/>
              </a:ext>
            </a:extLst>
          </p:cNvPr>
          <p:cNvSpPr/>
          <p:nvPr/>
        </p:nvSpPr>
        <p:spPr>
          <a:xfrm>
            <a:off x="5640094" y="2934141"/>
            <a:ext cx="183000" cy="35700"/>
          </a:xfrm>
          <a:prstGeom prst="right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31" name="Google Shape;231;p29">
            <a:extLst>
              <a:ext uri="{FF2B5EF4-FFF2-40B4-BE49-F238E27FC236}">
                <a16:creationId xmlns:a16="http://schemas.microsoft.com/office/drawing/2014/main" id="{27DAA0DC-42E6-82D7-E52A-183232FF2ECD}"/>
              </a:ext>
            </a:extLst>
          </p:cNvPr>
          <p:cNvSpPr/>
          <p:nvPr/>
        </p:nvSpPr>
        <p:spPr>
          <a:xfrm rot="10800000">
            <a:off x="952175" y="2521870"/>
            <a:ext cx="183000" cy="165600"/>
          </a:xfrm>
          <a:prstGeom prst="rect">
            <a:avLst/>
          </a:prstGeom>
          <a:solidFill>
            <a:schemeClr val="dk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32" name="Google Shape;232;p29">
            <a:extLst>
              <a:ext uri="{FF2B5EF4-FFF2-40B4-BE49-F238E27FC236}">
                <a16:creationId xmlns:a16="http://schemas.microsoft.com/office/drawing/2014/main" id="{65A0EE92-0990-5B0B-D618-B6B43014AC4F}"/>
              </a:ext>
            </a:extLst>
          </p:cNvPr>
          <p:cNvSpPr txBox="1"/>
          <p:nvPr/>
        </p:nvSpPr>
        <p:spPr>
          <a:xfrm>
            <a:off x="1353075" y="2170475"/>
            <a:ext cx="1937400" cy="677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GB" sz="3200" i="1">
                <a:solidFill>
                  <a:srgbClr val="1155CC"/>
                </a:solidFill>
              </a:rPr>
              <a:t>V</a:t>
            </a:r>
            <a:endParaRPr sz="3200" i="1">
              <a:solidFill>
                <a:srgbClr val="1155CC"/>
              </a:solidFill>
            </a:endParaRPr>
          </a:p>
        </p:txBody>
      </p:sp>
      <p:sp>
        <p:nvSpPr>
          <p:cNvPr id="233" name="Google Shape;233;p29">
            <a:extLst>
              <a:ext uri="{FF2B5EF4-FFF2-40B4-BE49-F238E27FC236}">
                <a16:creationId xmlns:a16="http://schemas.microsoft.com/office/drawing/2014/main" id="{9F6D7913-E085-D8A8-6E41-0C59686A96EB}"/>
              </a:ext>
            </a:extLst>
          </p:cNvPr>
          <p:cNvSpPr txBox="1"/>
          <p:nvPr/>
        </p:nvSpPr>
        <p:spPr>
          <a:xfrm>
            <a:off x="3508375" y="2613450"/>
            <a:ext cx="920100" cy="677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GB" sz="3200" i="1">
                <a:solidFill>
                  <a:srgbClr val="1155CC"/>
                </a:solidFill>
              </a:rPr>
              <a:t>U</a:t>
            </a:r>
            <a:endParaRPr sz="3200" i="1">
              <a:solidFill>
                <a:srgbClr val="1155CC"/>
              </a:solidFill>
            </a:endParaRPr>
          </a:p>
        </p:txBody>
      </p:sp>
      <p:sp>
        <p:nvSpPr>
          <p:cNvPr id="234" name="Google Shape;234;p29">
            <a:extLst>
              <a:ext uri="{FF2B5EF4-FFF2-40B4-BE49-F238E27FC236}">
                <a16:creationId xmlns:a16="http://schemas.microsoft.com/office/drawing/2014/main" id="{08FCFACC-4F61-FEA9-6001-7DE29DBA104E}"/>
              </a:ext>
            </a:extLst>
          </p:cNvPr>
          <p:cNvSpPr txBox="1"/>
          <p:nvPr/>
        </p:nvSpPr>
        <p:spPr>
          <a:xfrm>
            <a:off x="129875" y="4042100"/>
            <a:ext cx="1937400" cy="9234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GB" sz="1600" b="1" u="sng">
                <a:solidFill>
                  <a:schemeClr val="accent5"/>
                </a:solidFill>
              </a:rPr>
              <a:t>Input</a:t>
            </a:r>
            <a:r>
              <a:rPr lang="en-GB" sz="1600" b="1">
                <a:solidFill>
                  <a:schemeClr val="accent5"/>
                </a:solidFill>
              </a:rPr>
              <a:t>:</a:t>
            </a:r>
            <a:endParaRPr sz="1600" b="1">
              <a:solidFill>
                <a:schemeClr val="accent5"/>
              </a:solidFill>
            </a:endParaRPr>
          </a:p>
          <a:p>
            <a:pPr marL="0" lvl="0" indent="0" algn="ctr" rtl="0">
              <a:spcBef>
                <a:spcPts val="0"/>
              </a:spcBef>
              <a:spcAft>
                <a:spcPts val="0"/>
              </a:spcAft>
              <a:buNone/>
            </a:pPr>
            <a:r>
              <a:rPr lang="en-GB" sz="1600" b="1">
                <a:solidFill>
                  <a:schemeClr val="accent5"/>
                </a:solidFill>
              </a:rPr>
              <a:t>One-hot encoding of center word</a:t>
            </a:r>
            <a:endParaRPr sz="1600" b="1">
              <a:solidFill>
                <a:schemeClr val="accent5"/>
              </a:solidFill>
            </a:endParaRPr>
          </a:p>
        </p:txBody>
      </p:sp>
      <p:sp>
        <p:nvSpPr>
          <p:cNvPr id="235" name="Google Shape;235;p29">
            <a:extLst>
              <a:ext uri="{FF2B5EF4-FFF2-40B4-BE49-F238E27FC236}">
                <a16:creationId xmlns:a16="http://schemas.microsoft.com/office/drawing/2014/main" id="{D671E3A7-E5A5-00CE-6545-1A327188FFCE}"/>
              </a:ext>
            </a:extLst>
          </p:cNvPr>
          <p:cNvSpPr txBox="1"/>
          <p:nvPr/>
        </p:nvSpPr>
        <p:spPr>
          <a:xfrm>
            <a:off x="1353075" y="3062975"/>
            <a:ext cx="1937400" cy="431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GB" sz="1600" b="1">
                <a:solidFill>
                  <a:schemeClr val="accent5"/>
                </a:solidFill>
              </a:rPr>
              <a:t>First linear layer</a:t>
            </a:r>
            <a:endParaRPr sz="1600" b="1">
              <a:solidFill>
                <a:schemeClr val="accent5"/>
              </a:solidFill>
            </a:endParaRPr>
          </a:p>
        </p:txBody>
      </p:sp>
      <p:sp>
        <p:nvSpPr>
          <p:cNvPr id="236" name="Google Shape;236;p29">
            <a:extLst>
              <a:ext uri="{FF2B5EF4-FFF2-40B4-BE49-F238E27FC236}">
                <a16:creationId xmlns:a16="http://schemas.microsoft.com/office/drawing/2014/main" id="{1BFB00C3-7DFA-18DE-782C-E2DF7EFE1D7A}"/>
              </a:ext>
            </a:extLst>
          </p:cNvPr>
          <p:cNvSpPr txBox="1"/>
          <p:nvPr/>
        </p:nvSpPr>
        <p:spPr>
          <a:xfrm>
            <a:off x="3173575" y="4038275"/>
            <a:ext cx="1589700" cy="677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GB" sz="1600" b="1">
                <a:solidFill>
                  <a:schemeClr val="accent5"/>
                </a:solidFill>
              </a:rPr>
              <a:t>Second linear layer</a:t>
            </a:r>
            <a:endParaRPr sz="1600" b="1">
              <a:solidFill>
                <a:schemeClr val="accent5"/>
              </a:solidFill>
            </a:endParaRPr>
          </a:p>
        </p:txBody>
      </p:sp>
      <p:sp>
        <p:nvSpPr>
          <p:cNvPr id="237" name="Google Shape;237;p29">
            <a:extLst>
              <a:ext uri="{FF2B5EF4-FFF2-40B4-BE49-F238E27FC236}">
                <a16:creationId xmlns:a16="http://schemas.microsoft.com/office/drawing/2014/main" id="{DA457CE5-5302-0E16-207C-49D821BF9825}"/>
              </a:ext>
            </a:extLst>
          </p:cNvPr>
          <p:cNvSpPr txBox="1"/>
          <p:nvPr/>
        </p:nvSpPr>
        <p:spPr>
          <a:xfrm>
            <a:off x="4188900" y="3320400"/>
            <a:ext cx="1937400" cy="677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GB" sz="1600" b="1">
                <a:solidFill>
                  <a:schemeClr val="accent5"/>
                </a:solidFill>
              </a:rPr>
              <a:t>Softmax activation</a:t>
            </a:r>
            <a:endParaRPr sz="1600" b="1">
              <a:solidFill>
                <a:schemeClr val="accent5"/>
              </a:solidFill>
            </a:endParaRPr>
          </a:p>
        </p:txBody>
      </p:sp>
      <p:sp>
        <p:nvSpPr>
          <p:cNvPr id="238" name="Google Shape;238;p29">
            <a:extLst>
              <a:ext uri="{FF2B5EF4-FFF2-40B4-BE49-F238E27FC236}">
                <a16:creationId xmlns:a16="http://schemas.microsoft.com/office/drawing/2014/main" id="{D0900461-88AE-5F61-B1BD-CED8C1B3B772}"/>
              </a:ext>
            </a:extLst>
          </p:cNvPr>
          <p:cNvSpPr txBox="1"/>
          <p:nvPr/>
        </p:nvSpPr>
        <p:spPr>
          <a:xfrm>
            <a:off x="5009575" y="4038275"/>
            <a:ext cx="1937400" cy="9234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GB" sz="1600" b="1" u="sng">
                <a:solidFill>
                  <a:schemeClr val="accent5"/>
                </a:solidFill>
              </a:rPr>
              <a:t>Output</a:t>
            </a:r>
            <a:r>
              <a:rPr lang="en-GB" sz="1600" b="1">
                <a:solidFill>
                  <a:schemeClr val="accent5"/>
                </a:solidFill>
              </a:rPr>
              <a:t>:</a:t>
            </a:r>
            <a:endParaRPr sz="1600" b="1">
              <a:solidFill>
                <a:schemeClr val="accent5"/>
              </a:solidFill>
            </a:endParaRPr>
          </a:p>
          <a:p>
            <a:pPr marL="0" lvl="0" indent="0" algn="ctr" rtl="0">
              <a:spcBef>
                <a:spcPts val="0"/>
              </a:spcBef>
              <a:spcAft>
                <a:spcPts val="0"/>
              </a:spcAft>
              <a:buNone/>
            </a:pPr>
            <a:r>
              <a:rPr lang="en-GB" sz="1600" b="1">
                <a:solidFill>
                  <a:schemeClr val="accent5"/>
                </a:solidFill>
              </a:rPr>
              <a:t>Vector of outside word probabilities </a:t>
            </a:r>
            <a:endParaRPr sz="1600" b="1">
              <a:solidFill>
                <a:schemeClr val="accent5"/>
              </a:solidFill>
            </a:endParaRPr>
          </a:p>
        </p:txBody>
      </p:sp>
      <p:sp>
        <p:nvSpPr>
          <p:cNvPr id="4" name="Google Shape;245;p30">
            <a:extLst>
              <a:ext uri="{FF2B5EF4-FFF2-40B4-BE49-F238E27FC236}">
                <a16:creationId xmlns:a16="http://schemas.microsoft.com/office/drawing/2014/main" id="{DC25EDE1-CDC6-B592-291D-A69F7163CBA3}"/>
              </a:ext>
            </a:extLst>
          </p:cNvPr>
          <p:cNvSpPr txBox="1">
            <a:spLocks/>
          </p:cNvSpPr>
          <p:nvPr/>
        </p:nvSpPr>
        <p:spPr>
          <a:xfrm>
            <a:off x="628650" y="1197150"/>
            <a:ext cx="7886700" cy="3263400"/>
          </a:xfrm>
          <a:prstGeom prst="rect">
            <a:avLst/>
          </a:prstGeom>
          <a:noFill/>
          <a:ln>
            <a:noFill/>
          </a:ln>
        </p:spPr>
        <p:txBody>
          <a:bodyPr spcFirstLastPara="1" wrap="square" lIns="68575" tIns="34275" rIns="68575" bIns="34275" anchor="t" anchorCtr="0">
            <a:normAutofit/>
          </a:bodyPr>
          <a:lstStyle>
            <a:defPPr marR="0" lvl="0" algn="l" rtl="0">
              <a:lnSpc>
                <a:spcPct val="100000"/>
              </a:lnSpc>
              <a:spcBef>
                <a:spcPts val="0"/>
              </a:spcBef>
              <a:spcAft>
                <a:spcPts val="0"/>
              </a:spcAft>
            </a:defPPr>
            <a:lvl1pPr marL="457200" marR="0" lvl="0" indent="-342900" algn="l" rtl="0">
              <a:lnSpc>
                <a:spcPct val="150000"/>
              </a:lnSpc>
              <a:spcBef>
                <a:spcPts val="800"/>
              </a:spcBef>
              <a:spcAft>
                <a:spcPts val="0"/>
              </a:spcAft>
              <a:buClr>
                <a:schemeClr val="dk1"/>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42900" algn="l" rtl="0">
              <a:lnSpc>
                <a:spcPct val="90000"/>
              </a:lnSpc>
              <a:spcBef>
                <a:spcPts val="1200"/>
              </a:spcBef>
              <a:spcAft>
                <a:spcPts val="0"/>
              </a:spcAft>
              <a:buClr>
                <a:schemeClr val="dk1"/>
              </a:buClr>
              <a:buSzPts val="1800"/>
              <a:buFont typeface="Arial"/>
              <a:buChar char="○"/>
              <a:defRPr sz="1800" b="0" i="0" u="none" strike="noStrike" cap="none">
                <a:solidFill>
                  <a:schemeClr val="dk2"/>
                </a:solidFill>
                <a:latin typeface="Arial"/>
                <a:ea typeface="Arial"/>
                <a:cs typeface="Arial"/>
                <a:sym typeface="Arial"/>
              </a:defRPr>
            </a:lvl2pPr>
            <a:lvl3pPr marL="1371600" marR="0" lvl="2" indent="-342900" algn="l" rtl="0">
              <a:lnSpc>
                <a:spcPct val="90000"/>
              </a:lnSpc>
              <a:spcBef>
                <a:spcPts val="1200"/>
              </a:spcBef>
              <a:spcAft>
                <a:spcPts val="0"/>
              </a:spcAft>
              <a:buClr>
                <a:schemeClr val="dk1"/>
              </a:buClr>
              <a:buSzPts val="1800"/>
              <a:buFont typeface="Arial"/>
              <a:buChar char="■"/>
              <a:defRPr sz="1800" b="0" i="0" u="none" strike="noStrike" cap="none">
                <a:solidFill>
                  <a:schemeClr val="dk2"/>
                </a:solidFill>
                <a:latin typeface="Arial"/>
                <a:ea typeface="Arial"/>
                <a:cs typeface="Arial"/>
                <a:sym typeface="Arial"/>
              </a:defRPr>
            </a:lvl3pPr>
            <a:lvl4pPr marL="1828800" marR="0" lvl="3" indent="-342900" algn="l" rtl="0">
              <a:lnSpc>
                <a:spcPct val="90000"/>
              </a:lnSpc>
              <a:spcBef>
                <a:spcPts val="1200"/>
              </a:spcBef>
              <a:spcAft>
                <a:spcPts val="0"/>
              </a:spcAft>
              <a:buClr>
                <a:schemeClr val="dk1"/>
              </a:buClr>
              <a:buSzPts val="1800"/>
              <a:buFont typeface="Arial"/>
              <a:buChar char="●"/>
              <a:defRPr sz="1800" b="0" i="0" u="none" strike="noStrike" cap="none">
                <a:solidFill>
                  <a:schemeClr val="dk2"/>
                </a:solidFill>
                <a:latin typeface="Arial"/>
                <a:ea typeface="Arial"/>
                <a:cs typeface="Arial"/>
                <a:sym typeface="Arial"/>
              </a:defRPr>
            </a:lvl4pPr>
            <a:lvl5pPr marL="2286000" marR="0" lvl="4" indent="-342900" algn="l" rtl="0">
              <a:lnSpc>
                <a:spcPct val="90000"/>
              </a:lnSpc>
              <a:spcBef>
                <a:spcPts val="1200"/>
              </a:spcBef>
              <a:spcAft>
                <a:spcPts val="0"/>
              </a:spcAft>
              <a:buClr>
                <a:schemeClr val="dk1"/>
              </a:buClr>
              <a:buSzPts val="1800"/>
              <a:buFont typeface="Arial"/>
              <a:buChar char="○"/>
              <a:defRPr sz="1800" b="0" i="0" u="none" strike="noStrike" cap="none">
                <a:solidFill>
                  <a:schemeClr val="dk2"/>
                </a:solidFill>
                <a:latin typeface="Arial"/>
                <a:ea typeface="Arial"/>
                <a:cs typeface="Arial"/>
                <a:sym typeface="Arial"/>
              </a:defRPr>
            </a:lvl5pPr>
            <a:lvl6pPr marL="2743200" marR="0" lvl="5" indent="-342900" algn="l" rtl="0">
              <a:lnSpc>
                <a:spcPct val="90000"/>
              </a:lnSpc>
              <a:spcBef>
                <a:spcPts val="1200"/>
              </a:spcBef>
              <a:spcAft>
                <a:spcPts val="0"/>
              </a:spcAft>
              <a:buClr>
                <a:schemeClr val="dk1"/>
              </a:buClr>
              <a:buSzPts val="1800"/>
              <a:buFont typeface="Arial"/>
              <a:buChar char="■"/>
              <a:defRPr sz="1800" b="0" i="0" u="none" strike="noStrike" cap="none">
                <a:solidFill>
                  <a:schemeClr val="dk2"/>
                </a:solidFill>
                <a:latin typeface="Arial"/>
                <a:ea typeface="Arial"/>
                <a:cs typeface="Arial"/>
                <a:sym typeface="Arial"/>
              </a:defRPr>
            </a:lvl6pPr>
            <a:lvl7pPr marL="3200400" marR="0" lvl="6" indent="-342900" algn="l" rtl="0">
              <a:lnSpc>
                <a:spcPct val="90000"/>
              </a:lnSpc>
              <a:spcBef>
                <a:spcPts val="1200"/>
              </a:spcBef>
              <a:spcAft>
                <a:spcPts val="0"/>
              </a:spcAft>
              <a:buClr>
                <a:schemeClr val="dk1"/>
              </a:buClr>
              <a:buSzPts val="1800"/>
              <a:buFont typeface="Arial"/>
              <a:buChar char="●"/>
              <a:defRPr sz="1800" b="0" i="0" u="none" strike="noStrike" cap="none">
                <a:solidFill>
                  <a:schemeClr val="dk2"/>
                </a:solidFill>
                <a:latin typeface="Arial"/>
                <a:ea typeface="Arial"/>
                <a:cs typeface="Arial"/>
                <a:sym typeface="Arial"/>
              </a:defRPr>
            </a:lvl7pPr>
            <a:lvl8pPr marL="3657600" marR="0" lvl="7" indent="-342900" algn="l" rtl="0">
              <a:lnSpc>
                <a:spcPct val="90000"/>
              </a:lnSpc>
              <a:spcBef>
                <a:spcPts val="1200"/>
              </a:spcBef>
              <a:spcAft>
                <a:spcPts val="0"/>
              </a:spcAft>
              <a:buClr>
                <a:schemeClr val="dk1"/>
              </a:buClr>
              <a:buSzPts val="1800"/>
              <a:buFont typeface="Arial"/>
              <a:buChar char="○"/>
              <a:defRPr sz="1800" b="0" i="0" u="none" strike="noStrike" cap="none">
                <a:solidFill>
                  <a:schemeClr val="dk2"/>
                </a:solidFill>
                <a:latin typeface="Arial"/>
                <a:ea typeface="Arial"/>
                <a:cs typeface="Arial"/>
                <a:sym typeface="Arial"/>
              </a:defRPr>
            </a:lvl8pPr>
            <a:lvl9pPr marL="4114800" marR="0" lvl="8" indent="-342900" algn="l" rtl="0">
              <a:lnSpc>
                <a:spcPct val="90000"/>
              </a:lnSpc>
              <a:spcBef>
                <a:spcPts val="1200"/>
              </a:spcBef>
              <a:spcAft>
                <a:spcPts val="1200"/>
              </a:spcAft>
              <a:buClr>
                <a:schemeClr val="dk1"/>
              </a:buClr>
              <a:buSzPts val="1800"/>
              <a:buFont typeface="Arial"/>
              <a:buChar char="■"/>
              <a:defRPr sz="1800" b="0" i="0" u="none" strike="noStrike" cap="none">
                <a:solidFill>
                  <a:schemeClr val="dk2"/>
                </a:solidFill>
                <a:latin typeface="Arial"/>
                <a:ea typeface="Arial"/>
                <a:cs typeface="Arial"/>
                <a:sym typeface="Arial"/>
              </a:defRPr>
            </a:lvl9pPr>
          </a:lstStyle>
          <a:p>
            <a:pPr marL="0" indent="0">
              <a:buFont typeface="Arial"/>
              <a:buNone/>
            </a:pPr>
            <a:r>
              <a:rPr lang="en-GB"/>
              <a:t>An equivalent way to look at the word2vec model:</a:t>
            </a:r>
          </a:p>
          <a:p>
            <a:pPr marL="0" indent="0">
              <a:spcBef>
                <a:spcPts val="1200"/>
              </a:spcBef>
              <a:spcAft>
                <a:spcPts val="1200"/>
              </a:spcAft>
              <a:buFont typeface="Arial"/>
              <a:buNone/>
            </a:pPr>
            <a:endParaRPr lang="en-GB" dirty="0"/>
          </a:p>
        </p:txBody>
      </p:sp>
      <p:pic>
        <p:nvPicPr>
          <p:cNvPr id="6" name="Google Shape;177;p26" descr="p_\theta (o|c) = \frac{\exp(u_o^T v_c)}{\sum_{w\in \mathcal{V}} \exp(u_w^T v_c)}" title="MathEquation,#000000">
            <a:extLst>
              <a:ext uri="{FF2B5EF4-FFF2-40B4-BE49-F238E27FC236}">
                <a16:creationId xmlns:a16="http://schemas.microsoft.com/office/drawing/2014/main" id="{B67CBB82-1CB1-3FC1-A9CA-D78E39645E12}"/>
              </a:ext>
            </a:extLst>
          </p:cNvPr>
          <p:cNvPicPr preferRelativeResize="0"/>
          <p:nvPr/>
        </p:nvPicPr>
        <p:blipFill>
          <a:blip r:embed="rId3">
            <a:alphaModFix/>
          </a:blip>
          <a:stretch>
            <a:fillRect/>
          </a:stretch>
        </p:blipFill>
        <p:spPr>
          <a:xfrm>
            <a:off x="6289470" y="60552"/>
            <a:ext cx="2809533" cy="541981"/>
          </a:xfrm>
          <a:prstGeom prst="rect">
            <a:avLst/>
          </a:prstGeom>
          <a:noFill/>
          <a:ln>
            <a:noFill/>
          </a:ln>
        </p:spPr>
      </p:pic>
    </p:spTree>
    <p:extLst>
      <p:ext uri="{BB962C8B-B14F-4D97-AF65-F5344CB8AC3E}">
        <p14:creationId xmlns:p14="http://schemas.microsoft.com/office/powerpoint/2010/main" val="365754282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43">
          <a:extLst>
            <a:ext uri="{FF2B5EF4-FFF2-40B4-BE49-F238E27FC236}">
              <a16:creationId xmlns:a16="http://schemas.microsoft.com/office/drawing/2014/main" id="{4CECEE22-A353-FA7F-414A-48F8FB500E24}"/>
            </a:ext>
          </a:extLst>
        </p:cNvPr>
        <p:cNvGrpSpPr/>
        <p:nvPr/>
      </p:nvGrpSpPr>
      <p:grpSpPr>
        <a:xfrm>
          <a:off x="0" y="0"/>
          <a:ext cx="0" cy="0"/>
          <a:chOff x="0" y="0"/>
          <a:chExt cx="0" cy="0"/>
        </a:xfrm>
      </p:grpSpPr>
      <p:sp>
        <p:nvSpPr>
          <p:cNvPr id="244" name="Google Shape;244;p30">
            <a:extLst>
              <a:ext uri="{FF2B5EF4-FFF2-40B4-BE49-F238E27FC236}">
                <a16:creationId xmlns:a16="http://schemas.microsoft.com/office/drawing/2014/main" id="{4AC21F1E-9C30-07FD-B1BD-752C4748AB56}"/>
              </a:ext>
            </a:extLst>
          </p:cNvPr>
          <p:cNvSpPr txBox="1">
            <a:spLocks noGrp="1"/>
          </p:cNvSpPr>
          <p:nvPr>
            <p:ph type="title"/>
          </p:nvPr>
        </p:nvSpPr>
        <p:spPr>
          <a:xfrm>
            <a:off x="628650" y="273844"/>
            <a:ext cx="7886700" cy="994200"/>
          </a:xfrm>
          <a:prstGeom prst="rect">
            <a:avLst/>
          </a:prstGeom>
        </p:spPr>
        <p:txBody>
          <a:bodyPr spcFirstLastPara="1" wrap="square" lIns="68575" tIns="34275" rIns="68575" bIns="34275" anchor="ctr" anchorCtr="0">
            <a:normAutofit/>
          </a:bodyPr>
          <a:lstStyle/>
          <a:p>
            <a:pPr marL="0" lvl="0" indent="0" algn="l" rtl="0">
              <a:spcBef>
                <a:spcPts val="0"/>
              </a:spcBef>
              <a:spcAft>
                <a:spcPts val="0"/>
              </a:spcAft>
              <a:buNone/>
            </a:pPr>
            <a:r>
              <a:rPr lang="en-GB" dirty="0" err="1"/>
              <a:t>Skipgram</a:t>
            </a:r>
            <a:r>
              <a:rPr lang="en-GB" dirty="0"/>
              <a:t>: Neural Network</a:t>
            </a:r>
            <a:endParaRPr dirty="0"/>
          </a:p>
        </p:txBody>
      </p:sp>
      <p:sp>
        <p:nvSpPr>
          <p:cNvPr id="245" name="Google Shape;245;p30">
            <a:extLst>
              <a:ext uri="{FF2B5EF4-FFF2-40B4-BE49-F238E27FC236}">
                <a16:creationId xmlns:a16="http://schemas.microsoft.com/office/drawing/2014/main" id="{500BD648-0985-CD84-6C1A-000EA77BC14E}"/>
              </a:ext>
            </a:extLst>
          </p:cNvPr>
          <p:cNvSpPr txBox="1">
            <a:spLocks noGrp="1"/>
          </p:cNvSpPr>
          <p:nvPr>
            <p:ph type="body" idx="1"/>
          </p:nvPr>
        </p:nvSpPr>
        <p:spPr>
          <a:xfrm>
            <a:off x="628650" y="1197150"/>
            <a:ext cx="7886700" cy="3263400"/>
          </a:xfrm>
          <a:prstGeom prst="rect">
            <a:avLst/>
          </a:prstGeom>
        </p:spPr>
        <p:txBody>
          <a:bodyPr spcFirstLastPara="1" wrap="square" lIns="68575" tIns="34275" rIns="68575" bIns="34275" anchor="t" anchorCtr="0">
            <a:normAutofit/>
          </a:bodyPr>
          <a:lstStyle/>
          <a:p>
            <a:pPr marL="0" lvl="0" indent="0" algn="l" rtl="0">
              <a:spcBef>
                <a:spcPts val="800"/>
              </a:spcBef>
              <a:spcAft>
                <a:spcPts val="0"/>
              </a:spcAft>
              <a:buNone/>
            </a:pPr>
            <a:r>
              <a:rPr lang="en-GB" dirty="0"/>
              <a:t>An equivalent way to look at the word2vec model:</a:t>
            </a:r>
            <a:endParaRPr dirty="0"/>
          </a:p>
          <a:p>
            <a:pPr marL="0" lvl="0" indent="0" algn="l" rtl="0">
              <a:spcBef>
                <a:spcPts val="1200"/>
              </a:spcBef>
              <a:spcAft>
                <a:spcPts val="1200"/>
              </a:spcAft>
              <a:buNone/>
            </a:pPr>
            <a:endParaRPr dirty="0"/>
          </a:p>
        </p:txBody>
      </p:sp>
      <p:sp>
        <p:nvSpPr>
          <p:cNvPr id="247" name="Google Shape;247;p30">
            <a:extLst>
              <a:ext uri="{FF2B5EF4-FFF2-40B4-BE49-F238E27FC236}">
                <a16:creationId xmlns:a16="http://schemas.microsoft.com/office/drawing/2014/main" id="{2E4D393C-4904-5448-37D9-8A07B21D957E}"/>
              </a:ext>
            </a:extLst>
          </p:cNvPr>
          <p:cNvSpPr/>
          <p:nvPr/>
        </p:nvSpPr>
        <p:spPr>
          <a:xfrm rot="5400000">
            <a:off x="1861725" y="1540325"/>
            <a:ext cx="920100" cy="1937400"/>
          </a:xfrm>
          <a:prstGeom prst="rect">
            <a:avLst/>
          </a:prstGeom>
          <a:solidFill>
            <a:srgbClr val="CFE2F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48" name="Google Shape;248;p30">
            <a:extLst>
              <a:ext uri="{FF2B5EF4-FFF2-40B4-BE49-F238E27FC236}">
                <a16:creationId xmlns:a16="http://schemas.microsoft.com/office/drawing/2014/main" id="{EFE1A423-5010-BC69-6A27-0CDF2ED97300}"/>
              </a:ext>
            </a:extLst>
          </p:cNvPr>
          <p:cNvSpPr/>
          <p:nvPr/>
        </p:nvSpPr>
        <p:spPr>
          <a:xfrm rot="10800000">
            <a:off x="3508375" y="2048963"/>
            <a:ext cx="920100" cy="1937400"/>
          </a:xfrm>
          <a:prstGeom prst="rect">
            <a:avLst/>
          </a:prstGeom>
          <a:solidFill>
            <a:srgbClr val="CFE2F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49" name="Google Shape;249;p30">
            <a:extLst>
              <a:ext uri="{FF2B5EF4-FFF2-40B4-BE49-F238E27FC236}">
                <a16:creationId xmlns:a16="http://schemas.microsoft.com/office/drawing/2014/main" id="{E7A48ED0-C0FD-3958-E23A-04233591F7BD}"/>
              </a:ext>
            </a:extLst>
          </p:cNvPr>
          <p:cNvSpPr/>
          <p:nvPr/>
        </p:nvSpPr>
        <p:spPr>
          <a:xfrm rot="10800000">
            <a:off x="952175" y="2048963"/>
            <a:ext cx="183000" cy="19374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50" name="Google Shape;250;p30">
            <a:extLst>
              <a:ext uri="{FF2B5EF4-FFF2-40B4-BE49-F238E27FC236}">
                <a16:creationId xmlns:a16="http://schemas.microsoft.com/office/drawing/2014/main" id="{2428E0C3-389E-4254-45D2-D759F0360578}"/>
              </a:ext>
            </a:extLst>
          </p:cNvPr>
          <p:cNvSpPr/>
          <p:nvPr/>
        </p:nvSpPr>
        <p:spPr>
          <a:xfrm rot="10800000">
            <a:off x="5886773" y="2048976"/>
            <a:ext cx="183000" cy="1937400"/>
          </a:xfrm>
          <a:prstGeom prst="rect">
            <a:avLst/>
          </a:prstGeom>
          <a:solidFill>
            <a:srgbClr val="FCE5CD"/>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51" name="Google Shape;251;p30">
            <a:extLst>
              <a:ext uri="{FF2B5EF4-FFF2-40B4-BE49-F238E27FC236}">
                <a16:creationId xmlns:a16="http://schemas.microsoft.com/office/drawing/2014/main" id="{8DC5C88E-ED37-7657-8D27-19A5E03CE170}"/>
              </a:ext>
            </a:extLst>
          </p:cNvPr>
          <p:cNvSpPr/>
          <p:nvPr/>
        </p:nvSpPr>
        <p:spPr>
          <a:xfrm>
            <a:off x="4697562" y="2619375"/>
            <a:ext cx="920100" cy="660250"/>
          </a:xfrm>
          <a:prstGeom prst="flowChartDecision">
            <a:avLst/>
          </a:prstGeom>
          <a:solidFill>
            <a:srgbClr val="D9D2E9"/>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52" name="Google Shape;252;p30">
            <a:extLst>
              <a:ext uri="{FF2B5EF4-FFF2-40B4-BE49-F238E27FC236}">
                <a16:creationId xmlns:a16="http://schemas.microsoft.com/office/drawing/2014/main" id="{F76C47F7-DECE-4223-3221-67D4975EC733}"/>
              </a:ext>
            </a:extLst>
          </p:cNvPr>
          <p:cNvSpPr/>
          <p:nvPr/>
        </p:nvSpPr>
        <p:spPr>
          <a:xfrm>
            <a:off x="4481075" y="2933275"/>
            <a:ext cx="183000" cy="35700"/>
          </a:xfrm>
          <a:prstGeom prst="right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53" name="Google Shape;253;p30">
            <a:extLst>
              <a:ext uri="{FF2B5EF4-FFF2-40B4-BE49-F238E27FC236}">
                <a16:creationId xmlns:a16="http://schemas.microsoft.com/office/drawing/2014/main" id="{4E5563CB-0D2F-27E4-D260-8B39228C9ACE}"/>
              </a:ext>
            </a:extLst>
          </p:cNvPr>
          <p:cNvSpPr/>
          <p:nvPr/>
        </p:nvSpPr>
        <p:spPr>
          <a:xfrm>
            <a:off x="5640094" y="2934141"/>
            <a:ext cx="183000" cy="35700"/>
          </a:xfrm>
          <a:prstGeom prst="right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54" name="Google Shape;254;p30">
            <a:extLst>
              <a:ext uri="{FF2B5EF4-FFF2-40B4-BE49-F238E27FC236}">
                <a16:creationId xmlns:a16="http://schemas.microsoft.com/office/drawing/2014/main" id="{F709AD65-5946-2306-5865-4E79056A358E}"/>
              </a:ext>
            </a:extLst>
          </p:cNvPr>
          <p:cNvSpPr/>
          <p:nvPr/>
        </p:nvSpPr>
        <p:spPr>
          <a:xfrm rot="10800000">
            <a:off x="952175" y="2521870"/>
            <a:ext cx="183000" cy="165600"/>
          </a:xfrm>
          <a:prstGeom prst="rect">
            <a:avLst/>
          </a:prstGeom>
          <a:solidFill>
            <a:schemeClr val="dk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55" name="Google Shape;255;p30">
            <a:extLst>
              <a:ext uri="{FF2B5EF4-FFF2-40B4-BE49-F238E27FC236}">
                <a16:creationId xmlns:a16="http://schemas.microsoft.com/office/drawing/2014/main" id="{32B71934-7F16-5CD5-7E55-29DDB76821D6}"/>
              </a:ext>
            </a:extLst>
          </p:cNvPr>
          <p:cNvSpPr txBox="1"/>
          <p:nvPr/>
        </p:nvSpPr>
        <p:spPr>
          <a:xfrm>
            <a:off x="1353075" y="2170475"/>
            <a:ext cx="1937400" cy="677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GB" sz="3200" i="1">
                <a:solidFill>
                  <a:srgbClr val="1155CC"/>
                </a:solidFill>
              </a:rPr>
              <a:t>V</a:t>
            </a:r>
            <a:endParaRPr sz="3200" i="1">
              <a:solidFill>
                <a:srgbClr val="1155CC"/>
              </a:solidFill>
            </a:endParaRPr>
          </a:p>
        </p:txBody>
      </p:sp>
      <p:sp>
        <p:nvSpPr>
          <p:cNvPr id="256" name="Google Shape;256;p30">
            <a:extLst>
              <a:ext uri="{FF2B5EF4-FFF2-40B4-BE49-F238E27FC236}">
                <a16:creationId xmlns:a16="http://schemas.microsoft.com/office/drawing/2014/main" id="{72C9DEEC-3F0C-605F-ED9E-2B8F06FC21BE}"/>
              </a:ext>
            </a:extLst>
          </p:cNvPr>
          <p:cNvSpPr txBox="1"/>
          <p:nvPr/>
        </p:nvSpPr>
        <p:spPr>
          <a:xfrm>
            <a:off x="3508375" y="2613450"/>
            <a:ext cx="920100" cy="677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GB" sz="3200" i="1">
                <a:solidFill>
                  <a:srgbClr val="1155CC"/>
                </a:solidFill>
              </a:rPr>
              <a:t>U</a:t>
            </a:r>
            <a:endParaRPr sz="3200" i="1">
              <a:solidFill>
                <a:srgbClr val="1155CC"/>
              </a:solidFill>
            </a:endParaRPr>
          </a:p>
        </p:txBody>
      </p:sp>
      <p:sp>
        <p:nvSpPr>
          <p:cNvPr id="257" name="Google Shape;257;p30">
            <a:extLst>
              <a:ext uri="{FF2B5EF4-FFF2-40B4-BE49-F238E27FC236}">
                <a16:creationId xmlns:a16="http://schemas.microsoft.com/office/drawing/2014/main" id="{6BD083C1-335B-6599-BF98-DFB1D7EBDA73}"/>
              </a:ext>
            </a:extLst>
          </p:cNvPr>
          <p:cNvSpPr txBox="1"/>
          <p:nvPr/>
        </p:nvSpPr>
        <p:spPr>
          <a:xfrm>
            <a:off x="129875" y="4042100"/>
            <a:ext cx="1937400" cy="9234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GB" sz="1600" b="1" u="sng">
                <a:solidFill>
                  <a:schemeClr val="accent5"/>
                </a:solidFill>
              </a:rPr>
              <a:t>Input</a:t>
            </a:r>
            <a:r>
              <a:rPr lang="en-GB" sz="1600" b="1">
                <a:solidFill>
                  <a:schemeClr val="accent5"/>
                </a:solidFill>
              </a:rPr>
              <a:t>:</a:t>
            </a:r>
            <a:endParaRPr sz="1600" b="1">
              <a:solidFill>
                <a:schemeClr val="accent5"/>
              </a:solidFill>
            </a:endParaRPr>
          </a:p>
          <a:p>
            <a:pPr marL="0" lvl="0" indent="0" algn="ctr" rtl="0">
              <a:spcBef>
                <a:spcPts val="0"/>
              </a:spcBef>
              <a:spcAft>
                <a:spcPts val="0"/>
              </a:spcAft>
              <a:buNone/>
            </a:pPr>
            <a:r>
              <a:rPr lang="en-GB" sz="1600" b="1">
                <a:solidFill>
                  <a:schemeClr val="accent5"/>
                </a:solidFill>
              </a:rPr>
              <a:t>One-hot encoding of center word</a:t>
            </a:r>
            <a:endParaRPr sz="1600" b="1">
              <a:solidFill>
                <a:schemeClr val="accent5"/>
              </a:solidFill>
            </a:endParaRPr>
          </a:p>
        </p:txBody>
      </p:sp>
      <p:sp>
        <p:nvSpPr>
          <p:cNvPr id="258" name="Google Shape;258;p30">
            <a:extLst>
              <a:ext uri="{FF2B5EF4-FFF2-40B4-BE49-F238E27FC236}">
                <a16:creationId xmlns:a16="http://schemas.microsoft.com/office/drawing/2014/main" id="{B2DC55A8-618E-1602-BED4-14A99E8F7BA9}"/>
              </a:ext>
            </a:extLst>
          </p:cNvPr>
          <p:cNvSpPr txBox="1"/>
          <p:nvPr/>
        </p:nvSpPr>
        <p:spPr>
          <a:xfrm>
            <a:off x="1353075" y="3062975"/>
            <a:ext cx="1937400" cy="431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GB" sz="1600" b="1">
                <a:solidFill>
                  <a:schemeClr val="accent5"/>
                </a:solidFill>
              </a:rPr>
              <a:t>First linear layer</a:t>
            </a:r>
            <a:endParaRPr sz="1600" b="1">
              <a:solidFill>
                <a:schemeClr val="accent5"/>
              </a:solidFill>
            </a:endParaRPr>
          </a:p>
        </p:txBody>
      </p:sp>
      <p:sp>
        <p:nvSpPr>
          <p:cNvPr id="259" name="Google Shape;259;p30">
            <a:extLst>
              <a:ext uri="{FF2B5EF4-FFF2-40B4-BE49-F238E27FC236}">
                <a16:creationId xmlns:a16="http://schemas.microsoft.com/office/drawing/2014/main" id="{6B952874-0C5D-4758-E52A-AA8E971316BA}"/>
              </a:ext>
            </a:extLst>
          </p:cNvPr>
          <p:cNvSpPr txBox="1"/>
          <p:nvPr/>
        </p:nvSpPr>
        <p:spPr>
          <a:xfrm>
            <a:off x="3173575" y="4038275"/>
            <a:ext cx="1589700" cy="677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GB" sz="1600" b="1">
                <a:solidFill>
                  <a:schemeClr val="accent5"/>
                </a:solidFill>
              </a:rPr>
              <a:t>Second linear layer</a:t>
            </a:r>
            <a:endParaRPr sz="1600" b="1">
              <a:solidFill>
                <a:schemeClr val="accent5"/>
              </a:solidFill>
            </a:endParaRPr>
          </a:p>
        </p:txBody>
      </p:sp>
      <p:sp>
        <p:nvSpPr>
          <p:cNvPr id="260" name="Google Shape;260;p30">
            <a:extLst>
              <a:ext uri="{FF2B5EF4-FFF2-40B4-BE49-F238E27FC236}">
                <a16:creationId xmlns:a16="http://schemas.microsoft.com/office/drawing/2014/main" id="{FA9BEC5A-6829-959E-0851-6F0791426C3A}"/>
              </a:ext>
            </a:extLst>
          </p:cNvPr>
          <p:cNvSpPr txBox="1"/>
          <p:nvPr/>
        </p:nvSpPr>
        <p:spPr>
          <a:xfrm>
            <a:off x="4188900" y="3320400"/>
            <a:ext cx="1937400" cy="677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GB" sz="1600" b="1">
                <a:solidFill>
                  <a:schemeClr val="accent5"/>
                </a:solidFill>
              </a:rPr>
              <a:t>Softmax activation</a:t>
            </a:r>
            <a:endParaRPr sz="1600" b="1">
              <a:solidFill>
                <a:schemeClr val="accent5"/>
              </a:solidFill>
            </a:endParaRPr>
          </a:p>
        </p:txBody>
      </p:sp>
      <p:sp>
        <p:nvSpPr>
          <p:cNvPr id="261" name="Google Shape;261;p30">
            <a:extLst>
              <a:ext uri="{FF2B5EF4-FFF2-40B4-BE49-F238E27FC236}">
                <a16:creationId xmlns:a16="http://schemas.microsoft.com/office/drawing/2014/main" id="{9DE4CD88-3202-7069-298C-D3FAD845DC49}"/>
              </a:ext>
            </a:extLst>
          </p:cNvPr>
          <p:cNvSpPr txBox="1"/>
          <p:nvPr/>
        </p:nvSpPr>
        <p:spPr>
          <a:xfrm>
            <a:off x="5009575" y="4038275"/>
            <a:ext cx="1937400" cy="9234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GB" sz="1600" b="1" u="sng">
                <a:solidFill>
                  <a:schemeClr val="accent5"/>
                </a:solidFill>
              </a:rPr>
              <a:t>Output</a:t>
            </a:r>
            <a:r>
              <a:rPr lang="en-GB" sz="1600" b="1">
                <a:solidFill>
                  <a:schemeClr val="accent5"/>
                </a:solidFill>
              </a:rPr>
              <a:t>:</a:t>
            </a:r>
            <a:endParaRPr sz="1600" b="1">
              <a:solidFill>
                <a:schemeClr val="accent5"/>
              </a:solidFill>
            </a:endParaRPr>
          </a:p>
          <a:p>
            <a:pPr marL="0" lvl="0" indent="0" algn="ctr" rtl="0">
              <a:spcBef>
                <a:spcPts val="0"/>
              </a:spcBef>
              <a:spcAft>
                <a:spcPts val="0"/>
              </a:spcAft>
              <a:buNone/>
            </a:pPr>
            <a:r>
              <a:rPr lang="en-GB" sz="1600" b="1">
                <a:solidFill>
                  <a:schemeClr val="accent5"/>
                </a:solidFill>
              </a:rPr>
              <a:t>Vector of outside word probabilities </a:t>
            </a:r>
            <a:endParaRPr sz="1600" b="1">
              <a:solidFill>
                <a:schemeClr val="accent5"/>
              </a:solidFill>
            </a:endParaRPr>
          </a:p>
        </p:txBody>
      </p:sp>
      <p:sp>
        <p:nvSpPr>
          <p:cNvPr id="262" name="Google Shape;262;p30">
            <a:extLst>
              <a:ext uri="{FF2B5EF4-FFF2-40B4-BE49-F238E27FC236}">
                <a16:creationId xmlns:a16="http://schemas.microsoft.com/office/drawing/2014/main" id="{1EA4024B-76FF-699D-DA16-A257E924F9AE}"/>
              </a:ext>
            </a:extLst>
          </p:cNvPr>
          <p:cNvSpPr txBox="1"/>
          <p:nvPr/>
        </p:nvSpPr>
        <p:spPr>
          <a:xfrm>
            <a:off x="6571825" y="682950"/>
            <a:ext cx="2347200" cy="3516600"/>
          </a:xfrm>
          <a:prstGeom prst="rect">
            <a:avLst/>
          </a:prstGeom>
          <a:noFill/>
          <a:ln w="19050" cap="flat" cmpd="sng">
            <a:solidFill>
              <a:srgbClr val="1155CC"/>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n-GB" sz="1800" dirty="0">
                <a:solidFill>
                  <a:srgbClr val="1155CC"/>
                </a:solidFill>
              </a:rPr>
              <a:t>The columns of </a:t>
            </a:r>
            <a:r>
              <a:rPr lang="en-GB" sz="1800" b="1" i="1" dirty="0">
                <a:solidFill>
                  <a:srgbClr val="1155CC"/>
                </a:solidFill>
              </a:rPr>
              <a:t>V</a:t>
            </a:r>
            <a:r>
              <a:rPr lang="en-GB" sz="1800" dirty="0">
                <a:solidFill>
                  <a:srgbClr val="1155CC"/>
                </a:solidFill>
              </a:rPr>
              <a:t> are the </a:t>
            </a:r>
            <a:r>
              <a:rPr lang="en-GB" sz="1800" dirty="0" err="1">
                <a:solidFill>
                  <a:srgbClr val="1155CC"/>
                </a:solidFill>
              </a:rPr>
              <a:t>center</a:t>
            </a:r>
            <a:r>
              <a:rPr lang="en-GB" sz="1800" dirty="0">
                <a:solidFill>
                  <a:srgbClr val="1155CC"/>
                </a:solidFill>
              </a:rPr>
              <a:t> word vectors: </a:t>
            </a:r>
            <a:endParaRPr sz="1800" dirty="0">
              <a:solidFill>
                <a:srgbClr val="1155CC"/>
              </a:solidFill>
            </a:endParaRPr>
          </a:p>
          <a:p>
            <a:pPr marL="0" lvl="0" indent="0" algn="l" rtl="0">
              <a:spcBef>
                <a:spcPts val="0"/>
              </a:spcBef>
              <a:spcAft>
                <a:spcPts val="0"/>
              </a:spcAft>
              <a:buNone/>
            </a:pPr>
            <a:endParaRPr sz="1800" dirty="0">
              <a:solidFill>
                <a:srgbClr val="1155CC"/>
              </a:solidFill>
            </a:endParaRPr>
          </a:p>
          <a:p>
            <a:pPr marL="0" lvl="0" indent="0" algn="l" rtl="0">
              <a:spcBef>
                <a:spcPts val="0"/>
              </a:spcBef>
              <a:spcAft>
                <a:spcPts val="0"/>
              </a:spcAft>
              <a:buNone/>
            </a:pPr>
            <a:r>
              <a:rPr lang="en-GB" sz="1800" dirty="0">
                <a:solidFill>
                  <a:srgbClr val="1155CC"/>
                </a:solidFill>
              </a:rPr>
              <a:t>The rows of </a:t>
            </a:r>
            <a:r>
              <a:rPr lang="en-GB" sz="1800" b="1" i="1" dirty="0">
                <a:solidFill>
                  <a:srgbClr val="1155CC"/>
                </a:solidFill>
              </a:rPr>
              <a:t>U</a:t>
            </a:r>
            <a:r>
              <a:rPr lang="en-GB" sz="1800" dirty="0">
                <a:solidFill>
                  <a:srgbClr val="1155CC"/>
                </a:solidFill>
              </a:rPr>
              <a:t> are the outside word vectors: </a:t>
            </a:r>
            <a:endParaRPr sz="1800" dirty="0">
              <a:solidFill>
                <a:srgbClr val="1155CC"/>
              </a:solidFill>
            </a:endParaRPr>
          </a:p>
          <a:p>
            <a:pPr marL="0" lvl="0" indent="0" algn="l" rtl="0">
              <a:spcBef>
                <a:spcPts val="0"/>
              </a:spcBef>
              <a:spcAft>
                <a:spcPts val="0"/>
              </a:spcAft>
              <a:buNone/>
            </a:pPr>
            <a:endParaRPr sz="1800" dirty="0">
              <a:solidFill>
                <a:srgbClr val="1155CC"/>
              </a:solidFill>
            </a:endParaRPr>
          </a:p>
          <a:p>
            <a:pPr marL="0" lvl="0" indent="0" algn="l" rtl="0">
              <a:spcBef>
                <a:spcPts val="0"/>
              </a:spcBef>
              <a:spcAft>
                <a:spcPts val="0"/>
              </a:spcAft>
              <a:buNone/>
            </a:pPr>
            <a:r>
              <a:rPr lang="en-GB" sz="1800" dirty="0">
                <a:solidFill>
                  <a:srgbClr val="1155CC"/>
                </a:solidFill>
              </a:rPr>
              <a:t>We don’t care about the network’s output, but about its </a:t>
            </a:r>
            <a:r>
              <a:rPr lang="en-GB" sz="1800" b="1" dirty="0">
                <a:solidFill>
                  <a:srgbClr val="1155CC"/>
                </a:solidFill>
              </a:rPr>
              <a:t>internal representations</a:t>
            </a:r>
            <a:endParaRPr sz="1800" b="1" dirty="0">
              <a:solidFill>
                <a:srgbClr val="1155CC"/>
              </a:solidFill>
            </a:endParaRPr>
          </a:p>
        </p:txBody>
      </p:sp>
      <p:pic>
        <p:nvPicPr>
          <p:cNvPr id="263" name="Google Shape;263;p30" title="Screenshot 2025-10-20 at 12.06.04 PM.png">
            <a:extLst>
              <a:ext uri="{FF2B5EF4-FFF2-40B4-BE49-F238E27FC236}">
                <a16:creationId xmlns:a16="http://schemas.microsoft.com/office/drawing/2014/main" id="{89173C5C-1938-DAEA-1EEC-12D2572ECFA4}"/>
              </a:ext>
            </a:extLst>
          </p:cNvPr>
          <p:cNvPicPr preferRelativeResize="0"/>
          <p:nvPr/>
        </p:nvPicPr>
        <p:blipFill>
          <a:blip r:embed="rId3">
            <a:alphaModFix/>
          </a:blip>
          <a:stretch>
            <a:fillRect/>
          </a:stretch>
        </p:blipFill>
        <p:spPr>
          <a:xfrm>
            <a:off x="7501802" y="1348461"/>
            <a:ext cx="323850" cy="281585"/>
          </a:xfrm>
          <a:prstGeom prst="rect">
            <a:avLst/>
          </a:prstGeom>
          <a:noFill/>
          <a:ln>
            <a:noFill/>
          </a:ln>
        </p:spPr>
      </p:pic>
      <p:pic>
        <p:nvPicPr>
          <p:cNvPr id="264" name="Google Shape;264;p30" title="Screenshot 2025-10-20 at 12.06.09 PM.png">
            <a:extLst>
              <a:ext uri="{FF2B5EF4-FFF2-40B4-BE49-F238E27FC236}">
                <a16:creationId xmlns:a16="http://schemas.microsoft.com/office/drawing/2014/main" id="{42A85C58-1A36-D39B-FF82-B671352FB9D6}"/>
              </a:ext>
            </a:extLst>
          </p:cNvPr>
          <p:cNvPicPr preferRelativeResize="0"/>
          <p:nvPr/>
        </p:nvPicPr>
        <p:blipFill>
          <a:blip r:embed="rId4">
            <a:alphaModFix/>
          </a:blip>
          <a:stretch>
            <a:fillRect/>
          </a:stretch>
        </p:blipFill>
        <p:spPr>
          <a:xfrm>
            <a:off x="7512628" y="2383191"/>
            <a:ext cx="363218" cy="376200"/>
          </a:xfrm>
          <a:prstGeom prst="rect">
            <a:avLst/>
          </a:prstGeom>
          <a:noFill/>
          <a:ln>
            <a:noFill/>
          </a:ln>
        </p:spPr>
      </p:pic>
      <p:sp>
        <p:nvSpPr>
          <p:cNvPr id="265" name="Google Shape;265;p30">
            <a:extLst>
              <a:ext uri="{FF2B5EF4-FFF2-40B4-BE49-F238E27FC236}">
                <a16:creationId xmlns:a16="http://schemas.microsoft.com/office/drawing/2014/main" id="{7B7167AC-3446-E477-AD0C-2AEDD52C2322}"/>
              </a:ext>
            </a:extLst>
          </p:cNvPr>
          <p:cNvSpPr txBox="1"/>
          <p:nvPr/>
        </p:nvSpPr>
        <p:spPr>
          <a:xfrm>
            <a:off x="1353075" y="1842176"/>
            <a:ext cx="1937400" cy="376200"/>
          </a:xfrm>
          <a:prstGeom prst="rect">
            <a:avLst/>
          </a:prstGeom>
          <a:solidFill>
            <a:schemeClr val="accent6"/>
          </a:solidFill>
          <a:ln w="19050" cap="flat" cmpd="sng">
            <a:solidFill>
              <a:schemeClr val="accent5"/>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GB" sz="1600" b="1">
                <a:solidFill>
                  <a:schemeClr val="accent5"/>
                </a:solidFill>
              </a:rPr>
              <a:t>Our word vectors</a:t>
            </a:r>
            <a:endParaRPr sz="1600">
              <a:solidFill>
                <a:schemeClr val="accent5"/>
              </a:solidFill>
            </a:endParaRPr>
          </a:p>
        </p:txBody>
      </p:sp>
      <p:pic>
        <p:nvPicPr>
          <p:cNvPr id="2" name="Google Shape;177;p26" descr="p_\theta (o|c) = \frac{\exp(u_o^T v_c)}{\sum_{w\in \mathcal{V}} \exp(u_w^T v_c)}" title="MathEquation,#000000">
            <a:extLst>
              <a:ext uri="{FF2B5EF4-FFF2-40B4-BE49-F238E27FC236}">
                <a16:creationId xmlns:a16="http://schemas.microsoft.com/office/drawing/2014/main" id="{5792D59C-E74B-C70C-6814-5DA403A4CADC}"/>
              </a:ext>
            </a:extLst>
          </p:cNvPr>
          <p:cNvPicPr preferRelativeResize="0"/>
          <p:nvPr/>
        </p:nvPicPr>
        <p:blipFill>
          <a:blip r:embed="rId5">
            <a:alphaModFix/>
          </a:blip>
          <a:stretch>
            <a:fillRect/>
          </a:stretch>
        </p:blipFill>
        <p:spPr>
          <a:xfrm>
            <a:off x="6289470" y="60552"/>
            <a:ext cx="2809533" cy="541981"/>
          </a:xfrm>
          <a:prstGeom prst="rect">
            <a:avLst/>
          </a:prstGeom>
          <a:noFill/>
          <a:ln>
            <a:noFill/>
          </a:ln>
        </p:spPr>
      </p:pic>
    </p:spTree>
    <p:extLst>
      <p:ext uri="{BB962C8B-B14F-4D97-AF65-F5344CB8AC3E}">
        <p14:creationId xmlns:p14="http://schemas.microsoft.com/office/powerpoint/2010/main" val="129042419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13"/>
        <p:cNvGrpSpPr/>
        <p:nvPr/>
      </p:nvGrpSpPr>
      <p:grpSpPr>
        <a:xfrm>
          <a:off x="0" y="0"/>
          <a:ext cx="0" cy="0"/>
          <a:chOff x="0" y="0"/>
          <a:chExt cx="0" cy="0"/>
        </a:xfrm>
      </p:grpSpPr>
      <p:sp>
        <p:nvSpPr>
          <p:cNvPr id="314" name="Google Shape;314;p33"/>
          <p:cNvSpPr txBox="1">
            <a:spLocks noGrp="1"/>
          </p:cNvSpPr>
          <p:nvPr>
            <p:ph type="title"/>
          </p:nvPr>
        </p:nvSpPr>
        <p:spPr>
          <a:xfrm>
            <a:off x="471488" y="205383"/>
            <a:ext cx="5915100" cy="7458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chemeClr val="dk1"/>
              </a:buClr>
              <a:buSzPts val="3300"/>
              <a:buFont typeface="Century Gothic"/>
              <a:buNone/>
            </a:pPr>
            <a:r>
              <a:rPr lang="en-GB" dirty="0" err="1"/>
              <a:t>Skipgram</a:t>
            </a:r>
            <a:r>
              <a:rPr lang="en-GB" dirty="0"/>
              <a:t>: Visual Demo</a:t>
            </a:r>
            <a:endParaRPr dirty="0"/>
          </a:p>
        </p:txBody>
      </p:sp>
      <p:sp>
        <p:nvSpPr>
          <p:cNvPr id="315" name="Google Shape;315;p33"/>
          <p:cNvSpPr/>
          <p:nvPr/>
        </p:nvSpPr>
        <p:spPr>
          <a:xfrm>
            <a:off x="5216577" y="3395275"/>
            <a:ext cx="2930100" cy="781800"/>
          </a:xfrm>
          <a:prstGeom prst="rect">
            <a:avLst/>
          </a:prstGeom>
          <a:solidFill>
            <a:schemeClr val="lt1"/>
          </a:solidFill>
          <a:ln w="12700" cap="flat" cmpd="sng">
            <a:solidFill>
              <a:schemeClr val="lt1"/>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entury Gothic"/>
              <a:ea typeface="Century Gothic"/>
              <a:cs typeface="Century Gothic"/>
              <a:sym typeface="Century Gothic"/>
            </a:endParaRPr>
          </a:p>
        </p:txBody>
      </p:sp>
      <p:sp>
        <p:nvSpPr>
          <p:cNvPr id="316" name="Google Shape;316;p33"/>
          <p:cNvSpPr txBox="1"/>
          <p:nvPr/>
        </p:nvSpPr>
        <p:spPr>
          <a:xfrm>
            <a:off x="509425" y="1106200"/>
            <a:ext cx="6843600" cy="346200"/>
          </a:xfrm>
          <a:prstGeom prst="rect">
            <a:avLst/>
          </a:prstGeom>
          <a:noFill/>
          <a:ln>
            <a:noFill/>
          </a:ln>
        </p:spPr>
        <p:txBody>
          <a:bodyPr spcFirstLastPara="1" wrap="square" lIns="68575" tIns="34275" rIns="68575" bIns="34275" anchor="t" anchorCtr="0">
            <a:spAutoFit/>
          </a:bodyPr>
          <a:lstStyle/>
          <a:p>
            <a:pPr lvl="0"/>
            <a:r>
              <a:rPr lang="en-GB" sz="1800" dirty="0">
                <a:solidFill>
                  <a:schemeClr val="accent1">
                    <a:lumMod val="50000"/>
                  </a:schemeClr>
                </a:solidFill>
                <a:hlinkClick r:id="rId3"/>
              </a:rPr>
              <a:t>https://talwagner.github.io/teaching/word2vec.html</a:t>
            </a:r>
            <a:endParaRPr lang="en-GB" sz="1800" dirty="0">
              <a:solidFill>
                <a:schemeClr val="accent1">
                  <a:lumMod val="50000"/>
                </a:schemeClr>
              </a:solidFill>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764"/>
        <p:cNvGrpSpPr/>
        <p:nvPr/>
      </p:nvGrpSpPr>
      <p:grpSpPr>
        <a:xfrm>
          <a:off x="0" y="0"/>
          <a:ext cx="0" cy="0"/>
          <a:chOff x="0" y="0"/>
          <a:chExt cx="0" cy="0"/>
        </a:xfrm>
      </p:grpSpPr>
      <p:sp>
        <p:nvSpPr>
          <p:cNvPr id="765" name="Google Shape;765;p86"/>
          <p:cNvSpPr txBox="1">
            <a:spLocks noGrp="1"/>
          </p:cNvSpPr>
          <p:nvPr>
            <p:ph type="title"/>
          </p:nvPr>
        </p:nvSpPr>
        <p:spPr>
          <a:xfrm>
            <a:off x="471488" y="205383"/>
            <a:ext cx="5915100" cy="7458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chemeClr val="dk1"/>
              </a:buClr>
              <a:buSzPts val="3300"/>
              <a:buFont typeface="Century Gothic"/>
              <a:buNone/>
            </a:pPr>
            <a:r>
              <a:rPr lang="en-GB"/>
              <a:t>Word2Vec (Skipgram)</a:t>
            </a:r>
            <a:endParaRPr/>
          </a:p>
        </p:txBody>
      </p:sp>
      <p:sp>
        <p:nvSpPr>
          <p:cNvPr id="766" name="Google Shape;766;p86"/>
          <p:cNvSpPr txBox="1"/>
          <p:nvPr/>
        </p:nvSpPr>
        <p:spPr>
          <a:xfrm>
            <a:off x="1" y="4870133"/>
            <a:ext cx="2689800" cy="2847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GB" sz="1400" u="sng">
                <a:solidFill>
                  <a:schemeClr val="dk1"/>
                </a:solidFill>
                <a:hlinkClick r:id="rId3">
                  <a:extLst>
                    <a:ext uri="{A12FA001-AC4F-418D-AE19-62706E023703}">
                      <ahyp:hlinkClr xmlns:ahyp="http://schemas.microsoft.com/office/drawing/2018/hyperlinkcolor" val="tx"/>
                    </a:ext>
                  </a:extLst>
                </a:hlinkClick>
              </a:rPr>
              <a:t>Mikolov et al., 2013</a:t>
            </a:r>
            <a:endParaRPr sz="1400">
              <a:solidFill>
                <a:schemeClr val="dk1"/>
              </a:solidFill>
            </a:endParaRPr>
          </a:p>
        </p:txBody>
      </p:sp>
      <p:sp>
        <p:nvSpPr>
          <p:cNvPr id="767" name="Google Shape;767;p86"/>
          <p:cNvSpPr txBox="1">
            <a:spLocks noGrp="1"/>
          </p:cNvSpPr>
          <p:nvPr>
            <p:ph type="body" idx="1"/>
          </p:nvPr>
        </p:nvSpPr>
        <p:spPr>
          <a:xfrm>
            <a:off x="471500" y="1026925"/>
            <a:ext cx="7267500" cy="2198700"/>
          </a:xfrm>
          <a:prstGeom prst="rect">
            <a:avLst/>
          </a:prstGeom>
          <a:noFill/>
          <a:ln>
            <a:noFill/>
          </a:ln>
        </p:spPr>
        <p:txBody>
          <a:bodyPr spcFirstLastPara="1" wrap="square" lIns="68575" tIns="34275" rIns="68575" bIns="34275" anchor="t" anchorCtr="0">
            <a:noAutofit/>
          </a:bodyPr>
          <a:lstStyle/>
          <a:p>
            <a:pPr marL="0" lvl="0" indent="0" algn="l" rtl="0">
              <a:lnSpc>
                <a:spcPct val="90000"/>
              </a:lnSpc>
              <a:spcBef>
                <a:spcPts val="0"/>
              </a:spcBef>
              <a:spcAft>
                <a:spcPts val="0"/>
              </a:spcAft>
              <a:buClr>
                <a:schemeClr val="dk1"/>
              </a:buClr>
              <a:buSzPts val="2300"/>
              <a:buNone/>
            </a:pPr>
            <a:r>
              <a:rPr lang="en-GB" sz="1700"/>
              <a:t>TL;DR: predict words from neighboring words</a:t>
            </a:r>
            <a:endParaRPr sz="1700"/>
          </a:p>
          <a:p>
            <a:pPr marL="457200" lvl="0" indent="-336550" algn="l" rtl="0">
              <a:lnSpc>
                <a:spcPct val="150000"/>
              </a:lnSpc>
              <a:spcBef>
                <a:spcPts val="800"/>
              </a:spcBef>
              <a:spcAft>
                <a:spcPts val="0"/>
              </a:spcAft>
              <a:buSzPts val="1700"/>
              <a:buChar char="●"/>
            </a:pPr>
            <a:r>
              <a:rPr lang="en-GB" sz="1700"/>
              <a:t>Define</a:t>
            </a:r>
            <a:r>
              <a:rPr lang="en-GB" sz="1700">
                <a:solidFill>
                  <a:schemeClr val="accent1"/>
                </a:solidFill>
              </a:rPr>
              <a:t> self-supervised</a:t>
            </a:r>
            <a:r>
              <a:rPr lang="en-GB" sz="1700"/>
              <a:t> learning task from raw data:</a:t>
            </a:r>
            <a:endParaRPr sz="1700"/>
          </a:p>
          <a:p>
            <a:pPr marL="914400" lvl="1" indent="-336550" algn="l" rtl="0">
              <a:lnSpc>
                <a:spcPct val="150000"/>
              </a:lnSpc>
              <a:spcBef>
                <a:spcPts val="0"/>
              </a:spcBef>
              <a:spcAft>
                <a:spcPts val="0"/>
              </a:spcAft>
              <a:buSzPts val="1700"/>
              <a:buChar char="○"/>
            </a:pPr>
            <a:r>
              <a:rPr lang="en-GB" sz="1700"/>
              <a:t>Input: “</a:t>
            </a:r>
            <a:r>
              <a:rPr lang="en-GB" sz="1700">
                <a:solidFill>
                  <a:schemeClr val="accent1"/>
                </a:solidFill>
              </a:rPr>
              <a:t>center</a:t>
            </a:r>
            <a:r>
              <a:rPr lang="en-GB" sz="1700"/>
              <a:t>” word, label: “</a:t>
            </a:r>
            <a:r>
              <a:rPr lang="en-GB" sz="1700">
                <a:solidFill>
                  <a:schemeClr val="accent1"/>
                </a:solidFill>
              </a:rPr>
              <a:t>outside</a:t>
            </a:r>
            <a:r>
              <a:rPr lang="en-GB" sz="1700"/>
              <a:t>” (context) word</a:t>
            </a:r>
            <a:endParaRPr sz="1700"/>
          </a:p>
          <a:p>
            <a:pPr marL="457200" lvl="0" indent="-336550" algn="l" rtl="0">
              <a:lnSpc>
                <a:spcPct val="150000"/>
              </a:lnSpc>
              <a:spcBef>
                <a:spcPts val="0"/>
              </a:spcBef>
              <a:spcAft>
                <a:spcPts val="0"/>
              </a:spcAft>
              <a:buSzPts val="1700"/>
              <a:buChar char="●"/>
            </a:pPr>
            <a:r>
              <a:rPr lang="en-GB" sz="1700"/>
              <a:t>Define </a:t>
            </a:r>
            <a:r>
              <a:rPr lang="en-GB" sz="1700">
                <a:solidFill>
                  <a:schemeClr val="accent1"/>
                </a:solidFill>
              </a:rPr>
              <a:t>model</a:t>
            </a:r>
            <a:r>
              <a:rPr lang="en-GB" sz="1700"/>
              <a:t> for predicting label from input:</a:t>
            </a:r>
            <a:endParaRPr sz="1700"/>
          </a:p>
          <a:p>
            <a:pPr marL="457200" lvl="0" indent="-336550" algn="l" rtl="0">
              <a:spcBef>
                <a:spcPts val="0"/>
              </a:spcBef>
              <a:spcAft>
                <a:spcPts val="0"/>
              </a:spcAft>
              <a:buSzPts val="1700"/>
              <a:buChar char="●"/>
            </a:pPr>
            <a:r>
              <a:rPr lang="en-GB" sz="1700"/>
              <a:t>Define </a:t>
            </a:r>
            <a:r>
              <a:rPr lang="en-GB" sz="1700">
                <a:solidFill>
                  <a:schemeClr val="accent1"/>
                </a:solidFill>
              </a:rPr>
              <a:t>objective function</a:t>
            </a:r>
            <a:r>
              <a:rPr lang="en-GB" sz="1700"/>
              <a:t> for corpus of length </a:t>
            </a:r>
            <a:r>
              <a:rPr lang="en-GB" sz="1700" i="1">
                <a:solidFill>
                  <a:srgbClr val="00B0F0"/>
                </a:solidFill>
                <a:latin typeface="Times New Roman"/>
                <a:ea typeface="Times New Roman"/>
                <a:cs typeface="Times New Roman"/>
                <a:sym typeface="Times New Roman"/>
              </a:rPr>
              <a:t>T</a:t>
            </a:r>
            <a:r>
              <a:rPr lang="en-GB" sz="1700"/>
              <a:t> and window </a:t>
            </a:r>
            <a:r>
              <a:rPr lang="en-GB" sz="1700" i="1">
                <a:solidFill>
                  <a:srgbClr val="00B0F0"/>
                </a:solidFill>
                <a:latin typeface="Times New Roman"/>
                <a:ea typeface="Times New Roman"/>
                <a:cs typeface="Times New Roman"/>
                <a:sym typeface="Times New Roman"/>
              </a:rPr>
              <a:t>m</a:t>
            </a:r>
            <a:endParaRPr sz="1700" i="1">
              <a:solidFill>
                <a:srgbClr val="00B0F0"/>
              </a:solidFill>
              <a:latin typeface="Times New Roman"/>
              <a:ea typeface="Times New Roman"/>
              <a:cs typeface="Times New Roman"/>
              <a:sym typeface="Times New Roman"/>
            </a:endParaRPr>
          </a:p>
          <a:p>
            <a:pPr marL="457200" lvl="0" indent="0" algn="l" rtl="0">
              <a:lnSpc>
                <a:spcPct val="150000"/>
              </a:lnSpc>
              <a:spcBef>
                <a:spcPts val="800"/>
              </a:spcBef>
              <a:spcAft>
                <a:spcPts val="0"/>
              </a:spcAft>
              <a:buNone/>
            </a:pPr>
            <a:endParaRPr sz="1700"/>
          </a:p>
        </p:txBody>
      </p:sp>
      <p:sp>
        <p:nvSpPr>
          <p:cNvPr id="768" name="Google Shape;768;p86"/>
          <p:cNvSpPr txBox="1"/>
          <p:nvPr/>
        </p:nvSpPr>
        <p:spPr>
          <a:xfrm>
            <a:off x="761400" y="3009034"/>
            <a:ext cx="7621200" cy="4464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GB" sz="1700" b="1">
                <a:solidFill>
                  <a:schemeClr val="accent5"/>
                </a:solidFill>
              </a:rPr>
              <a:t>What probabilities would maximize the objective (minimize the loss)? </a:t>
            </a:r>
            <a:endParaRPr sz="1700" b="1" i="1">
              <a:solidFill>
                <a:schemeClr val="accent5"/>
              </a:solidFill>
              <a:latin typeface="Times New Roman"/>
              <a:ea typeface="Times New Roman"/>
              <a:cs typeface="Times New Roman"/>
              <a:sym typeface="Times New Roman"/>
            </a:endParaRPr>
          </a:p>
        </p:txBody>
      </p:sp>
      <p:pic>
        <p:nvPicPr>
          <p:cNvPr id="769" name="Google Shape;769;p86" descr="\mathcal{L}(\theta) = \prod_{t=1}^T \prod_{-m\leq j \leq m,\; j\neq 0} p_{\theta} (w_{t+j}|w_t)" title="MathEquation,#000000"/>
          <p:cNvPicPr preferRelativeResize="0"/>
          <p:nvPr/>
        </p:nvPicPr>
        <p:blipFill>
          <a:blip r:embed="rId4">
            <a:alphaModFix/>
          </a:blip>
          <a:stretch>
            <a:fillRect/>
          </a:stretch>
        </p:blipFill>
        <p:spPr>
          <a:xfrm>
            <a:off x="4710113" y="407775"/>
            <a:ext cx="4275926" cy="400875"/>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773"/>
        <p:cNvGrpSpPr/>
        <p:nvPr/>
      </p:nvGrpSpPr>
      <p:grpSpPr>
        <a:xfrm>
          <a:off x="0" y="0"/>
          <a:ext cx="0" cy="0"/>
          <a:chOff x="0" y="0"/>
          <a:chExt cx="0" cy="0"/>
        </a:xfrm>
      </p:grpSpPr>
      <p:sp>
        <p:nvSpPr>
          <p:cNvPr id="774" name="Google Shape;774;p87"/>
          <p:cNvSpPr txBox="1">
            <a:spLocks noGrp="1"/>
          </p:cNvSpPr>
          <p:nvPr>
            <p:ph type="title"/>
          </p:nvPr>
        </p:nvSpPr>
        <p:spPr>
          <a:xfrm>
            <a:off x="471488" y="205383"/>
            <a:ext cx="5915100" cy="7458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chemeClr val="dk1"/>
              </a:buClr>
              <a:buSzPts val="3300"/>
              <a:buFont typeface="Century Gothic"/>
              <a:buNone/>
            </a:pPr>
            <a:r>
              <a:rPr lang="en-GB"/>
              <a:t>Word2Vec (Skipgram)</a:t>
            </a:r>
            <a:endParaRPr/>
          </a:p>
        </p:txBody>
      </p:sp>
      <p:sp>
        <p:nvSpPr>
          <p:cNvPr id="775" name="Google Shape;775;p87"/>
          <p:cNvSpPr txBox="1"/>
          <p:nvPr/>
        </p:nvSpPr>
        <p:spPr>
          <a:xfrm>
            <a:off x="1" y="4870133"/>
            <a:ext cx="2689800" cy="2847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GB" sz="1400" u="sng">
                <a:solidFill>
                  <a:schemeClr val="dk1"/>
                </a:solidFill>
                <a:hlinkClick r:id="rId3">
                  <a:extLst>
                    <a:ext uri="{A12FA001-AC4F-418D-AE19-62706E023703}">
                      <ahyp:hlinkClr xmlns:ahyp="http://schemas.microsoft.com/office/drawing/2018/hyperlinkcolor" val="tx"/>
                    </a:ext>
                  </a:extLst>
                </a:hlinkClick>
              </a:rPr>
              <a:t>Mikolov et al., 2013</a:t>
            </a:r>
            <a:endParaRPr sz="1400">
              <a:solidFill>
                <a:schemeClr val="dk1"/>
              </a:solidFill>
            </a:endParaRPr>
          </a:p>
        </p:txBody>
      </p:sp>
      <p:sp>
        <p:nvSpPr>
          <p:cNvPr id="776" name="Google Shape;776;p87"/>
          <p:cNvSpPr txBox="1">
            <a:spLocks noGrp="1"/>
          </p:cNvSpPr>
          <p:nvPr>
            <p:ph type="body" idx="1"/>
          </p:nvPr>
        </p:nvSpPr>
        <p:spPr>
          <a:xfrm>
            <a:off x="471500" y="1026925"/>
            <a:ext cx="7267500" cy="2198700"/>
          </a:xfrm>
          <a:prstGeom prst="rect">
            <a:avLst/>
          </a:prstGeom>
          <a:noFill/>
          <a:ln>
            <a:noFill/>
          </a:ln>
        </p:spPr>
        <p:txBody>
          <a:bodyPr spcFirstLastPara="1" wrap="square" lIns="68575" tIns="34275" rIns="68575" bIns="34275" anchor="t" anchorCtr="0">
            <a:noAutofit/>
          </a:bodyPr>
          <a:lstStyle/>
          <a:p>
            <a:pPr marL="0" lvl="0" indent="0" algn="l" rtl="0">
              <a:lnSpc>
                <a:spcPct val="90000"/>
              </a:lnSpc>
              <a:spcBef>
                <a:spcPts val="0"/>
              </a:spcBef>
              <a:spcAft>
                <a:spcPts val="0"/>
              </a:spcAft>
              <a:buClr>
                <a:schemeClr val="dk1"/>
              </a:buClr>
              <a:buSzPts val="2300"/>
              <a:buNone/>
            </a:pPr>
            <a:r>
              <a:rPr lang="en-GB" sz="1700"/>
              <a:t>TL;DR: predict words from neighboring words</a:t>
            </a:r>
            <a:endParaRPr sz="1700"/>
          </a:p>
          <a:p>
            <a:pPr marL="457200" lvl="0" indent="-336550" algn="l" rtl="0">
              <a:lnSpc>
                <a:spcPct val="150000"/>
              </a:lnSpc>
              <a:spcBef>
                <a:spcPts val="800"/>
              </a:spcBef>
              <a:spcAft>
                <a:spcPts val="0"/>
              </a:spcAft>
              <a:buSzPts val="1700"/>
              <a:buChar char="●"/>
            </a:pPr>
            <a:r>
              <a:rPr lang="en-GB" sz="1700"/>
              <a:t>Define</a:t>
            </a:r>
            <a:r>
              <a:rPr lang="en-GB" sz="1700">
                <a:solidFill>
                  <a:schemeClr val="accent1"/>
                </a:solidFill>
              </a:rPr>
              <a:t> self-supervised</a:t>
            </a:r>
            <a:r>
              <a:rPr lang="en-GB" sz="1700"/>
              <a:t> learning task from raw data:</a:t>
            </a:r>
            <a:endParaRPr sz="1700"/>
          </a:p>
          <a:p>
            <a:pPr marL="914400" lvl="1" indent="-336550" algn="l" rtl="0">
              <a:lnSpc>
                <a:spcPct val="150000"/>
              </a:lnSpc>
              <a:spcBef>
                <a:spcPts val="0"/>
              </a:spcBef>
              <a:spcAft>
                <a:spcPts val="0"/>
              </a:spcAft>
              <a:buSzPts val="1700"/>
              <a:buChar char="○"/>
            </a:pPr>
            <a:r>
              <a:rPr lang="en-GB" sz="1700"/>
              <a:t>Input: “</a:t>
            </a:r>
            <a:r>
              <a:rPr lang="en-GB" sz="1700">
                <a:solidFill>
                  <a:schemeClr val="accent1"/>
                </a:solidFill>
              </a:rPr>
              <a:t>center</a:t>
            </a:r>
            <a:r>
              <a:rPr lang="en-GB" sz="1700"/>
              <a:t>” word, label: “</a:t>
            </a:r>
            <a:r>
              <a:rPr lang="en-GB" sz="1700">
                <a:solidFill>
                  <a:schemeClr val="accent1"/>
                </a:solidFill>
              </a:rPr>
              <a:t>outside</a:t>
            </a:r>
            <a:r>
              <a:rPr lang="en-GB" sz="1700"/>
              <a:t>” (context) word</a:t>
            </a:r>
            <a:endParaRPr sz="1700"/>
          </a:p>
          <a:p>
            <a:pPr marL="457200" lvl="0" indent="-336550" algn="l" rtl="0">
              <a:lnSpc>
                <a:spcPct val="150000"/>
              </a:lnSpc>
              <a:spcBef>
                <a:spcPts val="0"/>
              </a:spcBef>
              <a:spcAft>
                <a:spcPts val="0"/>
              </a:spcAft>
              <a:buSzPts val="1700"/>
              <a:buChar char="●"/>
            </a:pPr>
            <a:r>
              <a:rPr lang="en-GB" sz="1700"/>
              <a:t>Define </a:t>
            </a:r>
            <a:r>
              <a:rPr lang="en-GB" sz="1700">
                <a:solidFill>
                  <a:schemeClr val="accent1"/>
                </a:solidFill>
              </a:rPr>
              <a:t>model</a:t>
            </a:r>
            <a:r>
              <a:rPr lang="en-GB" sz="1700"/>
              <a:t> for predicting label from input:</a:t>
            </a:r>
            <a:endParaRPr sz="1700"/>
          </a:p>
          <a:p>
            <a:pPr marL="457200" lvl="0" indent="-336550" algn="l" rtl="0">
              <a:spcBef>
                <a:spcPts val="0"/>
              </a:spcBef>
              <a:spcAft>
                <a:spcPts val="0"/>
              </a:spcAft>
              <a:buSzPts val="1700"/>
              <a:buChar char="●"/>
            </a:pPr>
            <a:r>
              <a:rPr lang="en-GB" sz="1700"/>
              <a:t>Define </a:t>
            </a:r>
            <a:r>
              <a:rPr lang="en-GB" sz="1700">
                <a:solidFill>
                  <a:schemeClr val="accent1"/>
                </a:solidFill>
              </a:rPr>
              <a:t>objective function</a:t>
            </a:r>
            <a:r>
              <a:rPr lang="en-GB" sz="1700"/>
              <a:t> for corpus of length </a:t>
            </a:r>
            <a:r>
              <a:rPr lang="en-GB" sz="1700" i="1">
                <a:solidFill>
                  <a:srgbClr val="00B0F0"/>
                </a:solidFill>
                <a:latin typeface="Times New Roman"/>
                <a:ea typeface="Times New Roman"/>
                <a:cs typeface="Times New Roman"/>
                <a:sym typeface="Times New Roman"/>
              </a:rPr>
              <a:t>T</a:t>
            </a:r>
            <a:r>
              <a:rPr lang="en-GB" sz="1700"/>
              <a:t> and window </a:t>
            </a:r>
            <a:r>
              <a:rPr lang="en-GB" sz="1700" i="1">
                <a:solidFill>
                  <a:srgbClr val="00B0F0"/>
                </a:solidFill>
                <a:latin typeface="Times New Roman"/>
                <a:ea typeface="Times New Roman"/>
                <a:cs typeface="Times New Roman"/>
                <a:sym typeface="Times New Roman"/>
              </a:rPr>
              <a:t>m</a:t>
            </a:r>
            <a:endParaRPr sz="1700" i="1">
              <a:solidFill>
                <a:srgbClr val="00B0F0"/>
              </a:solidFill>
              <a:latin typeface="Times New Roman"/>
              <a:ea typeface="Times New Roman"/>
              <a:cs typeface="Times New Roman"/>
              <a:sym typeface="Times New Roman"/>
            </a:endParaRPr>
          </a:p>
          <a:p>
            <a:pPr marL="457200" lvl="0" indent="0" algn="l" rtl="0">
              <a:lnSpc>
                <a:spcPct val="150000"/>
              </a:lnSpc>
              <a:spcBef>
                <a:spcPts val="800"/>
              </a:spcBef>
              <a:spcAft>
                <a:spcPts val="0"/>
              </a:spcAft>
              <a:buNone/>
            </a:pPr>
            <a:endParaRPr sz="1700"/>
          </a:p>
        </p:txBody>
      </p:sp>
      <p:sp>
        <p:nvSpPr>
          <p:cNvPr id="777" name="Google Shape;777;p87"/>
          <p:cNvSpPr txBox="1"/>
          <p:nvPr/>
        </p:nvSpPr>
        <p:spPr>
          <a:xfrm>
            <a:off x="761400" y="3009034"/>
            <a:ext cx="7621200" cy="4464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GB" sz="1700" b="1">
                <a:solidFill>
                  <a:schemeClr val="accent5"/>
                </a:solidFill>
              </a:rPr>
              <a:t>What probabilities would maximize the objective (minimize the loss)? </a:t>
            </a:r>
            <a:endParaRPr sz="1700" b="1" i="1">
              <a:solidFill>
                <a:schemeClr val="accent5"/>
              </a:solidFill>
              <a:latin typeface="Times New Roman"/>
              <a:ea typeface="Times New Roman"/>
              <a:cs typeface="Times New Roman"/>
              <a:sym typeface="Times New Roman"/>
            </a:endParaRPr>
          </a:p>
        </p:txBody>
      </p:sp>
      <p:sp>
        <p:nvSpPr>
          <p:cNvPr id="778" name="Google Shape;778;p87"/>
          <p:cNvSpPr txBox="1"/>
          <p:nvPr/>
        </p:nvSpPr>
        <p:spPr>
          <a:xfrm>
            <a:off x="3581625" y="3427970"/>
            <a:ext cx="3171000" cy="3462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GB" sz="1800">
                <a:solidFill>
                  <a:srgbClr val="00B0F0"/>
                </a:solidFill>
              </a:rPr>
              <a:t>The empirical distribution</a:t>
            </a:r>
            <a:endParaRPr sz="1800"/>
          </a:p>
        </p:txBody>
      </p:sp>
      <p:sp>
        <p:nvSpPr>
          <p:cNvPr id="779" name="Google Shape;779;p87"/>
          <p:cNvSpPr txBox="1"/>
          <p:nvPr/>
        </p:nvSpPr>
        <p:spPr>
          <a:xfrm>
            <a:off x="3581625" y="3833070"/>
            <a:ext cx="5014200" cy="3309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GB" sz="1700">
                <a:solidFill>
                  <a:schemeClr val="dk1"/>
                </a:solidFill>
              </a:rPr>
              <a:t>#(c,o) is the number of co-occurrences of </a:t>
            </a:r>
            <a:r>
              <a:rPr lang="en-GB" sz="1700" i="1">
                <a:solidFill>
                  <a:schemeClr val="dk1"/>
                </a:solidFill>
                <a:latin typeface="Times New Roman"/>
                <a:ea typeface="Times New Roman"/>
                <a:cs typeface="Times New Roman"/>
                <a:sym typeface="Times New Roman"/>
              </a:rPr>
              <a:t>o</a:t>
            </a:r>
            <a:r>
              <a:rPr lang="en-GB" sz="1700">
                <a:solidFill>
                  <a:schemeClr val="dk1"/>
                </a:solidFill>
              </a:rPr>
              <a:t> and </a:t>
            </a:r>
            <a:r>
              <a:rPr lang="en-GB" sz="1700" i="1">
                <a:solidFill>
                  <a:schemeClr val="dk1"/>
                </a:solidFill>
                <a:latin typeface="Times New Roman"/>
                <a:ea typeface="Times New Roman"/>
                <a:cs typeface="Times New Roman"/>
                <a:sym typeface="Times New Roman"/>
              </a:rPr>
              <a:t>c</a:t>
            </a:r>
            <a:r>
              <a:rPr lang="en-GB" sz="1700">
                <a:solidFill>
                  <a:schemeClr val="dk1"/>
                </a:solidFill>
              </a:rPr>
              <a:t>.</a:t>
            </a:r>
            <a:endParaRPr sz="1700" i="1">
              <a:solidFill>
                <a:schemeClr val="dk1"/>
              </a:solidFill>
              <a:latin typeface="Times New Roman"/>
              <a:ea typeface="Times New Roman"/>
              <a:cs typeface="Times New Roman"/>
              <a:sym typeface="Times New Roman"/>
            </a:endParaRPr>
          </a:p>
        </p:txBody>
      </p:sp>
      <p:pic>
        <p:nvPicPr>
          <p:cNvPr id="780" name="Google Shape;780;p87" descr="p(o|c) = \frac{\#(c,o)}{\sum_{o'} \#(c,o')}" title="MathEquation,#000000"/>
          <p:cNvPicPr preferRelativeResize="0"/>
          <p:nvPr/>
        </p:nvPicPr>
        <p:blipFill>
          <a:blip r:embed="rId4">
            <a:alphaModFix/>
          </a:blip>
          <a:stretch>
            <a:fillRect/>
          </a:stretch>
        </p:blipFill>
        <p:spPr>
          <a:xfrm>
            <a:off x="846600" y="3504158"/>
            <a:ext cx="2287626" cy="580475"/>
          </a:xfrm>
          <a:prstGeom prst="rect">
            <a:avLst/>
          </a:prstGeom>
          <a:noFill/>
          <a:ln>
            <a:noFill/>
          </a:ln>
        </p:spPr>
      </p:pic>
      <p:pic>
        <p:nvPicPr>
          <p:cNvPr id="781" name="Google Shape;781;p87" descr="\mathcal{L}(\theta) = \prod_{t=1}^T \prod_{-m\leq j \leq m,\; j\neq 0} p_{\theta} (w_{t+j}|w_t)" title="MathEquation,#000000"/>
          <p:cNvPicPr preferRelativeResize="0"/>
          <p:nvPr/>
        </p:nvPicPr>
        <p:blipFill>
          <a:blip r:embed="rId5">
            <a:alphaModFix/>
          </a:blip>
          <a:stretch>
            <a:fillRect/>
          </a:stretch>
        </p:blipFill>
        <p:spPr>
          <a:xfrm>
            <a:off x="4710113" y="407775"/>
            <a:ext cx="4275926" cy="400875"/>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785"/>
        <p:cNvGrpSpPr/>
        <p:nvPr/>
      </p:nvGrpSpPr>
      <p:grpSpPr>
        <a:xfrm>
          <a:off x="0" y="0"/>
          <a:ext cx="0" cy="0"/>
          <a:chOff x="0" y="0"/>
          <a:chExt cx="0" cy="0"/>
        </a:xfrm>
      </p:grpSpPr>
      <p:sp>
        <p:nvSpPr>
          <p:cNvPr id="786" name="Google Shape;786;p88"/>
          <p:cNvSpPr txBox="1">
            <a:spLocks noGrp="1"/>
          </p:cNvSpPr>
          <p:nvPr>
            <p:ph type="title"/>
          </p:nvPr>
        </p:nvSpPr>
        <p:spPr>
          <a:xfrm>
            <a:off x="471488" y="205383"/>
            <a:ext cx="5915100" cy="7458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chemeClr val="dk1"/>
              </a:buClr>
              <a:buSzPts val="3300"/>
              <a:buFont typeface="Century Gothic"/>
              <a:buNone/>
            </a:pPr>
            <a:r>
              <a:rPr lang="en-GB"/>
              <a:t>Word2Vec (Skipgram)</a:t>
            </a:r>
            <a:endParaRPr/>
          </a:p>
        </p:txBody>
      </p:sp>
      <p:sp>
        <p:nvSpPr>
          <p:cNvPr id="787" name="Google Shape;787;p88"/>
          <p:cNvSpPr txBox="1"/>
          <p:nvPr/>
        </p:nvSpPr>
        <p:spPr>
          <a:xfrm>
            <a:off x="1" y="4870133"/>
            <a:ext cx="2689800" cy="2847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GB" sz="1400" u="sng">
                <a:solidFill>
                  <a:schemeClr val="dk1"/>
                </a:solidFill>
                <a:hlinkClick r:id="rId3">
                  <a:extLst>
                    <a:ext uri="{A12FA001-AC4F-418D-AE19-62706E023703}">
                      <ahyp:hlinkClr xmlns:ahyp="http://schemas.microsoft.com/office/drawing/2018/hyperlinkcolor" val="tx"/>
                    </a:ext>
                  </a:extLst>
                </a:hlinkClick>
              </a:rPr>
              <a:t>Mikolov et al., 2013</a:t>
            </a:r>
            <a:endParaRPr sz="1400">
              <a:solidFill>
                <a:schemeClr val="dk1"/>
              </a:solidFill>
            </a:endParaRPr>
          </a:p>
        </p:txBody>
      </p:sp>
      <p:sp>
        <p:nvSpPr>
          <p:cNvPr id="788" name="Google Shape;788;p88"/>
          <p:cNvSpPr txBox="1">
            <a:spLocks noGrp="1"/>
          </p:cNvSpPr>
          <p:nvPr>
            <p:ph type="body" idx="1"/>
          </p:nvPr>
        </p:nvSpPr>
        <p:spPr>
          <a:xfrm>
            <a:off x="471500" y="1026925"/>
            <a:ext cx="7267500" cy="2198700"/>
          </a:xfrm>
          <a:prstGeom prst="rect">
            <a:avLst/>
          </a:prstGeom>
          <a:noFill/>
          <a:ln>
            <a:noFill/>
          </a:ln>
        </p:spPr>
        <p:txBody>
          <a:bodyPr spcFirstLastPara="1" wrap="square" lIns="68575" tIns="34275" rIns="68575" bIns="34275" anchor="t" anchorCtr="0">
            <a:noAutofit/>
          </a:bodyPr>
          <a:lstStyle/>
          <a:p>
            <a:pPr marL="0" lvl="0" indent="0" algn="l" rtl="0">
              <a:lnSpc>
                <a:spcPct val="90000"/>
              </a:lnSpc>
              <a:spcBef>
                <a:spcPts val="0"/>
              </a:spcBef>
              <a:spcAft>
                <a:spcPts val="0"/>
              </a:spcAft>
              <a:buClr>
                <a:schemeClr val="dk1"/>
              </a:buClr>
              <a:buSzPts val="2300"/>
              <a:buNone/>
            </a:pPr>
            <a:r>
              <a:rPr lang="en-GB" sz="1700"/>
              <a:t>TL;DR: predict words from neighboring words</a:t>
            </a:r>
            <a:endParaRPr sz="1700"/>
          </a:p>
          <a:p>
            <a:pPr marL="457200" lvl="0" indent="-336550" algn="l" rtl="0">
              <a:lnSpc>
                <a:spcPct val="150000"/>
              </a:lnSpc>
              <a:spcBef>
                <a:spcPts val="800"/>
              </a:spcBef>
              <a:spcAft>
                <a:spcPts val="0"/>
              </a:spcAft>
              <a:buSzPts val="1700"/>
              <a:buChar char="●"/>
            </a:pPr>
            <a:r>
              <a:rPr lang="en-GB" sz="1700"/>
              <a:t>Define</a:t>
            </a:r>
            <a:r>
              <a:rPr lang="en-GB" sz="1700">
                <a:solidFill>
                  <a:schemeClr val="accent1"/>
                </a:solidFill>
              </a:rPr>
              <a:t> self-supervised</a:t>
            </a:r>
            <a:r>
              <a:rPr lang="en-GB" sz="1700"/>
              <a:t> learning task from raw data:</a:t>
            </a:r>
            <a:endParaRPr sz="1700"/>
          </a:p>
          <a:p>
            <a:pPr marL="914400" lvl="1" indent="-336550" algn="l" rtl="0">
              <a:lnSpc>
                <a:spcPct val="150000"/>
              </a:lnSpc>
              <a:spcBef>
                <a:spcPts val="0"/>
              </a:spcBef>
              <a:spcAft>
                <a:spcPts val="0"/>
              </a:spcAft>
              <a:buSzPts val="1700"/>
              <a:buChar char="○"/>
            </a:pPr>
            <a:r>
              <a:rPr lang="en-GB" sz="1700"/>
              <a:t>Input: “</a:t>
            </a:r>
            <a:r>
              <a:rPr lang="en-GB" sz="1700">
                <a:solidFill>
                  <a:schemeClr val="accent1"/>
                </a:solidFill>
              </a:rPr>
              <a:t>center</a:t>
            </a:r>
            <a:r>
              <a:rPr lang="en-GB" sz="1700"/>
              <a:t>” word, label: “</a:t>
            </a:r>
            <a:r>
              <a:rPr lang="en-GB" sz="1700">
                <a:solidFill>
                  <a:schemeClr val="accent1"/>
                </a:solidFill>
              </a:rPr>
              <a:t>outside</a:t>
            </a:r>
            <a:r>
              <a:rPr lang="en-GB" sz="1700"/>
              <a:t>” (context) word</a:t>
            </a:r>
            <a:endParaRPr sz="1700"/>
          </a:p>
          <a:p>
            <a:pPr marL="457200" lvl="0" indent="-336550" algn="l" rtl="0">
              <a:lnSpc>
                <a:spcPct val="150000"/>
              </a:lnSpc>
              <a:spcBef>
                <a:spcPts val="0"/>
              </a:spcBef>
              <a:spcAft>
                <a:spcPts val="0"/>
              </a:spcAft>
              <a:buSzPts val="1700"/>
              <a:buChar char="●"/>
            </a:pPr>
            <a:r>
              <a:rPr lang="en-GB" sz="1700"/>
              <a:t>Define </a:t>
            </a:r>
            <a:r>
              <a:rPr lang="en-GB" sz="1700">
                <a:solidFill>
                  <a:schemeClr val="accent1"/>
                </a:solidFill>
              </a:rPr>
              <a:t>model</a:t>
            </a:r>
            <a:r>
              <a:rPr lang="en-GB" sz="1700"/>
              <a:t> for predicting label from input:</a:t>
            </a:r>
            <a:endParaRPr sz="1700"/>
          </a:p>
          <a:p>
            <a:pPr marL="457200" lvl="0" indent="-336550" algn="l" rtl="0">
              <a:spcBef>
                <a:spcPts val="0"/>
              </a:spcBef>
              <a:spcAft>
                <a:spcPts val="0"/>
              </a:spcAft>
              <a:buSzPts val="1700"/>
              <a:buChar char="●"/>
            </a:pPr>
            <a:r>
              <a:rPr lang="en-GB" sz="1700"/>
              <a:t>Define </a:t>
            </a:r>
            <a:r>
              <a:rPr lang="en-GB" sz="1700">
                <a:solidFill>
                  <a:schemeClr val="accent1"/>
                </a:solidFill>
              </a:rPr>
              <a:t>objective function</a:t>
            </a:r>
            <a:r>
              <a:rPr lang="en-GB" sz="1700"/>
              <a:t> for corpus of length </a:t>
            </a:r>
            <a:r>
              <a:rPr lang="en-GB" sz="1700" i="1">
                <a:solidFill>
                  <a:srgbClr val="00B0F0"/>
                </a:solidFill>
                <a:latin typeface="Times New Roman"/>
                <a:ea typeface="Times New Roman"/>
                <a:cs typeface="Times New Roman"/>
                <a:sym typeface="Times New Roman"/>
              </a:rPr>
              <a:t>T</a:t>
            </a:r>
            <a:r>
              <a:rPr lang="en-GB" sz="1700"/>
              <a:t> and window </a:t>
            </a:r>
            <a:r>
              <a:rPr lang="en-GB" sz="1700" i="1">
                <a:solidFill>
                  <a:srgbClr val="00B0F0"/>
                </a:solidFill>
                <a:latin typeface="Times New Roman"/>
                <a:ea typeface="Times New Roman"/>
                <a:cs typeface="Times New Roman"/>
                <a:sym typeface="Times New Roman"/>
              </a:rPr>
              <a:t>m</a:t>
            </a:r>
            <a:endParaRPr sz="1700" i="1">
              <a:solidFill>
                <a:srgbClr val="00B0F0"/>
              </a:solidFill>
              <a:latin typeface="Times New Roman"/>
              <a:ea typeface="Times New Roman"/>
              <a:cs typeface="Times New Roman"/>
              <a:sym typeface="Times New Roman"/>
            </a:endParaRPr>
          </a:p>
          <a:p>
            <a:pPr marL="457200" lvl="0" indent="0" algn="l" rtl="0">
              <a:lnSpc>
                <a:spcPct val="150000"/>
              </a:lnSpc>
              <a:spcBef>
                <a:spcPts val="800"/>
              </a:spcBef>
              <a:spcAft>
                <a:spcPts val="0"/>
              </a:spcAft>
              <a:buNone/>
            </a:pPr>
            <a:endParaRPr sz="1700"/>
          </a:p>
        </p:txBody>
      </p:sp>
      <p:sp>
        <p:nvSpPr>
          <p:cNvPr id="789" name="Google Shape;789;p88"/>
          <p:cNvSpPr txBox="1"/>
          <p:nvPr/>
        </p:nvSpPr>
        <p:spPr>
          <a:xfrm>
            <a:off x="761400" y="3009034"/>
            <a:ext cx="7621200" cy="4464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GB" sz="1700" b="1">
                <a:solidFill>
                  <a:schemeClr val="accent5"/>
                </a:solidFill>
              </a:rPr>
              <a:t>What probabilities would maximize the objective (minimize the loss)? </a:t>
            </a:r>
            <a:endParaRPr sz="1700" b="1" i="1">
              <a:solidFill>
                <a:schemeClr val="accent5"/>
              </a:solidFill>
              <a:latin typeface="Times New Roman"/>
              <a:ea typeface="Times New Roman"/>
              <a:cs typeface="Times New Roman"/>
              <a:sym typeface="Times New Roman"/>
            </a:endParaRPr>
          </a:p>
        </p:txBody>
      </p:sp>
      <p:sp>
        <p:nvSpPr>
          <p:cNvPr id="790" name="Google Shape;790;p88"/>
          <p:cNvSpPr txBox="1"/>
          <p:nvPr/>
        </p:nvSpPr>
        <p:spPr>
          <a:xfrm>
            <a:off x="3581625" y="3427970"/>
            <a:ext cx="3171000" cy="3462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GB" sz="1800">
                <a:solidFill>
                  <a:srgbClr val="00B0F0"/>
                </a:solidFill>
              </a:rPr>
              <a:t>The empirical distribution</a:t>
            </a:r>
            <a:endParaRPr sz="1800"/>
          </a:p>
        </p:txBody>
      </p:sp>
      <p:sp>
        <p:nvSpPr>
          <p:cNvPr id="791" name="Google Shape;791;p88"/>
          <p:cNvSpPr txBox="1"/>
          <p:nvPr/>
        </p:nvSpPr>
        <p:spPr>
          <a:xfrm>
            <a:off x="3581625" y="3833070"/>
            <a:ext cx="5014200" cy="3309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GB" sz="1700">
                <a:solidFill>
                  <a:schemeClr val="dk1"/>
                </a:solidFill>
              </a:rPr>
              <a:t>#(c,o) is the number of co-occurrences of </a:t>
            </a:r>
            <a:r>
              <a:rPr lang="en-GB" sz="1700" i="1">
                <a:solidFill>
                  <a:schemeClr val="dk1"/>
                </a:solidFill>
                <a:latin typeface="Times New Roman"/>
                <a:ea typeface="Times New Roman"/>
                <a:cs typeface="Times New Roman"/>
                <a:sym typeface="Times New Roman"/>
              </a:rPr>
              <a:t>o</a:t>
            </a:r>
            <a:r>
              <a:rPr lang="en-GB" sz="1700">
                <a:solidFill>
                  <a:schemeClr val="dk1"/>
                </a:solidFill>
              </a:rPr>
              <a:t> and </a:t>
            </a:r>
            <a:r>
              <a:rPr lang="en-GB" sz="1700" i="1">
                <a:solidFill>
                  <a:schemeClr val="dk1"/>
                </a:solidFill>
                <a:latin typeface="Times New Roman"/>
                <a:ea typeface="Times New Roman"/>
                <a:cs typeface="Times New Roman"/>
                <a:sym typeface="Times New Roman"/>
              </a:rPr>
              <a:t>c</a:t>
            </a:r>
            <a:r>
              <a:rPr lang="en-GB" sz="1700">
                <a:solidFill>
                  <a:schemeClr val="dk1"/>
                </a:solidFill>
              </a:rPr>
              <a:t>.</a:t>
            </a:r>
            <a:endParaRPr sz="1700" i="1">
              <a:solidFill>
                <a:schemeClr val="dk1"/>
              </a:solidFill>
              <a:latin typeface="Times New Roman"/>
              <a:ea typeface="Times New Roman"/>
              <a:cs typeface="Times New Roman"/>
              <a:sym typeface="Times New Roman"/>
            </a:endParaRPr>
          </a:p>
        </p:txBody>
      </p:sp>
      <p:pic>
        <p:nvPicPr>
          <p:cNvPr id="792" name="Google Shape;792;p88" descr="p(o|c) = \frac{\#(c,o)}{\sum_{o'} \#(c,o')}" title="MathEquation,#000000"/>
          <p:cNvPicPr preferRelativeResize="0"/>
          <p:nvPr/>
        </p:nvPicPr>
        <p:blipFill>
          <a:blip r:embed="rId4">
            <a:alphaModFix/>
          </a:blip>
          <a:stretch>
            <a:fillRect/>
          </a:stretch>
        </p:blipFill>
        <p:spPr>
          <a:xfrm>
            <a:off x="846600" y="3504158"/>
            <a:ext cx="2287626" cy="580475"/>
          </a:xfrm>
          <a:prstGeom prst="rect">
            <a:avLst/>
          </a:prstGeom>
          <a:noFill/>
          <a:ln>
            <a:noFill/>
          </a:ln>
        </p:spPr>
      </p:pic>
      <p:sp>
        <p:nvSpPr>
          <p:cNvPr id="793" name="Google Shape;793;p88"/>
          <p:cNvSpPr txBox="1"/>
          <p:nvPr/>
        </p:nvSpPr>
        <p:spPr>
          <a:xfrm>
            <a:off x="761400" y="4163984"/>
            <a:ext cx="7621200" cy="7080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GB" sz="1700" b="1">
                <a:solidFill>
                  <a:schemeClr val="accent5"/>
                </a:solidFill>
              </a:rPr>
              <a:t>Why don’t we just choose vectors s.t.          </a:t>
            </a:r>
            <a:r>
              <a:rPr lang="en-GB" sz="1700">
                <a:solidFill>
                  <a:schemeClr val="dk1"/>
                </a:solidFill>
              </a:rPr>
              <a:t>= #(c,o)</a:t>
            </a:r>
            <a:r>
              <a:rPr lang="en-GB" sz="1700" b="1">
                <a:solidFill>
                  <a:schemeClr val="accent5"/>
                </a:solidFill>
              </a:rPr>
              <a:t> instead of learning?</a:t>
            </a:r>
            <a:endParaRPr sz="1700" b="1">
              <a:solidFill>
                <a:schemeClr val="accent5"/>
              </a:solidFill>
            </a:endParaRPr>
          </a:p>
          <a:p>
            <a:pPr marL="0" lvl="0" indent="0" algn="ctr" rtl="0">
              <a:spcBef>
                <a:spcPts val="0"/>
              </a:spcBef>
              <a:spcAft>
                <a:spcPts val="0"/>
              </a:spcAft>
              <a:buNone/>
            </a:pPr>
            <a:endParaRPr sz="1700">
              <a:solidFill>
                <a:schemeClr val="accent5"/>
              </a:solidFill>
            </a:endParaRPr>
          </a:p>
        </p:txBody>
      </p:sp>
      <p:pic>
        <p:nvPicPr>
          <p:cNvPr id="794" name="Google Shape;794;p88" descr="\mathcal{L}(\theta) = \prod_{t=1}^T \prod_{-m\leq j \leq m,\; j\neq 0} p_{\theta} (w_{t+j}|w_t)" title="MathEquation,#000000"/>
          <p:cNvPicPr preferRelativeResize="0"/>
          <p:nvPr/>
        </p:nvPicPr>
        <p:blipFill>
          <a:blip r:embed="rId5">
            <a:alphaModFix/>
          </a:blip>
          <a:stretch>
            <a:fillRect/>
          </a:stretch>
        </p:blipFill>
        <p:spPr>
          <a:xfrm>
            <a:off x="4710113" y="407775"/>
            <a:ext cx="4275926" cy="400875"/>
          </a:xfrm>
          <a:prstGeom prst="rect">
            <a:avLst/>
          </a:prstGeom>
          <a:noFill/>
          <a:ln>
            <a:noFill/>
          </a:ln>
        </p:spPr>
      </p:pic>
      <p:pic>
        <p:nvPicPr>
          <p:cNvPr id="795" name="Google Shape;795;p88" title="Screenshot 2025-10-20 at 7.58.46 PM.png"/>
          <p:cNvPicPr preferRelativeResize="0"/>
          <p:nvPr/>
        </p:nvPicPr>
        <p:blipFill>
          <a:blip r:embed="rId6">
            <a:alphaModFix/>
          </a:blip>
          <a:stretch>
            <a:fillRect/>
          </a:stretch>
        </p:blipFill>
        <p:spPr>
          <a:xfrm>
            <a:off x="4817426" y="4165851"/>
            <a:ext cx="530986" cy="330900"/>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799"/>
        <p:cNvGrpSpPr/>
        <p:nvPr/>
      </p:nvGrpSpPr>
      <p:grpSpPr>
        <a:xfrm>
          <a:off x="0" y="0"/>
          <a:ext cx="0" cy="0"/>
          <a:chOff x="0" y="0"/>
          <a:chExt cx="0" cy="0"/>
        </a:xfrm>
      </p:grpSpPr>
      <p:sp>
        <p:nvSpPr>
          <p:cNvPr id="800" name="Google Shape;800;p89"/>
          <p:cNvSpPr txBox="1">
            <a:spLocks noGrp="1"/>
          </p:cNvSpPr>
          <p:nvPr>
            <p:ph type="title"/>
          </p:nvPr>
        </p:nvSpPr>
        <p:spPr>
          <a:xfrm>
            <a:off x="471488" y="205383"/>
            <a:ext cx="5915100" cy="7458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chemeClr val="dk1"/>
              </a:buClr>
              <a:buSzPts val="3300"/>
              <a:buFont typeface="Century Gothic"/>
              <a:buNone/>
            </a:pPr>
            <a:r>
              <a:rPr lang="en-GB"/>
              <a:t>Word2Vec (Skipgram)</a:t>
            </a:r>
            <a:endParaRPr/>
          </a:p>
        </p:txBody>
      </p:sp>
      <p:sp>
        <p:nvSpPr>
          <p:cNvPr id="801" name="Google Shape;801;p89"/>
          <p:cNvSpPr txBox="1"/>
          <p:nvPr/>
        </p:nvSpPr>
        <p:spPr>
          <a:xfrm>
            <a:off x="1" y="4870133"/>
            <a:ext cx="2689800" cy="2847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GB" sz="1400" u="sng">
                <a:solidFill>
                  <a:schemeClr val="dk1"/>
                </a:solidFill>
                <a:hlinkClick r:id="rId3">
                  <a:extLst>
                    <a:ext uri="{A12FA001-AC4F-418D-AE19-62706E023703}">
                      <ahyp:hlinkClr xmlns:ahyp="http://schemas.microsoft.com/office/drawing/2018/hyperlinkcolor" val="tx"/>
                    </a:ext>
                  </a:extLst>
                </a:hlinkClick>
              </a:rPr>
              <a:t>Mikolov et al., 2013</a:t>
            </a:r>
            <a:endParaRPr sz="1400">
              <a:solidFill>
                <a:schemeClr val="dk1"/>
              </a:solidFill>
            </a:endParaRPr>
          </a:p>
        </p:txBody>
      </p:sp>
      <p:sp>
        <p:nvSpPr>
          <p:cNvPr id="802" name="Google Shape;802;p89"/>
          <p:cNvSpPr txBox="1">
            <a:spLocks noGrp="1"/>
          </p:cNvSpPr>
          <p:nvPr>
            <p:ph type="body" idx="1"/>
          </p:nvPr>
        </p:nvSpPr>
        <p:spPr>
          <a:xfrm>
            <a:off x="471500" y="1026925"/>
            <a:ext cx="7267500" cy="2198700"/>
          </a:xfrm>
          <a:prstGeom prst="rect">
            <a:avLst/>
          </a:prstGeom>
          <a:noFill/>
          <a:ln>
            <a:noFill/>
          </a:ln>
        </p:spPr>
        <p:txBody>
          <a:bodyPr spcFirstLastPara="1" wrap="square" lIns="68575" tIns="34275" rIns="68575" bIns="34275" anchor="t" anchorCtr="0">
            <a:noAutofit/>
          </a:bodyPr>
          <a:lstStyle/>
          <a:p>
            <a:pPr marL="0" lvl="0" indent="0" algn="l" rtl="0">
              <a:lnSpc>
                <a:spcPct val="90000"/>
              </a:lnSpc>
              <a:spcBef>
                <a:spcPts val="0"/>
              </a:spcBef>
              <a:spcAft>
                <a:spcPts val="0"/>
              </a:spcAft>
              <a:buClr>
                <a:schemeClr val="dk1"/>
              </a:buClr>
              <a:buSzPts val="2300"/>
              <a:buNone/>
            </a:pPr>
            <a:r>
              <a:rPr lang="en-GB" sz="1700"/>
              <a:t>TL;DR: predict words from neighboring words</a:t>
            </a:r>
            <a:endParaRPr sz="1700"/>
          </a:p>
          <a:p>
            <a:pPr marL="457200" lvl="0" indent="-336550" algn="l" rtl="0">
              <a:lnSpc>
                <a:spcPct val="150000"/>
              </a:lnSpc>
              <a:spcBef>
                <a:spcPts val="800"/>
              </a:spcBef>
              <a:spcAft>
                <a:spcPts val="0"/>
              </a:spcAft>
              <a:buSzPts val="1700"/>
              <a:buChar char="●"/>
            </a:pPr>
            <a:r>
              <a:rPr lang="en-GB" sz="1700"/>
              <a:t>Define</a:t>
            </a:r>
            <a:r>
              <a:rPr lang="en-GB" sz="1700">
                <a:solidFill>
                  <a:schemeClr val="accent1"/>
                </a:solidFill>
              </a:rPr>
              <a:t> self-supervised</a:t>
            </a:r>
            <a:r>
              <a:rPr lang="en-GB" sz="1700"/>
              <a:t> learning task from raw data:</a:t>
            </a:r>
            <a:endParaRPr sz="1700"/>
          </a:p>
          <a:p>
            <a:pPr marL="914400" lvl="1" indent="-336550" algn="l" rtl="0">
              <a:lnSpc>
                <a:spcPct val="150000"/>
              </a:lnSpc>
              <a:spcBef>
                <a:spcPts val="0"/>
              </a:spcBef>
              <a:spcAft>
                <a:spcPts val="0"/>
              </a:spcAft>
              <a:buSzPts val="1700"/>
              <a:buChar char="○"/>
            </a:pPr>
            <a:r>
              <a:rPr lang="en-GB" sz="1700"/>
              <a:t>Input: “</a:t>
            </a:r>
            <a:r>
              <a:rPr lang="en-GB" sz="1700">
                <a:solidFill>
                  <a:schemeClr val="accent1"/>
                </a:solidFill>
              </a:rPr>
              <a:t>center</a:t>
            </a:r>
            <a:r>
              <a:rPr lang="en-GB" sz="1700"/>
              <a:t>” word, label: “</a:t>
            </a:r>
            <a:r>
              <a:rPr lang="en-GB" sz="1700">
                <a:solidFill>
                  <a:schemeClr val="accent1"/>
                </a:solidFill>
              </a:rPr>
              <a:t>outside</a:t>
            </a:r>
            <a:r>
              <a:rPr lang="en-GB" sz="1700"/>
              <a:t>” (context) word</a:t>
            </a:r>
            <a:endParaRPr sz="1700"/>
          </a:p>
          <a:p>
            <a:pPr marL="457200" lvl="0" indent="-336550" algn="l" rtl="0">
              <a:lnSpc>
                <a:spcPct val="150000"/>
              </a:lnSpc>
              <a:spcBef>
                <a:spcPts val="0"/>
              </a:spcBef>
              <a:spcAft>
                <a:spcPts val="0"/>
              </a:spcAft>
              <a:buSzPts val="1700"/>
              <a:buChar char="●"/>
            </a:pPr>
            <a:r>
              <a:rPr lang="en-GB" sz="1700"/>
              <a:t>Define </a:t>
            </a:r>
            <a:r>
              <a:rPr lang="en-GB" sz="1700">
                <a:solidFill>
                  <a:schemeClr val="accent1"/>
                </a:solidFill>
              </a:rPr>
              <a:t>model</a:t>
            </a:r>
            <a:r>
              <a:rPr lang="en-GB" sz="1700"/>
              <a:t> for predicting label from input:</a:t>
            </a:r>
            <a:endParaRPr sz="1700"/>
          </a:p>
          <a:p>
            <a:pPr marL="457200" lvl="0" indent="-336550" algn="l" rtl="0">
              <a:spcBef>
                <a:spcPts val="0"/>
              </a:spcBef>
              <a:spcAft>
                <a:spcPts val="0"/>
              </a:spcAft>
              <a:buSzPts val="1700"/>
              <a:buChar char="●"/>
            </a:pPr>
            <a:r>
              <a:rPr lang="en-GB" sz="1700"/>
              <a:t>Define </a:t>
            </a:r>
            <a:r>
              <a:rPr lang="en-GB" sz="1700">
                <a:solidFill>
                  <a:schemeClr val="accent1"/>
                </a:solidFill>
              </a:rPr>
              <a:t>objective function</a:t>
            </a:r>
            <a:r>
              <a:rPr lang="en-GB" sz="1700"/>
              <a:t> for corpus of length </a:t>
            </a:r>
            <a:r>
              <a:rPr lang="en-GB" sz="1700" i="1">
                <a:solidFill>
                  <a:srgbClr val="00B0F0"/>
                </a:solidFill>
                <a:latin typeface="Times New Roman"/>
                <a:ea typeface="Times New Roman"/>
                <a:cs typeface="Times New Roman"/>
                <a:sym typeface="Times New Roman"/>
              </a:rPr>
              <a:t>T</a:t>
            </a:r>
            <a:r>
              <a:rPr lang="en-GB" sz="1700"/>
              <a:t> and window </a:t>
            </a:r>
            <a:r>
              <a:rPr lang="en-GB" sz="1700" i="1">
                <a:solidFill>
                  <a:srgbClr val="00B0F0"/>
                </a:solidFill>
                <a:latin typeface="Times New Roman"/>
                <a:ea typeface="Times New Roman"/>
                <a:cs typeface="Times New Roman"/>
                <a:sym typeface="Times New Roman"/>
              </a:rPr>
              <a:t>m</a:t>
            </a:r>
            <a:endParaRPr sz="1700" i="1">
              <a:solidFill>
                <a:srgbClr val="00B0F0"/>
              </a:solidFill>
              <a:latin typeface="Times New Roman"/>
              <a:ea typeface="Times New Roman"/>
              <a:cs typeface="Times New Roman"/>
              <a:sym typeface="Times New Roman"/>
            </a:endParaRPr>
          </a:p>
          <a:p>
            <a:pPr marL="457200" lvl="0" indent="0" algn="l" rtl="0">
              <a:lnSpc>
                <a:spcPct val="150000"/>
              </a:lnSpc>
              <a:spcBef>
                <a:spcPts val="800"/>
              </a:spcBef>
              <a:spcAft>
                <a:spcPts val="0"/>
              </a:spcAft>
              <a:buNone/>
            </a:pPr>
            <a:endParaRPr sz="1700"/>
          </a:p>
        </p:txBody>
      </p:sp>
      <p:sp>
        <p:nvSpPr>
          <p:cNvPr id="803" name="Google Shape;803;p89"/>
          <p:cNvSpPr txBox="1"/>
          <p:nvPr/>
        </p:nvSpPr>
        <p:spPr>
          <a:xfrm>
            <a:off x="761400" y="3009034"/>
            <a:ext cx="7621200" cy="4464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GB" sz="1700" b="1">
                <a:solidFill>
                  <a:schemeClr val="accent5"/>
                </a:solidFill>
              </a:rPr>
              <a:t>What probabilities would maximize the objective (minimize the loss)? </a:t>
            </a:r>
            <a:endParaRPr sz="1700" b="1" i="1">
              <a:solidFill>
                <a:schemeClr val="accent5"/>
              </a:solidFill>
              <a:latin typeface="Times New Roman"/>
              <a:ea typeface="Times New Roman"/>
              <a:cs typeface="Times New Roman"/>
              <a:sym typeface="Times New Roman"/>
            </a:endParaRPr>
          </a:p>
        </p:txBody>
      </p:sp>
      <p:sp>
        <p:nvSpPr>
          <p:cNvPr id="804" name="Google Shape;804;p89"/>
          <p:cNvSpPr txBox="1"/>
          <p:nvPr/>
        </p:nvSpPr>
        <p:spPr>
          <a:xfrm>
            <a:off x="3581625" y="3427970"/>
            <a:ext cx="3171000" cy="3462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GB" sz="1800">
                <a:solidFill>
                  <a:srgbClr val="00B0F0"/>
                </a:solidFill>
              </a:rPr>
              <a:t>The empirical distribution</a:t>
            </a:r>
            <a:endParaRPr sz="1800"/>
          </a:p>
        </p:txBody>
      </p:sp>
      <p:sp>
        <p:nvSpPr>
          <p:cNvPr id="805" name="Google Shape;805;p89"/>
          <p:cNvSpPr txBox="1"/>
          <p:nvPr/>
        </p:nvSpPr>
        <p:spPr>
          <a:xfrm>
            <a:off x="3581625" y="3833070"/>
            <a:ext cx="5014200" cy="3309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GB" sz="1700">
                <a:solidFill>
                  <a:schemeClr val="dk1"/>
                </a:solidFill>
              </a:rPr>
              <a:t>#(c,o) is the number of co-occurrences of </a:t>
            </a:r>
            <a:r>
              <a:rPr lang="en-GB" sz="1700" i="1">
                <a:solidFill>
                  <a:schemeClr val="dk1"/>
                </a:solidFill>
                <a:latin typeface="Times New Roman"/>
                <a:ea typeface="Times New Roman"/>
                <a:cs typeface="Times New Roman"/>
                <a:sym typeface="Times New Roman"/>
              </a:rPr>
              <a:t>o</a:t>
            </a:r>
            <a:r>
              <a:rPr lang="en-GB" sz="1700">
                <a:solidFill>
                  <a:schemeClr val="dk1"/>
                </a:solidFill>
              </a:rPr>
              <a:t> and </a:t>
            </a:r>
            <a:r>
              <a:rPr lang="en-GB" sz="1700" i="1">
                <a:solidFill>
                  <a:schemeClr val="dk1"/>
                </a:solidFill>
                <a:latin typeface="Times New Roman"/>
                <a:ea typeface="Times New Roman"/>
                <a:cs typeface="Times New Roman"/>
                <a:sym typeface="Times New Roman"/>
              </a:rPr>
              <a:t>c</a:t>
            </a:r>
            <a:r>
              <a:rPr lang="en-GB" sz="1700">
                <a:solidFill>
                  <a:schemeClr val="dk1"/>
                </a:solidFill>
              </a:rPr>
              <a:t>.</a:t>
            </a:r>
            <a:endParaRPr sz="1700" i="1">
              <a:solidFill>
                <a:schemeClr val="dk1"/>
              </a:solidFill>
              <a:latin typeface="Times New Roman"/>
              <a:ea typeface="Times New Roman"/>
              <a:cs typeface="Times New Roman"/>
              <a:sym typeface="Times New Roman"/>
            </a:endParaRPr>
          </a:p>
        </p:txBody>
      </p:sp>
      <p:pic>
        <p:nvPicPr>
          <p:cNvPr id="806" name="Google Shape;806;p89" descr="p(o|c) = \frac{\#(c,o)}{\sum_{o'} \#(c,o')}" title="MathEquation,#000000"/>
          <p:cNvPicPr preferRelativeResize="0"/>
          <p:nvPr/>
        </p:nvPicPr>
        <p:blipFill>
          <a:blip r:embed="rId4">
            <a:alphaModFix/>
          </a:blip>
          <a:stretch>
            <a:fillRect/>
          </a:stretch>
        </p:blipFill>
        <p:spPr>
          <a:xfrm>
            <a:off x="846600" y="3504158"/>
            <a:ext cx="2287626" cy="580475"/>
          </a:xfrm>
          <a:prstGeom prst="rect">
            <a:avLst/>
          </a:prstGeom>
          <a:noFill/>
          <a:ln>
            <a:noFill/>
          </a:ln>
        </p:spPr>
      </p:pic>
      <p:sp>
        <p:nvSpPr>
          <p:cNvPr id="807" name="Google Shape;807;p89"/>
          <p:cNvSpPr txBox="1"/>
          <p:nvPr/>
        </p:nvSpPr>
        <p:spPr>
          <a:xfrm>
            <a:off x="761400" y="4163984"/>
            <a:ext cx="7621200" cy="7080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GB" sz="1700" b="1">
                <a:solidFill>
                  <a:schemeClr val="accent5"/>
                </a:solidFill>
              </a:rPr>
              <a:t>Why don’t we just choose vectors s.t.          </a:t>
            </a:r>
            <a:r>
              <a:rPr lang="en-GB" sz="1700">
                <a:solidFill>
                  <a:schemeClr val="dk1"/>
                </a:solidFill>
              </a:rPr>
              <a:t>= #(c,o)</a:t>
            </a:r>
            <a:r>
              <a:rPr lang="en-GB" sz="1700" b="1">
                <a:solidFill>
                  <a:schemeClr val="accent5"/>
                </a:solidFill>
              </a:rPr>
              <a:t> instead of learning?</a:t>
            </a:r>
            <a:endParaRPr sz="1700" b="1">
              <a:solidFill>
                <a:schemeClr val="accent5"/>
              </a:solidFill>
            </a:endParaRPr>
          </a:p>
          <a:p>
            <a:pPr marL="0" lvl="0" indent="0" algn="ctr" rtl="0">
              <a:spcBef>
                <a:spcPts val="0"/>
              </a:spcBef>
              <a:spcAft>
                <a:spcPts val="0"/>
              </a:spcAft>
              <a:buNone/>
            </a:pPr>
            <a:r>
              <a:rPr lang="en-GB" sz="1700" b="1">
                <a:solidFill>
                  <a:schemeClr val="accent5"/>
                </a:solidFill>
              </a:rPr>
              <a:t>Do such vectors exist? </a:t>
            </a:r>
            <a:r>
              <a:rPr lang="en-GB" sz="1700">
                <a:solidFill>
                  <a:schemeClr val="accent5"/>
                </a:solidFill>
              </a:rPr>
              <a:t>(Hint: the answer is “it depends” - on what?)</a:t>
            </a:r>
            <a:endParaRPr sz="1700">
              <a:solidFill>
                <a:schemeClr val="accent5"/>
              </a:solidFill>
            </a:endParaRPr>
          </a:p>
        </p:txBody>
      </p:sp>
      <p:pic>
        <p:nvPicPr>
          <p:cNvPr id="808" name="Google Shape;808;p89" descr="\mathcal{L}(\theta) = \prod_{t=1}^T \prod_{-m\leq j \leq m,\; j\neq 0} p_{\theta} (w_{t+j}|w_t)" title="MathEquation,#000000"/>
          <p:cNvPicPr preferRelativeResize="0"/>
          <p:nvPr/>
        </p:nvPicPr>
        <p:blipFill>
          <a:blip r:embed="rId5">
            <a:alphaModFix/>
          </a:blip>
          <a:stretch>
            <a:fillRect/>
          </a:stretch>
        </p:blipFill>
        <p:spPr>
          <a:xfrm>
            <a:off x="4710113" y="407775"/>
            <a:ext cx="4275926" cy="400875"/>
          </a:xfrm>
          <a:prstGeom prst="rect">
            <a:avLst/>
          </a:prstGeom>
          <a:noFill/>
          <a:ln>
            <a:noFill/>
          </a:ln>
        </p:spPr>
      </p:pic>
      <p:pic>
        <p:nvPicPr>
          <p:cNvPr id="809" name="Google Shape;809;p89" title="Screenshot 2025-10-20 at 7.58.46 PM.png"/>
          <p:cNvPicPr preferRelativeResize="0"/>
          <p:nvPr/>
        </p:nvPicPr>
        <p:blipFill>
          <a:blip r:embed="rId6">
            <a:alphaModFix/>
          </a:blip>
          <a:stretch>
            <a:fillRect/>
          </a:stretch>
        </p:blipFill>
        <p:spPr>
          <a:xfrm>
            <a:off x="4817426" y="4165851"/>
            <a:ext cx="530986" cy="330900"/>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21"/>
        <p:cNvGrpSpPr/>
        <p:nvPr/>
      </p:nvGrpSpPr>
      <p:grpSpPr>
        <a:xfrm>
          <a:off x="0" y="0"/>
          <a:ext cx="0" cy="0"/>
          <a:chOff x="0" y="0"/>
          <a:chExt cx="0" cy="0"/>
        </a:xfrm>
      </p:grpSpPr>
      <p:sp>
        <p:nvSpPr>
          <p:cNvPr id="323" name="Google Shape;323;p34"/>
          <p:cNvSpPr txBox="1">
            <a:spLocks noGrp="1"/>
          </p:cNvSpPr>
          <p:nvPr>
            <p:ph type="title"/>
          </p:nvPr>
        </p:nvSpPr>
        <p:spPr>
          <a:xfrm>
            <a:off x="471500" y="205375"/>
            <a:ext cx="8081400" cy="7458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chemeClr val="dk1"/>
              </a:buClr>
              <a:buSzPts val="3300"/>
              <a:buFont typeface="Century Gothic"/>
              <a:buNone/>
            </a:pPr>
            <a:r>
              <a:rPr lang="en-GB"/>
              <a:t>Skipgram vs. Co-occurrence Matrix</a:t>
            </a:r>
            <a:endParaRPr/>
          </a:p>
        </p:txBody>
      </p:sp>
      <p:sp>
        <p:nvSpPr>
          <p:cNvPr id="324" name="Google Shape;324;p34"/>
          <p:cNvSpPr txBox="1">
            <a:spLocks noGrp="1"/>
          </p:cNvSpPr>
          <p:nvPr>
            <p:ph type="body" idx="1"/>
          </p:nvPr>
        </p:nvSpPr>
        <p:spPr>
          <a:xfrm>
            <a:off x="471500" y="1103125"/>
            <a:ext cx="8204100" cy="3870300"/>
          </a:xfrm>
          <a:prstGeom prst="rect">
            <a:avLst/>
          </a:prstGeom>
          <a:noFill/>
          <a:ln>
            <a:noFill/>
          </a:ln>
        </p:spPr>
        <p:txBody>
          <a:bodyPr spcFirstLastPara="1" wrap="square" lIns="68575" tIns="34275" rIns="68575" bIns="34275" anchor="t" anchorCtr="0">
            <a:normAutofit/>
          </a:bodyPr>
          <a:lstStyle/>
          <a:p>
            <a:pPr marL="457200" lvl="0" indent="-342900" algn="l" rtl="0">
              <a:lnSpc>
                <a:spcPct val="150000"/>
              </a:lnSpc>
              <a:spcBef>
                <a:spcPts val="0"/>
              </a:spcBef>
              <a:spcAft>
                <a:spcPts val="0"/>
              </a:spcAft>
              <a:buSzPts val="1800"/>
              <a:buChar char="●"/>
            </a:pPr>
            <a:r>
              <a:rPr lang="en-GB" dirty="0"/>
              <a:t>The NLL loss is minimized when the model probabilities are equal to the empirical probabilities in our corpus:</a:t>
            </a:r>
            <a:endParaRPr dirty="0"/>
          </a:p>
          <a:p>
            <a:pPr marL="457200" lvl="0" indent="-342900" algn="l" rtl="0">
              <a:lnSpc>
                <a:spcPct val="150000"/>
              </a:lnSpc>
              <a:spcBef>
                <a:spcPts val="0"/>
              </a:spcBef>
              <a:spcAft>
                <a:spcPts val="0"/>
              </a:spcAft>
              <a:buSzPts val="1800"/>
              <a:buChar char="●"/>
            </a:pPr>
            <a:r>
              <a:rPr lang="en-GB" dirty="0"/>
              <a:t>If the dimension </a:t>
            </a:r>
            <a:r>
              <a:rPr lang="en-GB" b="1" i="1" dirty="0">
                <a:solidFill>
                  <a:schemeClr val="accent5"/>
                </a:solidFill>
              </a:rPr>
              <a:t>d</a:t>
            </a:r>
            <a:r>
              <a:rPr lang="en-GB" dirty="0"/>
              <a:t> is equal to the vocabulary size, we can achieve this by simply setting:</a:t>
            </a:r>
            <a:endParaRPr dirty="0"/>
          </a:p>
          <a:p>
            <a:pPr marL="914400" lvl="1" indent="-342900" algn="l" rtl="0">
              <a:lnSpc>
                <a:spcPct val="150000"/>
              </a:lnSpc>
              <a:spcBef>
                <a:spcPts val="0"/>
              </a:spcBef>
              <a:spcAft>
                <a:spcPts val="0"/>
              </a:spcAft>
              <a:buSzPts val="1800"/>
              <a:buChar char="○"/>
            </a:pPr>
            <a:r>
              <a:rPr lang="en-GB" b="1" dirty="0"/>
              <a:t>V</a:t>
            </a:r>
            <a:r>
              <a:rPr lang="en-GB" dirty="0"/>
              <a:t> = log-co-occurrence matrix</a:t>
            </a:r>
            <a:endParaRPr dirty="0"/>
          </a:p>
          <a:p>
            <a:pPr marL="914400" lvl="1" indent="-342900" algn="l" rtl="0">
              <a:lnSpc>
                <a:spcPct val="150000"/>
              </a:lnSpc>
              <a:spcBef>
                <a:spcPts val="0"/>
              </a:spcBef>
              <a:spcAft>
                <a:spcPts val="0"/>
              </a:spcAft>
              <a:buSzPts val="1800"/>
              <a:buChar char="○"/>
            </a:pPr>
            <a:r>
              <a:rPr lang="en-GB" b="1" dirty="0"/>
              <a:t>U</a:t>
            </a:r>
            <a:r>
              <a:rPr lang="en-GB" dirty="0"/>
              <a:t> = unit matrix</a:t>
            </a:r>
            <a:endParaRPr dirty="0"/>
          </a:p>
          <a:p>
            <a:pPr marL="457200" lvl="0" indent="-342900" algn="l" rtl="0">
              <a:lnSpc>
                <a:spcPct val="150000"/>
              </a:lnSpc>
              <a:spcBef>
                <a:spcPts val="0"/>
              </a:spcBef>
              <a:spcAft>
                <a:spcPts val="0"/>
              </a:spcAft>
              <a:buSzPts val="1800"/>
              <a:buChar char="●"/>
            </a:pPr>
            <a:r>
              <a:rPr lang="en-GB" dirty="0"/>
              <a:t>Hence: </a:t>
            </a:r>
            <a:endParaRPr dirty="0"/>
          </a:p>
          <a:p>
            <a:pPr marL="914400" lvl="1" indent="-342900" algn="l" rtl="0">
              <a:lnSpc>
                <a:spcPct val="150000"/>
              </a:lnSpc>
              <a:spcBef>
                <a:spcPts val="0"/>
              </a:spcBef>
              <a:spcAft>
                <a:spcPts val="0"/>
              </a:spcAft>
              <a:buSzPts val="1800"/>
              <a:buChar char="○"/>
            </a:pPr>
            <a:r>
              <a:rPr lang="en-GB" dirty="0" err="1"/>
              <a:t>Skipgram</a:t>
            </a:r>
            <a:r>
              <a:rPr lang="en-GB" dirty="0"/>
              <a:t> with </a:t>
            </a:r>
            <a:r>
              <a:rPr lang="en-GB" b="1" i="1" dirty="0">
                <a:solidFill>
                  <a:schemeClr val="accent5"/>
                </a:solidFill>
              </a:rPr>
              <a:t>d = |Vocab|</a:t>
            </a:r>
            <a:r>
              <a:rPr lang="en-GB" dirty="0"/>
              <a:t> reduces to co-occurrence matrix</a:t>
            </a:r>
            <a:endParaRPr dirty="0"/>
          </a:p>
          <a:p>
            <a:pPr marL="914400" lvl="1" indent="-342900" algn="l" rtl="0">
              <a:lnSpc>
                <a:spcPct val="150000"/>
              </a:lnSpc>
              <a:spcBef>
                <a:spcPts val="0"/>
              </a:spcBef>
              <a:spcAft>
                <a:spcPts val="0"/>
              </a:spcAft>
              <a:buSzPts val="1800"/>
              <a:buChar char="○"/>
            </a:pPr>
            <a:r>
              <a:rPr lang="en-GB" dirty="0" err="1"/>
              <a:t>Skipgram</a:t>
            </a:r>
            <a:r>
              <a:rPr lang="en-GB" dirty="0"/>
              <a:t> with </a:t>
            </a:r>
            <a:r>
              <a:rPr lang="en-GB" b="1" i="1" dirty="0">
                <a:solidFill>
                  <a:schemeClr val="accent5"/>
                </a:solidFill>
              </a:rPr>
              <a:t>d &lt;&lt; |Vocab|</a:t>
            </a:r>
            <a:r>
              <a:rPr lang="en-GB" dirty="0"/>
              <a:t> acts as </a:t>
            </a:r>
            <a:r>
              <a:rPr lang="en-GB" b="1" dirty="0"/>
              <a:t>regularization</a:t>
            </a:r>
            <a:endParaRPr b="1" dirty="0"/>
          </a:p>
        </p:txBody>
      </p:sp>
      <p:pic>
        <p:nvPicPr>
          <p:cNvPr id="325" name="Google Shape;325;p34" descr="p(o|c) = \frac{\#(c,o)}{\sum_{o'} \#(c,o')}" title="MathEquation,#000000"/>
          <p:cNvPicPr preferRelativeResize="0"/>
          <p:nvPr/>
        </p:nvPicPr>
        <p:blipFill>
          <a:blip r:embed="rId3">
            <a:alphaModFix/>
          </a:blip>
          <a:stretch>
            <a:fillRect/>
          </a:stretch>
        </p:blipFill>
        <p:spPr>
          <a:xfrm>
            <a:off x="4738375" y="1501985"/>
            <a:ext cx="2287626" cy="580475"/>
          </a:xfrm>
          <a:prstGeom prst="rect">
            <a:avLst/>
          </a:prstGeom>
          <a:noFill/>
          <a:ln>
            <a:noFill/>
          </a:ln>
        </p:spPr>
      </p:pic>
    </p:spTree>
    <p:extLst>
      <p:ext uri="{BB962C8B-B14F-4D97-AF65-F5344CB8AC3E}">
        <p14:creationId xmlns:p14="http://schemas.microsoft.com/office/powerpoint/2010/main" val="198434936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30"/>
        <p:cNvGrpSpPr/>
        <p:nvPr/>
      </p:nvGrpSpPr>
      <p:grpSpPr>
        <a:xfrm>
          <a:off x="0" y="0"/>
          <a:ext cx="0" cy="0"/>
          <a:chOff x="0" y="0"/>
          <a:chExt cx="0" cy="0"/>
        </a:xfrm>
      </p:grpSpPr>
      <p:sp>
        <p:nvSpPr>
          <p:cNvPr id="331" name="Google Shape;331;p35"/>
          <p:cNvSpPr txBox="1">
            <a:spLocks noGrp="1"/>
          </p:cNvSpPr>
          <p:nvPr>
            <p:ph type="title"/>
          </p:nvPr>
        </p:nvSpPr>
        <p:spPr>
          <a:xfrm>
            <a:off x="471500" y="205375"/>
            <a:ext cx="8081400" cy="7458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chemeClr val="dk1"/>
              </a:buClr>
              <a:buSzPts val="3300"/>
              <a:buFont typeface="Century Gothic"/>
              <a:buNone/>
            </a:pPr>
            <a:r>
              <a:rPr lang="en-GB"/>
              <a:t>Skipgram: Additional Points</a:t>
            </a:r>
            <a:endParaRPr/>
          </a:p>
        </p:txBody>
      </p:sp>
      <p:sp>
        <p:nvSpPr>
          <p:cNvPr id="332" name="Google Shape;332;p35"/>
          <p:cNvSpPr txBox="1">
            <a:spLocks noGrp="1"/>
          </p:cNvSpPr>
          <p:nvPr>
            <p:ph type="body" idx="1"/>
          </p:nvPr>
        </p:nvSpPr>
        <p:spPr>
          <a:xfrm>
            <a:off x="471500" y="1103125"/>
            <a:ext cx="8204100" cy="3870300"/>
          </a:xfrm>
          <a:prstGeom prst="rect">
            <a:avLst/>
          </a:prstGeom>
          <a:noFill/>
          <a:ln>
            <a:noFill/>
          </a:ln>
        </p:spPr>
        <p:txBody>
          <a:bodyPr spcFirstLastPara="1" wrap="square" lIns="68575" tIns="34275" rIns="68575" bIns="34275" anchor="t" anchorCtr="0">
            <a:normAutofit/>
          </a:bodyPr>
          <a:lstStyle/>
          <a:p>
            <a:pPr marL="457200" lvl="0" indent="-368300" algn="l" rtl="0">
              <a:lnSpc>
                <a:spcPct val="150000"/>
              </a:lnSpc>
              <a:spcBef>
                <a:spcPts val="0"/>
              </a:spcBef>
              <a:spcAft>
                <a:spcPts val="0"/>
              </a:spcAft>
              <a:buSzPts val="2200"/>
              <a:buChar char="●"/>
            </a:pPr>
            <a:r>
              <a:rPr lang="en-GB" sz="2200"/>
              <a:t>What dimension </a:t>
            </a:r>
            <a:r>
              <a:rPr lang="en-GB" sz="2200" b="1" i="1">
                <a:solidFill>
                  <a:schemeClr val="accent5"/>
                </a:solidFill>
              </a:rPr>
              <a:t>d</a:t>
            </a:r>
            <a:r>
              <a:rPr lang="en-GB" sz="2200"/>
              <a:t> do we actually choose?</a:t>
            </a:r>
            <a:endParaRPr sz="2200"/>
          </a:p>
          <a:p>
            <a:pPr marL="0" lvl="0" indent="0" algn="l" rtl="0">
              <a:lnSpc>
                <a:spcPct val="150000"/>
              </a:lnSpc>
              <a:spcBef>
                <a:spcPts val="0"/>
              </a:spcBef>
              <a:spcAft>
                <a:spcPts val="0"/>
              </a:spcAft>
              <a:buNone/>
            </a:pPr>
            <a:endParaRPr sz="2200"/>
          </a:p>
          <a:p>
            <a:pPr marL="0" lvl="0" indent="0" algn="l" rtl="0">
              <a:lnSpc>
                <a:spcPct val="150000"/>
              </a:lnSpc>
              <a:spcBef>
                <a:spcPts val="0"/>
              </a:spcBef>
              <a:spcAft>
                <a:spcPts val="0"/>
              </a:spcAft>
              <a:buNone/>
            </a:pPr>
            <a:r>
              <a:rPr lang="en-GB" sz="2200"/>
              <a:t>	</a:t>
            </a:r>
            <a:endParaRPr sz="2200"/>
          </a:p>
        </p:txBody>
      </p:sp>
      <p:sp>
        <p:nvSpPr>
          <p:cNvPr id="333" name="Google Shape;333;p35"/>
          <p:cNvSpPr txBox="1"/>
          <p:nvPr/>
        </p:nvSpPr>
        <p:spPr>
          <a:xfrm>
            <a:off x="2256324" y="2281987"/>
            <a:ext cx="1937400" cy="677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endParaRPr sz="3200" i="1">
              <a:solidFill>
                <a:srgbClr val="1155CC"/>
              </a:solidFill>
            </a:endParaRPr>
          </a:p>
        </p:txBody>
      </p:sp>
    </p:spTree>
    <p:extLst>
      <p:ext uri="{BB962C8B-B14F-4D97-AF65-F5344CB8AC3E}">
        <p14:creationId xmlns:p14="http://schemas.microsoft.com/office/powerpoint/2010/main" val="50702557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38"/>
        <p:cNvGrpSpPr/>
        <p:nvPr/>
      </p:nvGrpSpPr>
      <p:grpSpPr>
        <a:xfrm>
          <a:off x="0" y="0"/>
          <a:ext cx="0" cy="0"/>
          <a:chOff x="0" y="0"/>
          <a:chExt cx="0" cy="0"/>
        </a:xfrm>
      </p:grpSpPr>
      <p:sp>
        <p:nvSpPr>
          <p:cNvPr id="339" name="Google Shape;339;p36"/>
          <p:cNvSpPr txBox="1">
            <a:spLocks noGrp="1"/>
          </p:cNvSpPr>
          <p:nvPr>
            <p:ph type="title"/>
          </p:nvPr>
        </p:nvSpPr>
        <p:spPr>
          <a:xfrm>
            <a:off x="471500" y="205375"/>
            <a:ext cx="8081400" cy="7458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chemeClr val="dk1"/>
              </a:buClr>
              <a:buSzPts val="3300"/>
              <a:buFont typeface="Century Gothic"/>
              <a:buNone/>
            </a:pPr>
            <a:r>
              <a:rPr lang="en-GB"/>
              <a:t>Skipgram: Additional Points</a:t>
            </a:r>
            <a:endParaRPr/>
          </a:p>
        </p:txBody>
      </p:sp>
      <p:sp>
        <p:nvSpPr>
          <p:cNvPr id="340" name="Google Shape;340;p36"/>
          <p:cNvSpPr txBox="1">
            <a:spLocks noGrp="1"/>
          </p:cNvSpPr>
          <p:nvPr>
            <p:ph type="body" idx="1"/>
          </p:nvPr>
        </p:nvSpPr>
        <p:spPr>
          <a:xfrm>
            <a:off x="471500" y="1103125"/>
            <a:ext cx="8204100" cy="3870300"/>
          </a:xfrm>
          <a:prstGeom prst="rect">
            <a:avLst/>
          </a:prstGeom>
          <a:noFill/>
          <a:ln>
            <a:noFill/>
          </a:ln>
        </p:spPr>
        <p:txBody>
          <a:bodyPr spcFirstLastPara="1" wrap="square" lIns="68575" tIns="34275" rIns="68575" bIns="34275" anchor="t" anchorCtr="0">
            <a:normAutofit/>
          </a:bodyPr>
          <a:lstStyle/>
          <a:p>
            <a:pPr marL="457200" lvl="0" indent="-368300" algn="l" rtl="0">
              <a:lnSpc>
                <a:spcPct val="150000"/>
              </a:lnSpc>
              <a:spcBef>
                <a:spcPts val="0"/>
              </a:spcBef>
              <a:spcAft>
                <a:spcPts val="0"/>
              </a:spcAft>
              <a:buSzPts val="2200"/>
              <a:buChar char="●"/>
            </a:pPr>
            <a:r>
              <a:rPr lang="en-GB" sz="2200" dirty="0"/>
              <a:t>What dimension </a:t>
            </a:r>
            <a:r>
              <a:rPr lang="en-GB" sz="2200" b="1" i="1" dirty="0">
                <a:solidFill>
                  <a:schemeClr val="accent5"/>
                </a:solidFill>
              </a:rPr>
              <a:t>d</a:t>
            </a:r>
            <a:r>
              <a:rPr lang="en-GB" sz="2200" dirty="0"/>
              <a:t> do we actually choose?</a:t>
            </a:r>
            <a:endParaRPr sz="2200" dirty="0"/>
          </a:p>
          <a:p>
            <a:pPr lvl="0" indent="-368300">
              <a:spcBef>
                <a:spcPts val="0"/>
              </a:spcBef>
              <a:buSzPts val="2200"/>
            </a:pPr>
            <a:r>
              <a:rPr lang="en-GB" sz="2200" dirty="0"/>
              <a:t> Why have two vectors per word, </a:t>
            </a:r>
            <a:r>
              <a:rPr lang="en-GB" sz="2200" b="1" dirty="0"/>
              <a:t>V</a:t>
            </a:r>
            <a:r>
              <a:rPr lang="en-GB" sz="2200" dirty="0"/>
              <a:t> and </a:t>
            </a:r>
            <a:r>
              <a:rPr lang="en-GB" sz="2200" b="1" dirty="0"/>
              <a:t>U</a:t>
            </a:r>
            <a:r>
              <a:rPr lang="en-GB" sz="2200" dirty="0"/>
              <a:t>, not just one?</a:t>
            </a:r>
          </a:p>
          <a:p>
            <a:pPr marL="0" lvl="0" indent="0" algn="l" rtl="0">
              <a:lnSpc>
                <a:spcPct val="150000"/>
              </a:lnSpc>
              <a:spcBef>
                <a:spcPts val="0"/>
              </a:spcBef>
              <a:spcAft>
                <a:spcPts val="0"/>
              </a:spcAft>
              <a:buNone/>
            </a:pPr>
            <a:endParaRPr sz="2200" dirty="0"/>
          </a:p>
          <a:p>
            <a:pPr marL="0" lvl="0" indent="0" algn="l" rtl="0">
              <a:lnSpc>
                <a:spcPct val="150000"/>
              </a:lnSpc>
              <a:spcBef>
                <a:spcPts val="0"/>
              </a:spcBef>
              <a:spcAft>
                <a:spcPts val="0"/>
              </a:spcAft>
              <a:buNone/>
            </a:pPr>
            <a:r>
              <a:rPr lang="en-GB" sz="2200" dirty="0"/>
              <a:t>	</a:t>
            </a:r>
            <a:endParaRPr sz="2200" dirty="0"/>
          </a:p>
        </p:txBody>
      </p:sp>
      <p:sp>
        <p:nvSpPr>
          <p:cNvPr id="341" name="Google Shape;341;p36"/>
          <p:cNvSpPr txBox="1"/>
          <p:nvPr/>
        </p:nvSpPr>
        <p:spPr>
          <a:xfrm>
            <a:off x="2256324" y="2281987"/>
            <a:ext cx="1937400" cy="677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endParaRPr sz="3200" i="1">
              <a:solidFill>
                <a:srgbClr val="1155CC"/>
              </a:solidFill>
            </a:endParaRPr>
          </a:p>
        </p:txBody>
      </p:sp>
    </p:spTree>
    <p:extLst>
      <p:ext uri="{BB962C8B-B14F-4D97-AF65-F5344CB8AC3E}">
        <p14:creationId xmlns:p14="http://schemas.microsoft.com/office/powerpoint/2010/main" val="373278340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46"/>
        <p:cNvGrpSpPr/>
        <p:nvPr/>
      </p:nvGrpSpPr>
      <p:grpSpPr>
        <a:xfrm>
          <a:off x="0" y="0"/>
          <a:ext cx="0" cy="0"/>
          <a:chOff x="0" y="0"/>
          <a:chExt cx="0" cy="0"/>
        </a:xfrm>
      </p:grpSpPr>
      <p:sp>
        <p:nvSpPr>
          <p:cNvPr id="347" name="Google Shape;347;p37"/>
          <p:cNvSpPr txBox="1">
            <a:spLocks noGrp="1"/>
          </p:cNvSpPr>
          <p:nvPr>
            <p:ph type="title"/>
          </p:nvPr>
        </p:nvSpPr>
        <p:spPr>
          <a:xfrm>
            <a:off x="471500" y="205375"/>
            <a:ext cx="8081400" cy="7458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chemeClr val="dk1"/>
              </a:buClr>
              <a:buSzPts val="3300"/>
              <a:buFont typeface="Century Gothic"/>
              <a:buNone/>
            </a:pPr>
            <a:r>
              <a:rPr lang="en-GB"/>
              <a:t>Skipgram: Additional Points</a:t>
            </a:r>
            <a:endParaRPr/>
          </a:p>
        </p:txBody>
      </p:sp>
      <p:sp>
        <p:nvSpPr>
          <p:cNvPr id="348" name="Google Shape;348;p37"/>
          <p:cNvSpPr txBox="1">
            <a:spLocks noGrp="1"/>
          </p:cNvSpPr>
          <p:nvPr>
            <p:ph type="body" idx="1"/>
          </p:nvPr>
        </p:nvSpPr>
        <p:spPr>
          <a:xfrm>
            <a:off x="471500" y="1103125"/>
            <a:ext cx="8204100" cy="3870300"/>
          </a:xfrm>
          <a:prstGeom prst="rect">
            <a:avLst/>
          </a:prstGeom>
          <a:noFill/>
          <a:ln>
            <a:noFill/>
          </a:ln>
        </p:spPr>
        <p:txBody>
          <a:bodyPr spcFirstLastPara="1" wrap="square" lIns="68575" tIns="34275" rIns="68575" bIns="34275" anchor="t" anchorCtr="0">
            <a:normAutofit/>
          </a:bodyPr>
          <a:lstStyle/>
          <a:p>
            <a:pPr marL="457200" lvl="0" indent="-368300" algn="l" rtl="0">
              <a:lnSpc>
                <a:spcPct val="150000"/>
              </a:lnSpc>
              <a:spcBef>
                <a:spcPts val="0"/>
              </a:spcBef>
              <a:spcAft>
                <a:spcPts val="0"/>
              </a:spcAft>
              <a:buSzPts val="2200"/>
              <a:buChar char="●"/>
            </a:pPr>
            <a:r>
              <a:rPr lang="en-GB" sz="2200" dirty="0"/>
              <a:t>What dimension </a:t>
            </a:r>
            <a:r>
              <a:rPr lang="en-GB" sz="2200" b="1" i="1" dirty="0">
                <a:solidFill>
                  <a:schemeClr val="accent5"/>
                </a:solidFill>
              </a:rPr>
              <a:t>d</a:t>
            </a:r>
            <a:r>
              <a:rPr lang="en-GB" sz="2200" dirty="0"/>
              <a:t> do we actually choose?</a:t>
            </a:r>
            <a:endParaRPr sz="2200" dirty="0"/>
          </a:p>
          <a:p>
            <a:pPr lvl="0" indent="-368300">
              <a:spcBef>
                <a:spcPts val="0"/>
              </a:spcBef>
              <a:buSzPts val="2200"/>
            </a:pPr>
            <a:r>
              <a:rPr lang="en-GB" sz="2200" dirty="0"/>
              <a:t> Why have two vectors per word, </a:t>
            </a:r>
            <a:r>
              <a:rPr lang="en-GB" sz="2200" b="1" dirty="0"/>
              <a:t>V</a:t>
            </a:r>
            <a:r>
              <a:rPr lang="en-GB" sz="2200" dirty="0"/>
              <a:t> and </a:t>
            </a:r>
            <a:r>
              <a:rPr lang="en-GB" sz="2200" b="1" dirty="0"/>
              <a:t>U</a:t>
            </a:r>
            <a:r>
              <a:rPr lang="en-GB" sz="2200" dirty="0"/>
              <a:t>, not just one?</a:t>
            </a:r>
          </a:p>
          <a:p>
            <a:pPr marL="0" lvl="0" indent="0" algn="l" rtl="0">
              <a:lnSpc>
                <a:spcPct val="150000"/>
              </a:lnSpc>
              <a:spcBef>
                <a:spcPts val="0"/>
              </a:spcBef>
              <a:spcAft>
                <a:spcPts val="0"/>
              </a:spcAft>
              <a:buNone/>
            </a:pPr>
            <a:endParaRPr sz="2200" dirty="0"/>
          </a:p>
          <a:p>
            <a:pPr marL="0" lvl="0" indent="0" algn="l" rtl="0">
              <a:lnSpc>
                <a:spcPct val="150000"/>
              </a:lnSpc>
              <a:spcBef>
                <a:spcPts val="0"/>
              </a:spcBef>
              <a:spcAft>
                <a:spcPts val="0"/>
              </a:spcAft>
              <a:buNone/>
            </a:pPr>
            <a:r>
              <a:rPr lang="en-GB" sz="2200" dirty="0"/>
              <a:t>	</a:t>
            </a:r>
            <a:r>
              <a:rPr lang="en-GB" sz="2200" dirty="0" err="1"/>
              <a:t>Pr</a:t>
            </a:r>
            <a:r>
              <a:rPr lang="en-GB" sz="2200" dirty="0"/>
              <a:t>[“gold” | “medal”]   </a:t>
            </a:r>
            <a:r>
              <a:rPr lang="en-US" sz="2200" dirty="0"/>
              <a:t>vs.</a:t>
            </a:r>
            <a:r>
              <a:rPr lang="en-GB" sz="2200" dirty="0"/>
              <a:t>   </a:t>
            </a:r>
            <a:r>
              <a:rPr lang="en-GB" sz="2200" dirty="0" err="1"/>
              <a:t>Pr</a:t>
            </a:r>
            <a:r>
              <a:rPr lang="en-GB" sz="2200" dirty="0"/>
              <a:t>[“medal” | “gold”]</a:t>
            </a:r>
            <a:endParaRPr sz="2200" dirty="0"/>
          </a:p>
          <a:p>
            <a:pPr marL="0" lvl="0" indent="0" algn="l" rtl="0">
              <a:lnSpc>
                <a:spcPct val="150000"/>
              </a:lnSpc>
              <a:spcBef>
                <a:spcPts val="0"/>
              </a:spcBef>
              <a:spcAft>
                <a:spcPts val="0"/>
              </a:spcAft>
              <a:buNone/>
            </a:pPr>
            <a:endParaRPr sz="2200" dirty="0"/>
          </a:p>
        </p:txBody>
      </p:sp>
    </p:spTree>
    <p:extLst>
      <p:ext uri="{BB962C8B-B14F-4D97-AF65-F5344CB8AC3E}">
        <p14:creationId xmlns:p14="http://schemas.microsoft.com/office/powerpoint/2010/main" val="317992630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434">
          <a:extLst>
            <a:ext uri="{FF2B5EF4-FFF2-40B4-BE49-F238E27FC236}">
              <a16:creationId xmlns:a16="http://schemas.microsoft.com/office/drawing/2014/main" id="{3AECC819-F414-408A-C947-9DD9F57BA6F4}"/>
            </a:ext>
          </a:extLst>
        </p:cNvPr>
        <p:cNvGrpSpPr/>
        <p:nvPr/>
      </p:nvGrpSpPr>
      <p:grpSpPr>
        <a:xfrm>
          <a:off x="0" y="0"/>
          <a:ext cx="0" cy="0"/>
          <a:chOff x="0" y="0"/>
          <a:chExt cx="0" cy="0"/>
        </a:xfrm>
      </p:grpSpPr>
      <p:sp>
        <p:nvSpPr>
          <p:cNvPr id="435" name="Google Shape;435;p44">
            <a:extLst>
              <a:ext uri="{FF2B5EF4-FFF2-40B4-BE49-F238E27FC236}">
                <a16:creationId xmlns:a16="http://schemas.microsoft.com/office/drawing/2014/main" id="{11507FBF-1254-FF31-552E-842556F9A327}"/>
              </a:ext>
            </a:extLst>
          </p:cNvPr>
          <p:cNvSpPr txBox="1">
            <a:spLocks noGrp="1"/>
          </p:cNvSpPr>
          <p:nvPr>
            <p:ph type="title"/>
          </p:nvPr>
        </p:nvSpPr>
        <p:spPr>
          <a:xfrm>
            <a:off x="467929" y="1314625"/>
            <a:ext cx="8184900" cy="1604700"/>
          </a:xfrm>
          <a:prstGeom prst="rect">
            <a:avLst/>
          </a:prstGeom>
          <a:noFill/>
          <a:ln>
            <a:noFill/>
          </a:ln>
        </p:spPr>
        <p:txBody>
          <a:bodyPr spcFirstLastPara="1" wrap="square" lIns="68575" tIns="34275" rIns="68575" bIns="34275" anchor="b" anchorCtr="0">
            <a:normAutofit/>
          </a:bodyPr>
          <a:lstStyle/>
          <a:p>
            <a:pPr marL="0" lvl="0" indent="0" algn="l" rtl="0">
              <a:lnSpc>
                <a:spcPct val="90000"/>
              </a:lnSpc>
              <a:spcBef>
                <a:spcPts val="0"/>
              </a:spcBef>
              <a:spcAft>
                <a:spcPts val="0"/>
              </a:spcAft>
              <a:buClr>
                <a:schemeClr val="dk1"/>
              </a:buClr>
              <a:buSzPts val="4500"/>
              <a:buFont typeface="Century Gothic"/>
              <a:buNone/>
            </a:pPr>
            <a:r>
              <a:rPr lang="en-GB" dirty="0" err="1"/>
              <a:t>Skipgram</a:t>
            </a:r>
            <a:r>
              <a:rPr lang="en-GB" dirty="0"/>
              <a:t> with Negative Sampling</a:t>
            </a:r>
            <a:endParaRPr dirty="0"/>
          </a:p>
        </p:txBody>
      </p:sp>
    </p:spTree>
    <p:extLst>
      <p:ext uri="{BB962C8B-B14F-4D97-AF65-F5344CB8AC3E}">
        <p14:creationId xmlns:p14="http://schemas.microsoft.com/office/powerpoint/2010/main" val="128528845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211">
          <a:extLst>
            <a:ext uri="{FF2B5EF4-FFF2-40B4-BE49-F238E27FC236}">
              <a16:creationId xmlns:a16="http://schemas.microsoft.com/office/drawing/2014/main" id="{5237C81B-0EBE-EEFC-EBFA-45E1432CE2B2}"/>
            </a:ext>
          </a:extLst>
        </p:cNvPr>
        <p:cNvGrpSpPr/>
        <p:nvPr/>
      </p:nvGrpSpPr>
      <p:grpSpPr>
        <a:xfrm>
          <a:off x="0" y="0"/>
          <a:ext cx="0" cy="0"/>
          <a:chOff x="0" y="0"/>
          <a:chExt cx="0" cy="0"/>
        </a:xfrm>
      </p:grpSpPr>
      <p:pic>
        <p:nvPicPr>
          <p:cNvPr id="212" name="Google Shape;212;p28">
            <a:extLst>
              <a:ext uri="{FF2B5EF4-FFF2-40B4-BE49-F238E27FC236}">
                <a16:creationId xmlns:a16="http://schemas.microsoft.com/office/drawing/2014/main" id="{DCD038A2-574E-9365-136B-232FDA4E71EC}"/>
              </a:ext>
            </a:extLst>
          </p:cNvPr>
          <p:cNvPicPr preferRelativeResize="0"/>
          <p:nvPr/>
        </p:nvPicPr>
        <p:blipFill rotWithShape="1">
          <a:blip r:embed="rId3">
            <a:alphaModFix/>
          </a:blip>
          <a:srcRect/>
          <a:stretch/>
        </p:blipFill>
        <p:spPr>
          <a:xfrm>
            <a:off x="2552580" y="3149775"/>
            <a:ext cx="3494144" cy="1893551"/>
          </a:xfrm>
          <a:prstGeom prst="rect">
            <a:avLst/>
          </a:prstGeom>
          <a:noFill/>
          <a:ln>
            <a:noFill/>
          </a:ln>
        </p:spPr>
      </p:pic>
      <p:sp>
        <p:nvSpPr>
          <p:cNvPr id="213" name="Google Shape;213;p28">
            <a:extLst>
              <a:ext uri="{FF2B5EF4-FFF2-40B4-BE49-F238E27FC236}">
                <a16:creationId xmlns:a16="http://schemas.microsoft.com/office/drawing/2014/main" id="{144EC4F5-4EE3-D83E-51D8-690782CABA70}"/>
              </a:ext>
            </a:extLst>
          </p:cNvPr>
          <p:cNvSpPr txBox="1">
            <a:spLocks noGrp="1"/>
          </p:cNvSpPr>
          <p:nvPr>
            <p:ph type="title"/>
          </p:nvPr>
        </p:nvSpPr>
        <p:spPr>
          <a:xfrm>
            <a:off x="471488" y="205383"/>
            <a:ext cx="5915100" cy="7458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chemeClr val="dk1"/>
              </a:buClr>
              <a:buSzPts val="3300"/>
              <a:buFont typeface="Century Gothic"/>
              <a:buNone/>
            </a:pPr>
            <a:r>
              <a:rPr lang="en-GB"/>
              <a:t>Word2Vec (Skipgram)</a:t>
            </a:r>
            <a:endParaRPr/>
          </a:p>
        </p:txBody>
      </p:sp>
      <p:sp>
        <p:nvSpPr>
          <p:cNvPr id="214" name="Google Shape;214;p28">
            <a:extLst>
              <a:ext uri="{FF2B5EF4-FFF2-40B4-BE49-F238E27FC236}">
                <a16:creationId xmlns:a16="http://schemas.microsoft.com/office/drawing/2014/main" id="{5B482A7E-050D-A85B-18A0-F4BF1E80864A}"/>
              </a:ext>
            </a:extLst>
          </p:cNvPr>
          <p:cNvSpPr txBox="1"/>
          <p:nvPr/>
        </p:nvSpPr>
        <p:spPr>
          <a:xfrm>
            <a:off x="1" y="4870133"/>
            <a:ext cx="2689800" cy="2847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GB" sz="1400" u="sng">
                <a:solidFill>
                  <a:schemeClr val="dk1"/>
                </a:solidFill>
                <a:hlinkClick r:id="rId4">
                  <a:extLst>
                    <a:ext uri="{A12FA001-AC4F-418D-AE19-62706E023703}">
                      <ahyp:hlinkClr xmlns:ahyp="http://schemas.microsoft.com/office/drawing/2018/hyperlinkcolor" val="tx"/>
                    </a:ext>
                  </a:extLst>
                </a:hlinkClick>
              </a:rPr>
              <a:t>Mikolov et al., 2013</a:t>
            </a:r>
            <a:endParaRPr sz="1400">
              <a:solidFill>
                <a:schemeClr val="dk1"/>
              </a:solidFill>
            </a:endParaRPr>
          </a:p>
        </p:txBody>
      </p:sp>
      <p:sp>
        <p:nvSpPr>
          <p:cNvPr id="215" name="Google Shape;215;p28">
            <a:extLst>
              <a:ext uri="{FF2B5EF4-FFF2-40B4-BE49-F238E27FC236}">
                <a16:creationId xmlns:a16="http://schemas.microsoft.com/office/drawing/2014/main" id="{EA765DF1-E845-5B89-BF65-9E1714739516}"/>
              </a:ext>
            </a:extLst>
          </p:cNvPr>
          <p:cNvSpPr txBox="1">
            <a:spLocks noGrp="1"/>
          </p:cNvSpPr>
          <p:nvPr>
            <p:ph type="body" idx="1"/>
          </p:nvPr>
        </p:nvSpPr>
        <p:spPr>
          <a:xfrm>
            <a:off x="471500" y="1026925"/>
            <a:ext cx="7765500" cy="2501700"/>
          </a:xfrm>
          <a:prstGeom prst="rect">
            <a:avLst/>
          </a:prstGeom>
          <a:noFill/>
          <a:ln>
            <a:noFill/>
          </a:ln>
        </p:spPr>
        <p:txBody>
          <a:bodyPr spcFirstLastPara="1" wrap="square" lIns="68575" tIns="34275" rIns="68575" bIns="34275" anchor="t" anchorCtr="0">
            <a:noAutofit/>
          </a:bodyPr>
          <a:lstStyle/>
          <a:p>
            <a:pPr marL="0" lvl="0" indent="0" algn="l" rtl="0">
              <a:lnSpc>
                <a:spcPct val="90000"/>
              </a:lnSpc>
              <a:spcBef>
                <a:spcPts val="0"/>
              </a:spcBef>
              <a:spcAft>
                <a:spcPts val="0"/>
              </a:spcAft>
              <a:buClr>
                <a:schemeClr val="dk1"/>
              </a:buClr>
              <a:buSzPts val="2300"/>
              <a:buNone/>
            </a:pPr>
            <a:r>
              <a:rPr lang="en-GB" sz="1700"/>
              <a:t>TL;DR: predict words from neighboring words</a:t>
            </a:r>
            <a:endParaRPr sz="1700"/>
          </a:p>
          <a:p>
            <a:pPr marL="457200" lvl="0" indent="-336550" algn="l" rtl="0">
              <a:lnSpc>
                <a:spcPct val="150000"/>
              </a:lnSpc>
              <a:spcBef>
                <a:spcPts val="800"/>
              </a:spcBef>
              <a:spcAft>
                <a:spcPts val="0"/>
              </a:spcAft>
              <a:buSzPts val="1700"/>
              <a:buChar char="●"/>
            </a:pPr>
            <a:r>
              <a:rPr lang="en-GB" sz="1700"/>
              <a:t>Define</a:t>
            </a:r>
            <a:r>
              <a:rPr lang="en-GB" sz="1700">
                <a:solidFill>
                  <a:schemeClr val="accent1"/>
                </a:solidFill>
              </a:rPr>
              <a:t> self-supervised</a:t>
            </a:r>
            <a:r>
              <a:rPr lang="en-GB" sz="1700"/>
              <a:t> learning task from raw data:</a:t>
            </a:r>
            <a:endParaRPr sz="1700"/>
          </a:p>
          <a:p>
            <a:pPr marL="914400" lvl="1" indent="-336550" algn="l" rtl="0">
              <a:lnSpc>
                <a:spcPct val="150000"/>
              </a:lnSpc>
              <a:spcBef>
                <a:spcPts val="0"/>
              </a:spcBef>
              <a:spcAft>
                <a:spcPts val="0"/>
              </a:spcAft>
              <a:buSzPts val="1700"/>
              <a:buChar char="○"/>
            </a:pPr>
            <a:r>
              <a:rPr lang="en-GB" sz="1700"/>
              <a:t>Input: “</a:t>
            </a:r>
            <a:r>
              <a:rPr lang="en-GB" sz="1700">
                <a:solidFill>
                  <a:schemeClr val="accent1"/>
                </a:solidFill>
              </a:rPr>
              <a:t>center</a:t>
            </a:r>
            <a:r>
              <a:rPr lang="en-GB" sz="1700"/>
              <a:t>” word, label: “</a:t>
            </a:r>
            <a:r>
              <a:rPr lang="en-GB" sz="1700">
                <a:solidFill>
                  <a:schemeClr val="accent1"/>
                </a:solidFill>
              </a:rPr>
              <a:t>outside</a:t>
            </a:r>
            <a:r>
              <a:rPr lang="en-GB" sz="1700"/>
              <a:t>” (context) word</a:t>
            </a:r>
            <a:endParaRPr sz="1700"/>
          </a:p>
          <a:p>
            <a:pPr marL="457200" lvl="0" indent="-336550" algn="l" rtl="0">
              <a:lnSpc>
                <a:spcPct val="150000"/>
              </a:lnSpc>
              <a:spcBef>
                <a:spcPts val="0"/>
              </a:spcBef>
              <a:spcAft>
                <a:spcPts val="0"/>
              </a:spcAft>
              <a:buSzPts val="1700"/>
              <a:buChar char="●"/>
            </a:pPr>
            <a:r>
              <a:rPr lang="en-GB" sz="1700"/>
              <a:t>Define </a:t>
            </a:r>
            <a:r>
              <a:rPr lang="en-GB" sz="1700">
                <a:solidFill>
                  <a:schemeClr val="accent1"/>
                </a:solidFill>
              </a:rPr>
              <a:t>model</a:t>
            </a:r>
            <a:r>
              <a:rPr lang="en-GB" sz="1700"/>
              <a:t> for predicting label from input:</a:t>
            </a:r>
            <a:endParaRPr sz="1700"/>
          </a:p>
          <a:p>
            <a:pPr marL="457200" lvl="0" indent="-336550" algn="l" rtl="0">
              <a:spcBef>
                <a:spcPts val="0"/>
              </a:spcBef>
              <a:spcAft>
                <a:spcPts val="0"/>
              </a:spcAft>
              <a:buSzPts val="1700"/>
              <a:buChar char="●"/>
            </a:pPr>
            <a:r>
              <a:rPr lang="en-GB" sz="1700"/>
              <a:t>Define </a:t>
            </a:r>
            <a:r>
              <a:rPr lang="en-GB" sz="1700">
                <a:solidFill>
                  <a:schemeClr val="accent1"/>
                </a:solidFill>
              </a:rPr>
              <a:t>objective function</a:t>
            </a:r>
            <a:r>
              <a:rPr lang="en-GB" sz="1700"/>
              <a:t> for corpus of length </a:t>
            </a:r>
            <a:r>
              <a:rPr lang="en-GB" sz="1700" i="1">
                <a:solidFill>
                  <a:srgbClr val="00B0F0"/>
                </a:solidFill>
                <a:latin typeface="Times New Roman"/>
                <a:ea typeface="Times New Roman"/>
                <a:cs typeface="Times New Roman"/>
                <a:sym typeface="Times New Roman"/>
              </a:rPr>
              <a:t>T</a:t>
            </a:r>
            <a:r>
              <a:rPr lang="en-GB" sz="1700"/>
              <a:t> and window </a:t>
            </a:r>
            <a:r>
              <a:rPr lang="en-GB" sz="1700" i="1">
                <a:solidFill>
                  <a:srgbClr val="00B0F0"/>
                </a:solidFill>
                <a:latin typeface="Times New Roman"/>
                <a:ea typeface="Times New Roman"/>
                <a:cs typeface="Times New Roman"/>
                <a:sym typeface="Times New Roman"/>
              </a:rPr>
              <a:t>m</a:t>
            </a:r>
            <a:endParaRPr sz="1700" i="1">
              <a:solidFill>
                <a:srgbClr val="00B0F0"/>
              </a:solidFill>
              <a:latin typeface="Times New Roman"/>
              <a:ea typeface="Times New Roman"/>
              <a:cs typeface="Times New Roman"/>
              <a:sym typeface="Times New Roman"/>
            </a:endParaRPr>
          </a:p>
          <a:p>
            <a:pPr marL="457200" lvl="0" indent="-336550" algn="l" rtl="0">
              <a:spcBef>
                <a:spcPts val="0"/>
              </a:spcBef>
              <a:spcAft>
                <a:spcPts val="0"/>
              </a:spcAft>
              <a:buSzPts val="1700"/>
              <a:buChar char="●"/>
            </a:pPr>
            <a:r>
              <a:rPr lang="en-GB" sz="1700">
                <a:solidFill>
                  <a:schemeClr val="accent1"/>
                </a:solidFill>
              </a:rPr>
              <a:t>Optimize</a:t>
            </a:r>
            <a:r>
              <a:rPr lang="en-GB" sz="1700"/>
              <a:t> with SGD (iteratively adjust the word vectors to minimize NLL)</a:t>
            </a:r>
            <a:endParaRPr sz="1700" i="1">
              <a:solidFill>
                <a:srgbClr val="00B0F0"/>
              </a:solidFill>
              <a:latin typeface="Times New Roman"/>
              <a:ea typeface="Times New Roman"/>
              <a:cs typeface="Times New Roman"/>
              <a:sym typeface="Times New Roman"/>
            </a:endParaRPr>
          </a:p>
          <a:p>
            <a:pPr marL="457200" lvl="0" indent="0" algn="l" rtl="0">
              <a:lnSpc>
                <a:spcPct val="150000"/>
              </a:lnSpc>
              <a:spcBef>
                <a:spcPts val="800"/>
              </a:spcBef>
              <a:spcAft>
                <a:spcPts val="0"/>
              </a:spcAft>
              <a:buNone/>
            </a:pPr>
            <a:endParaRPr sz="1700"/>
          </a:p>
        </p:txBody>
      </p:sp>
      <p:pic>
        <p:nvPicPr>
          <p:cNvPr id="216" name="Google Shape;216;p28" descr="\mathcal{L}(\theta) = \prod_{t=1}^T \prod_{-m\leq j \leq m,\; j\neq 0} p_{\theta} (w_{t+j}|w_t)" title="MathEquation,#000000">
            <a:extLst>
              <a:ext uri="{FF2B5EF4-FFF2-40B4-BE49-F238E27FC236}">
                <a16:creationId xmlns:a16="http://schemas.microsoft.com/office/drawing/2014/main" id="{E1170285-CA0F-7203-F822-41DA35A48992}"/>
              </a:ext>
            </a:extLst>
          </p:cNvPr>
          <p:cNvPicPr preferRelativeResize="0"/>
          <p:nvPr/>
        </p:nvPicPr>
        <p:blipFill>
          <a:blip r:embed="rId5">
            <a:alphaModFix/>
          </a:blip>
          <a:stretch>
            <a:fillRect/>
          </a:stretch>
        </p:blipFill>
        <p:spPr>
          <a:xfrm>
            <a:off x="4710113" y="407775"/>
            <a:ext cx="4275926" cy="400875"/>
          </a:xfrm>
          <a:prstGeom prst="rect">
            <a:avLst/>
          </a:prstGeom>
          <a:noFill/>
          <a:ln>
            <a:noFill/>
          </a:ln>
        </p:spPr>
      </p:pic>
    </p:spTree>
    <p:extLst>
      <p:ext uri="{BB962C8B-B14F-4D97-AF65-F5344CB8AC3E}">
        <p14:creationId xmlns:p14="http://schemas.microsoft.com/office/powerpoint/2010/main" val="101110091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53E69A-2037-7C5D-C8BF-104BA0D2DF37}"/>
              </a:ext>
            </a:extLst>
          </p:cNvPr>
          <p:cNvSpPr>
            <a:spLocks noGrp="1"/>
          </p:cNvSpPr>
          <p:nvPr>
            <p:ph type="title"/>
          </p:nvPr>
        </p:nvSpPr>
        <p:spPr>
          <a:xfrm>
            <a:off x="628650" y="181377"/>
            <a:ext cx="7886700" cy="994200"/>
          </a:xfrm>
        </p:spPr>
        <p:txBody>
          <a:bodyPr/>
          <a:lstStyle/>
          <a:p>
            <a:r>
              <a:rPr lang="en-US" dirty="0" err="1"/>
              <a:t>Skipgram</a:t>
            </a:r>
            <a:r>
              <a:rPr lang="en-US" dirty="0"/>
              <a:t>: Loss Gradient</a:t>
            </a:r>
          </a:p>
        </p:txBody>
      </p:sp>
      <p:pic>
        <p:nvPicPr>
          <p:cNvPr id="7" name="Picture 6" descr="A math equations with numbers and symbols&#10;&#10;AI-generated content may be incorrect.">
            <a:extLst>
              <a:ext uri="{FF2B5EF4-FFF2-40B4-BE49-F238E27FC236}">
                <a16:creationId xmlns:a16="http://schemas.microsoft.com/office/drawing/2014/main" id="{4587D9A0-2A58-1B38-D056-97ACC6BC1B81}"/>
              </a:ext>
            </a:extLst>
          </p:cNvPr>
          <p:cNvPicPr>
            <a:picLocks noChangeAspect="1"/>
          </p:cNvPicPr>
          <p:nvPr/>
        </p:nvPicPr>
        <p:blipFill>
          <a:blip r:embed="rId2"/>
          <a:stretch>
            <a:fillRect/>
          </a:stretch>
        </p:blipFill>
        <p:spPr>
          <a:xfrm>
            <a:off x="513708" y="988550"/>
            <a:ext cx="7772400" cy="3881106"/>
          </a:xfrm>
          <a:prstGeom prst="rect">
            <a:avLst/>
          </a:prstGeom>
        </p:spPr>
      </p:pic>
    </p:spTree>
    <p:extLst>
      <p:ext uri="{BB962C8B-B14F-4D97-AF65-F5344CB8AC3E}">
        <p14:creationId xmlns:p14="http://schemas.microsoft.com/office/powerpoint/2010/main" val="422065289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42F554-0F6C-EB69-D06E-AD863B1E319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C2E2788-5360-257B-527D-969904BC15C7}"/>
              </a:ext>
            </a:extLst>
          </p:cNvPr>
          <p:cNvSpPr>
            <a:spLocks noGrp="1"/>
          </p:cNvSpPr>
          <p:nvPr>
            <p:ph type="title"/>
          </p:nvPr>
        </p:nvSpPr>
        <p:spPr>
          <a:xfrm>
            <a:off x="628650" y="181377"/>
            <a:ext cx="7886700" cy="994200"/>
          </a:xfrm>
        </p:spPr>
        <p:txBody>
          <a:bodyPr/>
          <a:lstStyle/>
          <a:p>
            <a:r>
              <a:rPr lang="en-US" dirty="0" err="1"/>
              <a:t>Skipgram</a:t>
            </a:r>
            <a:r>
              <a:rPr lang="en-US" dirty="0"/>
              <a:t>: Loss Gradient</a:t>
            </a:r>
          </a:p>
        </p:txBody>
      </p:sp>
      <p:pic>
        <p:nvPicPr>
          <p:cNvPr id="7" name="Picture 6" descr="A math equations with numbers and symbols&#10;&#10;AI-generated content may be incorrect.">
            <a:extLst>
              <a:ext uri="{FF2B5EF4-FFF2-40B4-BE49-F238E27FC236}">
                <a16:creationId xmlns:a16="http://schemas.microsoft.com/office/drawing/2014/main" id="{10CC2ACC-4014-92AA-05DD-5248C076A349}"/>
              </a:ext>
            </a:extLst>
          </p:cNvPr>
          <p:cNvPicPr>
            <a:picLocks noChangeAspect="1"/>
          </p:cNvPicPr>
          <p:nvPr/>
        </p:nvPicPr>
        <p:blipFill>
          <a:blip r:embed="rId2"/>
          <a:stretch>
            <a:fillRect/>
          </a:stretch>
        </p:blipFill>
        <p:spPr>
          <a:xfrm>
            <a:off x="513708" y="988550"/>
            <a:ext cx="7772400" cy="3881106"/>
          </a:xfrm>
          <a:prstGeom prst="rect">
            <a:avLst/>
          </a:prstGeom>
        </p:spPr>
      </p:pic>
      <p:sp>
        <p:nvSpPr>
          <p:cNvPr id="3" name="Google Shape;922;p97">
            <a:extLst>
              <a:ext uri="{FF2B5EF4-FFF2-40B4-BE49-F238E27FC236}">
                <a16:creationId xmlns:a16="http://schemas.microsoft.com/office/drawing/2014/main" id="{B4872696-33DB-C445-8984-94047EA33B04}"/>
              </a:ext>
            </a:extLst>
          </p:cNvPr>
          <p:cNvSpPr txBox="1"/>
          <p:nvPr/>
        </p:nvSpPr>
        <p:spPr>
          <a:xfrm>
            <a:off x="703350" y="3680100"/>
            <a:ext cx="1548000" cy="738900"/>
          </a:xfrm>
          <a:prstGeom prst="rect">
            <a:avLst/>
          </a:prstGeom>
          <a:noFill/>
          <a:ln w="19050" cap="flat" cmpd="sng">
            <a:solidFill>
              <a:schemeClr val="accent5"/>
            </a:solidFill>
            <a:prstDash val="solid"/>
            <a:round/>
            <a:headEnd type="none" w="sm" len="sm"/>
            <a:tailEnd type="none" w="sm" len="sm"/>
          </a:ln>
        </p:spPr>
        <p:txBody>
          <a:bodyPr spcFirstLastPara="1" wrap="square" lIns="91425" tIns="91425" rIns="91425" bIns="91425" anchor="t" anchorCtr="0">
            <a:spAutoFit/>
          </a:bodyPr>
          <a:lstStyle/>
          <a:p>
            <a:pPr marL="0" lvl="0" indent="0" algn="ctr" rtl="0">
              <a:spcBef>
                <a:spcPts val="0"/>
              </a:spcBef>
              <a:spcAft>
                <a:spcPts val="0"/>
              </a:spcAft>
              <a:buNone/>
            </a:pPr>
            <a:r>
              <a:rPr lang="en-GB" sz="1800" b="1">
                <a:solidFill>
                  <a:schemeClr val="accent5"/>
                </a:solidFill>
              </a:rPr>
              <a:t>See an issue here?</a:t>
            </a:r>
            <a:endParaRPr sz="1800" b="1">
              <a:solidFill>
                <a:schemeClr val="accent5"/>
              </a:solidFill>
            </a:endParaRPr>
          </a:p>
        </p:txBody>
      </p:sp>
    </p:spTree>
    <p:extLst>
      <p:ext uri="{BB962C8B-B14F-4D97-AF65-F5344CB8AC3E}">
        <p14:creationId xmlns:p14="http://schemas.microsoft.com/office/powerpoint/2010/main" val="282711307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927"/>
        <p:cNvGrpSpPr/>
        <p:nvPr/>
      </p:nvGrpSpPr>
      <p:grpSpPr>
        <a:xfrm>
          <a:off x="0" y="0"/>
          <a:ext cx="0" cy="0"/>
          <a:chOff x="0" y="0"/>
          <a:chExt cx="0" cy="0"/>
        </a:xfrm>
      </p:grpSpPr>
      <p:sp>
        <p:nvSpPr>
          <p:cNvPr id="928" name="Google Shape;928;p98"/>
          <p:cNvSpPr txBox="1">
            <a:spLocks noGrp="1"/>
          </p:cNvSpPr>
          <p:nvPr>
            <p:ph type="title"/>
          </p:nvPr>
        </p:nvSpPr>
        <p:spPr>
          <a:xfrm>
            <a:off x="471488" y="205383"/>
            <a:ext cx="5915100" cy="7458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chemeClr val="dk1"/>
              </a:buClr>
              <a:buSzPts val="3300"/>
              <a:buFont typeface="Century Gothic"/>
              <a:buNone/>
            </a:pPr>
            <a:r>
              <a:rPr lang="en-GB"/>
              <a:t>Skipgram with negative sampling</a:t>
            </a:r>
            <a:endParaRPr/>
          </a:p>
        </p:txBody>
      </p:sp>
      <p:sp>
        <p:nvSpPr>
          <p:cNvPr id="929" name="Google Shape;929;p98"/>
          <p:cNvSpPr txBox="1"/>
          <p:nvPr/>
        </p:nvSpPr>
        <p:spPr>
          <a:xfrm>
            <a:off x="1" y="4870133"/>
            <a:ext cx="2689800" cy="2847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GB" sz="1400" u="sng">
                <a:solidFill>
                  <a:schemeClr val="dk1"/>
                </a:solidFill>
                <a:hlinkClick r:id="rId3">
                  <a:extLst>
                    <a:ext uri="{A12FA001-AC4F-418D-AE19-62706E023703}">
                      <ahyp:hlinkClr xmlns:ahyp="http://schemas.microsoft.com/office/drawing/2018/hyperlinkcolor" val="tx"/>
                    </a:ext>
                  </a:extLst>
                </a:hlinkClick>
              </a:rPr>
              <a:t>Mikolov et al., 2013</a:t>
            </a:r>
            <a:endParaRPr sz="1400">
              <a:solidFill>
                <a:schemeClr val="dk1"/>
              </a:solidFill>
            </a:endParaRPr>
          </a:p>
        </p:txBody>
      </p:sp>
      <p:sp>
        <p:nvSpPr>
          <p:cNvPr id="930" name="Google Shape;930;p98"/>
          <p:cNvSpPr txBox="1"/>
          <p:nvPr/>
        </p:nvSpPr>
        <p:spPr>
          <a:xfrm>
            <a:off x="509425" y="1106200"/>
            <a:ext cx="8219100" cy="1177500"/>
          </a:xfrm>
          <a:prstGeom prst="rect">
            <a:avLst/>
          </a:prstGeom>
          <a:noFill/>
          <a:ln>
            <a:noFill/>
          </a:ln>
        </p:spPr>
        <p:txBody>
          <a:bodyPr spcFirstLastPara="1" wrap="square" lIns="68575" tIns="34275" rIns="68575" bIns="34275" anchor="t" anchorCtr="0">
            <a:spAutoFit/>
          </a:bodyPr>
          <a:lstStyle/>
          <a:p>
            <a:pPr marL="457200" marR="0" lvl="0" indent="-342900" algn="l" rtl="0">
              <a:spcBef>
                <a:spcPts val="0"/>
              </a:spcBef>
              <a:spcAft>
                <a:spcPts val="0"/>
              </a:spcAft>
              <a:buSzPts val="1800"/>
              <a:buChar char="●"/>
            </a:pPr>
            <a:r>
              <a:rPr lang="en-GB" sz="1800">
                <a:solidFill>
                  <a:schemeClr val="dk2"/>
                </a:solidFill>
              </a:rPr>
              <a:t>Same overall idea as the Skipgram we’ve seen so far, but:</a:t>
            </a:r>
            <a:endParaRPr sz="1800">
              <a:solidFill>
                <a:schemeClr val="dk2"/>
              </a:solidFill>
            </a:endParaRPr>
          </a:p>
          <a:p>
            <a:pPr marL="914400" marR="0" lvl="1" indent="-342900" algn="l" rtl="0">
              <a:spcBef>
                <a:spcPts val="0"/>
              </a:spcBef>
              <a:spcAft>
                <a:spcPts val="0"/>
              </a:spcAft>
              <a:buClr>
                <a:schemeClr val="dk2"/>
              </a:buClr>
              <a:buSzPts val="1800"/>
              <a:buChar char="○"/>
            </a:pPr>
            <a:r>
              <a:rPr lang="en-GB" sz="1800">
                <a:solidFill>
                  <a:schemeClr val="dk2"/>
                </a:solidFill>
              </a:rPr>
              <a:t>We change the self-supervised learning task</a:t>
            </a:r>
            <a:endParaRPr sz="1800">
              <a:solidFill>
                <a:schemeClr val="dk2"/>
              </a:solidFill>
            </a:endParaRPr>
          </a:p>
          <a:p>
            <a:pPr marL="914400" marR="0" lvl="1" indent="-342900" algn="l" rtl="0">
              <a:spcBef>
                <a:spcPts val="0"/>
              </a:spcBef>
              <a:spcAft>
                <a:spcPts val="0"/>
              </a:spcAft>
              <a:buClr>
                <a:schemeClr val="dk2"/>
              </a:buClr>
              <a:buSzPts val="1800"/>
              <a:buChar char="○"/>
            </a:pPr>
            <a:r>
              <a:rPr lang="en-GB" sz="1800">
                <a:solidFill>
                  <a:schemeClr val="dk2"/>
                </a:solidFill>
              </a:rPr>
              <a:t>And the probabilistic model</a:t>
            </a:r>
            <a:endParaRPr sz="1800">
              <a:solidFill>
                <a:schemeClr val="dk2"/>
              </a:solidFill>
            </a:endParaRPr>
          </a:p>
          <a:p>
            <a:pPr marL="914400" marR="0" lvl="1" indent="-342900" algn="l" rtl="0">
              <a:spcBef>
                <a:spcPts val="0"/>
              </a:spcBef>
              <a:spcAft>
                <a:spcPts val="0"/>
              </a:spcAft>
              <a:buClr>
                <a:schemeClr val="dk2"/>
              </a:buClr>
              <a:buSzPts val="1800"/>
              <a:buChar char="○"/>
            </a:pPr>
            <a:r>
              <a:rPr lang="en-GB" sz="1800">
                <a:solidFill>
                  <a:schemeClr val="dk2"/>
                </a:solidFill>
              </a:rPr>
              <a:t>And the objective function</a:t>
            </a:r>
            <a:endParaRPr sz="1800">
              <a:solidFill>
                <a:schemeClr val="dk2"/>
              </a:solidFill>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935"/>
        <p:cNvGrpSpPr/>
        <p:nvPr/>
      </p:nvGrpSpPr>
      <p:grpSpPr>
        <a:xfrm>
          <a:off x="0" y="0"/>
          <a:ext cx="0" cy="0"/>
          <a:chOff x="0" y="0"/>
          <a:chExt cx="0" cy="0"/>
        </a:xfrm>
      </p:grpSpPr>
      <p:sp>
        <p:nvSpPr>
          <p:cNvPr id="936" name="Google Shape;936;p99"/>
          <p:cNvSpPr txBox="1">
            <a:spLocks noGrp="1"/>
          </p:cNvSpPr>
          <p:nvPr>
            <p:ph type="title"/>
          </p:nvPr>
        </p:nvSpPr>
        <p:spPr>
          <a:xfrm>
            <a:off x="471488" y="205383"/>
            <a:ext cx="5915100" cy="7458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chemeClr val="dk1"/>
              </a:buClr>
              <a:buSzPts val="3300"/>
              <a:buFont typeface="Century Gothic"/>
              <a:buNone/>
            </a:pPr>
            <a:r>
              <a:rPr lang="en-GB"/>
              <a:t>Negative Sampling</a:t>
            </a:r>
            <a:endParaRPr/>
          </a:p>
        </p:txBody>
      </p:sp>
      <p:sp>
        <p:nvSpPr>
          <p:cNvPr id="937" name="Google Shape;937;p99"/>
          <p:cNvSpPr txBox="1">
            <a:spLocks noGrp="1"/>
          </p:cNvSpPr>
          <p:nvPr>
            <p:ph type="body" idx="1"/>
          </p:nvPr>
        </p:nvSpPr>
        <p:spPr>
          <a:xfrm>
            <a:off x="471500" y="1026925"/>
            <a:ext cx="7041900" cy="1072800"/>
          </a:xfrm>
          <a:prstGeom prst="rect">
            <a:avLst/>
          </a:prstGeom>
          <a:noFill/>
          <a:ln>
            <a:noFill/>
          </a:ln>
        </p:spPr>
        <p:txBody>
          <a:bodyPr spcFirstLastPara="1" wrap="square" lIns="68575" tIns="34275" rIns="68575" bIns="34275" anchor="t" anchorCtr="0">
            <a:normAutofit/>
          </a:bodyPr>
          <a:lstStyle/>
          <a:p>
            <a:pPr marL="0" lvl="0" indent="0" algn="l" rtl="0">
              <a:lnSpc>
                <a:spcPct val="90000"/>
              </a:lnSpc>
              <a:spcBef>
                <a:spcPts val="0"/>
              </a:spcBef>
              <a:spcAft>
                <a:spcPts val="0"/>
              </a:spcAft>
              <a:buClr>
                <a:schemeClr val="dk1"/>
              </a:buClr>
              <a:buSzPts val="2100"/>
              <a:buNone/>
            </a:pPr>
            <a:r>
              <a:rPr lang="en-GB"/>
              <a:t>Binary classification instead of multi-class classification</a:t>
            </a:r>
            <a:endParaRPr sz="1800" i="1">
              <a:solidFill>
                <a:srgbClr val="00B0F0"/>
              </a:solidFill>
            </a:endParaRPr>
          </a:p>
          <a:p>
            <a:pPr marL="0" lvl="0" indent="0" algn="l" rtl="0">
              <a:lnSpc>
                <a:spcPct val="90000"/>
              </a:lnSpc>
              <a:spcBef>
                <a:spcPts val="800"/>
              </a:spcBef>
              <a:spcAft>
                <a:spcPts val="0"/>
              </a:spcAft>
              <a:buClr>
                <a:srgbClr val="00B0F0"/>
              </a:buClr>
              <a:buSzPts val="1800"/>
              <a:buNone/>
            </a:pPr>
            <a:r>
              <a:rPr lang="en-GB" sz="1800" i="1">
                <a:solidFill>
                  <a:srgbClr val="00B0F0"/>
                </a:solidFill>
              </a:rPr>
              <a:t>		“… that bank holds the mortgage on my</a:t>
            </a:r>
            <a:r>
              <a:rPr lang="en-GB" i="1">
                <a:solidFill>
                  <a:srgbClr val="00B0F0"/>
                </a:solidFill>
              </a:rPr>
              <a:t> home…”</a:t>
            </a:r>
            <a:endParaRPr/>
          </a:p>
          <a:p>
            <a:pPr marL="0" lvl="0" indent="0" algn="l" rtl="0">
              <a:lnSpc>
                <a:spcPct val="90000"/>
              </a:lnSpc>
              <a:spcBef>
                <a:spcPts val="800"/>
              </a:spcBef>
              <a:spcAft>
                <a:spcPts val="1200"/>
              </a:spcAft>
              <a:buClr>
                <a:schemeClr val="dk1"/>
              </a:buClr>
              <a:buSzPts val="2100"/>
              <a:buNone/>
            </a:pPr>
            <a:endParaRPr/>
          </a:p>
        </p:txBody>
      </p:sp>
      <p:sp>
        <p:nvSpPr>
          <p:cNvPr id="938" name="Google Shape;938;p99"/>
          <p:cNvSpPr txBox="1"/>
          <p:nvPr/>
        </p:nvSpPr>
        <p:spPr>
          <a:xfrm>
            <a:off x="1" y="4870133"/>
            <a:ext cx="2689800" cy="2847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GB" sz="1400" u="sng">
                <a:solidFill>
                  <a:schemeClr val="dk1"/>
                </a:solidFill>
                <a:hlinkClick r:id="rId3">
                  <a:extLst>
                    <a:ext uri="{A12FA001-AC4F-418D-AE19-62706E023703}">
                      <ahyp:hlinkClr xmlns:ahyp="http://schemas.microsoft.com/office/drawing/2018/hyperlinkcolor" val="tx"/>
                    </a:ext>
                  </a:extLst>
                </a:hlinkClick>
              </a:rPr>
              <a:t>Mikolov et al., 2013</a:t>
            </a:r>
            <a:endParaRPr sz="1400">
              <a:solidFill>
                <a:schemeClr val="dk1"/>
              </a:solidFill>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943"/>
        <p:cNvGrpSpPr/>
        <p:nvPr/>
      </p:nvGrpSpPr>
      <p:grpSpPr>
        <a:xfrm>
          <a:off x="0" y="0"/>
          <a:ext cx="0" cy="0"/>
          <a:chOff x="0" y="0"/>
          <a:chExt cx="0" cy="0"/>
        </a:xfrm>
      </p:grpSpPr>
      <p:sp>
        <p:nvSpPr>
          <p:cNvPr id="944" name="Google Shape;944;p100"/>
          <p:cNvSpPr txBox="1">
            <a:spLocks noGrp="1"/>
          </p:cNvSpPr>
          <p:nvPr>
            <p:ph type="title"/>
          </p:nvPr>
        </p:nvSpPr>
        <p:spPr>
          <a:xfrm>
            <a:off x="471488" y="205383"/>
            <a:ext cx="5915100" cy="7458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chemeClr val="dk1"/>
              </a:buClr>
              <a:buSzPts val="3300"/>
              <a:buFont typeface="Century Gothic"/>
              <a:buNone/>
            </a:pPr>
            <a:r>
              <a:rPr lang="en-GB"/>
              <a:t>Negative Sampling</a:t>
            </a:r>
            <a:endParaRPr/>
          </a:p>
        </p:txBody>
      </p:sp>
      <p:sp>
        <p:nvSpPr>
          <p:cNvPr id="945" name="Google Shape;945;p100"/>
          <p:cNvSpPr txBox="1">
            <a:spLocks noGrp="1"/>
          </p:cNvSpPr>
          <p:nvPr>
            <p:ph type="body" idx="1"/>
          </p:nvPr>
        </p:nvSpPr>
        <p:spPr>
          <a:xfrm>
            <a:off x="471500" y="1026925"/>
            <a:ext cx="7041900" cy="1072800"/>
          </a:xfrm>
          <a:prstGeom prst="rect">
            <a:avLst/>
          </a:prstGeom>
          <a:noFill/>
          <a:ln>
            <a:noFill/>
          </a:ln>
        </p:spPr>
        <p:txBody>
          <a:bodyPr spcFirstLastPara="1" wrap="square" lIns="68575" tIns="34275" rIns="68575" bIns="34275" anchor="t" anchorCtr="0">
            <a:normAutofit/>
          </a:bodyPr>
          <a:lstStyle/>
          <a:p>
            <a:pPr marL="0" lvl="0" indent="0" algn="l" rtl="0">
              <a:lnSpc>
                <a:spcPct val="90000"/>
              </a:lnSpc>
              <a:spcBef>
                <a:spcPts val="0"/>
              </a:spcBef>
              <a:spcAft>
                <a:spcPts val="0"/>
              </a:spcAft>
              <a:buClr>
                <a:schemeClr val="dk1"/>
              </a:buClr>
              <a:buSzPts val="2100"/>
              <a:buNone/>
            </a:pPr>
            <a:r>
              <a:rPr lang="en-GB"/>
              <a:t>Binary classification instead of multi-class classification</a:t>
            </a:r>
            <a:endParaRPr sz="1800" i="1">
              <a:solidFill>
                <a:srgbClr val="00B0F0"/>
              </a:solidFill>
            </a:endParaRPr>
          </a:p>
          <a:p>
            <a:pPr marL="0" lvl="0" indent="0" algn="l" rtl="0">
              <a:lnSpc>
                <a:spcPct val="90000"/>
              </a:lnSpc>
              <a:spcBef>
                <a:spcPts val="800"/>
              </a:spcBef>
              <a:spcAft>
                <a:spcPts val="0"/>
              </a:spcAft>
              <a:buClr>
                <a:srgbClr val="00B0F0"/>
              </a:buClr>
              <a:buSzPts val="1800"/>
              <a:buNone/>
            </a:pPr>
            <a:r>
              <a:rPr lang="en-GB" sz="1800" i="1">
                <a:solidFill>
                  <a:srgbClr val="00B0F0"/>
                </a:solidFill>
              </a:rPr>
              <a:t>		“… that bank holds the mortgage on my</a:t>
            </a:r>
            <a:r>
              <a:rPr lang="en-GB" i="1">
                <a:solidFill>
                  <a:srgbClr val="00B0F0"/>
                </a:solidFill>
              </a:rPr>
              <a:t> home…”</a:t>
            </a:r>
            <a:endParaRPr/>
          </a:p>
          <a:p>
            <a:pPr marL="0" lvl="0" indent="0" algn="l" rtl="0">
              <a:lnSpc>
                <a:spcPct val="90000"/>
              </a:lnSpc>
              <a:spcBef>
                <a:spcPts val="800"/>
              </a:spcBef>
              <a:spcAft>
                <a:spcPts val="1200"/>
              </a:spcAft>
              <a:buClr>
                <a:schemeClr val="dk1"/>
              </a:buClr>
              <a:buSzPts val="2100"/>
              <a:buNone/>
            </a:pPr>
            <a:endParaRPr/>
          </a:p>
        </p:txBody>
      </p:sp>
      <p:sp>
        <p:nvSpPr>
          <p:cNvPr id="946" name="Google Shape;946;p100"/>
          <p:cNvSpPr txBox="1"/>
          <p:nvPr/>
        </p:nvSpPr>
        <p:spPr>
          <a:xfrm>
            <a:off x="628650" y="2099667"/>
            <a:ext cx="3258600" cy="2562900"/>
          </a:xfrm>
          <a:prstGeom prst="rect">
            <a:avLst/>
          </a:prstGeom>
          <a:noFill/>
          <a:ln>
            <a:noFill/>
          </a:ln>
        </p:spPr>
        <p:txBody>
          <a:bodyPr spcFirstLastPara="1" wrap="square" lIns="68575" tIns="34275" rIns="68575" bIns="34275" anchor="t" anchorCtr="0">
            <a:spAutoFit/>
          </a:bodyPr>
          <a:lstStyle/>
          <a:p>
            <a:pPr marL="723900" marR="0" lvl="1" indent="-393700" algn="l" rtl="0">
              <a:spcBef>
                <a:spcPts val="0"/>
              </a:spcBef>
              <a:spcAft>
                <a:spcPts val="0"/>
              </a:spcAft>
              <a:buClr>
                <a:schemeClr val="dk1"/>
              </a:buClr>
              <a:buSzPts val="1800"/>
              <a:buAutoNum type="arabicPeriod"/>
            </a:pPr>
            <a:r>
              <a:rPr lang="en-GB" sz="1800" i="0" u="none" strike="noStrike" cap="none">
                <a:solidFill>
                  <a:schemeClr val="dk1"/>
                </a:solidFill>
              </a:rPr>
              <a:t>(x, y) = (bank, that)</a:t>
            </a:r>
            <a:endParaRPr sz="1800"/>
          </a:p>
          <a:p>
            <a:pPr marL="723900" marR="0" lvl="1" indent="-393700" algn="l" rtl="0">
              <a:spcBef>
                <a:spcPts val="0"/>
              </a:spcBef>
              <a:spcAft>
                <a:spcPts val="0"/>
              </a:spcAft>
              <a:buClr>
                <a:schemeClr val="dk1"/>
              </a:buClr>
              <a:buSzPts val="1800"/>
              <a:buAutoNum type="arabicPeriod"/>
            </a:pPr>
            <a:r>
              <a:rPr lang="en-GB" sz="1800" i="0" u="none" strike="noStrike" cap="none">
                <a:solidFill>
                  <a:schemeClr val="dk1"/>
                </a:solidFill>
              </a:rPr>
              <a:t>(x, y) = (bank, holds)</a:t>
            </a:r>
            <a:endParaRPr sz="1800"/>
          </a:p>
          <a:p>
            <a:pPr marL="723900" marR="0" lvl="1" indent="-393700" algn="l" rtl="0">
              <a:spcBef>
                <a:spcPts val="0"/>
              </a:spcBef>
              <a:spcAft>
                <a:spcPts val="0"/>
              </a:spcAft>
              <a:buClr>
                <a:schemeClr val="dk1"/>
              </a:buClr>
              <a:buSzPts val="1800"/>
              <a:buAutoNum type="arabicPeriod"/>
            </a:pPr>
            <a:r>
              <a:rPr lang="en-GB" sz="1800" i="0" u="none" strike="noStrike" cap="none">
                <a:solidFill>
                  <a:schemeClr val="dk1"/>
                </a:solidFill>
              </a:rPr>
              <a:t>(x, y) = (holds, bank)</a:t>
            </a:r>
            <a:endParaRPr sz="1800"/>
          </a:p>
          <a:p>
            <a:pPr marL="723900" marR="0" lvl="1" indent="-393700" algn="l" rtl="0">
              <a:spcBef>
                <a:spcPts val="0"/>
              </a:spcBef>
              <a:spcAft>
                <a:spcPts val="0"/>
              </a:spcAft>
              <a:buClr>
                <a:schemeClr val="dk1"/>
              </a:buClr>
              <a:buSzPts val="1800"/>
              <a:buAutoNum type="arabicPeriod"/>
            </a:pPr>
            <a:r>
              <a:rPr lang="en-GB" sz="1800" i="0" u="none" strike="noStrike" cap="none">
                <a:solidFill>
                  <a:schemeClr val="dk1"/>
                </a:solidFill>
              </a:rPr>
              <a:t>(x, y) = (holds, the)</a:t>
            </a:r>
            <a:endParaRPr sz="1800"/>
          </a:p>
          <a:p>
            <a:pPr marL="723900" marR="0" lvl="1" indent="-393700" algn="l" rtl="0">
              <a:spcBef>
                <a:spcPts val="0"/>
              </a:spcBef>
              <a:spcAft>
                <a:spcPts val="0"/>
              </a:spcAft>
              <a:buClr>
                <a:schemeClr val="dk1"/>
              </a:buClr>
              <a:buSzPts val="1800"/>
              <a:buAutoNum type="arabicPeriod"/>
            </a:pPr>
            <a:r>
              <a:rPr lang="en-GB" sz="1800" i="0" u="none" strike="noStrike" cap="none">
                <a:solidFill>
                  <a:schemeClr val="dk1"/>
                </a:solidFill>
              </a:rPr>
              <a:t>(x, y) = (the, holds)</a:t>
            </a:r>
            <a:endParaRPr sz="1800"/>
          </a:p>
          <a:p>
            <a:pPr marL="723900" marR="0" lvl="1" indent="-393700" algn="l" rtl="0">
              <a:spcBef>
                <a:spcPts val="0"/>
              </a:spcBef>
              <a:spcAft>
                <a:spcPts val="0"/>
              </a:spcAft>
              <a:buClr>
                <a:schemeClr val="dk1"/>
              </a:buClr>
              <a:buSzPts val="1800"/>
              <a:buAutoNum type="arabicPeriod"/>
            </a:pPr>
            <a:r>
              <a:rPr lang="en-GB" sz="1800" i="0" u="none" strike="noStrike" cap="none">
                <a:solidFill>
                  <a:schemeClr val="dk1"/>
                </a:solidFill>
              </a:rPr>
              <a:t>(x, y) = (the, mortgage)</a:t>
            </a:r>
            <a:endParaRPr sz="1800"/>
          </a:p>
          <a:p>
            <a:pPr marL="723900" marR="0" lvl="1" indent="-393700" algn="l" rtl="0">
              <a:spcBef>
                <a:spcPts val="0"/>
              </a:spcBef>
              <a:spcAft>
                <a:spcPts val="0"/>
              </a:spcAft>
              <a:buClr>
                <a:schemeClr val="dk1"/>
              </a:buClr>
              <a:buSzPts val="1800"/>
              <a:buAutoNum type="arabicPeriod"/>
            </a:pPr>
            <a:r>
              <a:rPr lang="en-GB" sz="1800" i="0" u="none" strike="noStrike" cap="none">
                <a:solidFill>
                  <a:schemeClr val="dk1"/>
                </a:solidFill>
              </a:rPr>
              <a:t>(x, y) = (mortgage, the)</a:t>
            </a:r>
            <a:endParaRPr sz="1800"/>
          </a:p>
          <a:p>
            <a:pPr marL="723900" marR="0" lvl="1" indent="-393700" algn="l" rtl="0">
              <a:spcBef>
                <a:spcPts val="0"/>
              </a:spcBef>
              <a:spcAft>
                <a:spcPts val="0"/>
              </a:spcAft>
              <a:buClr>
                <a:schemeClr val="dk1"/>
              </a:buClr>
              <a:buSzPts val="1800"/>
              <a:buAutoNum type="arabicPeriod"/>
            </a:pPr>
            <a:r>
              <a:rPr lang="en-GB" sz="1800" i="0" u="none" strike="noStrike" cap="none">
                <a:solidFill>
                  <a:schemeClr val="dk1"/>
                </a:solidFill>
              </a:rPr>
              <a:t>…</a:t>
            </a:r>
            <a:endParaRPr sz="1800" i="0" u="none" strike="noStrike" cap="none">
              <a:solidFill>
                <a:schemeClr val="dk1"/>
              </a:solidFill>
            </a:endParaRPr>
          </a:p>
          <a:p>
            <a:pPr marL="0" marR="0" lvl="0" indent="0" algn="l" rtl="0">
              <a:spcBef>
                <a:spcPts val="0"/>
              </a:spcBef>
              <a:spcAft>
                <a:spcPts val="0"/>
              </a:spcAft>
              <a:buNone/>
            </a:pPr>
            <a:endParaRPr sz="1800">
              <a:solidFill>
                <a:srgbClr val="00B0F0"/>
              </a:solidFill>
            </a:endParaRPr>
          </a:p>
        </p:txBody>
      </p:sp>
      <p:sp>
        <p:nvSpPr>
          <p:cNvPr id="947" name="Google Shape;947;p100"/>
          <p:cNvSpPr txBox="1"/>
          <p:nvPr/>
        </p:nvSpPr>
        <p:spPr>
          <a:xfrm>
            <a:off x="1" y="4870133"/>
            <a:ext cx="2689800" cy="2847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GB" sz="1400" u="sng">
                <a:solidFill>
                  <a:schemeClr val="dk1"/>
                </a:solidFill>
                <a:hlinkClick r:id="rId3">
                  <a:extLst>
                    <a:ext uri="{A12FA001-AC4F-418D-AE19-62706E023703}">
                      <ahyp:hlinkClr xmlns:ahyp="http://schemas.microsoft.com/office/drawing/2018/hyperlinkcolor" val="tx"/>
                    </a:ext>
                  </a:extLst>
                </a:hlinkClick>
              </a:rPr>
              <a:t>Mikolov et al., 2013</a:t>
            </a:r>
            <a:endParaRPr sz="1400">
              <a:solidFill>
                <a:schemeClr val="dk1"/>
              </a:solidFill>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952"/>
        <p:cNvGrpSpPr/>
        <p:nvPr/>
      </p:nvGrpSpPr>
      <p:grpSpPr>
        <a:xfrm>
          <a:off x="0" y="0"/>
          <a:ext cx="0" cy="0"/>
          <a:chOff x="0" y="0"/>
          <a:chExt cx="0" cy="0"/>
        </a:xfrm>
      </p:grpSpPr>
      <p:sp>
        <p:nvSpPr>
          <p:cNvPr id="953" name="Google Shape;953;p101"/>
          <p:cNvSpPr txBox="1">
            <a:spLocks noGrp="1"/>
          </p:cNvSpPr>
          <p:nvPr>
            <p:ph type="title"/>
          </p:nvPr>
        </p:nvSpPr>
        <p:spPr>
          <a:xfrm>
            <a:off x="471488" y="205383"/>
            <a:ext cx="5915100" cy="7458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chemeClr val="dk1"/>
              </a:buClr>
              <a:buSzPts val="3300"/>
              <a:buFont typeface="Century Gothic"/>
              <a:buNone/>
            </a:pPr>
            <a:r>
              <a:rPr lang="en-GB"/>
              <a:t>Negative Sampling</a:t>
            </a:r>
            <a:endParaRPr/>
          </a:p>
        </p:txBody>
      </p:sp>
      <p:sp>
        <p:nvSpPr>
          <p:cNvPr id="954" name="Google Shape;954;p101"/>
          <p:cNvSpPr txBox="1">
            <a:spLocks noGrp="1"/>
          </p:cNvSpPr>
          <p:nvPr>
            <p:ph type="body" idx="1"/>
          </p:nvPr>
        </p:nvSpPr>
        <p:spPr>
          <a:xfrm>
            <a:off x="471500" y="1026925"/>
            <a:ext cx="7041900" cy="1072800"/>
          </a:xfrm>
          <a:prstGeom prst="rect">
            <a:avLst/>
          </a:prstGeom>
          <a:noFill/>
          <a:ln>
            <a:noFill/>
          </a:ln>
        </p:spPr>
        <p:txBody>
          <a:bodyPr spcFirstLastPara="1" wrap="square" lIns="68575" tIns="34275" rIns="68575" bIns="34275" anchor="t" anchorCtr="0">
            <a:normAutofit/>
          </a:bodyPr>
          <a:lstStyle/>
          <a:p>
            <a:pPr marL="0" lvl="0" indent="0" algn="l" rtl="0">
              <a:lnSpc>
                <a:spcPct val="90000"/>
              </a:lnSpc>
              <a:spcBef>
                <a:spcPts val="0"/>
              </a:spcBef>
              <a:spcAft>
                <a:spcPts val="0"/>
              </a:spcAft>
              <a:buClr>
                <a:schemeClr val="dk1"/>
              </a:buClr>
              <a:buSzPts val="2100"/>
              <a:buNone/>
            </a:pPr>
            <a:r>
              <a:rPr lang="en-GB"/>
              <a:t>Binary classification instead of multi-class classification</a:t>
            </a:r>
            <a:endParaRPr sz="1800" i="1">
              <a:solidFill>
                <a:srgbClr val="00B0F0"/>
              </a:solidFill>
            </a:endParaRPr>
          </a:p>
          <a:p>
            <a:pPr marL="0" lvl="0" indent="0" algn="l" rtl="0">
              <a:lnSpc>
                <a:spcPct val="90000"/>
              </a:lnSpc>
              <a:spcBef>
                <a:spcPts val="800"/>
              </a:spcBef>
              <a:spcAft>
                <a:spcPts val="0"/>
              </a:spcAft>
              <a:buClr>
                <a:srgbClr val="00B0F0"/>
              </a:buClr>
              <a:buSzPts val="1800"/>
              <a:buNone/>
            </a:pPr>
            <a:r>
              <a:rPr lang="en-GB" sz="1800" i="1">
                <a:solidFill>
                  <a:srgbClr val="00B0F0"/>
                </a:solidFill>
              </a:rPr>
              <a:t>		“… that bank holds the mortgage on my</a:t>
            </a:r>
            <a:r>
              <a:rPr lang="en-GB" i="1">
                <a:solidFill>
                  <a:srgbClr val="00B0F0"/>
                </a:solidFill>
              </a:rPr>
              <a:t> home…”</a:t>
            </a:r>
            <a:endParaRPr/>
          </a:p>
          <a:p>
            <a:pPr marL="0" lvl="0" indent="0" algn="l" rtl="0">
              <a:lnSpc>
                <a:spcPct val="90000"/>
              </a:lnSpc>
              <a:spcBef>
                <a:spcPts val="800"/>
              </a:spcBef>
              <a:spcAft>
                <a:spcPts val="1200"/>
              </a:spcAft>
              <a:buClr>
                <a:schemeClr val="dk1"/>
              </a:buClr>
              <a:buSzPts val="2100"/>
              <a:buNone/>
            </a:pPr>
            <a:endParaRPr/>
          </a:p>
        </p:txBody>
      </p:sp>
      <p:sp>
        <p:nvSpPr>
          <p:cNvPr id="955" name="Google Shape;955;p101"/>
          <p:cNvSpPr txBox="1"/>
          <p:nvPr/>
        </p:nvSpPr>
        <p:spPr>
          <a:xfrm>
            <a:off x="628650" y="2099675"/>
            <a:ext cx="3339900" cy="2562900"/>
          </a:xfrm>
          <a:prstGeom prst="rect">
            <a:avLst/>
          </a:prstGeom>
          <a:noFill/>
          <a:ln>
            <a:noFill/>
          </a:ln>
        </p:spPr>
        <p:txBody>
          <a:bodyPr spcFirstLastPara="1" wrap="square" lIns="68575" tIns="34275" rIns="68575" bIns="34275" anchor="t" anchorCtr="0">
            <a:spAutoFit/>
          </a:bodyPr>
          <a:lstStyle/>
          <a:p>
            <a:pPr marL="723900" marR="0" lvl="1" indent="-393700" algn="l" rtl="0">
              <a:spcBef>
                <a:spcPts val="0"/>
              </a:spcBef>
              <a:spcAft>
                <a:spcPts val="0"/>
              </a:spcAft>
              <a:buClr>
                <a:schemeClr val="dk1"/>
              </a:buClr>
              <a:buSzPts val="1800"/>
              <a:buAutoNum type="arabicPeriod"/>
            </a:pPr>
            <a:r>
              <a:rPr lang="en-GB" sz="1800" i="0" u="none" strike="noStrike" cap="none">
                <a:solidFill>
                  <a:schemeClr val="dk1"/>
                </a:solidFill>
              </a:rPr>
              <a:t>(x, y) = (bank, that)</a:t>
            </a:r>
            <a:endParaRPr sz="1800"/>
          </a:p>
          <a:p>
            <a:pPr marL="723900" marR="0" lvl="1" indent="-393700" algn="l" rtl="0">
              <a:spcBef>
                <a:spcPts val="0"/>
              </a:spcBef>
              <a:spcAft>
                <a:spcPts val="0"/>
              </a:spcAft>
              <a:buClr>
                <a:schemeClr val="dk1"/>
              </a:buClr>
              <a:buSzPts val="1800"/>
              <a:buAutoNum type="arabicPeriod"/>
            </a:pPr>
            <a:r>
              <a:rPr lang="en-GB" sz="1800" i="0" u="none" strike="noStrike" cap="none">
                <a:solidFill>
                  <a:schemeClr val="dk1"/>
                </a:solidFill>
              </a:rPr>
              <a:t>(x, y) = (bank, holds)</a:t>
            </a:r>
            <a:endParaRPr sz="1800"/>
          </a:p>
          <a:p>
            <a:pPr marL="723900" marR="0" lvl="1" indent="-393700" algn="l" rtl="0">
              <a:spcBef>
                <a:spcPts val="0"/>
              </a:spcBef>
              <a:spcAft>
                <a:spcPts val="0"/>
              </a:spcAft>
              <a:buClr>
                <a:schemeClr val="dk1"/>
              </a:buClr>
              <a:buSzPts val="1800"/>
              <a:buAutoNum type="arabicPeriod"/>
            </a:pPr>
            <a:r>
              <a:rPr lang="en-GB" sz="1800" i="0" u="none" strike="noStrike" cap="none">
                <a:solidFill>
                  <a:schemeClr val="dk1"/>
                </a:solidFill>
              </a:rPr>
              <a:t>(x, y) = (holds, bank)</a:t>
            </a:r>
            <a:endParaRPr sz="1800"/>
          </a:p>
          <a:p>
            <a:pPr marL="723900" marR="0" lvl="1" indent="-393700" algn="l" rtl="0">
              <a:spcBef>
                <a:spcPts val="0"/>
              </a:spcBef>
              <a:spcAft>
                <a:spcPts val="0"/>
              </a:spcAft>
              <a:buClr>
                <a:schemeClr val="dk1"/>
              </a:buClr>
              <a:buSzPts val="1800"/>
              <a:buAutoNum type="arabicPeriod"/>
            </a:pPr>
            <a:r>
              <a:rPr lang="en-GB" sz="1800" i="0" u="none" strike="noStrike" cap="none">
                <a:solidFill>
                  <a:schemeClr val="dk1"/>
                </a:solidFill>
              </a:rPr>
              <a:t>(x, y) = (holds, the)</a:t>
            </a:r>
            <a:endParaRPr sz="1800"/>
          </a:p>
          <a:p>
            <a:pPr marL="723900" marR="0" lvl="1" indent="-393700" algn="l" rtl="0">
              <a:spcBef>
                <a:spcPts val="0"/>
              </a:spcBef>
              <a:spcAft>
                <a:spcPts val="0"/>
              </a:spcAft>
              <a:buClr>
                <a:schemeClr val="dk1"/>
              </a:buClr>
              <a:buSzPts val="1800"/>
              <a:buAutoNum type="arabicPeriod"/>
            </a:pPr>
            <a:r>
              <a:rPr lang="en-GB" sz="1800" i="0" u="none" strike="noStrike" cap="none">
                <a:solidFill>
                  <a:schemeClr val="dk1"/>
                </a:solidFill>
              </a:rPr>
              <a:t>(x, y) = (the, holds)</a:t>
            </a:r>
            <a:endParaRPr sz="1800"/>
          </a:p>
          <a:p>
            <a:pPr marL="723900" marR="0" lvl="1" indent="-393700" algn="l" rtl="0">
              <a:spcBef>
                <a:spcPts val="0"/>
              </a:spcBef>
              <a:spcAft>
                <a:spcPts val="0"/>
              </a:spcAft>
              <a:buClr>
                <a:schemeClr val="dk1"/>
              </a:buClr>
              <a:buSzPts val="1800"/>
              <a:buAutoNum type="arabicPeriod"/>
            </a:pPr>
            <a:r>
              <a:rPr lang="en-GB" sz="1800" i="0" u="none" strike="noStrike" cap="none">
                <a:solidFill>
                  <a:schemeClr val="dk1"/>
                </a:solidFill>
              </a:rPr>
              <a:t>(x, y) = (the, mortgage)</a:t>
            </a:r>
            <a:endParaRPr sz="1800"/>
          </a:p>
          <a:p>
            <a:pPr marL="723900" marR="0" lvl="1" indent="-393700" algn="l" rtl="0">
              <a:spcBef>
                <a:spcPts val="0"/>
              </a:spcBef>
              <a:spcAft>
                <a:spcPts val="0"/>
              </a:spcAft>
              <a:buClr>
                <a:schemeClr val="dk1"/>
              </a:buClr>
              <a:buSzPts val="1800"/>
              <a:buAutoNum type="arabicPeriod"/>
            </a:pPr>
            <a:r>
              <a:rPr lang="en-GB" sz="1800" i="0" u="none" strike="noStrike" cap="none">
                <a:solidFill>
                  <a:schemeClr val="dk1"/>
                </a:solidFill>
              </a:rPr>
              <a:t>(x, y) = (mortgage, the)</a:t>
            </a:r>
            <a:endParaRPr sz="1800"/>
          </a:p>
          <a:p>
            <a:pPr marL="723900" marR="0" lvl="1" indent="-393700" algn="l" rtl="0">
              <a:spcBef>
                <a:spcPts val="0"/>
              </a:spcBef>
              <a:spcAft>
                <a:spcPts val="0"/>
              </a:spcAft>
              <a:buClr>
                <a:schemeClr val="dk1"/>
              </a:buClr>
              <a:buSzPts val="1800"/>
              <a:buAutoNum type="arabicPeriod"/>
            </a:pPr>
            <a:r>
              <a:rPr lang="en-GB" sz="1800" i="0" u="none" strike="noStrike" cap="none">
                <a:solidFill>
                  <a:schemeClr val="dk1"/>
                </a:solidFill>
              </a:rPr>
              <a:t>…</a:t>
            </a:r>
            <a:endParaRPr sz="1800" i="0" u="none" strike="noStrike" cap="none">
              <a:solidFill>
                <a:schemeClr val="dk1"/>
              </a:solidFill>
            </a:endParaRPr>
          </a:p>
          <a:p>
            <a:pPr marL="0" marR="0" lvl="0" indent="0" algn="l" rtl="0">
              <a:spcBef>
                <a:spcPts val="0"/>
              </a:spcBef>
              <a:spcAft>
                <a:spcPts val="0"/>
              </a:spcAft>
              <a:buNone/>
            </a:pPr>
            <a:endParaRPr sz="1800">
              <a:solidFill>
                <a:srgbClr val="00B0F0"/>
              </a:solidFill>
            </a:endParaRPr>
          </a:p>
        </p:txBody>
      </p:sp>
      <p:sp>
        <p:nvSpPr>
          <p:cNvPr id="956" name="Google Shape;956;p101"/>
          <p:cNvSpPr txBox="1"/>
          <p:nvPr/>
        </p:nvSpPr>
        <p:spPr>
          <a:xfrm>
            <a:off x="4670419" y="2185400"/>
            <a:ext cx="3612000" cy="2008800"/>
          </a:xfrm>
          <a:prstGeom prst="rect">
            <a:avLst/>
          </a:prstGeom>
          <a:noFill/>
          <a:ln>
            <a:noFill/>
          </a:ln>
        </p:spPr>
        <p:txBody>
          <a:bodyPr spcFirstLastPara="1" wrap="square" lIns="68575" tIns="34275" rIns="68575" bIns="34275" anchor="t" anchorCtr="0">
            <a:spAutoFit/>
          </a:bodyPr>
          <a:lstStyle/>
          <a:p>
            <a:pPr marL="723900" marR="0" lvl="1" indent="-393700" algn="l" rtl="0">
              <a:spcBef>
                <a:spcPts val="0"/>
              </a:spcBef>
              <a:spcAft>
                <a:spcPts val="0"/>
              </a:spcAft>
              <a:buClr>
                <a:schemeClr val="dk1"/>
              </a:buClr>
              <a:buSzPts val="1800"/>
              <a:buAutoNum type="arabicPeriod"/>
            </a:pPr>
            <a:r>
              <a:rPr lang="en-GB" sz="1800" i="0" u="none" strike="noStrike" cap="none">
                <a:solidFill>
                  <a:schemeClr val="dk1"/>
                </a:solidFill>
              </a:rPr>
              <a:t>(x, y) = ((bank, that), 1)</a:t>
            </a:r>
            <a:endParaRPr sz="1800"/>
          </a:p>
          <a:p>
            <a:pPr marL="723900" marR="0" lvl="1" indent="-393700" algn="l" rtl="0">
              <a:spcBef>
                <a:spcPts val="0"/>
              </a:spcBef>
              <a:spcAft>
                <a:spcPts val="0"/>
              </a:spcAft>
              <a:buClr>
                <a:schemeClr val="dk1"/>
              </a:buClr>
              <a:buSzPts val="1800"/>
              <a:buAutoNum type="arabicPeriod"/>
            </a:pPr>
            <a:r>
              <a:rPr lang="en-GB" sz="1800" i="0" u="none" strike="noStrike" cap="none">
                <a:solidFill>
                  <a:schemeClr val="dk1"/>
                </a:solidFill>
              </a:rPr>
              <a:t>(x, y) = (bank, table), 0)</a:t>
            </a:r>
            <a:endParaRPr sz="1800"/>
          </a:p>
          <a:p>
            <a:pPr marL="723900" marR="0" lvl="1" indent="-393700" algn="l" rtl="0">
              <a:spcBef>
                <a:spcPts val="0"/>
              </a:spcBef>
              <a:spcAft>
                <a:spcPts val="0"/>
              </a:spcAft>
              <a:buClr>
                <a:schemeClr val="dk1"/>
              </a:buClr>
              <a:buSzPts val="1800"/>
              <a:buAutoNum type="arabicPeriod"/>
            </a:pPr>
            <a:r>
              <a:rPr lang="en-GB" sz="1800" i="0" u="none" strike="noStrike" cap="none">
                <a:solidFill>
                  <a:schemeClr val="dk1"/>
                </a:solidFill>
              </a:rPr>
              <a:t>(x, y) = ((bank, eat), 0)</a:t>
            </a:r>
            <a:endParaRPr sz="1800"/>
          </a:p>
          <a:p>
            <a:pPr marL="723900" marR="0" lvl="1" indent="-393700" algn="l" rtl="0">
              <a:spcBef>
                <a:spcPts val="0"/>
              </a:spcBef>
              <a:spcAft>
                <a:spcPts val="0"/>
              </a:spcAft>
              <a:buClr>
                <a:schemeClr val="dk1"/>
              </a:buClr>
              <a:buSzPts val="1800"/>
              <a:buAutoNum type="arabicPeriod"/>
            </a:pPr>
            <a:r>
              <a:rPr lang="en-GB" sz="1800" i="0" u="none" strike="noStrike" cap="none">
                <a:solidFill>
                  <a:schemeClr val="dk1"/>
                </a:solidFill>
              </a:rPr>
              <a:t>(x, y) = ((holds, bank), 1)</a:t>
            </a:r>
            <a:endParaRPr sz="1800"/>
          </a:p>
          <a:p>
            <a:pPr marL="723900" marR="0" lvl="1" indent="-393700" algn="l" rtl="0">
              <a:spcBef>
                <a:spcPts val="0"/>
              </a:spcBef>
              <a:spcAft>
                <a:spcPts val="0"/>
              </a:spcAft>
              <a:buClr>
                <a:schemeClr val="dk1"/>
              </a:buClr>
              <a:buSzPts val="1800"/>
              <a:buAutoNum type="arabicPeriod"/>
            </a:pPr>
            <a:r>
              <a:rPr lang="en-GB" sz="1800" i="0" u="none" strike="noStrike" cap="none">
                <a:solidFill>
                  <a:schemeClr val="dk1"/>
                </a:solidFill>
              </a:rPr>
              <a:t>(x, y) = ((holds, quickly), 0)</a:t>
            </a:r>
            <a:endParaRPr sz="1800"/>
          </a:p>
          <a:p>
            <a:pPr marL="723900" marR="0" lvl="1" indent="-393700" algn="l" rtl="0">
              <a:spcBef>
                <a:spcPts val="0"/>
              </a:spcBef>
              <a:spcAft>
                <a:spcPts val="0"/>
              </a:spcAft>
              <a:buClr>
                <a:schemeClr val="dk1"/>
              </a:buClr>
              <a:buSzPts val="1800"/>
              <a:buAutoNum type="arabicPeriod"/>
            </a:pPr>
            <a:r>
              <a:rPr lang="en-GB" sz="1800" i="0" u="none" strike="noStrike" cap="none">
                <a:solidFill>
                  <a:schemeClr val="dk1"/>
                </a:solidFill>
              </a:rPr>
              <a:t>(x, y) = ((holds, which), 0)</a:t>
            </a:r>
            <a:endParaRPr sz="1800"/>
          </a:p>
          <a:p>
            <a:pPr marL="723900" marR="0" lvl="1" indent="-393700" algn="l" rtl="0">
              <a:spcBef>
                <a:spcPts val="0"/>
              </a:spcBef>
              <a:spcAft>
                <a:spcPts val="0"/>
              </a:spcAft>
              <a:buClr>
                <a:schemeClr val="dk1"/>
              </a:buClr>
              <a:buSzPts val="1800"/>
              <a:buAutoNum type="arabicPeriod"/>
            </a:pPr>
            <a:r>
              <a:rPr lang="en-GB" sz="1800" i="0" u="none" strike="noStrike" cap="none">
                <a:solidFill>
                  <a:schemeClr val="dk1"/>
                </a:solidFill>
              </a:rPr>
              <a:t>… </a:t>
            </a:r>
            <a:endParaRPr sz="1800" i="0" u="none" strike="noStrike" cap="none">
              <a:solidFill>
                <a:schemeClr val="dk1"/>
              </a:solidFill>
            </a:endParaRPr>
          </a:p>
        </p:txBody>
      </p:sp>
      <p:cxnSp>
        <p:nvCxnSpPr>
          <p:cNvPr id="957" name="Google Shape;957;p101"/>
          <p:cNvCxnSpPr/>
          <p:nvPr/>
        </p:nvCxnSpPr>
        <p:spPr>
          <a:xfrm>
            <a:off x="3886994" y="3000971"/>
            <a:ext cx="684900" cy="0"/>
          </a:xfrm>
          <a:prstGeom prst="straightConnector1">
            <a:avLst/>
          </a:prstGeom>
          <a:noFill/>
          <a:ln w="57150" cap="flat" cmpd="sng">
            <a:solidFill>
              <a:srgbClr val="00B0F0"/>
            </a:solidFill>
            <a:prstDash val="solid"/>
            <a:miter lim="800000"/>
            <a:headEnd type="none" w="sm" len="sm"/>
            <a:tailEnd type="triangle" w="med" len="med"/>
          </a:ln>
        </p:spPr>
      </p:cxnSp>
      <p:sp>
        <p:nvSpPr>
          <p:cNvPr id="958" name="Google Shape;958;p101"/>
          <p:cNvSpPr txBox="1"/>
          <p:nvPr/>
        </p:nvSpPr>
        <p:spPr>
          <a:xfrm>
            <a:off x="1" y="4870133"/>
            <a:ext cx="2689800" cy="2847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GB" sz="1400" u="sng">
                <a:solidFill>
                  <a:schemeClr val="dk1"/>
                </a:solidFill>
                <a:hlinkClick r:id="rId3">
                  <a:extLst>
                    <a:ext uri="{A12FA001-AC4F-418D-AE19-62706E023703}">
                      <ahyp:hlinkClr xmlns:ahyp="http://schemas.microsoft.com/office/drawing/2018/hyperlinkcolor" val="tx"/>
                    </a:ext>
                  </a:extLst>
                </a:hlinkClick>
              </a:rPr>
              <a:t>Mikolov et al., 2013</a:t>
            </a:r>
            <a:endParaRPr sz="1400">
              <a:solidFill>
                <a:schemeClr val="dk1"/>
              </a:solidFill>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963"/>
        <p:cNvGrpSpPr/>
        <p:nvPr/>
      </p:nvGrpSpPr>
      <p:grpSpPr>
        <a:xfrm>
          <a:off x="0" y="0"/>
          <a:ext cx="0" cy="0"/>
          <a:chOff x="0" y="0"/>
          <a:chExt cx="0" cy="0"/>
        </a:xfrm>
      </p:grpSpPr>
      <p:sp>
        <p:nvSpPr>
          <p:cNvPr id="964" name="Google Shape;964;p102"/>
          <p:cNvSpPr txBox="1">
            <a:spLocks noGrp="1"/>
          </p:cNvSpPr>
          <p:nvPr>
            <p:ph type="title"/>
          </p:nvPr>
        </p:nvSpPr>
        <p:spPr>
          <a:xfrm>
            <a:off x="471488" y="205383"/>
            <a:ext cx="5915100" cy="7458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chemeClr val="dk1"/>
              </a:buClr>
              <a:buSzPts val="3300"/>
              <a:buFont typeface="Century Gothic"/>
              <a:buNone/>
            </a:pPr>
            <a:r>
              <a:rPr lang="en-GB"/>
              <a:t>Skipgram with negative sampling</a:t>
            </a:r>
            <a:endParaRPr/>
          </a:p>
        </p:txBody>
      </p:sp>
      <p:sp>
        <p:nvSpPr>
          <p:cNvPr id="965" name="Google Shape;965;p102"/>
          <p:cNvSpPr/>
          <p:nvPr/>
        </p:nvSpPr>
        <p:spPr>
          <a:xfrm>
            <a:off x="5216577" y="3395275"/>
            <a:ext cx="2930100" cy="781800"/>
          </a:xfrm>
          <a:prstGeom prst="rect">
            <a:avLst/>
          </a:prstGeom>
          <a:solidFill>
            <a:schemeClr val="lt1"/>
          </a:solidFill>
          <a:ln w="12700" cap="flat" cmpd="sng">
            <a:solidFill>
              <a:schemeClr val="lt1"/>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entury Gothic"/>
              <a:ea typeface="Century Gothic"/>
              <a:cs typeface="Century Gothic"/>
              <a:sym typeface="Century Gothic"/>
            </a:endParaRPr>
          </a:p>
        </p:txBody>
      </p:sp>
      <p:sp>
        <p:nvSpPr>
          <p:cNvPr id="966" name="Google Shape;966;p102"/>
          <p:cNvSpPr txBox="1"/>
          <p:nvPr/>
        </p:nvSpPr>
        <p:spPr>
          <a:xfrm>
            <a:off x="1" y="4870133"/>
            <a:ext cx="2689800" cy="2847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GB" sz="1400" u="sng">
                <a:solidFill>
                  <a:schemeClr val="dk1"/>
                </a:solidFill>
                <a:hlinkClick r:id="rId3">
                  <a:extLst>
                    <a:ext uri="{A12FA001-AC4F-418D-AE19-62706E023703}">
                      <ahyp:hlinkClr xmlns:ahyp="http://schemas.microsoft.com/office/drawing/2018/hyperlinkcolor" val="tx"/>
                    </a:ext>
                  </a:extLst>
                </a:hlinkClick>
              </a:rPr>
              <a:t>Mikolov et al., 2013</a:t>
            </a:r>
            <a:endParaRPr sz="1400">
              <a:solidFill>
                <a:schemeClr val="dk1"/>
              </a:solidFill>
            </a:endParaRPr>
          </a:p>
        </p:txBody>
      </p:sp>
      <p:sp>
        <p:nvSpPr>
          <p:cNvPr id="967" name="Google Shape;967;p102"/>
          <p:cNvSpPr txBox="1"/>
          <p:nvPr/>
        </p:nvSpPr>
        <p:spPr>
          <a:xfrm>
            <a:off x="509425" y="1106200"/>
            <a:ext cx="6843600" cy="6234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GB" sz="1800">
                <a:solidFill>
                  <a:schemeClr val="dk2"/>
                </a:solidFill>
              </a:rPr>
              <a:t>Intuition: Increase the probability of </a:t>
            </a:r>
            <a:r>
              <a:rPr lang="en-GB" sz="1800">
                <a:solidFill>
                  <a:srgbClr val="00B0F0"/>
                </a:solidFill>
              </a:rPr>
              <a:t>pairs we saw</a:t>
            </a:r>
            <a:r>
              <a:rPr lang="en-GB" sz="1800">
                <a:solidFill>
                  <a:schemeClr val="dk2"/>
                </a:solidFill>
              </a:rPr>
              <a:t> and decrease the probability for </a:t>
            </a:r>
            <a:r>
              <a:rPr lang="en-GB" sz="1800">
                <a:solidFill>
                  <a:srgbClr val="00B0F0"/>
                </a:solidFill>
              </a:rPr>
              <a:t>everything else</a:t>
            </a:r>
            <a:r>
              <a:rPr lang="en-GB" sz="1800">
                <a:solidFill>
                  <a:schemeClr val="dk2"/>
                </a:solidFill>
              </a:rPr>
              <a:t>. </a:t>
            </a:r>
            <a:r>
              <a:rPr lang="en-GB" sz="1800">
                <a:solidFill>
                  <a:srgbClr val="C55A11"/>
                </a:solidFill>
              </a:rPr>
              <a:t>Why?</a:t>
            </a:r>
            <a:endParaRPr sz="180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972"/>
        <p:cNvGrpSpPr/>
        <p:nvPr/>
      </p:nvGrpSpPr>
      <p:grpSpPr>
        <a:xfrm>
          <a:off x="0" y="0"/>
          <a:ext cx="0" cy="0"/>
          <a:chOff x="0" y="0"/>
          <a:chExt cx="0" cy="0"/>
        </a:xfrm>
      </p:grpSpPr>
      <p:sp>
        <p:nvSpPr>
          <p:cNvPr id="973" name="Google Shape;973;p103"/>
          <p:cNvSpPr txBox="1">
            <a:spLocks noGrp="1"/>
          </p:cNvSpPr>
          <p:nvPr>
            <p:ph type="title"/>
          </p:nvPr>
        </p:nvSpPr>
        <p:spPr>
          <a:xfrm>
            <a:off x="471488" y="205383"/>
            <a:ext cx="5915100" cy="7458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chemeClr val="dk1"/>
              </a:buClr>
              <a:buSzPts val="3300"/>
              <a:buFont typeface="Century Gothic"/>
              <a:buNone/>
            </a:pPr>
            <a:r>
              <a:rPr lang="en-GB"/>
              <a:t>Skipgram with negative sampling</a:t>
            </a:r>
            <a:endParaRPr/>
          </a:p>
        </p:txBody>
      </p:sp>
      <p:sp>
        <p:nvSpPr>
          <p:cNvPr id="974" name="Google Shape;974;p103"/>
          <p:cNvSpPr txBox="1"/>
          <p:nvPr/>
        </p:nvSpPr>
        <p:spPr>
          <a:xfrm>
            <a:off x="1" y="4870133"/>
            <a:ext cx="2689800" cy="2847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GB" sz="1400" u="sng">
                <a:solidFill>
                  <a:schemeClr val="dk1"/>
                </a:solidFill>
                <a:hlinkClick r:id="rId3">
                  <a:extLst>
                    <a:ext uri="{A12FA001-AC4F-418D-AE19-62706E023703}">
                      <ahyp:hlinkClr xmlns:ahyp="http://schemas.microsoft.com/office/drawing/2018/hyperlinkcolor" val="tx"/>
                    </a:ext>
                  </a:extLst>
                </a:hlinkClick>
              </a:rPr>
              <a:t>Mikolov et al., 2013</a:t>
            </a:r>
            <a:endParaRPr sz="1400">
              <a:solidFill>
                <a:schemeClr val="dk1"/>
              </a:solidFill>
            </a:endParaRPr>
          </a:p>
        </p:txBody>
      </p:sp>
      <p:sp>
        <p:nvSpPr>
          <p:cNvPr id="975" name="Google Shape;975;p103"/>
          <p:cNvSpPr txBox="1"/>
          <p:nvPr/>
        </p:nvSpPr>
        <p:spPr>
          <a:xfrm>
            <a:off x="509425" y="1106200"/>
            <a:ext cx="6843600" cy="6234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GB" sz="1800">
                <a:solidFill>
                  <a:schemeClr val="dk2"/>
                </a:solidFill>
              </a:rPr>
              <a:t>Intuition: Increase the probability of </a:t>
            </a:r>
            <a:r>
              <a:rPr lang="en-GB" sz="1800">
                <a:solidFill>
                  <a:srgbClr val="00B0F0"/>
                </a:solidFill>
              </a:rPr>
              <a:t>pairs we saw</a:t>
            </a:r>
            <a:r>
              <a:rPr lang="en-GB" sz="1800">
                <a:solidFill>
                  <a:schemeClr val="dk2"/>
                </a:solidFill>
              </a:rPr>
              <a:t> and decrease the probability for </a:t>
            </a:r>
            <a:r>
              <a:rPr lang="en-GB" sz="1800">
                <a:solidFill>
                  <a:srgbClr val="00B0F0"/>
                </a:solidFill>
              </a:rPr>
              <a:t>everything else</a:t>
            </a:r>
            <a:r>
              <a:rPr lang="en-GB" sz="1800">
                <a:solidFill>
                  <a:schemeClr val="dk2"/>
                </a:solidFill>
              </a:rPr>
              <a:t>. </a:t>
            </a:r>
            <a:r>
              <a:rPr lang="en-GB" sz="1800">
                <a:solidFill>
                  <a:srgbClr val="C55A11"/>
                </a:solidFill>
              </a:rPr>
              <a:t>Why?</a:t>
            </a:r>
            <a:endParaRPr sz="1800"/>
          </a:p>
        </p:txBody>
      </p:sp>
      <p:grpSp>
        <p:nvGrpSpPr>
          <p:cNvPr id="976" name="Google Shape;976;p103"/>
          <p:cNvGrpSpPr/>
          <p:nvPr/>
        </p:nvGrpSpPr>
        <p:grpSpPr>
          <a:xfrm>
            <a:off x="551874" y="1909543"/>
            <a:ext cx="4409643" cy="445616"/>
            <a:chOff x="96125" y="1985862"/>
            <a:chExt cx="8512824" cy="860263"/>
          </a:xfrm>
        </p:grpSpPr>
        <p:pic>
          <p:nvPicPr>
            <p:cNvPr id="977" name="Google Shape;977;p103"/>
            <p:cNvPicPr preferRelativeResize="0"/>
            <p:nvPr/>
          </p:nvPicPr>
          <p:blipFill rotWithShape="1">
            <a:blip r:embed="rId4">
              <a:alphaModFix/>
            </a:blip>
            <a:srcRect t="9760" b="46290"/>
            <a:stretch/>
          </p:blipFill>
          <p:spPr>
            <a:xfrm>
              <a:off x="96125" y="1985862"/>
              <a:ext cx="8512824" cy="781800"/>
            </a:xfrm>
            <a:prstGeom prst="rect">
              <a:avLst/>
            </a:prstGeom>
            <a:noFill/>
            <a:ln>
              <a:noFill/>
            </a:ln>
          </p:spPr>
        </p:pic>
        <p:sp>
          <p:nvSpPr>
            <p:cNvPr id="978" name="Google Shape;978;p103"/>
            <p:cNvSpPr/>
            <p:nvPr/>
          </p:nvSpPr>
          <p:spPr>
            <a:xfrm>
              <a:off x="7501900" y="2706375"/>
              <a:ext cx="349200" cy="108000"/>
            </a:xfrm>
            <a:prstGeom prst="rect">
              <a:avLst/>
            </a:prstGeom>
            <a:solidFill>
              <a:schemeClr val="lt1"/>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979" name="Google Shape;979;p103"/>
            <p:cNvSpPr/>
            <p:nvPr/>
          </p:nvSpPr>
          <p:spPr>
            <a:xfrm>
              <a:off x="5031750" y="2738125"/>
              <a:ext cx="349200" cy="108000"/>
            </a:xfrm>
            <a:prstGeom prst="rect">
              <a:avLst/>
            </a:prstGeom>
            <a:solidFill>
              <a:schemeClr val="lt1"/>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grpSp>
        <p:nvGrpSpPr>
          <p:cNvPr id="980" name="Google Shape;980;p103"/>
          <p:cNvGrpSpPr/>
          <p:nvPr/>
        </p:nvGrpSpPr>
        <p:grpSpPr>
          <a:xfrm>
            <a:off x="533400" y="2395305"/>
            <a:ext cx="4409643" cy="452978"/>
            <a:chOff x="0" y="3709675"/>
            <a:chExt cx="8512824" cy="874475"/>
          </a:xfrm>
        </p:grpSpPr>
        <p:pic>
          <p:nvPicPr>
            <p:cNvPr id="981" name="Google Shape;981;p103"/>
            <p:cNvPicPr preferRelativeResize="0"/>
            <p:nvPr/>
          </p:nvPicPr>
          <p:blipFill rotWithShape="1">
            <a:blip r:embed="rId4">
              <a:alphaModFix/>
            </a:blip>
            <a:srcRect t="50909" b="5141"/>
            <a:stretch/>
          </p:blipFill>
          <p:spPr>
            <a:xfrm>
              <a:off x="0" y="3802350"/>
              <a:ext cx="8512824" cy="781800"/>
            </a:xfrm>
            <a:prstGeom prst="rect">
              <a:avLst/>
            </a:prstGeom>
            <a:noFill/>
            <a:ln>
              <a:noFill/>
            </a:ln>
          </p:spPr>
        </p:pic>
        <p:sp>
          <p:nvSpPr>
            <p:cNvPr id="982" name="Google Shape;982;p103"/>
            <p:cNvSpPr/>
            <p:nvPr/>
          </p:nvSpPr>
          <p:spPr>
            <a:xfrm>
              <a:off x="4968250" y="3709675"/>
              <a:ext cx="378300" cy="108000"/>
            </a:xfrm>
            <a:prstGeom prst="rect">
              <a:avLst/>
            </a:prstGeom>
            <a:solidFill>
              <a:schemeClr val="lt1"/>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983" name="Google Shape;983;p103"/>
            <p:cNvSpPr/>
            <p:nvPr/>
          </p:nvSpPr>
          <p:spPr>
            <a:xfrm>
              <a:off x="4263400" y="3766825"/>
              <a:ext cx="378300" cy="108000"/>
            </a:xfrm>
            <a:prstGeom prst="rect">
              <a:avLst/>
            </a:prstGeom>
            <a:solidFill>
              <a:schemeClr val="lt1"/>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984" name="Google Shape;984;p103"/>
            <p:cNvSpPr/>
            <p:nvPr/>
          </p:nvSpPr>
          <p:spPr>
            <a:xfrm>
              <a:off x="5419100" y="3747775"/>
              <a:ext cx="378300" cy="108000"/>
            </a:xfrm>
            <a:prstGeom prst="rect">
              <a:avLst/>
            </a:prstGeom>
            <a:solidFill>
              <a:schemeClr val="lt1"/>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989"/>
        <p:cNvGrpSpPr/>
        <p:nvPr/>
      </p:nvGrpSpPr>
      <p:grpSpPr>
        <a:xfrm>
          <a:off x="0" y="0"/>
          <a:ext cx="0" cy="0"/>
          <a:chOff x="0" y="0"/>
          <a:chExt cx="0" cy="0"/>
        </a:xfrm>
      </p:grpSpPr>
      <p:sp>
        <p:nvSpPr>
          <p:cNvPr id="990" name="Google Shape;990;p104"/>
          <p:cNvSpPr/>
          <p:nvPr/>
        </p:nvSpPr>
        <p:spPr>
          <a:xfrm>
            <a:off x="5678897" y="1723050"/>
            <a:ext cx="3212400" cy="1165800"/>
          </a:xfrm>
          <a:prstGeom prst="rect">
            <a:avLst/>
          </a:prstGeom>
          <a:solidFill>
            <a:srgbClr val="FFFFFF"/>
          </a:solidFill>
          <a:ln w="38100" cap="flat" cmpd="sng">
            <a:solidFill>
              <a:srgbClr val="00B0F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991" name="Google Shape;991;p104"/>
          <p:cNvSpPr txBox="1">
            <a:spLocks noGrp="1"/>
          </p:cNvSpPr>
          <p:nvPr>
            <p:ph type="title"/>
          </p:nvPr>
        </p:nvSpPr>
        <p:spPr>
          <a:xfrm>
            <a:off x="471488" y="205383"/>
            <a:ext cx="5915100" cy="7458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chemeClr val="dk1"/>
              </a:buClr>
              <a:buSzPts val="3300"/>
              <a:buFont typeface="Century Gothic"/>
              <a:buNone/>
            </a:pPr>
            <a:r>
              <a:rPr lang="en-GB"/>
              <a:t>Skipgram with negative sampling</a:t>
            </a:r>
            <a:endParaRPr/>
          </a:p>
        </p:txBody>
      </p:sp>
      <p:sp>
        <p:nvSpPr>
          <p:cNvPr id="992" name="Google Shape;992;p104"/>
          <p:cNvSpPr txBox="1"/>
          <p:nvPr/>
        </p:nvSpPr>
        <p:spPr>
          <a:xfrm>
            <a:off x="1" y="4870133"/>
            <a:ext cx="2689800" cy="2847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GB" sz="1400" u="sng">
                <a:solidFill>
                  <a:schemeClr val="dk1"/>
                </a:solidFill>
                <a:hlinkClick r:id="rId3">
                  <a:extLst>
                    <a:ext uri="{A12FA001-AC4F-418D-AE19-62706E023703}">
                      <ahyp:hlinkClr xmlns:ahyp="http://schemas.microsoft.com/office/drawing/2018/hyperlinkcolor" val="tx"/>
                    </a:ext>
                  </a:extLst>
                </a:hlinkClick>
              </a:rPr>
              <a:t>Mikolov et al., 2013</a:t>
            </a:r>
            <a:endParaRPr sz="1400">
              <a:solidFill>
                <a:schemeClr val="dk1"/>
              </a:solidFill>
            </a:endParaRPr>
          </a:p>
        </p:txBody>
      </p:sp>
      <p:sp>
        <p:nvSpPr>
          <p:cNvPr id="993" name="Google Shape;993;p104"/>
          <p:cNvSpPr txBox="1"/>
          <p:nvPr/>
        </p:nvSpPr>
        <p:spPr>
          <a:xfrm>
            <a:off x="509425" y="1106200"/>
            <a:ext cx="6843600" cy="6234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GB" sz="1800">
                <a:solidFill>
                  <a:schemeClr val="dk2"/>
                </a:solidFill>
              </a:rPr>
              <a:t>Intuition: Increase the probability of </a:t>
            </a:r>
            <a:r>
              <a:rPr lang="en-GB" sz="1800">
                <a:solidFill>
                  <a:srgbClr val="00B0F0"/>
                </a:solidFill>
              </a:rPr>
              <a:t>pairs we saw</a:t>
            </a:r>
            <a:r>
              <a:rPr lang="en-GB" sz="1800">
                <a:solidFill>
                  <a:schemeClr val="dk2"/>
                </a:solidFill>
              </a:rPr>
              <a:t> and decrease the probability for </a:t>
            </a:r>
            <a:r>
              <a:rPr lang="en-GB" sz="1800">
                <a:solidFill>
                  <a:srgbClr val="00B0F0"/>
                </a:solidFill>
              </a:rPr>
              <a:t>everything else</a:t>
            </a:r>
            <a:r>
              <a:rPr lang="en-GB" sz="1800">
                <a:solidFill>
                  <a:schemeClr val="dk2"/>
                </a:solidFill>
              </a:rPr>
              <a:t>. </a:t>
            </a:r>
            <a:r>
              <a:rPr lang="en-GB" sz="1800">
                <a:solidFill>
                  <a:srgbClr val="C55A11"/>
                </a:solidFill>
              </a:rPr>
              <a:t>Why?</a:t>
            </a:r>
            <a:endParaRPr sz="1800"/>
          </a:p>
        </p:txBody>
      </p:sp>
      <p:grpSp>
        <p:nvGrpSpPr>
          <p:cNvPr id="994" name="Google Shape;994;p104"/>
          <p:cNvGrpSpPr/>
          <p:nvPr/>
        </p:nvGrpSpPr>
        <p:grpSpPr>
          <a:xfrm>
            <a:off x="551874" y="1909543"/>
            <a:ext cx="4409643" cy="445616"/>
            <a:chOff x="96125" y="1985862"/>
            <a:chExt cx="8512824" cy="860263"/>
          </a:xfrm>
        </p:grpSpPr>
        <p:pic>
          <p:nvPicPr>
            <p:cNvPr id="995" name="Google Shape;995;p104"/>
            <p:cNvPicPr preferRelativeResize="0"/>
            <p:nvPr/>
          </p:nvPicPr>
          <p:blipFill rotWithShape="1">
            <a:blip r:embed="rId4">
              <a:alphaModFix/>
            </a:blip>
            <a:srcRect t="9760" b="46290"/>
            <a:stretch/>
          </p:blipFill>
          <p:spPr>
            <a:xfrm>
              <a:off x="96125" y="1985862"/>
              <a:ext cx="8512824" cy="781800"/>
            </a:xfrm>
            <a:prstGeom prst="rect">
              <a:avLst/>
            </a:prstGeom>
            <a:noFill/>
            <a:ln>
              <a:noFill/>
            </a:ln>
          </p:spPr>
        </p:pic>
        <p:sp>
          <p:nvSpPr>
            <p:cNvPr id="996" name="Google Shape;996;p104"/>
            <p:cNvSpPr/>
            <p:nvPr/>
          </p:nvSpPr>
          <p:spPr>
            <a:xfrm>
              <a:off x="7501900" y="2706375"/>
              <a:ext cx="349200" cy="108000"/>
            </a:xfrm>
            <a:prstGeom prst="rect">
              <a:avLst/>
            </a:prstGeom>
            <a:solidFill>
              <a:schemeClr val="lt1"/>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997" name="Google Shape;997;p104"/>
            <p:cNvSpPr/>
            <p:nvPr/>
          </p:nvSpPr>
          <p:spPr>
            <a:xfrm>
              <a:off x="5031750" y="2738125"/>
              <a:ext cx="349200" cy="108000"/>
            </a:xfrm>
            <a:prstGeom prst="rect">
              <a:avLst/>
            </a:prstGeom>
            <a:solidFill>
              <a:schemeClr val="lt1"/>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grpSp>
        <p:nvGrpSpPr>
          <p:cNvPr id="998" name="Google Shape;998;p104"/>
          <p:cNvGrpSpPr/>
          <p:nvPr/>
        </p:nvGrpSpPr>
        <p:grpSpPr>
          <a:xfrm>
            <a:off x="533400" y="2395305"/>
            <a:ext cx="4409643" cy="452978"/>
            <a:chOff x="0" y="3709675"/>
            <a:chExt cx="8512824" cy="874475"/>
          </a:xfrm>
        </p:grpSpPr>
        <p:pic>
          <p:nvPicPr>
            <p:cNvPr id="999" name="Google Shape;999;p104"/>
            <p:cNvPicPr preferRelativeResize="0"/>
            <p:nvPr/>
          </p:nvPicPr>
          <p:blipFill rotWithShape="1">
            <a:blip r:embed="rId4">
              <a:alphaModFix/>
            </a:blip>
            <a:srcRect t="50909" b="5141"/>
            <a:stretch/>
          </p:blipFill>
          <p:spPr>
            <a:xfrm>
              <a:off x="0" y="3802350"/>
              <a:ext cx="8512824" cy="781800"/>
            </a:xfrm>
            <a:prstGeom prst="rect">
              <a:avLst/>
            </a:prstGeom>
            <a:noFill/>
            <a:ln>
              <a:noFill/>
            </a:ln>
          </p:spPr>
        </p:pic>
        <p:sp>
          <p:nvSpPr>
            <p:cNvPr id="1000" name="Google Shape;1000;p104"/>
            <p:cNvSpPr/>
            <p:nvPr/>
          </p:nvSpPr>
          <p:spPr>
            <a:xfrm>
              <a:off x="4968250" y="3709675"/>
              <a:ext cx="378300" cy="108000"/>
            </a:xfrm>
            <a:prstGeom prst="rect">
              <a:avLst/>
            </a:prstGeom>
            <a:solidFill>
              <a:schemeClr val="lt1"/>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001" name="Google Shape;1001;p104"/>
            <p:cNvSpPr/>
            <p:nvPr/>
          </p:nvSpPr>
          <p:spPr>
            <a:xfrm>
              <a:off x="4263400" y="3766825"/>
              <a:ext cx="378300" cy="108000"/>
            </a:xfrm>
            <a:prstGeom prst="rect">
              <a:avLst/>
            </a:prstGeom>
            <a:solidFill>
              <a:schemeClr val="lt1"/>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002" name="Google Shape;1002;p104"/>
            <p:cNvSpPr/>
            <p:nvPr/>
          </p:nvSpPr>
          <p:spPr>
            <a:xfrm>
              <a:off x="5419100" y="3747775"/>
              <a:ext cx="378300" cy="108000"/>
            </a:xfrm>
            <a:prstGeom prst="rect">
              <a:avLst/>
            </a:prstGeom>
            <a:solidFill>
              <a:schemeClr val="lt1"/>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pic>
        <p:nvPicPr>
          <p:cNvPr id="1003" name="Google Shape;1003;p104" descr="p_\theta (o|c) = \frac{\exp(u_o^T v_c)}{\sum_{w\in \mathcal{V}} \exp(u_w^T v_c)}" title="MathEquation,#000000"/>
          <p:cNvPicPr preferRelativeResize="0"/>
          <p:nvPr/>
        </p:nvPicPr>
        <p:blipFill>
          <a:blip r:embed="rId5">
            <a:alphaModFix/>
          </a:blip>
          <a:stretch>
            <a:fillRect/>
          </a:stretch>
        </p:blipFill>
        <p:spPr>
          <a:xfrm>
            <a:off x="5870645" y="2183851"/>
            <a:ext cx="2882754" cy="623400"/>
          </a:xfrm>
          <a:prstGeom prst="rect">
            <a:avLst/>
          </a:prstGeom>
          <a:noFill/>
          <a:ln>
            <a:noFill/>
          </a:ln>
        </p:spPr>
      </p:pic>
      <p:sp>
        <p:nvSpPr>
          <p:cNvPr id="1004" name="Google Shape;1004;p104"/>
          <p:cNvSpPr txBox="1"/>
          <p:nvPr/>
        </p:nvSpPr>
        <p:spPr>
          <a:xfrm>
            <a:off x="5714957" y="1783625"/>
            <a:ext cx="3170100" cy="3462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GB" sz="1800">
                <a:solidFill>
                  <a:schemeClr val="dk2"/>
                </a:solidFill>
              </a:rPr>
              <a:t>Skipgram’s model (reminder):</a:t>
            </a:r>
            <a:endParaRPr sz="180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1009"/>
        <p:cNvGrpSpPr/>
        <p:nvPr/>
      </p:nvGrpSpPr>
      <p:grpSpPr>
        <a:xfrm>
          <a:off x="0" y="0"/>
          <a:ext cx="0" cy="0"/>
          <a:chOff x="0" y="0"/>
          <a:chExt cx="0" cy="0"/>
        </a:xfrm>
      </p:grpSpPr>
      <p:sp>
        <p:nvSpPr>
          <p:cNvPr id="1010" name="Google Shape;1010;p105"/>
          <p:cNvSpPr/>
          <p:nvPr/>
        </p:nvSpPr>
        <p:spPr>
          <a:xfrm>
            <a:off x="5678897" y="1723050"/>
            <a:ext cx="3212400" cy="1165800"/>
          </a:xfrm>
          <a:prstGeom prst="rect">
            <a:avLst/>
          </a:prstGeom>
          <a:solidFill>
            <a:srgbClr val="FFFFFF"/>
          </a:solidFill>
          <a:ln w="38100" cap="flat" cmpd="sng">
            <a:solidFill>
              <a:srgbClr val="00B0F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011" name="Google Shape;1011;p105"/>
          <p:cNvSpPr txBox="1">
            <a:spLocks noGrp="1"/>
          </p:cNvSpPr>
          <p:nvPr>
            <p:ph type="title"/>
          </p:nvPr>
        </p:nvSpPr>
        <p:spPr>
          <a:xfrm>
            <a:off x="471488" y="205383"/>
            <a:ext cx="5915100" cy="7458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chemeClr val="dk1"/>
              </a:buClr>
              <a:buSzPts val="3300"/>
              <a:buFont typeface="Century Gothic"/>
              <a:buNone/>
            </a:pPr>
            <a:r>
              <a:rPr lang="en-GB"/>
              <a:t>Skipgram with negative sampling</a:t>
            </a:r>
            <a:endParaRPr/>
          </a:p>
        </p:txBody>
      </p:sp>
      <p:sp>
        <p:nvSpPr>
          <p:cNvPr id="1012" name="Google Shape;1012;p105"/>
          <p:cNvSpPr txBox="1"/>
          <p:nvPr/>
        </p:nvSpPr>
        <p:spPr>
          <a:xfrm>
            <a:off x="1" y="4870133"/>
            <a:ext cx="2689800" cy="2847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GB" sz="1400" u="sng">
                <a:solidFill>
                  <a:schemeClr val="dk1"/>
                </a:solidFill>
                <a:hlinkClick r:id="rId3">
                  <a:extLst>
                    <a:ext uri="{A12FA001-AC4F-418D-AE19-62706E023703}">
                      <ahyp:hlinkClr xmlns:ahyp="http://schemas.microsoft.com/office/drawing/2018/hyperlinkcolor" val="tx"/>
                    </a:ext>
                  </a:extLst>
                </a:hlinkClick>
              </a:rPr>
              <a:t>Mikolov et al., 2013</a:t>
            </a:r>
            <a:endParaRPr sz="1400">
              <a:solidFill>
                <a:schemeClr val="dk1"/>
              </a:solidFill>
            </a:endParaRPr>
          </a:p>
        </p:txBody>
      </p:sp>
      <p:sp>
        <p:nvSpPr>
          <p:cNvPr id="1013" name="Google Shape;1013;p105"/>
          <p:cNvSpPr txBox="1"/>
          <p:nvPr/>
        </p:nvSpPr>
        <p:spPr>
          <a:xfrm>
            <a:off x="509425" y="1106200"/>
            <a:ext cx="6843600" cy="6234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GB" sz="1800">
                <a:solidFill>
                  <a:schemeClr val="dk2"/>
                </a:solidFill>
              </a:rPr>
              <a:t>Intuition: Increase the probability of </a:t>
            </a:r>
            <a:r>
              <a:rPr lang="en-GB" sz="1800">
                <a:solidFill>
                  <a:srgbClr val="00B0F0"/>
                </a:solidFill>
              </a:rPr>
              <a:t>pairs we saw</a:t>
            </a:r>
            <a:r>
              <a:rPr lang="en-GB" sz="1800">
                <a:solidFill>
                  <a:schemeClr val="dk2"/>
                </a:solidFill>
              </a:rPr>
              <a:t> and decrease the probability for </a:t>
            </a:r>
            <a:r>
              <a:rPr lang="en-GB" sz="1800">
                <a:solidFill>
                  <a:srgbClr val="00B0F0"/>
                </a:solidFill>
              </a:rPr>
              <a:t>everything else</a:t>
            </a:r>
            <a:r>
              <a:rPr lang="en-GB" sz="1800">
                <a:solidFill>
                  <a:schemeClr val="dk2"/>
                </a:solidFill>
              </a:rPr>
              <a:t>. </a:t>
            </a:r>
            <a:r>
              <a:rPr lang="en-GB" sz="1800">
                <a:solidFill>
                  <a:srgbClr val="C55A11"/>
                </a:solidFill>
              </a:rPr>
              <a:t>Why?</a:t>
            </a:r>
            <a:endParaRPr sz="1800"/>
          </a:p>
        </p:txBody>
      </p:sp>
      <p:grpSp>
        <p:nvGrpSpPr>
          <p:cNvPr id="1014" name="Google Shape;1014;p105"/>
          <p:cNvGrpSpPr/>
          <p:nvPr/>
        </p:nvGrpSpPr>
        <p:grpSpPr>
          <a:xfrm>
            <a:off x="551874" y="1909543"/>
            <a:ext cx="4409643" cy="445616"/>
            <a:chOff x="96125" y="1985862"/>
            <a:chExt cx="8512824" cy="860263"/>
          </a:xfrm>
        </p:grpSpPr>
        <p:pic>
          <p:nvPicPr>
            <p:cNvPr id="1015" name="Google Shape;1015;p105"/>
            <p:cNvPicPr preferRelativeResize="0"/>
            <p:nvPr/>
          </p:nvPicPr>
          <p:blipFill rotWithShape="1">
            <a:blip r:embed="rId4">
              <a:alphaModFix/>
            </a:blip>
            <a:srcRect t="9760" b="46290"/>
            <a:stretch/>
          </p:blipFill>
          <p:spPr>
            <a:xfrm>
              <a:off x="96125" y="1985862"/>
              <a:ext cx="8512824" cy="781800"/>
            </a:xfrm>
            <a:prstGeom prst="rect">
              <a:avLst/>
            </a:prstGeom>
            <a:noFill/>
            <a:ln>
              <a:noFill/>
            </a:ln>
          </p:spPr>
        </p:pic>
        <p:sp>
          <p:nvSpPr>
            <p:cNvPr id="1016" name="Google Shape;1016;p105"/>
            <p:cNvSpPr/>
            <p:nvPr/>
          </p:nvSpPr>
          <p:spPr>
            <a:xfrm>
              <a:off x="7501900" y="2706375"/>
              <a:ext cx="349200" cy="108000"/>
            </a:xfrm>
            <a:prstGeom prst="rect">
              <a:avLst/>
            </a:prstGeom>
            <a:solidFill>
              <a:schemeClr val="lt1"/>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017" name="Google Shape;1017;p105"/>
            <p:cNvSpPr/>
            <p:nvPr/>
          </p:nvSpPr>
          <p:spPr>
            <a:xfrm>
              <a:off x="5031750" y="2738125"/>
              <a:ext cx="349200" cy="108000"/>
            </a:xfrm>
            <a:prstGeom prst="rect">
              <a:avLst/>
            </a:prstGeom>
            <a:solidFill>
              <a:schemeClr val="lt1"/>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grpSp>
        <p:nvGrpSpPr>
          <p:cNvPr id="1018" name="Google Shape;1018;p105"/>
          <p:cNvGrpSpPr/>
          <p:nvPr/>
        </p:nvGrpSpPr>
        <p:grpSpPr>
          <a:xfrm>
            <a:off x="533400" y="2395305"/>
            <a:ext cx="4409643" cy="452978"/>
            <a:chOff x="0" y="3709675"/>
            <a:chExt cx="8512824" cy="874475"/>
          </a:xfrm>
        </p:grpSpPr>
        <p:pic>
          <p:nvPicPr>
            <p:cNvPr id="1019" name="Google Shape;1019;p105"/>
            <p:cNvPicPr preferRelativeResize="0"/>
            <p:nvPr/>
          </p:nvPicPr>
          <p:blipFill rotWithShape="1">
            <a:blip r:embed="rId4">
              <a:alphaModFix/>
            </a:blip>
            <a:srcRect t="50909" b="5141"/>
            <a:stretch/>
          </p:blipFill>
          <p:spPr>
            <a:xfrm>
              <a:off x="0" y="3802350"/>
              <a:ext cx="8512824" cy="781800"/>
            </a:xfrm>
            <a:prstGeom prst="rect">
              <a:avLst/>
            </a:prstGeom>
            <a:noFill/>
            <a:ln>
              <a:noFill/>
            </a:ln>
          </p:spPr>
        </p:pic>
        <p:sp>
          <p:nvSpPr>
            <p:cNvPr id="1020" name="Google Shape;1020;p105"/>
            <p:cNvSpPr/>
            <p:nvPr/>
          </p:nvSpPr>
          <p:spPr>
            <a:xfrm>
              <a:off x="4968250" y="3709675"/>
              <a:ext cx="378300" cy="108000"/>
            </a:xfrm>
            <a:prstGeom prst="rect">
              <a:avLst/>
            </a:prstGeom>
            <a:solidFill>
              <a:schemeClr val="lt1"/>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021" name="Google Shape;1021;p105"/>
            <p:cNvSpPr/>
            <p:nvPr/>
          </p:nvSpPr>
          <p:spPr>
            <a:xfrm>
              <a:off x="4263400" y="3766825"/>
              <a:ext cx="378300" cy="108000"/>
            </a:xfrm>
            <a:prstGeom prst="rect">
              <a:avLst/>
            </a:prstGeom>
            <a:solidFill>
              <a:schemeClr val="lt1"/>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022" name="Google Shape;1022;p105"/>
            <p:cNvSpPr/>
            <p:nvPr/>
          </p:nvSpPr>
          <p:spPr>
            <a:xfrm>
              <a:off x="5419100" y="3747775"/>
              <a:ext cx="378300" cy="108000"/>
            </a:xfrm>
            <a:prstGeom prst="rect">
              <a:avLst/>
            </a:prstGeom>
            <a:solidFill>
              <a:schemeClr val="lt1"/>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pic>
        <p:nvPicPr>
          <p:cNvPr id="1023" name="Google Shape;1023;p105" descr="p_\theta (o|c) = \frac{\exp(u_o^T v_c)}{\sum_{w\in \mathcal{V}} \exp(u_w^T v_c)}" title="MathEquation,#000000"/>
          <p:cNvPicPr preferRelativeResize="0"/>
          <p:nvPr/>
        </p:nvPicPr>
        <p:blipFill>
          <a:blip r:embed="rId5">
            <a:alphaModFix/>
          </a:blip>
          <a:stretch>
            <a:fillRect/>
          </a:stretch>
        </p:blipFill>
        <p:spPr>
          <a:xfrm>
            <a:off x="5870645" y="2183851"/>
            <a:ext cx="2882754" cy="623400"/>
          </a:xfrm>
          <a:prstGeom prst="rect">
            <a:avLst/>
          </a:prstGeom>
          <a:noFill/>
          <a:ln>
            <a:noFill/>
          </a:ln>
        </p:spPr>
      </p:pic>
      <p:sp>
        <p:nvSpPr>
          <p:cNvPr id="1024" name="Google Shape;1024;p105"/>
          <p:cNvSpPr txBox="1"/>
          <p:nvPr/>
        </p:nvSpPr>
        <p:spPr>
          <a:xfrm>
            <a:off x="5714957" y="1783625"/>
            <a:ext cx="3170100" cy="3462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GB" sz="1800">
                <a:solidFill>
                  <a:schemeClr val="dk2"/>
                </a:solidFill>
              </a:rPr>
              <a:t>Skipgram’s model (reminder):</a:t>
            </a:r>
            <a:endParaRPr sz="1800"/>
          </a:p>
        </p:txBody>
      </p:sp>
      <p:pic>
        <p:nvPicPr>
          <p:cNvPr id="1025" name="Google Shape;1025;p105"/>
          <p:cNvPicPr preferRelativeResize="0"/>
          <p:nvPr/>
        </p:nvPicPr>
        <p:blipFill>
          <a:blip r:embed="rId6">
            <a:alphaModFix/>
          </a:blip>
          <a:stretch>
            <a:fillRect/>
          </a:stretch>
        </p:blipFill>
        <p:spPr>
          <a:xfrm>
            <a:off x="461150" y="3515525"/>
            <a:ext cx="8514690" cy="1113175"/>
          </a:xfrm>
          <a:prstGeom prst="rect">
            <a:avLst/>
          </a:prstGeom>
          <a:noFill/>
          <a:ln>
            <a:noFill/>
          </a:ln>
        </p:spPr>
      </p:pic>
      <p:sp>
        <p:nvSpPr>
          <p:cNvPr id="1026" name="Google Shape;1026;p105"/>
          <p:cNvSpPr/>
          <p:nvPr/>
        </p:nvSpPr>
        <p:spPr>
          <a:xfrm>
            <a:off x="5553075" y="3642350"/>
            <a:ext cx="3276600" cy="847800"/>
          </a:xfrm>
          <a:prstGeom prst="rect">
            <a:avLst/>
          </a:pr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027" name="Google Shape;1027;p105"/>
          <p:cNvSpPr txBox="1"/>
          <p:nvPr/>
        </p:nvSpPr>
        <p:spPr>
          <a:xfrm>
            <a:off x="3775062" y="4422729"/>
            <a:ext cx="2127000" cy="6234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GB" sz="1800">
                <a:solidFill>
                  <a:srgbClr val="00B0F0"/>
                </a:solidFill>
              </a:rPr>
              <a:t>Pairs we saw </a:t>
            </a:r>
            <a:br>
              <a:rPr lang="en-GB" sz="1800">
                <a:solidFill>
                  <a:srgbClr val="00B0F0"/>
                </a:solidFill>
              </a:rPr>
            </a:br>
            <a:r>
              <a:rPr lang="en-GB" sz="1800">
                <a:solidFill>
                  <a:srgbClr val="00B0F0"/>
                </a:solidFill>
              </a:rPr>
              <a:t>(positive samples)</a:t>
            </a:r>
            <a:endParaRPr sz="1800"/>
          </a:p>
        </p:txBody>
      </p:sp>
      <p:cxnSp>
        <p:nvCxnSpPr>
          <p:cNvPr id="1028" name="Google Shape;1028;p105"/>
          <p:cNvCxnSpPr/>
          <p:nvPr/>
        </p:nvCxnSpPr>
        <p:spPr>
          <a:xfrm rot="10800000">
            <a:off x="3440551" y="4345247"/>
            <a:ext cx="339300" cy="390000"/>
          </a:xfrm>
          <a:prstGeom prst="straightConnector1">
            <a:avLst/>
          </a:prstGeom>
          <a:noFill/>
          <a:ln w="9525" cap="flat" cmpd="sng">
            <a:solidFill>
              <a:srgbClr val="00B0F0"/>
            </a:solidFill>
            <a:prstDash val="solid"/>
            <a:miter lim="800000"/>
            <a:headEnd type="none" w="sm" len="sm"/>
            <a:tailEnd type="triangle" w="med" len="med"/>
          </a:ln>
        </p:spPr>
      </p:cxn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1033"/>
        <p:cNvGrpSpPr/>
        <p:nvPr/>
      </p:nvGrpSpPr>
      <p:grpSpPr>
        <a:xfrm>
          <a:off x="0" y="0"/>
          <a:ext cx="0" cy="0"/>
          <a:chOff x="0" y="0"/>
          <a:chExt cx="0" cy="0"/>
        </a:xfrm>
      </p:grpSpPr>
      <p:pic>
        <p:nvPicPr>
          <p:cNvPr id="1034" name="Google Shape;1034;p106"/>
          <p:cNvPicPr preferRelativeResize="0"/>
          <p:nvPr/>
        </p:nvPicPr>
        <p:blipFill>
          <a:blip r:embed="rId3">
            <a:alphaModFix/>
          </a:blip>
          <a:stretch>
            <a:fillRect/>
          </a:stretch>
        </p:blipFill>
        <p:spPr>
          <a:xfrm>
            <a:off x="461150" y="3515525"/>
            <a:ext cx="8514690" cy="1113175"/>
          </a:xfrm>
          <a:prstGeom prst="rect">
            <a:avLst/>
          </a:prstGeom>
          <a:noFill/>
          <a:ln>
            <a:noFill/>
          </a:ln>
        </p:spPr>
      </p:pic>
      <p:pic>
        <p:nvPicPr>
          <p:cNvPr id="1035" name="Google Shape;1035;p106"/>
          <p:cNvPicPr preferRelativeResize="0"/>
          <p:nvPr/>
        </p:nvPicPr>
        <p:blipFill>
          <a:blip r:embed="rId3">
            <a:alphaModFix/>
          </a:blip>
          <a:stretch>
            <a:fillRect/>
          </a:stretch>
        </p:blipFill>
        <p:spPr>
          <a:xfrm>
            <a:off x="461150" y="3515525"/>
            <a:ext cx="8514690" cy="1113175"/>
          </a:xfrm>
          <a:prstGeom prst="rect">
            <a:avLst/>
          </a:prstGeom>
          <a:noFill/>
          <a:ln>
            <a:noFill/>
          </a:ln>
        </p:spPr>
      </p:pic>
      <p:sp>
        <p:nvSpPr>
          <p:cNvPr id="1037" name="Google Shape;1037;p106"/>
          <p:cNvSpPr/>
          <p:nvPr/>
        </p:nvSpPr>
        <p:spPr>
          <a:xfrm>
            <a:off x="5678897" y="1723050"/>
            <a:ext cx="3212400" cy="1165800"/>
          </a:xfrm>
          <a:prstGeom prst="rect">
            <a:avLst/>
          </a:prstGeom>
          <a:solidFill>
            <a:srgbClr val="FFFFFF"/>
          </a:solidFill>
          <a:ln w="38100" cap="flat" cmpd="sng">
            <a:solidFill>
              <a:srgbClr val="00B0F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038" name="Google Shape;1038;p106"/>
          <p:cNvSpPr txBox="1">
            <a:spLocks noGrp="1"/>
          </p:cNvSpPr>
          <p:nvPr>
            <p:ph type="title"/>
          </p:nvPr>
        </p:nvSpPr>
        <p:spPr>
          <a:xfrm>
            <a:off x="471488" y="205383"/>
            <a:ext cx="5915100" cy="7458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chemeClr val="dk1"/>
              </a:buClr>
              <a:buSzPts val="3300"/>
              <a:buFont typeface="Century Gothic"/>
              <a:buNone/>
            </a:pPr>
            <a:r>
              <a:rPr lang="en-GB"/>
              <a:t>Skipgram with negative sampling</a:t>
            </a:r>
            <a:endParaRPr/>
          </a:p>
        </p:txBody>
      </p:sp>
      <p:sp>
        <p:nvSpPr>
          <p:cNvPr id="1039" name="Google Shape;1039;p106"/>
          <p:cNvSpPr txBox="1"/>
          <p:nvPr/>
        </p:nvSpPr>
        <p:spPr>
          <a:xfrm>
            <a:off x="1" y="4870133"/>
            <a:ext cx="2689800" cy="2847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GB" sz="1400" u="sng">
                <a:solidFill>
                  <a:schemeClr val="dk1"/>
                </a:solidFill>
                <a:hlinkClick r:id="rId4">
                  <a:extLst>
                    <a:ext uri="{A12FA001-AC4F-418D-AE19-62706E023703}">
                      <ahyp:hlinkClr xmlns:ahyp="http://schemas.microsoft.com/office/drawing/2018/hyperlinkcolor" val="tx"/>
                    </a:ext>
                  </a:extLst>
                </a:hlinkClick>
              </a:rPr>
              <a:t>Mikolov et al., 2013</a:t>
            </a:r>
            <a:endParaRPr sz="1400">
              <a:solidFill>
                <a:schemeClr val="dk1"/>
              </a:solidFill>
            </a:endParaRPr>
          </a:p>
        </p:txBody>
      </p:sp>
      <p:sp>
        <p:nvSpPr>
          <p:cNvPr id="1040" name="Google Shape;1040;p106"/>
          <p:cNvSpPr txBox="1"/>
          <p:nvPr/>
        </p:nvSpPr>
        <p:spPr>
          <a:xfrm>
            <a:off x="509425" y="1106200"/>
            <a:ext cx="6843600" cy="6234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GB" sz="1800">
                <a:solidFill>
                  <a:schemeClr val="dk2"/>
                </a:solidFill>
              </a:rPr>
              <a:t>Intuition: Increase the probability of </a:t>
            </a:r>
            <a:r>
              <a:rPr lang="en-GB" sz="1800">
                <a:solidFill>
                  <a:srgbClr val="00B0F0"/>
                </a:solidFill>
              </a:rPr>
              <a:t>pairs we saw</a:t>
            </a:r>
            <a:r>
              <a:rPr lang="en-GB" sz="1800">
                <a:solidFill>
                  <a:schemeClr val="dk2"/>
                </a:solidFill>
              </a:rPr>
              <a:t> and decrease the probability for </a:t>
            </a:r>
            <a:r>
              <a:rPr lang="en-GB" sz="1800">
                <a:solidFill>
                  <a:srgbClr val="00B0F0"/>
                </a:solidFill>
              </a:rPr>
              <a:t>everything else</a:t>
            </a:r>
            <a:r>
              <a:rPr lang="en-GB" sz="1800">
                <a:solidFill>
                  <a:schemeClr val="dk2"/>
                </a:solidFill>
              </a:rPr>
              <a:t>. </a:t>
            </a:r>
            <a:r>
              <a:rPr lang="en-GB" sz="1800">
                <a:solidFill>
                  <a:srgbClr val="C55A11"/>
                </a:solidFill>
              </a:rPr>
              <a:t>Why?</a:t>
            </a:r>
            <a:endParaRPr sz="1800"/>
          </a:p>
        </p:txBody>
      </p:sp>
      <p:grpSp>
        <p:nvGrpSpPr>
          <p:cNvPr id="1041" name="Google Shape;1041;p106"/>
          <p:cNvGrpSpPr/>
          <p:nvPr/>
        </p:nvGrpSpPr>
        <p:grpSpPr>
          <a:xfrm>
            <a:off x="551874" y="1909543"/>
            <a:ext cx="4409643" cy="445616"/>
            <a:chOff x="96125" y="1985862"/>
            <a:chExt cx="8512824" cy="860263"/>
          </a:xfrm>
        </p:grpSpPr>
        <p:pic>
          <p:nvPicPr>
            <p:cNvPr id="1042" name="Google Shape;1042;p106"/>
            <p:cNvPicPr preferRelativeResize="0"/>
            <p:nvPr/>
          </p:nvPicPr>
          <p:blipFill rotWithShape="1">
            <a:blip r:embed="rId5">
              <a:alphaModFix/>
            </a:blip>
            <a:srcRect t="9760" b="46290"/>
            <a:stretch/>
          </p:blipFill>
          <p:spPr>
            <a:xfrm>
              <a:off x="96125" y="1985862"/>
              <a:ext cx="8512824" cy="781800"/>
            </a:xfrm>
            <a:prstGeom prst="rect">
              <a:avLst/>
            </a:prstGeom>
            <a:noFill/>
            <a:ln>
              <a:noFill/>
            </a:ln>
          </p:spPr>
        </p:pic>
        <p:sp>
          <p:nvSpPr>
            <p:cNvPr id="1043" name="Google Shape;1043;p106"/>
            <p:cNvSpPr/>
            <p:nvPr/>
          </p:nvSpPr>
          <p:spPr>
            <a:xfrm>
              <a:off x="7501900" y="2706375"/>
              <a:ext cx="349200" cy="108000"/>
            </a:xfrm>
            <a:prstGeom prst="rect">
              <a:avLst/>
            </a:prstGeom>
            <a:solidFill>
              <a:schemeClr val="lt1"/>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044" name="Google Shape;1044;p106"/>
            <p:cNvSpPr/>
            <p:nvPr/>
          </p:nvSpPr>
          <p:spPr>
            <a:xfrm>
              <a:off x="5031750" y="2738125"/>
              <a:ext cx="349200" cy="108000"/>
            </a:xfrm>
            <a:prstGeom prst="rect">
              <a:avLst/>
            </a:prstGeom>
            <a:solidFill>
              <a:schemeClr val="lt1"/>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grpSp>
        <p:nvGrpSpPr>
          <p:cNvPr id="1045" name="Google Shape;1045;p106"/>
          <p:cNvGrpSpPr/>
          <p:nvPr/>
        </p:nvGrpSpPr>
        <p:grpSpPr>
          <a:xfrm>
            <a:off x="533400" y="2395305"/>
            <a:ext cx="4409643" cy="452978"/>
            <a:chOff x="0" y="3709675"/>
            <a:chExt cx="8512824" cy="874475"/>
          </a:xfrm>
        </p:grpSpPr>
        <p:pic>
          <p:nvPicPr>
            <p:cNvPr id="1046" name="Google Shape;1046;p106"/>
            <p:cNvPicPr preferRelativeResize="0"/>
            <p:nvPr/>
          </p:nvPicPr>
          <p:blipFill rotWithShape="1">
            <a:blip r:embed="rId5">
              <a:alphaModFix/>
            </a:blip>
            <a:srcRect t="50909" b="5141"/>
            <a:stretch/>
          </p:blipFill>
          <p:spPr>
            <a:xfrm>
              <a:off x="0" y="3802350"/>
              <a:ext cx="8512824" cy="781800"/>
            </a:xfrm>
            <a:prstGeom prst="rect">
              <a:avLst/>
            </a:prstGeom>
            <a:noFill/>
            <a:ln>
              <a:noFill/>
            </a:ln>
          </p:spPr>
        </p:pic>
        <p:sp>
          <p:nvSpPr>
            <p:cNvPr id="1047" name="Google Shape;1047;p106"/>
            <p:cNvSpPr/>
            <p:nvPr/>
          </p:nvSpPr>
          <p:spPr>
            <a:xfrm>
              <a:off x="4968250" y="3709675"/>
              <a:ext cx="378300" cy="108000"/>
            </a:xfrm>
            <a:prstGeom prst="rect">
              <a:avLst/>
            </a:prstGeom>
            <a:solidFill>
              <a:schemeClr val="lt1"/>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048" name="Google Shape;1048;p106"/>
            <p:cNvSpPr/>
            <p:nvPr/>
          </p:nvSpPr>
          <p:spPr>
            <a:xfrm>
              <a:off x="4263400" y="3766825"/>
              <a:ext cx="378300" cy="108000"/>
            </a:xfrm>
            <a:prstGeom prst="rect">
              <a:avLst/>
            </a:prstGeom>
            <a:solidFill>
              <a:schemeClr val="lt1"/>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049" name="Google Shape;1049;p106"/>
            <p:cNvSpPr/>
            <p:nvPr/>
          </p:nvSpPr>
          <p:spPr>
            <a:xfrm>
              <a:off x="5419100" y="3747775"/>
              <a:ext cx="378300" cy="108000"/>
            </a:xfrm>
            <a:prstGeom prst="rect">
              <a:avLst/>
            </a:prstGeom>
            <a:solidFill>
              <a:schemeClr val="lt1"/>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pic>
        <p:nvPicPr>
          <p:cNvPr id="1050" name="Google Shape;1050;p106" descr="p_\theta (o|c) = \frac{\exp(u_o^T v_c)}{\sum_{w\in \mathcal{V}} \exp(u_w^T v_c)}" title="MathEquation,#000000"/>
          <p:cNvPicPr preferRelativeResize="0"/>
          <p:nvPr/>
        </p:nvPicPr>
        <p:blipFill>
          <a:blip r:embed="rId6">
            <a:alphaModFix/>
          </a:blip>
          <a:stretch>
            <a:fillRect/>
          </a:stretch>
        </p:blipFill>
        <p:spPr>
          <a:xfrm>
            <a:off x="5870645" y="2183851"/>
            <a:ext cx="2882754" cy="623400"/>
          </a:xfrm>
          <a:prstGeom prst="rect">
            <a:avLst/>
          </a:prstGeom>
          <a:noFill/>
          <a:ln>
            <a:noFill/>
          </a:ln>
        </p:spPr>
      </p:pic>
      <p:sp>
        <p:nvSpPr>
          <p:cNvPr id="1051" name="Google Shape;1051;p106"/>
          <p:cNvSpPr txBox="1"/>
          <p:nvPr/>
        </p:nvSpPr>
        <p:spPr>
          <a:xfrm>
            <a:off x="5714957" y="1783625"/>
            <a:ext cx="3170100" cy="3462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GB" sz="1800">
                <a:solidFill>
                  <a:schemeClr val="dk2"/>
                </a:solidFill>
              </a:rPr>
              <a:t>Skipgram’s model (reminder):</a:t>
            </a:r>
            <a:endParaRPr sz="1800"/>
          </a:p>
        </p:txBody>
      </p:sp>
      <p:sp>
        <p:nvSpPr>
          <p:cNvPr id="1052" name="Google Shape;1052;p106"/>
          <p:cNvSpPr txBox="1"/>
          <p:nvPr/>
        </p:nvSpPr>
        <p:spPr>
          <a:xfrm>
            <a:off x="3775062" y="4422729"/>
            <a:ext cx="2127000" cy="6234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GB" sz="1800">
                <a:solidFill>
                  <a:srgbClr val="00B0F0"/>
                </a:solidFill>
              </a:rPr>
              <a:t>Pairs we saw </a:t>
            </a:r>
            <a:br>
              <a:rPr lang="en-GB" sz="1800">
                <a:solidFill>
                  <a:srgbClr val="00B0F0"/>
                </a:solidFill>
              </a:rPr>
            </a:br>
            <a:r>
              <a:rPr lang="en-GB" sz="1800">
                <a:solidFill>
                  <a:srgbClr val="00B0F0"/>
                </a:solidFill>
              </a:rPr>
              <a:t>(positive samples)</a:t>
            </a:r>
            <a:endParaRPr sz="1800"/>
          </a:p>
        </p:txBody>
      </p:sp>
      <p:cxnSp>
        <p:nvCxnSpPr>
          <p:cNvPr id="1053" name="Google Shape;1053;p106"/>
          <p:cNvCxnSpPr/>
          <p:nvPr/>
        </p:nvCxnSpPr>
        <p:spPr>
          <a:xfrm rot="10800000">
            <a:off x="3440551" y="4345247"/>
            <a:ext cx="339300" cy="390000"/>
          </a:xfrm>
          <a:prstGeom prst="straightConnector1">
            <a:avLst/>
          </a:prstGeom>
          <a:noFill/>
          <a:ln w="9525" cap="flat" cmpd="sng">
            <a:solidFill>
              <a:srgbClr val="00B0F0"/>
            </a:solidFill>
            <a:prstDash val="solid"/>
            <a:miter lim="800000"/>
            <a:headEnd type="none" w="sm" len="sm"/>
            <a:tailEnd type="triangle" w="med" len="med"/>
          </a:ln>
        </p:spPr>
      </p:cxnSp>
      <p:sp>
        <p:nvSpPr>
          <p:cNvPr id="1054" name="Google Shape;1054;p106"/>
          <p:cNvSpPr txBox="1"/>
          <p:nvPr/>
        </p:nvSpPr>
        <p:spPr>
          <a:xfrm>
            <a:off x="6626412" y="4422729"/>
            <a:ext cx="2127000" cy="6234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GB" sz="1800" i="1">
                <a:solidFill>
                  <a:srgbClr val="00B0F0"/>
                </a:solidFill>
              </a:rPr>
              <a:t>k</a:t>
            </a:r>
            <a:r>
              <a:rPr lang="en-GB" sz="1800">
                <a:solidFill>
                  <a:srgbClr val="00B0F0"/>
                </a:solidFill>
              </a:rPr>
              <a:t> random words </a:t>
            </a:r>
            <a:br>
              <a:rPr lang="en-GB" sz="1800">
                <a:solidFill>
                  <a:srgbClr val="00B0F0"/>
                </a:solidFill>
              </a:rPr>
            </a:br>
            <a:r>
              <a:rPr lang="en-GB" sz="1800">
                <a:solidFill>
                  <a:srgbClr val="00B0F0"/>
                </a:solidFill>
              </a:rPr>
              <a:t>(negative samples)</a:t>
            </a:r>
            <a:endParaRPr sz="1800"/>
          </a:p>
        </p:txBody>
      </p:sp>
      <p:cxnSp>
        <p:nvCxnSpPr>
          <p:cNvPr id="1055" name="Google Shape;1055;p106"/>
          <p:cNvCxnSpPr/>
          <p:nvPr/>
        </p:nvCxnSpPr>
        <p:spPr>
          <a:xfrm rot="10800000">
            <a:off x="6347701" y="4439147"/>
            <a:ext cx="283500" cy="296100"/>
          </a:xfrm>
          <a:prstGeom prst="straightConnector1">
            <a:avLst/>
          </a:prstGeom>
          <a:noFill/>
          <a:ln w="9525" cap="flat" cmpd="sng">
            <a:solidFill>
              <a:srgbClr val="00B0F0"/>
            </a:solidFill>
            <a:prstDash val="solid"/>
            <a:miter lim="800000"/>
            <a:headEnd type="none" w="sm" len="sm"/>
            <a:tailEnd type="triangle" w="med" len="med"/>
          </a:ln>
        </p:spPr>
      </p:cxnSp>
      <p:sp>
        <p:nvSpPr>
          <p:cNvPr id="1056" name="Google Shape;1056;p106"/>
          <p:cNvSpPr txBox="1"/>
          <p:nvPr/>
        </p:nvSpPr>
        <p:spPr>
          <a:xfrm>
            <a:off x="-11798" y="4331376"/>
            <a:ext cx="1638000" cy="482700"/>
          </a:xfrm>
          <a:prstGeom prst="rect">
            <a:avLst/>
          </a:prstGeom>
          <a:blipFill rotWithShape="1">
            <a:blip r:embed="rId7">
              <a:alphaModFix/>
            </a:blip>
            <a:stretch>
              <a:fillRect t="-61538" r="-2889" b="-55758"/>
            </a:stretch>
          </a:blipFill>
          <a:ln>
            <a:noFill/>
          </a:ln>
        </p:spPr>
        <p:txBody>
          <a:bodyPr spcFirstLastPara="1" wrap="square" lIns="68575" tIns="34275" rIns="68575" bIns="34275" anchor="t" anchorCtr="0">
            <a:noAutofit/>
          </a:bodyPr>
          <a:lstStyle/>
          <a:p>
            <a:pPr marL="0" marR="0" lvl="0" indent="0" algn="l" rtl="0">
              <a:spcBef>
                <a:spcPts val="0"/>
              </a:spcBef>
              <a:spcAft>
                <a:spcPts val="0"/>
              </a:spcAft>
              <a:buNone/>
            </a:pPr>
            <a:r>
              <a:rPr lang="en-GB" sz="1400">
                <a:latin typeface="Century Gothic"/>
                <a:ea typeface="Century Gothic"/>
                <a:cs typeface="Century Gothic"/>
                <a:sym typeface="Century Gothic"/>
              </a:rPr>
              <a:t> </a:t>
            </a:r>
            <a:endParaRPr sz="110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1063"/>
        <p:cNvGrpSpPr/>
        <p:nvPr/>
      </p:nvGrpSpPr>
      <p:grpSpPr>
        <a:xfrm>
          <a:off x="0" y="0"/>
          <a:ext cx="0" cy="0"/>
          <a:chOff x="0" y="0"/>
          <a:chExt cx="0" cy="0"/>
        </a:xfrm>
      </p:grpSpPr>
      <p:sp>
        <p:nvSpPr>
          <p:cNvPr id="1064" name="Google Shape;1064;p107"/>
          <p:cNvSpPr txBox="1">
            <a:spLocks noGrp="1"/>
          </p:cNvSpPr>
          <p:nvPr>
            <p:ph type="title"/>
          </p:nvPr>
        </p:nvSpPr>
        <p:spPr>
          <a:xfrm>
            <a:off x="471488" y="205383"/>
            <a:ext cx="5915100" cy="7458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chemeClr val="dk1"/>
              </a:buClr>
              <a:buSzPts val="3300"/>
              <a:buFont typeface="Century Gothic"/>
              <a:buNone/>
            </a:pPr>
            <a:r>
              <a:rPr lang="en-GB"/>
              <a:t>Contrastive learning</a:t>
            </a:r>
            <a:endParaRPr/>
          </a:p>
        </p:txBody>
      </p:sp>
      <p:sp>
        <p:nvSpPr>
          <p:cNvPr id="1065" name="Google Shape;1065;p107"/>
          <p:cNvSpPr txBox="1">
            <a:spLocks noGrp="1"/>
          </p:cNvSpPr>
          <p:nvPr>
            <p:ph type="body" idx="1"/>
          </p:nvPr>
        </p:nvSpPr>
        <p:spPr>
          <a:xfrm>
            <a:off x="471500" y="1103125"/>
            <a:ext cx="7955100" cy="2615100"/>
          </a:xfrm>
          <a:prstGeom prst="rect">
            <a:avLst/>
          </a:prstGeom>
          <a:noFill/>
          <a:ln>
            <a:noFill/>
          </a:ln>
        </p:spPr>
        <p:txBody>
          <a:bodyPr spcFirstLastPara="1" wrap="square" lIns="68575" tIns="34275" rIns="68575" bIns="34275" anchor="t" anchorCtr="0">
            <a:noAutofit/>
          </a:bodyPr>
          <a:lstStyle/>
          <a:p>
            <a:pPr marL="457200" lvl="0" indent="-342900" algn="l" rtl="0">
              <a:lnSpc>
                <a:spcPct val="150000"/>
              </a:lnSpc>
              <a:spcBef>
                <a:spcPts val="0"/>
              </a:spcBef>
              <a:spcAft>
                <a:spcPts val="0"/>
              </a:spcAft>
              <a:buSzPts val="1800"/>
              <a:buChar char="●"/>
            </a:pPr>
            <a:r>
              <a:rPr lang="en-GB"/>
              <a:t>Skipgram with negative sampling is an instance of </a:t>
            </a:r>
            <a:r>
              <a:rPr lang="en-GB">
                <a:solidFill>
                  <a:srgbClr val="00B0F0"/>
                </a:solidFill>
              </a:rPr>
              <a:t>contrastive learning</a:t>
            </a:r>
            <a:endParaRPr>
              <a:solidFill>
                <a:srgbClr val="00B0F0"/>
              </a:solidFill>
            </a:endParaRPr>
          </a:p>
          <a:p>
            <a:pPr marL="914400" lvl="1" indent="-342900" algn="l" rtl="0">
              <a:lnSpc>
                <a:spcPct val="150000"/>
              </a:lnSpc>
              <a:spcBef>
                <a:spcPts val="0"/>
              </a:spcBef>
              <a:spcAft>
                <a:spcPts val="0"/>
              </a:spcAft>
              <a:buSzPts val="1800"/>
              <a:buChar char="○"/>
            </a:pPr>
            <a:r>
              <a:rPr lang="en-GB"/>
              <a:t>Data is </a:t>
            </a:r>
            <a:r>
              <a:rPr lang="en-GB">
                <a:solidFill>
                  <a:srgbClr val="00B0F0"/>
                </a:solidFill>
              </a:rPr>
              <a:t>pairs</a:t>
            </a:r>
            <a:r>
              <a:rPr lang="en-GB"/>
              <a:t> (x,y) that are </a:t>
            </a:r>
            <a:r>
              <a:rPr lang="en-GB">
                <a:solidFill>
                  <a:srgbClr val="00B0F0"/>
                </a:solidFill>
              </a:rPr>
              <a:t>similar</a:t>
            </a:r>
            <a:r>
              <a:rPr lang="en-GB"/>
              <a:t> to each other</a:t>
            </a:r>
            <a:endParaRPr/>
          </a:p>
          <a:p>
            <a:pPr marL="914400" marR="0" lvl="1" indent="-342900" algn="l" rtl="0">
              <a:lnSpc>
                <a:spcPct val="150000"/>
              </a:lnSpc>
              <a:spcBef>
                <a:spcPts val="0"/>
              </a:spcBef>
              <a:spcAft>
                <a:spcPts val="0"/>
              </a:spcAft>
              <a:buSzPts val="1800"/>
              <a:buChar char="○"/>
            </a:pPr>
            <a:r>
              <a:rPr lang="en-GB"/>
              <a:t>You can assume that </a:t>
            </a:r>
            <a:r>
              <a:rPr lang="en-GB">
                <a:solidFill>
                  <a:srgbClr val="00B0F0"/>
                </a:solidFill>
              </a:rPr>
              <a:t>random pairs</a:t>
            </a:r>
            <a:r>
              <a:rPr lang="en-GB"/>
              <a:t> should be </a:t>
            </a:r>
            <a:r>
              <a:rPr lang="en-GB">
                <a:solidFill>
                  <a:srgbClr val="00B0F0"/>
                </a:solidFill>
              </a:rPr>
              <a:t>dissimilar</a:t>
            </a:r>
            <a:br>
              <a:rPr lang="en-GB">
                <a:solidFill>
                  <a:srgbClr val="00B0F0"/>
                </a:solidFill>
              </a:rPr>
            </a:br>
            <a:endParaRPr>
              <a:solidFill>
                <a:srgbClr val="00B0F0"/>
              </a:solidFill>
            </a:endParaRPr>
          </a:p>
          <a:p>
            <a:pPr marL="457200" lvl="0" indent="-342900" algn="l" rtl="0">
              <a:lnSpc>
                <a:spcPct val="150000"/>
              </a:lnSpc>
              <a:spcBef>
                <a:spcPts val="0"/>
              </a:spcBef>
              <a:spcAft>
                <a:spcPts val="0"/>
              </a:spcAft>
              <a:buSzPts val="1800"/>
              <a:buChar char="●"/>
            </a:pPr>
            <a:r>
              <a:rPr lang="en-GB"/>
              <a:t>Very popular nowadays for representation learning in vision (CLIP) and for information retrieval (DPR)</a:t>
            </a:r>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289BAD64-9948-0CEB-B7CE-D2988DCC2822}"/>
              </a:ext>
            </a:extLst>
          </p:cNvPr>
          <p:cNvSpPr>
            <a:spLocks noGrp="1"/>
          </p:cNvSpPr>
          <p:nvPr>
            <p:ph type="title"/>
          </p:nvPr>
        </p:nvSpPr>
        <p:spPr/>
        <p:txBody>
          <a:bodyPr>
            <a:normAutofit fontScale="90000"/>
          </a:bodyPr>
          <a:lstStyle/>
          <a:p>
            <a:r>
              <a:rPr lang="en-US" dirty="0"/>
              <a:t>Word2Vec as a Neural Network</a:t>
            </a:r>
          </a:p>
        </p:txBody>
      </p:sp>
      <mc:AlternateContent xmlns:mc="http://schemas.openxmlformats.org/markup-compatibility/2006" xmlns:a14="http://schemas.microsoft.com/office/drawing/2010/main">
        <mc:Choice Requires="a14">
          <p:sp>
            <p:nvSpPr>
              <p:cNvPr id="7" name="Text Placeholder 6">
                <a:extLst>
                  <a:ext uri="{FF2B5EF4-FFF2-40B4-BE49-F238E27FC236}">
                    <a16:creationId xmlns:a16="http://schemas.microsoft.com/office/drawing/2014/main" id="{CBA61B5F-F90C-7FE1-5B35-D74B2253ABCE}"/>
                  </a:ext>
                </a:extLst>
              </p:cNvPr>
              <p:cNvSpPr>
                <a:spLocks noGrp="1"/>
              </p:cNvSpPr>
              <p:nvPr>
                <p:ph type="body" idx="1"/>
              </p:nvPr>
            </p:nvSpPr>
            <p:spPr/>
            <p:txBody>
              <a:bodyPr/>
              <a:lstStyle/>
              <a:p>
                <a:r>
                  <a:rPr lang="en-US" b="1" dirty="0"/>
                  <a:t>Skipgram:</a:t>
                </a:r>
              </a:p>
              <a:p>
                <a:endParaRPr lang="he-IL" b="1" dirty="0"/>
              </a:p>
              <a:p>
                <a:r>
                  <a:rPr lang="en-US" dirty="0">
                    <a:latin typeface="Cambria Math" panose="02040503050406030204" pitchFamily="18" charset="0"/>
                  </a:rPr>
                  <a:t>input = center word c</a:t>
                </a:r>
                <a:endParaRPr lang="en-US" b="0" dirty="0">
                  <a:latin typeface="Cambria Math" panose="02040503050406030204" pitchFamily="18" charset="0"/>
                </a:endParaRPr>
              </a:p>
              <a:p>
                <a14:m>
                  <m:oMath xmlns:m="http://schemas.openxmlformats.org/officeDocument/2006/math">
                    <m:r>
                      <m:rPr>
                        <m:sty m:val="p"/>
                      </m:rPr>
                      <a:rPr lang="en-US" b="0" i="0" smtClean="0">
                        <a:latin typeface="Cambria Math" panose="02040503050406030204" pitchFamily="18" charset="0"/>
                      </a:rPr>
                      <m:t>output</m:t>
                    </m:r>
                    <m:r>
                      <a:rPr lang="en-US" b="0" i="1" smtClean="0">
                        <a:latin typeface="Cambria Math" panose="02040503050406030204" pitchFamily="18" charset="0"/>
                      </a:rPr>
                      <m:t>=</m:t>
                    </m:r>
                    <m:r>
                      <a:rPr lang="en-US" b="0" i="1" smtClean="0">
                        <a:latin typeface="Cambria Math" panose="02040503050406030204" pitchFamily="18" charset="0"/>
                      </a:rPr>
                      <m:t>𝑠𝑜𝑓𝑡𝑚𝑎𝑥</m:t>
                    </m:r>
                    <m:d>
                      <m:dPr>
                        <m:ctrlPr>
                          <a:rPr lang="en-US" i="1" smtClean="0">
                            <a:latin typeface="Cambria Math" panose="02040503050406030204" pitchFamily="18" charset="0"/>
                          </a:rPr>
                        </m:ctrlPr>
                      </m:dPr>
                      <m:e>
                        <m:sSup>
                          <m:sSupPr>
                            <m:ctrlPr>
                              <a:rPr lang="en-US" i="1" smtClean="0">
                                <a:latin typeface="Cambria Math" panose="02040503050406030204" pitchFamily="18" charset="0"/>
                              </a:rPr>
                            </m:ctrlPr>
                          </m:sSupPr>
                          <m:e>
                            <m:r>
                              <a:rPr lang="en-US" b="0" i="1" smtClean="0">
                                <a:latin typeface="Cambria Math" panose="02040503050406030204" pitchFamily="18" charset="0"/>
                              </a:rPr>
                              <m:t>𝑈</m:t>
                            </m:r>
                          </m:e>
                          <m:sup>
                            <m:r>
                              <a:rPr lang="en-US" b="0" i="1" smtClean="0">
                                <a:latin typeface="Cambria Math" panose="02040503050406030204" pitchFamily="18" charset="0"/>
                              </a:rPr>
                              <m:t>𝑇</m:t>
                            </m:r>
                          </m:sup>
                        </m:sSup>
                        <m:r>
                          <a:rPr lang="en-US" b="0" i="1" smtClean="0">
                            <a:latin typeface="Cambria Math" panose="02040503050406030204" pitchFamily="18" charset="0"/>
                          </a:rPr>
                          <m:t>𝑉</m:t>
                        </m:r>
                        <m:sSub>
                          <m:sSubPr>
                            <m:ctrlPr>
                              <a:rPr lang="en-US"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𝑐</m:t>
                            </m:r>
                          </m:sub>
                        </m:sSub>
                      </m:e>
                    </m:d>
                  </m:oMath>
                </a14:m>
                <a:endParaRPr lang="en-US" dirty="0"/>
              </a:p>
              <a:p>
                <a:endParaRPr lang="en-US" b="1" dirty="0"/>
              </a:p>
            </p:txBody>
          </p:sp>
        </mc:Choice>
        <mc:Fallback xmlns="">
          <p:sp>
            <p:nvSpPr>
              <p:cNvPr id="7" name="Text Placeholder 6">
                <a:extLst>
                  <a:ext uri="{FF2B5EF4-FFF2-40B4-BE49-F238E27FC236}">
                    <a16:creationId xmlns:a16="http://schemas.microsoft.com/office/drawing/2014/main" id="{CBA61B5F-F90C-7FE1-5B35-D74B2253ABCE}"/>
                  </a:ext>
                </a:extLst>
              </p:cNvPr>
              <p:cNvSpPr>
                <a:spLocks noGrp="1" noRot="1" noChangeAspect="1" noMove="1" noResize="1" noEditPoints="1" noAdjustHandles="1" noChangeArrowheads="1" noChangeShapeType="1" noTextEdit="1"/>
              </p:cNvSpPr>
              <p:nvPr>
                <p:ph type="body" idx="1"/>
              </p:nvPr>
            </p:nvSpPr>
            <p:spPr>
              <a:blipFill>
                <a:blip r:embed="rId2"/>
                <a:stretch>
                  <a:fillRect/>
                </a:stretch>
              </a:blipFill>
            </p:spPr>
            <p:txBody>
              <a:bodyPr/>
              <a:lstStyle/>
              <a:p>
                <a:r>
                  <a:rPr lang="en-US">
                    <a:noFill/>
                  </a:rPr>
                  <a:t> </a:t>
                </a:r>
              </a:p>
            </p:txBody>
          </p:sp>
        </mc:Fallback>
      </mc:AlternateContent>
      <p:pic>
        <p:nvPicPr>
          <p:cNvPr id="10" name="Picture 9" descr="A diagram of a software model&#10;&#10;AI-generated content may be incorrect.">
            <a:extLst>
              <a:ext uri="{FF2B5EF4-FFF2-40B4-BE49-F238E27FC236}">
                <a16:creationId xmlns:a16="http://schemas.microsoft.com/office/drawing/2014/main" id="{174D498A-60C2-03B8-EC2B-F8A51E732835}"/>
              </a:ext>
            </a:extLst>
          </p:cNvPr>
          <p:cNvPicPr>
            <a:picLocks noChangeAspect="1"/>
          </p:cNvPicPr>
          <p:nvPr/>
        </p:nvPicPr>
        <p:blipFill>
          <a:blip r:embed="rId3"/>
          <a:stretch>
            <a:fillRect/>
          </a:stretch>
        </p:blipFill>
        <p:spPr>
          <a:xfrm>
            <a:off x="399010" y="2743200"/>
            <a:ext cx="3860823" cy="1719087"/>
          </a:xfrm>
          <a:prstGeom prst="rect">
            <a:avLst/>
          </a:prstGeom>
        </p:spPr>
      </p:pic>
      <p:pic>
        <p:nvPicPr>
          <p:cNvPr id="2" name="Google Shape;1023;p105" descr="p_\theta (o|c) = \frac{\exp(u_o^T v_c)}{\sum_{w\in \mathcal{V}} \exp(u_w^T v_c)}" title="MathEquation,#000000">
            <a:extLst>
              <a:ext uri="{FF2B5EF4-FFF2-40B4-BE49-F238E27FC236}">
                <a16:creationId xmlns:a16="http://schemas.microsoft.com/office/drawing/2014/main" id="{DB7F8E21-7A3D-088C-839A-21FD81A78E6C}"/>
              </a:ext>
            </a:extLst>
          </p:cNvPr>
          <p:cNvPicPr preferRelativeResize="0"/>
          <p:nvPr/>
        </p:nvPicPr>
        <p:blipFill>
          <a:blip r:embed="rId4">
            <a:alphaModFix/>
          </a:blip>
          <a:stretch>
            <a:fillRect/>
          </a:stretch>
        </p:blipFill>
        <p:spPr>
          <a:xfrm>
            <a:off x="1844544" y="1131455"/>
            <a:ext cx="2310187" cy="499160"/>
          </a:xfrm>
          <a:prstGeom prst="rect">
            <a:avLst/>
          </a:prstGeom>
          <a:noFill/>
          <a:ln>
            <a:noFill/>
          </a:ln>
        </p:spPr>
      </p:pic>
    </p:spTree>
    <p:extLst>
      <p:ext uri="{BB962C8B-B14F-4D97-AF65-F5344CB8AC3E}">
        <p14:creationId xmlns:p14="http://schemas.microsoft.com/office/powerpoint/2010/main" val="368300663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B40E59-67A1-4418-3A7A-B3F4A83A5795}"/>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3C55F6B3-CCA3-5BE8-172E-3139CA31059B}"/>
              </a:ext>
            </a:extLst>
          </p:cNvPr>
          <p:cNvSpPr>
            <a:spLocks noGrp="1"/>
          </p:cNvSpPr>
          <p:nvPr>
            <p:ph type="title"/>
          </p:nvPr>
        </p:nvSpPr>
        <p:spPr/>
        <p:txBody>
          <a:bodyPr>
            <a:normAutofit fontScale="90000"/>
          </a:bodyPr>
          <a:lstStyle/>
          <a:p>
            <a:r>
              <a:rPr lang="en-US" dirty="0"/>
              <a:t>Word2Vec as a Neural Network</a:t>
            </a:r>
          </a:p>
        </p:txBody>
      </p:sp>
      <mc:AlternateContent xmlns:mc="http://schemas.openxmlformats.org/markup-compatibility/2006" xmlns:a14="http://schemas.microsoft.com/office/drawing/2010/main">
        <mc:Choice Requires="a14">
          <p:sp>
            <p:nvSpPr>
              <p:cNvPr id="7" name="Text Placeholder 6">
                <a:extLst>
                  <a:ext uri="{FF2B5EF4-FFF2-40B4-BE49-F238E27FC236}">
                    <a16:creationId xmlns:a16="http://schemas.microsoft.com/office/drawing/2014/main" id="{B9CBA73D-F8FC-94FD-DE54-B481C82D4D83}"/>
                  </a:ext>
                </a:extLst>
              </p:cNvPr>
              <p:cNvSpPr>
                <a:spLocks noGrp="1"/>
              </p:cNvSpPr>
              <p:nvPr>
                <p:ph type="body" idx="1"/>
              </p:nvPr>
            </p:nvSpPr>
            <p:spPr/>
            <p:txBody>
              <a:bodyPr/>
              <a:lstStyle/>
              <a:p>
                <a:r>
                  <a:rPr lang="en-US" b="1" dirty="0"/>
                  <a:t>Skipgram:</a:t>
                </a:r>
              </a:p>
              <a:p>
                <a:endParaRPr lang="he-IL" b="1" dirty="0"/>
              </a:p>
              <a:p>
                <a:r>
                  <a:rPr lang="en-US" dirty="0">
                    <a:latin typeface="Cambria Math" panose="02040503050406030204" pitchFamily="18" charset="0"/>
                  </a:rPr>
                  <a:t>input = center word c</a:t>
                </a:r>
                <a:endParaRPr lang="en-US" b="0" dirty="0">
                  <a:latin typeface="Cambria Math" panose="02040503050406030204" pitchFamily="18" charset="0"/>
                </a:endParaRPr>
              </a:p>
              <a:p>
                <a14:m>
                  <m:oMath xmlns:m="http://schemas.openxmlformats.org/officeDocument/2006/math">
                    <m:r>
                      <m:rPr>
                        <m:sty m:val="p"/>
                      </m:rPr>
                      <a:rPr lang="en-US" b="0" i="0" smtClean="0">
                        <a:latin typeface="Cambria Math" panose="02040503050406030204" pitchFamily="18" charset="0"/>
                      </a:rPr>
                      <m:t>output</m:t>
                    </m:r>
                    <m:r>
                      <a:rPr lang="en-US" b="0" i="1" smtClean="0">
                        <a:latin typeface="Cambria Math" panose="02040503050406030204" pitchFamily="18" charset="0"/>
                      </a:rPr>
                      <m:t>=</m:t>
                    </m:r>
                    <m:r>
                      <a:rPr lang="en-US" b="0" i="1" smtClean="0">
                        <a:latin typeface="Cambria Math" panose="02040503050406030204" pitchFamily="18" charset="0"/>
                      </a:rPr>
                      <m:t>𝑠𝑜𝑓𝑡𝑚𝑎𝑥</m:t>
                    </m:r>
                    <m:d>
                      <m:dPr>
                        <m:ctrlPr>
                          <a:rPr lang="en-US" i="1" smtClean="0">
                            <a:latin typeface="Cambria Math" panose="02040503050406030204" pitchFamily="18" charset="0"/>
                          </a:rPr>
                        </m:ctrlPr>
                      </m:dPr>
                      <m:e>
                        <m:sSup>
                          <m:sSupPr>
                            <m:ctrlPr>
                              <a:rPr lang="en-US" i="1" smtClean="0">
                                <a:latin typeface="Cambria Math" panose="02040503050406030204" pitchFamily="18" charset="0"/>
                              </a:rPr>
                            </m:ctrlPr>
                          </m:sSupPr>
                          <m:e>
                            <m:r>
                              <a:rPr lang="en-US" b="0" i="1" smtClean="0">
                                <a:latin typeface="Cambria Math" panose="02040503050406030204" pitchFamily="18" charset="0"/>
                              </a:rPr>
                              <m:t>𝑈</m:t>
                            </m:r>
                          </m:e>
                          <m:sup>
                            <m:r>
                              <a:rPr lang="en-US" b="0" i="1" smtClean="0">
                                <a:latin typeface="Cambria Math" panose="02040503050406030204" pitchFamily="18" charset="0"/>
                              </a:rPr>
                              <m:t>𝑇</m:t>
                            </m:r>
                          </m:sup>
                        </m:sSup>
                        <m:r>
                          <a:rPr lang="en-US" b="0" i="1" smtClean="0">
                            <a:latin typeface="Cambria Math" panose="02040503050406030204" pitchFamily="18" charset="0"/>
                          </a:rPr>
                          <m:t>𝑉</m:t>
                        </m:r>
                        <m:sSub>
                          <m:sSubPr>
                            <m:ctrlPr>
                              <a:rPr lang="en-US"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𝑐</m:t>
                            </m:r>
                          </m:sub>
                        </m:sSub>
                      </m:e>
                    </m:d>
                  </m:oMath>
                </a14:m>
                <a:endParaRPr lang="en-US" dirty="0"/>
              </a:p>
              <a:p>
                <a:endParaRPr lang="en-US" b="1" dirty="0"/>
              </a:p>
            </p:txBody>
          </p:sp>
        </mc:Choice>
        <mc:Fallback xmlns="">
          <p:sp>
            <p:nvSpPr>
              <p:cNvPr id="7" name="Text Placeholder 6">
                <a:extLst>
                  <a:ext uri="{FF2B5EF4-FFF2-40B4-BE49-F238E27FC236}">
                    <a16:creationId xmlns:a16="http://schemas.microsoft.com/office/drawing/2014/main" id="{CBA61B5F-F90C-7FE1-5B35-D74B2253ABCE}"/>
                  </a:ext>
                </a:extLst>
              </p:cNvPr>
              <p:cNvSpPr>
                <a:spLocks noGrp="1" noRot="1" noChangeAspect="1" noMove="1" noResize="1" noEditPoints="1" noAdjustHandles="1" noChangeArrowheads="1" noChangeShapeType="1" noTextEdit="1"/>
              </p:cNvSpPr>
              <p:nvPr>
                <p:ph type="body" idx="1"/>
              </p:nvPr>
            </p:nvSpPr>
            <p:spPr>
              <a:blipFill>
                <a:blip r:embed="rId2"/>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8" name="Text Placeholder 7">
                <a:extLst>
                  <a:ext uri="{FF2B5EF4-FFF2-40B4-BE49-F238E27FC236}">
                    <a16:creationId xmlns:a16="http://schemas.microsoft.com/office/drawing/2014/main" id="{DFA7ADEF-B917-4078-5653-B4070A5FFEE0}"/>
                  </a:ext>
                </a:extLst>
              </p:cNvPr>
              <p:cNvSpPr>
                <a:spLocks noGrp="1"/>
              </p:cNvSpPr>
              <p:nvPr>
                <p:ph type="body" idx="2"/>
              </p:nvPr>
            </p:nvSpPr>
            <p:spPr/>
            <p:txBody>
              <a:bodyPr/>
              <a:lstStyle/>
              <a:p>
                <a:r>
                  <a:rPr lang="en-US" b="1" dirty="0"/>
                  <a:t>Skipgram with negative sampling:</a:t>
                </a:r>
              </a:p>
              <a:p>
                <a:endParaRPr lang="en-US" b="1" dirty="0"/>
              </a:p>
              <a:p>
                <a:pPr marL="139700" indent="0">
                  <a:buNone/>
                </a:pPr>
                <a:endParaRPr lang="en-US" b="1" dirty="0"/>
              </a:p>
              <a:p>
                <a:pPr marL="139700" indent="0">
                  <a:buNone/>
                </a:pPr>
                <a:endParaRPr lang="en-US" sz="200" b="1" dirty="0"/>
              </a:p>
              <a:p>
                <a:r>
                  <a:rPr lang="en-US" dirty="0">
                    <a:latin typeface="Cambria Math" panose="02040503050406030204" pitchFamily="18" charset="0"/>
                  </a:rPr>
                  <a:t>input = center word c and outside word o</a:t>
                </a:r>
              </a:p>
              <a:p>
                <a14:m>
                  <m:oMath xmlns:m="http://schemas.openxmlformats.org/officeDocument/2006/math">
                    <m:r>
                      <m:rPr>
                        <m:sty m:val="p"/>
                      </m:rPr>
                      <a:rPr lang="en-US">
                        <a:latin typeface="Cambria Math" panose="02040503050406030204" pitchFamily="18" charset="0"/>
                      </a:rPr>
                      <m:t>output</m:t>
                    </m:r>
                    <m:r>
                      <a:rPr lang="en-US" i="1">
                        <a:latin typeface="Cambria Math" panose="02040503050406030204" pitchFamily="18" charset="0"/>
                      </a:rPr>
                      <m:t>=</m:t>
                    </m:r>
                    <m:r>
                      <a:rPr lang="en-US" b="0" i="1" smtClean="0">
                        <a:latin typeface="Cambria Math" panose="02040503050406030204" pitchFamily="18" charset="0"/>
                      </a:rPr>
                      <m:t> </m:t>
                    </m:r>
                    <m:r>
                      <a:rPr lang="en-US" b="1" i="1" smtClean="0">
                        <a:solidFill>
                          <a:srgbClr val="C00000"/>
                        </a:solidFill>
                        <a:latin typeface="Cambria Math" panose="02040503050406030204" pitchFamily="18" charset="0"/>
                      </a:rPr>
                      <m:t>?</m:t>
                    </m:r>
                  </m:oMath>
                </a14:m>
                <a:endParaRPr lang="en-US" b="1" dirty="0"/>
              </a:p>
              <a:p>
                <a:endParaRPr lang="en-US" b="1" dirty="0"/>
              </a:p>
            </p:txBody>
          </p:sp>
        </mc:Choice>
        <mc:Fallback>
          <p:sp>
            <p:nvSpPr>
              <p:cNvPr id="8" name="Text Placeholder 7">
                <a:extLst>
                  <a:ext uri="{FF2B5EF4-FFF2-40B4-BE49-F238E27FC236}">
                    <a16:creationId xmlns:a16="http://schemas.microsoft.com/office/drawing/2014/main" id="{DFA7ADEF-B917-4078-5653-B4070A5FFEE0}"/>
                  </a:ext>
                </a:extLst>
              </p:cNvPr>
              <p:cNvSpPr>
                <a:spLocks noGrp="1" noRot="1" noChangeAspect="1" noMove="1" noResize="1" noEditPoints="1" noAdjustHandles="1" noChangeArrowheads="1" noChangeShapeType="1" noTextEdit="1"/>
              </p:cNvSpPr>
              <p:nvPr>
                <p:ph type="body" idx="2"/>
              </p:nvPr>
            </p:nvSpPr>
            <p:spPr>
              <a:blipFill>
                <a:blip r:embed="rId3"/>
                <a:stretch>
                  <a:fillRect/>
                </a:stretch>
              </a:blipFill>
            </p:spPr>
            <p:txBody>
              <a:bodyPr/>
              <a:lstStyle/>
              <a:p>
                <a:r>
                  <a:rPr lang="en-US">
                    <a:noFill/>
                  </a:rPr>
                  <a:t> </a:t>
                </a:r>
              </a:p>
            </p:txBody>
          </p:sp>
        </mc:Fallback>
      </mc:AlternateContent>
      <p:pic>
        <p:nvPicPr>
          <p:cNvPr id="10" name="Picture 9" descr="A diagram of a software model&#10;&#10;AI-generated content may be incorrect.">
            <a:extLst>
              <a:ext uri="{FF2B5EF4-FFF2-40B4-BE49-F238E27FC236}">
                <a16:creationId xmlns:a16="http://schemas.microsoft.com/office/drawing/2014/main" id="{06EEBC1D-D5BE-66F8-EFE6-3CE3E40B493F}"/>
              </a:ext>
            </a:extLst>
          </p:cNvPr>
          <p:cNvPicPr>
            <a:picLocks noChangeAspect="1"/>
          </p:cNvPicPr>
          <p:nvPr/>
        </p:nvPicPr>
        <p:blipFill>
          <a:blip r:embed="rId4"/>
          <a:stretch>
            <a:fillRect/>
          </a:stretch>
        </p:blipFill>
        <p:spPr>
          <a:xfrm>
            <a:off x="399010" y="2743200"/>
            <a:ext cx="3860823" cy="1719087"/>
          </a:xfrm>
          <a:prstGeom prst="rect">
            <a:avLst/>
          </a:prstGeom>
        </p:spPr>
      </p:pic>
      <p:pic>
        <p:nvPicPr>
          <p:cNvPr id="2" name="Google Shape;1023;p105" descr="p_\theta (o|c) = \frac{\exp(u_o^T v_c)}{\sum_{w\in \mathcal{V}} \exp(u_w^T v_c)}" title="MathEquation,#000000">
            <a:extLst>
              <a:ext uri="{FF2B5EF4-FFF2-40B4-BE49-F238E27FC236}">
                <a16:creationId xmlns:a16="http://schemas.microsoft.com/office/drawing/2014/main" id="{0EF259E3-26E1-3BCF-D729-1121EDDC1834}"/>
              </a:ext>
            </a:extLst>
          </p:cNvPr>
          <p:cNvPicPr preferRelativeResize="0"/>
          <p:nvPr/>
        </p:nvPicPr>
        <p:blipFill>
          <a:blip r:embed="rId5">
            <a:alphaModFix/>
          </a:blip>
          <a:stretch>
            <a:fillRect/>
          </a:stretch>
        </p:blipFill>
        <p:spPr>
          <a:xfrm>
            <a:off x="1844544" y="1131455"/>
            <a:ext cx="2310187" cy="499160"/>
          </a:xfrm>
          <a:prstGeom prst="rect">
            <a:avLst/>
          </a:prstGeom>
          <a:noFill/>
          <a:ln>
            <a:noFill/>
          </a:ln>
        </p:spPr>
      </p:pic>
      <p:grpSp>
        <p:nvGrpSpPr>
          <p:cNvPr id="3" name="Google Shape;1041;p106">
            <a:extLst>
              <a:ext uri="{FF2B5EF4-FFF2-40B4-BE49-F238E27FC236}">
                <a16:creationId xmlns:a16="http://schemas.microsoft.com/office/drawing/2014/main" id="{A3CD264D-13BF-EFEC-FA1E-3961C29DD954}"/>
              </a:ext>
            </a:extLst>
          </p:cNvPr>
          <p:cNvGrpSpPr/>
          <p:nvPr/>
        </p:nvGrpSpPr>
        <p:grpSpPr>
          <a:xfrm>
            <a:off x="5108111" y="1574871"/>
            <a:ext cx="3860823" cy="407824"/>
            <a:chOff x="96125" y="1985862"/>
            <a:chExt cx="8512824" cy="860263"/>
          </a:xfrm>
        </p:grpSpPr>
        <p:pic>
          <p:nvPicPr>
            <p:cNvPr id="4" name="Google Shape;1042;p106">
              <a:extLst>
                <a:ext uri="{FF2B5EF4-FFF2-40B4-BE49-F238E27FC236}">
                  <a16:creationId xmlns:a16="http://schemas.microsoft.com/office/drawing/2014/main" id="{8A7D95BF-41BF-14EB-37AB-65CAAF806B65}"/>
                </a:ext>
              </a:extLst>
            </p:cNvPr>
            <p:cNvPicPr preferRelativeResize="0"/>
            <p:nvPr/>
          </p:nvPicPr>
          <p:blipFill rotWithShape="1">
            <a:blip r:embed="rId6">
              <a:alphaModFix/>
            </a:blip>
            <a:srcRect t="9760" b="46290"/>
            <a:stretch/>
          </p:blipFill>
          <p:spPr>
            <a:xfrm>
              <a:off x="96125" y="1985862"/>
              <a:ext cx="8512824" cy="781800"/>
            </a:xfrm>
            <a:prstGeom prst="rect">
              <a:avLst/>
            </a:prstGeom>
            <a:noFill/>
            <a:ln>
              <a:noFill/>
            </a:ln>
          </p:spPr>
        </p:pic>
        <p:sp>
          <p:nvSpPr>
            <p:cNvPr id="5" name="Google Shape;1043;p106">
              <a:extLst>
                <a:ext uri="{FF2B5EF4-FFF2-40B4-BE49-F238E27FC236}">
                  <a16:creationId xmlns:a16="http://schemas.microsoft.com/office/drawing/2014/main" id="{F8905187-C207-EF02-293B-1F841F5C368F}"/>
                </a:ext>
              </a:extLst>
            </p:cNvPr>
            <p:cNvSpPr/>
            <p:nvPr/>
          </p:nvSpPr>
          <p:spPr>
            <a:xfrm>
              <a:off x="7501900" y="2706375"/>
              <a:ext cx="349200" cy="108000"/>
            </a:xfrm>
            <a:prstGeom prst="rect">
              <a:avLst/>
            </a:prstGeom>
            <a:solidFill>
              <a:schemeClr val="lt1"/>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9" name="Google Shape;1044;p106">
              <a:extLst>
                <a:ext uri="{FF2B5EF4-FFF2-40B4-BE49-F238E27FC236}">
                  <a16:creationId xmlns:a16="http://schemas.microsoft.com/office/drawing/2014/main" id="{FFFB773E-401C-61B4-7E39-4E56F8E43598}"/>
                </a:ext>
              </a:extLst>
            </p:cNvPr>
            <p:cNvSpPr/>
            <p:nvPr/>
          </p:nvSpPr>
          <p:spPr>
            <a:xfrm>
              <a:off x="5031750" y="2738125"/>
              <a:ext cx="349200" cy="108000"/>
            </a:xfrm>
            <a:prstGeom prst="rect">
              <a:avLst/>
            </a:prstGeom>
            <a:solidFill>
              <a:schemeClr val="lt1"/>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pic>
        <p:nvPicPr>
          <p:cNvPr id="11" name="Picture 10" descr="A qr code on a white background&#10;&#10;AI-generated content may be incorrect.">
            <a:extLst>
              <a:ext uri="{FF2B5EF4-FFF2-40B4-BE49-F238E27FC236}">
                <a16:creationId xmlns:a16="http://schemas.microsoft.com/office/drawing/2014/main" id="{B2570EEE-2C3F-1ACE-3BDB-B363C426A379}"/>
              </a:ext>
            </a:extLst>
          </p:cNvPr>
          <p:cNvPicPr>
            <a:picLocks noChangeAspect="1"/>
          </p:cNvPicPr>
          <p:nvPr/>
        </p:nvPicPr>
        <p:blipFill>
          <a:blip r:embed="rId7"/>
          <a:stretch>
            <a:fillRect/>
          </a:stretch>
        </p:blipFill>
        <p:spPr>
          <a:xfrm>
            <a:off x="6428193" y="2644597"/>
            <a:ext cx="2153491" cy="2144912"/>
          </a:xfrm>
          <a:prstGeom prst="rect">
            <a:avLst/>
          </a:prstGeom>
        </p:spPr>
      </p:pic>
      <p:sp>
        <p:nvSpPr>
          <p:cNvPr id="13" name="TextBox 12">
            <a:extLst>
              <a:ext uri="{FF2B5EF4-FFF2-40B4-BE49-F238E27FC236}">
                <a16:creationId xmlns:a16="http://schemas.microsoft.com/office/drawing/2014/main" id="{5A593762-1A46-5132-7E12-4CCE922C814D}"/>
              </a:ext>
            </a:extLst>
          </p:cNvPr>
          <p:cNvSpPr txBox="1"/>
          <p:nvPr/>
        </p:nvSpPr>
        <p:spPr>
          <a:xfrm>
            <a:off x="4832400" y="3294966"/>
            <a:ext cx="1718441" cy="307777"/>
          </a:xfrm>
          <a:prstGeom prst="rect">
            <a:avLst/>
          </a:prstGeom>
          <a:noFill/>
        </p:spPr>
        <p:txBody>
          <a:bodyPr wrap="square">
            <a:spAutoFit/>
          </a:bodyPr>
          <a:lstStyle/>
          <a:p>
            <a:r>
              <a:rPr lang="en-US" dirty="0" err="1">
                <a:solidFill>
                  <a:schemeClr val="accent1">
                    <a:lumMod val="50000"/>
                  </a:schemeClr>
                </a:solidFill>
              </a:rPr>
              <a:t>pe.app</a:t>
            </a:r>
            <a:r>
              <a:rPr lang="en-US" dirty="0">
                <a:solidFill>
                  <a:schemeClr val="accent1">
                    <a:lumMod val="50000"/>
                  </a:schemeClr>
                </a:solidFill>
              </a:rPr>
              <a:t>/</a:t>
            </a:r>
            <a:r>
              <a:rPr lang="en-US" dirty="0" err="1">
                <a:solidFill>
                  <a:schemeClr val="accent1">
                    <a:lumMod val="50000"/>
                  </a:schemeClr>
                </a:solidFill>
              </a:rPr>
              <a:t>talwagner</a:t>
            </a:r>
            <a:endParaRPr lang="en-US" dirty="0">
              <a:solidFill>
                <a:schemeClr val="accent1">
                  <a:lumMod val="50000"/>
                </a:schemeClr>
              </a:solidFill>
            </a:endParaRPr>
          </a:p>
        </p:txBody>
      </p:sp>
    </p:spTree>
    <p:extLst>
      <p:ext uri="{BB962C8B-B14F-4D97-AF65-F5344CB8AC3E}">
        <p14:creationId xmlns:p14="http://schemas.microsoft.com/office/powerpoint/2010/main" val="277455336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A77272-FB9A-126F-C49F-A8F7EFBD1B0A}"/>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D1158A98-CA34-522E-0CD4-D6AA9F8F9387}"/>
              </a:ext>
            </a:extLst>
          </p:cNvPr>
          <p:cNvSpPr>
            <a:spLocks noGrp="1"/>
          </p:cNvSpPr>
          <p:nvPr>
            <p:ph type="title"/>
          </p:nvPr>
        </p:nvSpPr>
        <p:spPr/>
        <p:txBody>
          <a:bodyPr>
            <a:normAutofit fontScale="90000"/>
          </a:bodyPr>
          <a:lstStyle/>
          <a:p>
            <a:r>
              <a:rPr lang="en-US" dirty="0"/>
              <a:t>Word2Vec as a Neural Network</a:t>
            </a:r>
          </a:p>
        </p:txBody>
      </p:sp>
      <mc:AlternateContent xmlns:mc="http://schemas.openxmlformats.org/markup-compatibility/2006" xmlns:a14="http://schemas.microsoft.com/office/drawing/2010/main">
        <mc:Choice Requires="a14">
          <p:sp>
            <p:nvSpPr>
              <p:cNvPr id="7" name="Text Placeholder 6">
                <a:extLst>
                  <a:ext uri="{FF2B5EF4-FFF2-40B4-BE49-F238E27FC236}">
                    <a16:creationId xmlns:a16="http://schemas.microsoft.com/office/drawing/2014/main" id="{4D78D844-10B0-5977-4242-32050E80ABAE}"/>
                  </a:ext>
                </a:extLst>
              </p:cNvPr>
              <p:cNvSpPr>
                <a:spLocks noGrp="1"/>
              </p:cNvSpPr>
              <p:nvPr>
                <p:ph type="body" idx="1"/>
              </p:nvPr>
            </p:nvSpPr>
            <p:spPr/>
            <p:txBody>
              <a:bodyPr/>
              <a:lstStyle/>
              <a:p>
                <a:r>
                  <a:rPr lang="en-US" b="1" dirty="0"/>
                  <a:t>Skipgram:</a:t>
                </a:r>
              </a:p>
              <a:p>
                <a:endParaRPr lang="he-IL" b="1" dirty="0"/>
              </a:p>
              <a:p>
                <a:r>
                  <a:rPr lang="en-US" dirty="0">
                    <a:latin typeface="Cambria Math" panose="02040503050406030204" pitchFamily="18" charset="0"/>
                  </a:rPr>
                  <a:t>input = center word c</a:t>
                </a:r>
                <a:endParaRPr lang="en-US" b="0" dirty="0">
                  <a:latin typeface="Cambria Math" panose="02040503050406030204" pitchFamily="18" charset="0"/>
                </a:endParaRPr>
              </a:p>
              <a:p>
                <a14:m>
                  <m:oMath xmlns:m="http://schemas.openxmlformats.org/officeDocument/2006/math">
                    <m:r>
                      <m:rPr>
                        <m:sty m:val="p"/>
                      </m:rPr>
                      <a:rPr lang="en-US" b="0" i="0" smtClean="0">
                        <a:latin typeface="Cambria Math" panose="02040503050406030204" pitchFamily="18" charset="0"/>
                      </a:rPr>
                      <m:t>output</m:t>
                    </m:r>
                    <m:r>
                      <a:rPr lang="en-US" b="0" i="1" smtClean="0">
                        <a:latin typeface="Cambria Math" panose="02040503050406030204" pitchFamily="18" charset="0"/>
                      </a:rPr>
                      <m:t>=</m:t>
                    </m:r>
                    <m:r>
                      <a:rPr lang="en-US" b="0" i="1" smtClean="0">
                        <a:latin typeface="Cambria Math" panose="02040503050406030204" pitchFamily="18" charset="0"/>
                      </a:rPr>
                      <m:t>𝑠𝑜𝑓𝑡𝑚𝑎𝑥</m:t>
                    </m:r>
                    <m:d>
                      <m:dPr>
                        <m:ctrlPr>
                          <a:rPr lang="en-US" i="1" smtClean="0">
                            <a:latin typeface="Cambria Math" panose="02040503050406030204" pitchFamily="18" charset="0"/>
                          </a:rPr>
                        </m:ctrlPr>
                      </m:dPr>
                      <m:e>
                        <m:sSup>
                          <m:sSupPr>
                            <m:ctrlPr>
                              <a:rPr lang="en-US" i="1" smtClean="0">
                                <a:latin typeface="Cambria Math" panose="02040503050406030204" pitchFamily="18" charset="0"/>
                              </a:rPr>
                            </m:ctrlPr>
                          </m:sSupPr>
                          <m:e>
                            <m:r>
                              <a:rPr lang="en-US" b="0" i="1" smtClean="0">
                                <a:latin typeface="Cambria Math" panose="02040503050406030204" pitchFamily="18" charset="0"/>
                              </a:rPr>
                              <m:t>𝑈</m:t>
                            </m:r>
                          </m:e>
                          <m:sup>
                            <m:r>
                              <a:rPr lang="en-US" b="0" i="1" smtClean="0">
                                <a:latin typeface="Cambria Math" panose="02040503050406030204" pitchFamily="18" charset="0"/>
                              </a:rPr>
                              <m:t>𝑇</m:t>
                            </m:r>
                          </m:sup>
                        </m:sSup>
                        <m:r>
                          <a:rPr lang="en-US" b="0" i="1" smtClean="0">
                            <a:latin typeface="Cambria Math" panose="02040503050406030204" pitchFamily="18" charset="0"/>
                          </a:rPr>
                          <m:t>𝑉</m:t>
                        </m:r>
                        <m:sSub>
                          <m:sSubPr>
                            <m:ctrlPr>
                              <a:rPr lang="en-US"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𝑐</m:t>
                            </m:r>
                          </m:sub>
                        </m:sSub>
                      </m:e>
                    </m:d>
                  </m:oMath>
                </a14:m>
                <a:endParaRPr lang="en-US" dirty="0"/>
              </a:p>
              <a:p>
                <a:endParaRPr lang="en-US" b="1" dirty="0"/>
              </a:p>
            </p:txBody>
          </p:sp>
        </mc:Choice>
        <mc:Fallback xmlns="">
          <p:sp>
            <p:nvSpPr>
              <p:cNvPr id="7" name="Text Placeholder 6">
                <a:extLst>
                  <a:ext uri="{FF2B5EF4-FFF2-40B4-BE49-F238E27FC236}">
                    <a16:creationId xmlns:a16="http://schemas.microsoft.com/office/drawing/2014/main" id="{CBA61B5F-F90C-7FE1-5B35-D74B2253ABCE}"/>
                  </a:ext>
                </a:extLst>
              </p:cNvPr>
              <p:cNvSpPr>
                <a:spLocks noGrp="1" noRot="1" noChangeAspect="1" noMove="1" noResize="1" noEditPoints="1" noAdjustHandles="1" noChangeArrowheads="1" noChangeShapeType="1" noTextEdit="1"/>
              </p:cNvSpPr>
              <p:nvPr>
                <p:ph type="body" idx="1"/>
              </p:nvPr>
            </p:nvSpPr>
            <p:spPr>
              <a:blipFill>
                <a:blip r:embed="rId2"/>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8" name="Text Placeholder 7">
                <a:extLst>
                  <a:ext uri="{FF2B5EF4-FFF2-40B4-BE49-F238E27FC236}">
                    <a16:creationId xmlns:a16="http://schemas.microsoft.com/office/drawing/2014/main" id="{7CD85523-05D3-CD52-A767-8692C94DA8D2}"/>
                  </a:ext>
                </a:extLst>
              </p:cNvPr>
              <p:cNvSpPr>
                <a:spLocks noGrp="1"/>
              </p:cNvSpPr>
              <p:nvPr>
                <p:ph type="body" idx="2"/>
              </p:nvPr>
            </p:nvSpPr>
            <p:spPr/>
            <p:txBody>
              <a:bodyPr/>
              <a:lstStyle/>
              <a:p>
                <a:r>
                  <a:rPr lang="en-US" b="1" dirty="0"/>
                  <a:t>Skipgram with negative sampling:</a:t>
                </a:r>
              </a:p>
              <a:p>
                <a:endParaRPr lang="en-US" b="1" dirty="0"/>
              </a:p>
              <a:p>
                <a:pPr marL="139700" indent="0">
                  <a:buNone/>
                </a:pPr>
                <a:endParaRPr lang="en-US" b="1" dirty="0"/>
              </a:p>
              <a:p>
                <a:pPr marL="139700" indent="0">
                  <a:buNone/>
                </a:pPr>
                <a:endParaRPr lang="en-US" sz="200" b="1" dirty="0"/>
              </a:p>
              <a:p>
                <a:r>
                  <a:rPr lang="en-US" dirty="0">
                    <a:latin typeface="Cambria Math" panose="02040503050406030204" pitchFamily="18" charset="0"/>
                  </a:rPr>
                  <a:t>input = center word c and outside word o</a:t>
                </a:r>
              </a:p>
              <a:p>
                <a14:m>
                  <m:oMath xmlns:m="http://schemas.openxmlformats.org/officeDocument/2006/math">
                    <m:r>
                      <m:rPr>
                        <m:sty m:val="p"/>
                      </m:rPr>
                      <a:rPr lang="en-US">
                        <a:latin typeface="Cambria Math" panose="02040503050406030204" pitchFamily="18" charset="0"/>
                      </a:rPr>
                      <m:t>output</m:t>
                    </m:r>
                    <m:r>
                      <a:rPr lang="en-US" i="1">
                        <a:latin typeface="Cambria Math" panose="02040503050406030204" pitchFamily="18" charset="0"/>
                      </a:rPr>
                      <m:t>=</m:t>
                    </m:r>
                    <m:r>
                      <a:rPr lang="en-US" b="0" i="1" smtClean="0">
                        <a:latin typeface="Cambria Math" panose="02040503050406030204" pitchFamily="18" charset="0"/>
                      </a:rPr>
                      <m:t> </m:t>
                    </m:r>
                    <m:r>
                      <a:rPr lang="en-US" b="1" i="1" smtClean="0">
                        <a:solidFill>
                          <a:srgbClr val="C00000"/>
                        </a:solidFill>
                        <a:latin typeface="Cambria Math" panose="02040503050406030204" pitchFamily="18" charset="0"/>
                      </a:rPr>
                      <m:t>?</m:t>
                    </m:r>
                  </m:oMath>
                </a14:m>
                <a:endParaRPr lang="en-US" b="1" dirty="0"/>
              </a:p>
              <a:p>
                <a:endParaRPr lang="en-US" b="1" dirty="0"/>
              </a:p>
            </p:txBody>
          </p:sp>
        </mc:Choice>
        <mc:Fallback>
          <p:sp>
            <p:nvSpPr>
              <p:cNvPr id="8" name="Text Placeholder 7">
                <a:extLst>
                  <a:ext uri="{FF2B5EF4-FFF2-40B4-BE49-F238E27FC236}">
                    <a16:creationId xmlns:a16="http://schemas.microsoft.com/office/drawing/2014/main" id="{7CD85523-05D3-CD52-A767-8692C94DA8D2}"/>
                  </a:ext>
                </a:extLst>
              </p:cNvPr>
              <p:cNvSpPr>
                <a:spLocks noGrp="1" noRot="1" noChangeAspect="1" noMove="1" noResize="1" noEditPoints="1" noAdjustHandles="1" noChangeArrowheads="1" noChangeShapeType="1" noTextEdit="1"/>
              </p:cNvSpPr>
              <p:nvPr>
                <p:ph type="body" idx="2"/>
              </p:nvPr>
            </p:nvSpPr>
            <p:spPr>
              <a:blipFill>
                <a:blip r:embed="rId3"/>
                <a:stretch>
                  <a:fillRect/>
                </a:stretch>
              </a:blipFill>
            </p:spPr>
            <p:txBody>
              <a:bodyPr/>
              <a:lstStyle/>
              <a:p>
                <a:r>
                  <a:rPr lang="en-US">
                    <a:noFill/>
                  </a:rPr>
                  <a:t> </a:t>
                </a:r>
              </a:p>
            </p:txBody>
          </p:sp>
        </mc:Fallback>
      </mc:AlternateContent>
      <p:pic>
        <p:nvPicPr>
          <p:cNvPr id="10" name="Picture 9" descr="A diagram of a software model&#10;&#10;AI-generated content may be incorrect.">
            <a:extLst>
              <a:ext uri="{FF2B5EF4-FFF2-40B4-BE49-F238E27FC236}">
                <a16:creationId xmlns:a16="http://schemas.microsoft.com/office/drawing/2014/main" id="{6357ACD9-ECCC-2D4E-9067-64A48B76DA42}"/>
              </a:ext>
            </a:extLst>
          </p:cNvPr>
          <p:cNvPicPr>
            <a:picLocks noChangeAspect="1"/>
          </p:cNvPicPr>
          <p:nvPr/>
        </p:nvPicPr>
        <p:blipFill>
          <a:blip r:embed="rId4"/>
          <a:stretch>
            <a:fillRect/>
          </a:stretch>
        </p:blipFill>
        <p:spPr>
          <a:xfrm>
            <a:off x="399010" y="2743200"/>
            <a:ext cx="3860823" cy="1719087"/>
          </a:xfrm>
          <a:prstGeom prst="rect">
            <a:avLst/>
          </a:prstGeom>
        </p:spPr>
      </p:pic>
      <p:pic>
        <p:nvPicPr>
          <p:cNvPr id="2" name="Google Shape;1023;p105" descr="p_\theta (o|c) = \frac{\exp(u_o^T v_c)}{\sum_{w\in \mathcal{V}} \exp(u_w^T v_c)}" title="MathEquation,#000000">
            <a:extLst>
              <a:ext uri="{FF2B5EF4-FFF2-40B4-BE49-F238E27FC236}">
                <a16:creationId xmlns:a16="http://schemas.microsoft.com/office/drawing/2014/main" id="{79ECF29C-EAF1-747B-273C-5B2190EBFE31}"/>
              </a:ext>
            </a:extLst>
          </p:cNvPr>
          <p:cNvPicPr preferRelativeResize="0"/>
          <p:nvPr/>
        </p:nvPicPr>
        <p:blipFill>
          <a:blip r:embed="rId5">
            <a:alphaModFix/>
          </a:blip>
          <a:stretch>
            <a:fillRect/>
          </a:stretch>
        </p:blipFill>
        <p:spPr>
          <a:xfrm>
            <a:off x="1844544" y="1131455"/>
            <a:ext cx="2310187" cy="499160"/>
          </a:xfrm>
          <a:prstGeom prst="rect">
            <a:avLst/>
          </a:prstGeom>
          <a:noFill/>
          <a:ln>
            <a:noFill/>
          </a:ln>
        </p:spPr>
      </p:pic>
      <p:grpSp>
        <p:nvGrpSpPr>
          <p:cNvPr id="3" name="Google Shape;1041;p106">
            <a:extLst>
              <a:ext uri="{FF2B5EF4-FFF2-40B4-BE49-F238E27FC236}">
                <a16:creationId xmlns:a16="http://schemas.microsoft.com/office/drawing/2014/main" id="{B07ABDE5-BDA1-F7FF-1469-55C825D48854}"/>
              </a:ext>
            </a:extLst>
          </p:cNvPr>
          <p:cNvGrpSpPr/>
          <p:nvPr/>
        </p:nvGrpSpPr>
        <p:grpSpPr>
          <a:xfrm>
            <a:off x="5108111" y="1574871"/>
            <a:ext cx="3860823" cy="407824"/>
            <a:chOff x="96125" y="1985862"/>
            <a:chExt cx="8512824" cy="860263"/>
          </a:xfrm>
        </p:grpSpPr>
        <p:pic>
          <p:nvPicPr>
            <p:cNvPr id="4" name="Google Shape;1042;p106">
              <a:extLst>
                <a:ext uri="{FF2B5EF4-FFF2-40B4-BE49-F238E27FC236}">
                  <a16:creationId xmlns:a16="http://schemas.microsoft.com/office/drawing/2014/main" id="{9C71B4F4-2A73-6C38-0C6D-75AA30CE4173}"/>
                </a:ext>
              </a:extLst>
            </p:cNvPr>
            <p:cNvPicPr preferRelativeResize="0"/>
            <p:nvPr/>
          </p:nvPicPr>
          <p:blipFill rotWithShape="1">
            <a:blip r:embed="rId6">
              <a:alphaModFix/>
            </a:blip>
            <a:srcRect t="9760" b="46290"/>
            <a:stretch/>
          </p:blipFill>
          <p:spPr>
            <a:xfrm>
              <a:off x="96125" y="1985862"/>
              <a:ext cx="8512824" cy="781800"/>
            </a:xfrm>
            <a:prstGeom prst="rect">
              <a:avLst/>
            </a:prstGeom>
            <a:noFill/>
            <a:ln>
              <a:noFill/>
            </a:ln>
          </p:spPr>
        </p:pic>
        <p:sp>
          <p:nvSpPr>
            <p:cNvPr id="5" name="Google Shape;1043;p106">
              <a:extLst>
                <a:ext uri="{FF2B5EF4-FFF2-40B4-BE49-F238E27FC236}">
                  <a16:creationId xmlns:a16="http://schemas.microsoft.com/office/drawing/2014/main" id="{35EC6229-8DB1-5501-5021-88F5E4D1EF0C}"/>
                </a:ext>
              </a:extLst>
            </p:cNvPr>
            <p:cNvSpPr/>
            <p:nvPr/>
          </p:nvSpPr>
          <p:spPr>
            <a:xfrm>
              <a:off x="7501900" y="2706375"/>
              <a:ext cx="349200" cy="108000"/>
            </a:xfrm>
            <a:prstGeom prst="rect">
              <a:avLst/>
            </a:prstGeom>
            <a:solidFill>
              <a:schemeClr val="lt1"/>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9" name="Google Shape;1044;p106">
              <a:extLst>
                <a:ext uri="{FF2B5EF4-FFF2-40B4-BE49-F238E27FC236}">
                  <a16:creationId xmlns:a16="http://schemas.microsoft.com/office/drawing/2014/main" id="{927D84E5-D538-AEAB-A3CA-4CE0A1422FAA}"/>
                </a:ext>
              </a:extLst>
            </p:cNvPr>
            <p:cNvSpPr/>
            <p:nvPr/>
          </p:nvSpPr>
          <p:spPr>
            <a:xfrm>
              <a:off x="5031750" y="2738125"/>
              <a:ext cx="349200" cy="108000"/>
            </a:xfrm>
            <a:prstGeom prst="rect">
              <a:avLst/>
            </a:prstGeom>
            <a:solidFill>
              <a:schemeClr val="lt1"/>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sp>
        <p:nvSpPr>
          <p:cNvPr id="12" name="TextBox 11">
            <a:extLst>
              <a:ext uri="{FF2B5EF4-FFF2-40B4-BE49-F238E27FC236}">
                <a16:creationId xmlns:a16="http://schemas.microsoft.com/office/drawing/2014/main" id="{BC25DFF9-9A21-5933-6E8B-B23B0066B28C}"/>
              </a:ext>
            </a:extLst>
          </p:cNvPr>
          <p:cNvSpPr txBox="1"/>
          <p:nvPr/>
        </p:nvSpPr>
        <p:spPr>
          <a:xfrm>
            <a:off x="6392487" y="2863792"/>
            <a:ext cx="1620982" cy="1538883"/>
          </a:xfrm>
          <a:prstGeom prst="rect">
            <a:avLst/>
          </a:prstGeom>
          <a:noFill/>
        </p:spPr>
        <p:txBody>
          <a:bodyPr wrap="square" rtlCol="0">
            <a:spAutoFit/>
          </a:bodyPr>
          <a:lstStyle/>
          <a:p>
            <a:r>
              <a:rPr lang="en-US" sz="6600" b="1" dirty="0">
                <a:solidFill>
                  <a:srgbClr val="C00000"/>
                </a:solidFill>
              </a:rPr>
              <a:t>?</a:t>
            </a:r>
          </a:p>
          <a:p>
            <a:endParaRPr lang="en-US" dirty="0">
              <a:solidFill>
                <a:srgbClr val="C00000"/>
              </a:solidFill>
            </a:endParaRPr>
          </a:p>
          <a:p>
            <a:endParaRPr lang="en-US" dirty="0">
              <a:solidFill>
                <a:schemeClr val="accent1">
                  <a:lumMod val="50000"/>
                </a:schemeClr>
              </a:solidFill>
            </a:endParaRPr>
          </a:p>
        </p:txBody>
      </p:sp>
    </p:spTree>
    <p:extLst>
      <p:ext uri="{BB962C8B-B14F-4D97-AF65-F5344CB8AC3E}">
        <p14:creationId xmlns:p14="http://schemas.microsoft.com/office/powerpoint/2010/main" val="378349240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281"/>
        <p:cNvGrpSpPr/>
        <p:nvPr/>
      </p:nvGrpSpPr>
      <p:grpSpPr>
        <a:xfrm>
          <a:off x="0" y="0"/>
          <a:ext cx="0" cy="0"/>
          <a:chOff x="0" y="0"/>
          <a:chExt cx="0" cy="0"/>
        </a:xfrm>
      </p:grpSpPr>
      <p:sp>
        <p:nvSpPr>
          <p:cNvPr id="282" name="Google Shape;282;p32"/>
          <p:cNvSpPr txBox="1">
            <a:spLocks noGrp="1"/>
          </p:cNvSpPr>
          <p:nvPr>
            <p:ph type="title"/>
          </p:nvPr>
        </p:nvSpPr>
        <p:spPr>
          <a:xfrm>
            <a:off x="332509" y="273850"/>
            <a:ext cx="8298480" cy="994200"/>
          </a:xfrm>
          <a:prstGeom prst="rect">
            <a:avLst/>
          </a:prstGeom>
        </p:spPr>
        <p:txBody>
          <a:bodyPr spcFirstLastPara="1" wrap="square" lIns="68575" tIns="34275" rIns="68575" bIns="34275" anchor="ctr" anchorCtr="0">
            <a:normAutofit/>
          </a:bodyPr>
          <a:lstStyle/>
          <a:p>
            <a:pPr marL="0" lvl="0" indent="0" algn="l" rtl="0">
              <a:spcBef>
                <a:spcPts val="0"/>
              </a:spcBef>
              <a:spcAft>
                <a:spcPts val="0"/>
              </a:spcAft>
              <a:buNone/>
            </a:pPr>
            <a:r>
              <a:rPr lang="en-GB" dirty="0" err="1"/>
              <a:t>Skipgram</a:t>
            </a:r>
            <a:r>
              <a:rPr lang="en-GB" dirty="0"/>
              <a:t> with Negative Sampling: Neural Network</a:t>
            </a:r>
            <a:endParaRPr dirty="0"/>
          </a:p>
        </p:txBody>
      </p:sp>
      <p:sp>
        <p:nvSpPr>
          <p:cNvPr id="283" name="Google Shape;283;p32"/>
          <p:cNvSpPr/>
          <p:nvPr/>
        </p:nvSpPr>
        <p:spPr>
          <a:xfrm rot="5400000">
            <a:off x="2095901" y="860101"/>
            <a:ext cx="920100" cy="1937400"/>
          </a:xfrm>
          <a:prstGeom prst="rect">
            <a:avLst/>
          </a:prstGeom>
          <a:solidFill>
            <a:srgbClr val="CFE2F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84" name="Google Shape;284;p32"/>
          <p:cNvSpPr/>
          <p:nvPr/>
        </p:nvSpPr>
        <p:spPr>
          <a:xfrm rot="10800000">
            <a:off x="1186351" y="1379889"/>
            <a:ext cx="183000" cy="19374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85" name="Google Shape;285;p32"/>
          <p:cNvSpPr/>
          <p:nvPr/>
        </p:nvSpPr>
        <p:spPr>
          <a:xfrm rot="10800000">
            <a:off x="7170726" y="2562562"/>
            <a:ext cx="157200" cy="181200"/>
          </a:xfrm>
          <a:prstGeom prst="rect">
            <a:avLst/>
          </a:prstGeom>
          <a:solidFill>
            <a:srgbClr val="FCE5CD"/>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86" name="Google Shape;286;p32"/>
          <p:cNvSpPr/>
          <p:nvPr/>
        </p:nvSpPr>
        <p:spPr>
          <a:xfrm rot="10800000">
            <a:off x="1186351" y="1852797"/>
            <a:ext cx="183000" cy="165600"/>
          </a:xfrm>
          <a:prstGeom prst="rect">
            <a:avLst/>
          </a:prstGeom>
          <a:solidFill>
            <a:srgbClr val="7030A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87" name="Google Shape;287;p32"/>
          <p:cNvSpPr txBox="1"/>
          <p:nvPr/>
        </p:nvSpPr>
        <p:spPr>
          <a:xfrm>
            <a:off x="1587251" y="1490251"/>
            <a:ext cx="1937400" cy="677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GB" sz="3200" i="1">
                <a:solidFill>
                  <a:srgbClr val="1155CC"/>
                </a:solidFill>
              </a:rPr>
              <a:t>V</a:t>
            </a:r>
            <a:endParaRPr sz="3200" i="1">
              <a:solidFill>
                <a:srgbClr val="1155CC"/>
              </a:solidFill>
            </a:endParaRPr>
          </a:p>
        </p:txBody>
      </p:sp>
      <p:sp>
        <p:nvSpPr>
          <p:cNvPr id="288" name="Google Shape;288;p32"/>
          <p:cNvSpPr txBox="1"/>
          <p:nvPr/>
        </p:nvSpPr>
        <p:spPr>
          <a:xfrm>
            <a:off x="3742551" y="2613450"/>
            <a:ext cx="920100" cy="677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endParaRPr sz="3200" i="1">
              <a:solidFill>
                <a:srgbClr val="1155CC"/>
              </a:solidFill>
            </a:endParaRPr>
          </a:p>
        </p:txBody>
      </p:sp>
      <p:sp>
        <p:nvSpPr>
          <p:cNvPr id="289" name="Google Shape;289;p32"/>
          <p:cNvSpPr txBox="1"/>
          <p:nvPr/>
        </p:nvSpPr>
        <p:spPr>
          <a:xfrm>
            <a:off x="44594" y="1997700"/>
            <a:ext cx="1156200" cy="19086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GB" sz="1600" b="1" u="sng">
                <a:solidFill>
                  <a:schemeClr val="accent5"/>
                </a:solidFill>
              </a:rPr>
              <a:t>Input</a:t>
            </a:r>
            <a:r>
              <a:rPr lang="en-GB" sz="1600" b="1">
                <a:solidFill>
                  <a:schemeClr val="accent5"/>
                </a:solidFill>
              </a:rPr>
              <a:t>:</a:t>
            </a:r>
            <a:endParaRPr sz="1600" b="1">
              <a:solidFill>
                <a:schemeClr val="accent5"/>
              </a:solidFill>
            </a:endParaRPr>
          </a:p>
          <a:p>
            <a:pPr marL="0" lvl="0" indent="0" algn="ctr" rtl="0">
              <a:spcBef>
                <a:spcPts val="0"/>
              </a:spcBef>
              <a:spcAft>
                <a:spcPts val="0"/>
              </a:spcAft>
              <a:buNone/>
            </a:pPr>
            <a:r>
              <a:rPr lang="en-GB" sz="1600" b="1">
                <a:solidFill>
                  <a:schemeClr val="accent5"/>
                </a:solidFill>
              </a:rPr>
              <a:t>One-hot encoding of </a:t>
            </a:r>
            <a:r>
              <a:rPr lang="en-GB" sz="1600" b="1">
                <a:solidFill>
                  <a:srgbClr val="7030A0"/>
                </a:solidFill>
              </a:rPr>
              <a:t>center</a:t>
            </a:r>
            <a:r>
              <a:rPr lang="en-GB" sz="1600" b="1">
                <a:solidFill>
                  <a:schemeClr val="accent5"/>
                </a:solidFill>
              </a:rPr>
              <a:t> word and </a:t>
            </a:r>
            <a:r>
              <a:rPr lang="en-GB" sz="1600" b="1">
                <a:solidFill>
                  <a:srgbClr val="C55A11"/>
                </a:solidFill>
              </a:rPr>
              <a:t>outside</a:t>
            </a:r>
            <a:r>
              <a:rPr lang="en-GB" sz="1600" b="1">
                <a:solidFill>
                  <a:schemeClr val="accent5"/>
                </a:solidFill>
              </a:rPr>
              <a:t> word pair</a:t>
            </a:r>
            <a:endParaRPr sz="1600" b="1">
              <a:solidFill>
                <a:schemeClr val="accent5"/>
              </a:solidFill>
            </a:endParaRPr>
          </a:p>
        </p:txBody>
      </p:sp>
      <p:sp>
        <p:nvSpPr>
          <p:cNvPr id="290" name="Google Shape;290;p32"/>
          <p:cNvSpPr txBox="1"/>
          <p:nvPr/>
        </p:nvSpPr>
        <p:spPr>
          <a:xfrm>
            <a:off x="1587251" y="2233094"/>
            <a:ext cx="1937400" cy="431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GB" sz="1600" b="1">
                <a:solidFill>
                  <a:schemeClr val="accent5"/>
                </a:solidFill>
              </a:rPr>
              <a:t>linear layer</a:t>
            </a:r>
            <a:endParaRPr sz="1600" b="1">
              <a:solidFill>
                <a:schemeClr val="accent5"/>
              </a:solidFill>
            </a:endParaRPr>
          </a:p>
        </p:txBody>
      </p:sp>
      <p:sp>
        <p:nvSpPr>
          <p:cNvPr id="291" name="Google Shape;291;p32"/>
          <p:cNvSpPr txBox="1"/>
          <p:nvPr/>
        </p:nvSpPr>
        <p:spPr>
          <a:xfrm>
            <a:off x="4083576" y="2917550"/>
            <a:ext cx="1231800" cy="9234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GB" sz="1600" b="1">
                <a:solidFill>
                  <a:schemeClr val="accent5"/>
                </a:solidFill>
              </a:rPr>
              <a:t>Inner product gate</a:t>
            </a:r>
            <a:endParaRPr sz="1600" b="1">
              <a:solidFill>
                <a:schemeClr val="accent5"/>
              </a:solidFill>
            </a:endParaRPr>
          </a:p>
        </p:txBody>
      </p:sp>
      <p:sp>
        <p:nvSpPr>
          <p:cNvPr id="292" name="Google Shape;292;p32"/>
          <p:cNvSpPr txBox="1"/>
          <p:nvPr/>
        </p:nvSpPr>
        <p:spPr>
          <a:xfrm>
            <a:off x="5108963" y="2917550"/>
            <a:ext cx="1937400" cy="677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GB" sz="1600" b="1">
                <a:solidFill>
                  <a:schemeClr val="accent5"/>
                </a:solidFill>
              </a:rPr>
              <a:t>Sigmoid activation</a:t>
            </a:r>
            <a:endParaRPr sz="1600" b="1">
              <a:solidFill>
                <a:schemeClr val="accent5"/>
              </a:solidFill>
            </a:endParaRPr>
          </a:p>
        </p:txBody>
      </p:sp>
      <p:sp>
        <p:nvSpPr>
          <p:cNvPr id="293" name="Google Shape;293;p32"/>
          <p:cNvSpPr txBox="1"/>
          <p:nvPr/>
        </p:nvSpPr>
        <p:spPr>
          <a:xfrm>
            <a:off x="7258901" y="2433334"/>
            <a:ext cx="1698900" cy="16623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GB" sz="1600" b="1" u="sng">
                <a:solidFill>
                  <a:schemeClr val="accent5"/>
                </a:solidFill>
              </a:rPr>
              <a:t>Output</a:t>
            </a:r>
            <a:r>
              <a:rPr lang="en-GB" sz="1600" b="1">
                <a:solidFill>
                  <a:schemeClr val="accent5"/>
                </a:solidFill>
              </a:rPr>
              <a:t>:</a:t>
            </a:r>
            <a:endParaRPr sz="1600" b="1">
              <a:solidFill>
                <a:schemeClr val="accent5"/>
              </a:solidFill>
            </a:endParaRPr>
          </a:p>
          <a:p>
            <a:pPr marL="0" lvl="0" indent="0" algn="ctr" rtl="0">
              <a:spcBef>
                <a:spcPts val="0"/>
              </a:spcBef>
              <a:spcAft>
                <a:spcPts val="0"/>
              </a:spcAft>
              <a:buNone/>
            </a:pPr>
            <a:r>
              <a:rPr lang="en-GB" sz="1600" b="1">
                <a:solidFill>
                  <a:schemeClr val="accent5"/>
                </a:solidFill>
              </a:rPr>
              <a:t>Probability of input pair appearing in the same window </a:t>
            </a:r>
            <a:endParaRPr sz="1600" b="1">
              <a:solidFill>
                <a:schemeClr val="accent5"/>
              </a:solidFill>
            </a:endParaRPr>
          </a:p>
        </p:txBody>
      </p:sp>
      <p:sp>
        <p:nvSpPr>
          <p:cNvPr id="294" name="Google Shape;294;p32"/>
          <p:cNvSpPr/>
          <p:nvPr/>
        </p:nvSpPr>
        <p:spPr>
          <a:xfrm rot="5400000">
            <a:off x="2162551" y="2504476"/>
            <a:ext cx="920100" cy="1937400"/>
          </a:xfrm>
          <a:prstGeom prst="rect">
            <a:avLst/>
          </a:prstGeom>
          <a:solidFill>
            <a:srgbClr val="CFE2F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95" name="Google Shape;295;p32"/>
          <p:cNvSpPr/>
          <p:nvPr/>
        </p:nvSpPr>
        <p:spPr>
          <a:xfrm rot="10800000">
            <a:off x="1253001" y="3024264"/>
            <a:ext cx="183000" cy="19374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96" name="Google Shape;296;p32"/>
          <p:cNvSpPr/>
          <p:nvPr/>
        </p:nvSpPr>
        <p:spPr>
          <a:xfrm rot="10800000">
            <a:off x="1253001" y="3497172"/>
            <a:ext cx="183000" cy="165600"/>
          </a:xfrm>
          <a:prstGeom prst="rect">
            <a:avLst/>
          </a:prstGeom>
          <a:solidFill>
            <a:srgbClr val="C55A1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97" name="Google Shape;297;p32"/>
          <p:cNvSpPr txBox="1"/>
          <p:nvPr/>
        </p:nvSpPr>
        <p:spPr>
          <a:xfrm>
            <a:off x="1653901" y="3134626"/>
            <a:ext cx="1937400" cy="677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GB" sz="3200" i="1">
                <a:solidFill>
                  <a:srgbClr val="1155CC"/>
                </a:solidFill>
              </a:rPr>
              <a:t>U</a:t>
            </a:r>
            <a:endParaRPr sz="3200" i="1">
              <a:solidFill>
                <a:srgbClr val="1155CC"/>
              </a:solidFill>
            </a:endParaRPr>
          </a:p>
        </p:txBody>
      </p:sp>
      <p:sp>
        <p:nvSpPr>
          <p:cNvPr id="298" name="Google Shape;298;p32"/>
          <p:cNvSpPr txBox="1"/>
          <p:nvPr/>
        </p:nvSpPr>
        <p:spPr>
          <a:xfrm>
            <a:off x="1653901" y="3877469"/>
            <a:ext cx="1937400" cy="431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GB" sz="1600" b="1">
                <a:solidFill>
                  <a:schemeClr val="accent5"/>
                </a:solidFill>
              </a:rPr>
              <a:t>linear layer</a:t>
            </a:r>
            <a:endParaRPr sz="1600" b="1">
              <a:solidFill>
                <a:schemeClr val="accent5"/>
              </a:solidFill>
            </a:endParaRPr>
          </a:p>
        </p:txBody>
      </p:sp>
      <p:sp>
        <p:nvSpPr>
          <p:cNvPr id="299" name="Google Shape;299;p32"/>
          <p:cNvSpPr/>
          <p:nvPr/>
        </p:nvSpPr>
        <p:spPr>
          <a:xfrm>
            <a:off x="4414313" y="2346563"/>
            <a:ext cx="570300" cy="613200"/>
          </a:xfrm>
          <a:prstGeom prst="ellipse">
            <a:avLst/>
          </a:prstGeom>
          <a:solidFill>
            <a:srgbClr val="FFF2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a:t>IP</a:t>
            </a:r>
            <a:endParaRPr/>
          </a:p>
        </p:txBody>
      </p:sp>
      <p:pic>
        <p:nvPicPr>
          <p:cNvPr id="300" name="Google Shape;300;p32" title="Screenshot 2025-10-27 at 11.29.07 AM.png"/>
          <p:cNvPicPr preferRelativeResize="0"/>
          <p:nvPr/>
        </p:nvPicPr>
        <p:blipFill>
          <a:blip r:embed="rId3">
            <a:alphaModFix/>
          </a:blip>
          <a:stretch>
            <a:fillRect/>
          </a:stretch>
        </p:blipFill>
        <p:spPr>
          <a:xfrm>
            <a:off x="5034476" y="2160500"/>
            <a:ext cx="612589" cy="376200"/>
          </a:xfrm>
          <a:prstGeom prst="rect">
            <a:avLst/>
          </a:prstGeom>
          <a:noFill/>
          <a:ln>
            <a:noFill/>
          </a:ln>
        </p:spPr>
      </p:pic>
      <p:pic>
        <p:nvPicPr>
          <p:cNvPr id="301" name="Google Shape;301;p32" title="Screenshot 2025-10-27 at 11.29.13 AM.png"/>
          <p:cNvPicPr preferRelativeResize="0"/>
          <p:nvPr/>
        </p:nvPicPr>
        <p:blipFill>
          <a:blip r:embed="rId4">
            <a:alphaModFix/>
          </a:blip>
          <a:stretch>
            <a:fillRect/>
          </a:stretch>
        </p:blipFill>
        <p:spPr>
          <a:xfrm>
            <a:off x="3966776" y="1692307"/>
            <a:ext cx="343325" cy="300418"/>
          </a:xfrm>
          <a:prstGeom prst="rect">
            <a:avLst/>
          </a:prstGeom>
          <a:noFill/>
          <a:ln>
            <a:noFill/>
          </a:ln>
        </p:spPr>
      </p:pic>
      <p:pic>
        <p:nvPicPr>
          <p:cNvPr id="302" name="Google Shape;302;p32" title="Screenshot 2025-10-27 at 11.29.18 AM.png"/>
          <p:cNvPicPr preferRelativeResize="0"/>
          <p:nvPr/>
        </p:nvPicPr>
        <p:blipFill>
          <a:blip r:embed="rId5">
            <a:alphaModFix/>
          </a:blip>
          <a:stretch>
            <a:fillRect/>
          </a:stretch>
        </p:blipFill>
        <p:spPr>
          <a:xfrm>
            <a:off x="3901913" y="3334925"/>
            <a:ext cx="408188" cy="327854"/>
          </a:xfrm>
          <a:prstGeom prst="rect">
            <a:avLst/>
          </a:prstGeom>
          <a:noFill/>
          <a:ln>
            <a:noFill/>
          </a:ln>
        </p:spPr>
      </p:pic>
      <p:sp>
        <p:nvSpPr>
          <p:cNvPr id="303" name="Google Shape;303;p32"/>
          <p:cNvSpPr/>
          <p:nvPr/>
        </p:nvSpPr>
        <p:spPr>
          <a:xfrm rot="1857663">
            <a:off x="3473880" y="1973847"/>
            <a:ext cx="1092223" cy="237903"/>
          </a:xfrm>
          <a:prstGeom prst="right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04" name="Google Shape;304;p32"/>
          <p:cNvSpPr/>
          <p:nvPr/>
        </p:nvSpPr>
        <p:spPr>
          <a:xfrm rot="-1781070">
            <a:off x="3555579" y="3086229"/>
            <a:ext cx="988644" cy="193346"/>
          </a:xfrm>
          <a:prstGeom prst="right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05" name="Google Shape;305;p32"/>
          <p:cNvSpPr/>
          <p:nvPr/>
        </p:nvSpPr>
        <p:spPr>
          <a:xfrm>
            <a:off x="4158326" y="3334225"/>
            <a:ext cx="157200" cy="891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06" name="Google Shape;306;p32"/>
          <p:cNvSpPr/>
          <p:nvPr/>
        </p:nvSpPr>
        <p:spPr>
          <a:xfrm>
            <a:off x="5034477" y="2535863"/>
            <a:ext cx="714600" cy="234600"/>
          </a:xfrm>
          <a:prstGeom prst="right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07" name="Google Shape;307;p32"/>
          <p:cNvSpPr/>
          <p:nvPr/>
        </p:nvSpPr>
        <p:spPr>
          <a:xfrm>
            <a:off x="5771378" y="2346563"/>
            <a:ext cx="612600" cy="613200"/>
          </a:xfrm>
          <a:prstGeom prst="diamond">
            <a:avLst/>
          </a:prstGeom>
          <a:solidFill>
            <a:srgbClr val="D9D2E9"/>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08" name="Google Shape;308;p32"/>
          <p:cNvSpPr/>
          <p:nvPr/>
        </p:nvSpPr>
        <p:spPr>
          <a:xfrm>
            <a:off x="6406277" y="2535850"/>
            <a:ext cx="714600" cy="234600"/>
          </a:xfrm>
          <a:prstGeom prst="right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A4BBDB35-E155-6130-568A-807F62EFD4AF}"/>
                  </a:ext>
                </a:extLst>
              </p:cNvPr>
              <p:cNvSpPr txBox="1"/>
              <p:nvPr/>
            </p:nvSpPr>
            <p:spPr>
              <a:xfrm>
                <a:off x="5041298" y="1190137"/>
                <a:ext cx="3127536" cy="335476"/>
              </a:xfrm>
              <a:prstGeom prst="rect">
                <a:avLst/>
              </a:prstGeom>
              <a:noFill/>
              <a:ln>
                <a:solidFill>
                  <a:schemeClr val="accent1">
                    <a:lumMod val="50000"/>
                  </a:schemeClr>
                </a:solidFill>
              </a:ln>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US" smtClean="0">
                          <a:solidFill>
                            <a:schemeClr val="accent1">
                              <a:lumMod val="50000"/>
                            </a:schemeClr>
                          </a:solidFill>
                          <a:latin typeface="Cambria Math" panose="02040503050406030204" pitchFamily="18" charset="0"/>
                        </a:rPr>
                        <m:t>output</m:t>
                      </m:r>
                      <m:r>
                        <a:rPr lang="en-US" i="1">
                          <a:solidFill>
                            <a:schemeClr val="accent1">
                              <a:lumMod val="50000"/>
                            </a:schemeClr>
                          </a:solidFill>
                          <a:latin typeface="Cambria Math" panose="02040503050406030204" pitchFamily="18" charset="0"/>
                        </a:rPr>
                        <m:t>=</m:t>
                      </m:r>
                      <m:r>
                        <a:rPr lang="en-US" i="1">
                          <a:solidFill>
                            <a:schemeClr val="accent1">
                              <a:lumMod val="50000"/>
                            </a:schemeClr>
                          </a:solidFill>
                          <a:latin typeface="Cambria Math" panose="02040503050406030204" pitchFamily="18" charset="0"/>
                        </a:rPr>
                        <m:t>𝑠𝑖𝑔𝑚𝑜</m:t>
                      </m:r>
                      <m:r>
                        <a:rPr lang="en-US" b="0" i="1" smtClean="0">
                          <a:solidFill>
                            <a:schemeClr val="accent1">
                              <a:lumMod val="50000"/>
                            </a:schemeClr>
                          </a:solidFill>
                          <a:latin typeface="Cambria Math" panose="02040503050406030204" pitchFamily="18" charset="0"/>
                        </a:rPr>
                        <m:t>𝑖𝑑</m:t>
                      </m:r>
                      <m:d>
                        <m:dPr>
                          <m:ctrlPr>
                            <a:rPr lang="en-US" b="0" i="1" smtClean="0">
                              <a:solidFill>
                                <a:schemeClr val="accent1">
                                  <a:lumMod val="50000"/>
                                </a:schemeClr>
                              </a:solidFill>
                              <a:latin typeface="Cambria Math" panose="02040503050406030204" pitchFamily="18" charset="0"/>
                            </a:rPr>
                          </m:ctrlPr>
                        </m:dPr>
                        <m:e>
                          <m:sSup>
                            <m:sSupPr>
                              <m:ctrlPr>
                                <a:rPr lang="en-US" b="0" i="1" smtClean="0">
                                  <a:solidFill>
                                    <a:schemeClr val="accent1">
                                      <a:lumMod val="50000"/>
                                    </a:schemeClr>
                                  </a:solidFill>
                                  <a:latin typeface="Cambria Math" panose="02040503050406030204" pitchFamily="18" charset="0"/>
                                </a:rPr>
                              </m:ctrlPr>
                            </m:sSupPr>
                            <m:e>
                              <m:d>
                                <m:dPr>
                                  <m:ctrlPr>
                                    <a:rPr lang="en-US" b="0" i="1" smtClean="0">
                                      <a:solidFill>
                                        <a:schemeClr val="accent1">
                                          <a:lumMod val="50000"/>
                                        </a:schemeClr>
                                      </a:solidFill>
                                      <a:latin typeface="Cambria Math" panose="02040503050406030204" pitchFamily="18" charset="0"/>
                                    </a:rPr>
                                  </m:ctrlPr>
                                </m:dPr>
                                <m:e>
                                  <m:r>
                                    <a:rPr lang="en-US" b="0" i="1" smtClean="0">
                                      <a:solidFill>
                                        <a:schemeClr val="accent1">
                                          <a:lumMod val="50000"/>
                                        </a:schemeClr>
                                      </a:solidFill>
                                      <a:latin typeface="Cambria Math" panose="02040503050406030204" pitchFamily="18" charset="0"/>
                                    </a:rPr>
                                    <m:t>𝑈</m:t>
                                  </m:r>
                                  <m:sSub>
                                    <m:sSubPr>
                                      <m:ctrlPr>
                                        <a:rPr lang="en-US" b="0" i="1" smtClean="0">
                                          <a:solidFill>
                                            <a:schemeClr val="accent1">
                                              <a:lumMod val="50000"/>
                                            </a:schemeClr>
                                          </a:solidFill>
                                          <a:latin typeface="Cambria Math" panose="02040503050406030204" pitchFamily="18" charset="0"/>
                                        </a:rPr>
                                      </m:ctrlPr>
                                    </m:sSubPr>
                                    <m:e>
                                      <m:r>
                                        <a:rPr lang="en-US" b="0" i="1" smtClean="0">
                                          <a:solidFill>
                                            <a:schemeClr val="accent1">
                                              <a:lumMod val="50000"/>
                                            </a:schemeClr>
                                          </a:solidFill>
                                          <a:latin typeface="Cambria Math" panose="02040503050406030204" pitchFamily="18" charset="0"/>
                                        </a:rPr>
                                        <m:t>𝑒</m:t>
                                      </m:r>
                                    </m:e>
                                    <m:sub>
                                      <m:r>
                                        <a:rPr lang="en-US" b="0" i="1" smtClean="0">
                                          <a:solidFill>
                                            <a:schemeClr val="accent1">
                                              <a:lumMod val="50000"/>
                                            </a:schemeClr>
                                          </a:solidFill>
                                          <a:latin typeface="Cambria Math" panose="02040503050406030204" pitchFamily="18" charset="0"/>
                                        </a:rPr>
                                        <m:t>𝑜</m:t>
                                      </m:r>
                                    </m:sub>
                                  </m:sSub>
                                </m:e>
                              </m:d>
                            </m:e>
                            <m:sup>
                              <m:r>
                                <a:rPr lang="en-US" b="0" i="1" smtClean="0">
                                  <a:solidFill>
                                    <a:schemeClr val="accent1">
                                      <a:lumMod val="50000"/>
                                    </a:schemeClr>
                                  </a:solidFill>
                                  <a:latin typeface="Cambria Math" panose="02040503050406030204" pitchFamily="18" charset="0"/>
                                </a:rPr>
                                <m:t>𝑇</m:t>
                              </m:r>
                            </m:sup>
                          </m:sSup>
                          <m:d>
                            <m:dPr>
                              <m:ctrlPr>
                                <a:rPr lang="en-US" b="0" i="1" smtClean="0">
                                  <a:solidFill>
                                    <a:schemeClr val="accent1">
                                      <a:lumMod val="50000"/>
                                    </a:schemeClr>
                                  </a:solidFill>
                                  <a:latin typeface="Cambria Math" panose="02040503050406030204" pitchFamily="18" charset="0"/>
                                </a:rPr>
                              </m:ctrlPr>
                            </m:dPr>
                            <m:e>
                              <m:r>
                                <a:rPr lang="en-US" b="0" i="1" smtClean="0">
                                  <a:solidFill>
                                    <a:schemeClr val="accent1">
                                      <a:lumMod val="50000"/>
                                    </a:schemeClr>
                                  </a:solidFill>
                                  <a:latin typeface="Cambria Math" panose="02040503050406030204" pitchFamily="18" charset="0"/>
                                </a:rPr>
                                <m:t>𝑉</m:t>
                              </m:r>
                              <m:sSub>
                                <m:sSubPr>
                                  <m:ctrlPr>
                                    <a:rPr lang="en-US" b="0" i="1" smtClean="0">
                                      <a:solidFill>
                                        <a:schemeClr val="accent1">
                                          <a:lumMod val="50000"/>
                                        </a:schemeClr>
                                      </a:solidFill>
                                      <a:latin typeface="Cambria Math" panose="02040503050406030204" pitchFamily="18" charset="0"/>
                                    </a:rPr>
                                  </m:ctrlPr>
                                </m:sSubPr>
                                <m:e>
                                  <m:r>
                                    <a:rPr lang="en-US" b="0" i="1" smtClean="0">
                                      <a:solidFill>
                                        <a:schemeClr val="accent1">
                                          <a:lumMod val="50000"/>
                                        </a:schemeClr>
                                      </a:solidFill>
                                      <a:latin typeface="Cambria Math" panose="02040503050406030204" pitchFamily="18" charset="0"/>
                                    </a:rPr>
                                    <m:t>𝑒</m:t>
                                  </m:r>
                                </m:e>
                                <m:sub>
                                  <m:r>
                                    <a:rPr lang="en-US" b="0" i="1" smtClean="0">
                                      <a:solidFill>
                                        <a:schemeClr val="accent1">
                                          <a:lumMod val="50000"/>
                                        </a:schemeClr>
                                      </a:solidFill>
                                      <a:latin typeface="Cambria Math" panose="02040503050406030204" pitchFamily="18" charset="0"/>
                                    </a:rPr>
                                    <m:t>𝑐</m:t>
                                  </m:r>
                                </m:sub>
                              </m:sSub>
                            </m:e>
                          </m:d>
                        </m:e>
                      </m:d>
                    </m:oMath>
                  </m:oMathPara>
                </a14:m>
                <a:endParaRPr lang="en-US" dirty="0">
                  <a:solidFill>
                    <a:schemeClr val="accent1">
                      <a:lumMod val="50000"/>
                    </a:schemeClr>
                  </a:solidFill>
                </a:endParaRPr>
              </a:p>
            </p:txBody>
          </p:sp>
        </mc:Choice>
        <mc:Fallback xmlns="">
          <p:sp>
            <p:nvSpPr>
              <p:cNvPr id="3" name="TextBox 2">
                <a:extLst>
                  <a:ext uri="{FF2B5EF4-FFF2-40B4-BE49-F238E27FC236}">
                    <a16:creationId xmlns:a16="http://schemas.microsoft.com/office/drawing/2014/main" id="{A4BBDB35-E155-6130-568A-807F62EFD4AF}"/>
                  </a:ext>
                </a:extLst>
              </p:cNvPr>
              <p:cNvSpPr txBox="1">
                <a:spLocks noRot="1" noChangeAspect="1" noMove="1" noResize="1" noEditPoints="1" noAdjustHandles="1" noChangeArrowheads="1" noChangeShapeType="1" noTextEdit="1"/>
              </p:cNvSpPr>
              <p:nvPr/>
            </p:nvSpPr>
            <p:spPr>
              <a:xfrm>
                <a:off x="5041298" y="1190137"/>
                <a:ext cx="3127536" cy="335476"/>
              </a:xfrm>
              <a:prstGeom prst="rect">
                <a:avLst/>
              </a:prstGeom>
              <a:blipFill>
                <a:blip r:embed="rId6"/>
                <a:stretch>
                  <a:fillRect b="-3571"/>
                </a:stretch>
              </a:blipFill>
              <a:ln>
                <a:solidFill>
                  <a:schemeClr val="accent1">
                    <a:lumMod val="50000"/>
                  </a:schemeClr>
                </a:solidFill>
              </a:ln>
            </p:spPr>
            <p:txBody>
              <a:bodyPr/>
              <a:lstStyle/>
              <a:p>
                <a:r>
                  <a:rPr lang="en-US">
                    <a:noFill/>
                  </a:rPr>
                  <a:t> </a:t>
                </a:r>
              </a:p>
            </p:txBody>
          </p:sp>
        </mc:Fallback>
      </mc:AlternateContent>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384"/>
        <p:cNvGrpSpPr/>
        <p:nvPr/>
      </p:nvGrpSpPr>
      <p:grpSpPr>
        <a:xfrm>
          <a:off x="0" y="0"/>
          <a:ext cx="0" cy="0"/>
          <a:chOff x="0" y="0"/>
          <a:chExt cx="0" cy="0"/>
        </a:xfrm>
      </p:grpSpPr>
      <p:sp>
        <p:nvSpPr>
          <p:cNvPr id="385" name="Google Shape;385;p40"/>
          <p:cNvSpPr txBox="1">
            <a:spLocks noGrp="1"/>
          </p:cNvSpPr>
          <p:nvPr>
            <p:ph type="title"/>
          </p:nvPr>
        </p:nvSpPr>
        <p:spPr>
          <a:xfrm>
            <a:off x="628650" y="273844"/>
            <a:ext cx="7886700" cy="994200"/>
          </a:xfrm>
          <a:prstGeom prst="rect">
            <a:avLst/>
          </a:prstGeom>
        </p:spPr>
        <p:txBody>
          <a:bodyPr spcFirstLastPara="1" wrap="square" lIns="68575" tIns="34275" rIns="68575" bIns="34275" anchor="ctr" anchorCtr="0">
            <a:normAutofit/>
          </a:bodyPr>
          <a:lstStyle/>
          <a:p>
            <a:pPr marL="0" lvl="0" indent="0" algn="l" rtl="0">
              <a:spcBef>
                <a:spcPts val="0"/>
              </a:spcBef>
              <a:spcAft>
                <a:spcPts val="0"/>
              </a:spcAft>
              <a:buNone/>
            </a:pPr>
            <a:r>
              <a:rPr lang="en-GB"/>
              <a:t>Word Representation: </a:t>
            </a:r>
            <a:r>
              <a:rPr lang="en-GB">
                <a:solidFill>
                  <a:schemeClr val="accent5"/>
                </a:solidFill>
              </a:rPr>
              <a:t>Key Takeaways</a:t>
            </a:r>
            <a:endParaRPr>
              <a:solidFill>
                <a:schemeClr val="accent5"/>
              </a:solidFill>
            </a:endParaRPr>
          </a:p>
        </p:txBody>
      </p:sp>
      <p:sp>
        <p:nvSpPr>
          <p:cNvPr id="387" name="Google Shape;387;p40"/>
          <p:cNvSpPr txBox="1">
            <a:spLocks noGrp="1"/>
          </p:cNvSpPr>
          <p:nvPr>
            <p:ph type="body" idx="1"/>
          </p:nvPr>
        </p:nvSpPr>
        <p:spPr>
          <a:xfrm>
            <a:off x="628650" y="1260975"/>
            <a:ext cx="7886700" cy="3489000"/>
          </a:xfrm>
          <a:prstGeom prst="rect">
            <a:avLst/>
          </a:prstGeom>
        </p:spPr>
        <p:txBody>
          <a:bodyPr spcFirstLastPara="1" wrap="square" lIns="68575" tIns="34275" rIns="68575" bIns="34275" anchor="t" anchorCtr="0">
            <a:normAutofit/>
          </a:bodyPr>
          <a:lstStyle/>
          <a:p>
            <a:pPr marL="457200" lvl="0" indent="-342900" algn="l" rtl="0">
              <a:lnSpc>
                <a:spcPct val="150000"/>
              </a:lnSpc>
              <a:spcBef>
                <a:spcPts val="800"/>
              </a:spcBef>
              <a:spcAft>
                <a:spcPts val="0"/>
              </a:spcAft>
              <a:buSzPts val="1800"/>
              <a:buChar char="●"/>
            </a:pPr>
            <a:r>
              <a:rPr lang="en-GB">
                <a:solidFill>
                  <a:schemeClr val="accent5"/>
                </a:solidFill>
              </a:rPr>
              <a:t>Learning from raw data</a:t>
            </a:r>
            <a:r>
              <a:rPr lang="en-GB"/>
              <a:t> &gt;&gt; hard-coded human “knowledge”</a:t>
            </a:r>
            <a:endParaRPr/>
          </a:p>
          <a:p>
            <a:pPr marL="457200" lvl="0" indent="0" algn="l" rtl="0">
              <a:lnSpc>
                <a:spcPct val="150000"/>
              </a:lnSpc>
              <a:spcBef>
                <a:spcPts val="1200"/>
              </a:spcBef>
              <a:spcAft>
                <a:spcPts val="1200"/>
              </a:spcAft>
              <a:buNone/>
            </a:pPr>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392"/>
        <p:cNvGrpSpPr/>
        <p:nvPr/>
      </p:nvGrpSpPr>
      <p:grpSpPr>
        <a:xfrm>
          <a:off x="0" y="0"/>
          <a:ext cx="0" cy="0"/>
          <a:chOff x="0" y="0"/>
          <a:chExt cx="0" cy="0"/>
        </a:xfrm>
      </p:grpSpPr>
      <p:sp>
        <p:nvSpPr>
          <p:cNvPr id="393" name="Google Shape;393;p41"/>
          <p:cNvSpPr txBox="1">
            <a:spLocks noGrp="1"/>
          </p:cNvSpPr>
          <p:nvPr>
            <p:ph type="title"/>
          </p:nvPr>
        </p:nvSpPr>
        <p:spPr>
          <a:xfrm>
            <a:off x="628650" y="273844"/>
            <a:ext cx="7886700" cy="994200"/>
          </a:xfrm>
          <a:prstGeom prst="rect">
            <a:avLst/>
          </a:prstGeom>
        </p:spPr>
        <p:txBody>
          <a:bodyPr spcFirstLastPara="1" wrap="square" lIns="68575" tIns="34275" rIns="68575" bIns="34275" anchor="ctr" anchorCtr="0">
            <a:normAutofit/>
          </a:bodyPr>
          <a:lstStyle/>
          <a:p>
            <a:pPr marL="0" lvl="0" indent="0" algn="l" rtl="0">
              <a:spcBef>
                <a:spcPts val="0"/>
              </a:spcBef>
              <a:spcAft>
                <a:spcPts val="0"/>
              </a:spcAft>
              <a:buNone/>
            </a:pPr>
            <a:r>
              <a:rPr lang="en-GB"/>
              <a:t>Word Representation: </a:t>
            </a:r>
            <a:r>
              <a:rPr lang="en-GB">
                <a:solidFill>
                  <a:schemeClr val="accent5"/>
                </a:solidFill>
              </a:rPr>
              <a:t>Key Takeaways</a:t>
            </a:r>
            <a:endParaRPr>
              <a:solidFill>
                <a:schemeClr val="accent5"/>
              </a:solidFill>
            </a:endParaRPr>
          </a:p>
        </p:txBody>
      </p:sp>
      <p:sp>
        <p:nvSpPr>
          <p:cNvPr id="395" name="Google Shape;395;p41"/>
          <p:cNvSpPr txBox="1">
            <a:spLocks noGrp="1"/>
          </p:cNvSpPr>
          <p:nvPr>
            <p:ph type="body" idx="1"/>
          </p:nvPr>
        </p:nvSpPr>
        <p:spPr>
          <a:xfrm>
            <a:off x="628650" y="1260975"/>
            <a:ext cx="7886700" cy="3489000"/>
          </a:xfrm>
          <a:prstGeom prst="rect">
            <a:avLst/>
          </a:prstGeom>
        </p:spPr>
        <p:txBody>
          <a:bodyPr spcFirstLastPara="1" wrap="square" lIns="68575" tIns="34275" rIns="68575" bIns="34275" anchor="t" anchorCtr="0">
            <a:normAutofit/>
          </a:bodyPr>
          <a:lstStyle/>
          <a:p>
            <a:pPr marL="457200" lvl="0" indent="-342900" algn="l" rtl="0">
              <a:lnSpc>
                <a:spcPct val="150000"/>
              </a:lnSpc>
              <a:spcBef>
                <a:spcPts val="800"/>
              </a:spcBef>
              <a:spcAft>
                <a:spcPts val="0"/>
              </a:spcAft>
              <a:buSzPts val="1800"/>
              <a:buChar char="●"/>
            </a:pPr>
            <a:r>
              <a:rPr lang="en-GB">
                <a:solidFill>
                  <a:schemeClr val="accent5"/>
                </a:solidFill>
              </a:rPr>
              <a:t>Learning from raw data</a:t>
            </a:r>
            <a:r>
              <a:rPr lang="en-GB"/>
              <a:t> &gt;&gt; hard-coded human “knowledge”</a:t>
            </a:r>
            <a:endParaRPr/>
          </a:p>
          <a:p>
            <a:pPr marL="457200" lvl="0" indent="-342900" algn="l" rtl="0">
              <a:lnSpc>
                <a:spcPct val="150000"/>
              </a:lnSpc>
              <a:spcBef>
                <a:spcPts val="0"/>
              </a:spcBef>
              <a:spcAft>
                <a:spcPts val="0"/>
              </a:spcAft>
              <a:buClr>
                <a:schemeClr val="accent5"/>
              </a:buClr>
              <a:buSzPts val="1800"/>
              <a:buChar char="●"/>
            </a:pPr>
            <a:r>
              <a:rPr lang="en-GB">
                <a:solidFill>
                  <a:schemeClr val="accent5"/>
                </a:solidFill>
              </a:rPr>
              <a:t>Learning representations with self-supervised learning:</a:t>
            </a:r>
            <a:endParaRPr>
              <a:solidFill>
                <a:schemeClr val="accent5"/>
              </a:solidFill>
            </a:endParaRPr>
          </a:p>
          <a:p>
            <a:pPr marL="914400" lvl="0" indent="0" algn="l" rtl="0">
              <a:lnSpc>
                <a:spcPct val="150000"/>
              </a:lnSpc>
              <a:spcBef>
                <a:spcPts val="1200"/>
              </a:spcBef>
              <a:spcAft>
                <a:spcPts val="1200"/>
              </a:spcAft>
              <a:buNone/>
            </a:pPr>
            <a:endParaRPr/>
          </a:p>
        </p:txBody>
      </p:sp>
      <p:pic>
        <p:nvPicPr>
          <p:cNvPr id="396" name="Google Shape;396;p41" title="Screenshot 2025-10-20 at 10.22.44 AM.png"/>
          <p:cNvPicPr preferRelativeResize="0"/>
          <p:nvPr/>
        </p:nvPicPr>
        <p:blipFill>
          <a:blip r:embed="rId3">
            <a:alphaModFix/>
          </a:blip>
          <a:stretch>
            <a:fillRect/>
          </a:stretch>
        </p:blipFill>
        <p:spPr>
          <a:xfrm>
            <a:off x="3732600" y="2144337"/>
            <a:ext cx="1117592" cy="854826"/>
          </a:xfrm>
          <a:prstGeom prst="rect">
            <a:avLst/>
          </a:prstGeom>
          <a:noFill/>
          <a:ln>
            <a:noFill/>
          </a:ln>
        </p:spPr>
      </p:pic>
      <p:pic>
        <p:nvPicPr>
          <p:cNvPr id="397" name="Google Shape;397;p41" title="Screenshot 2025-10-20 at 10.22.44 AM.png"/>
          <p:cNvPicPr preferRelativeResize="0"/>
          <p:nvPr/>
        </p:nvPicPr>
        <p:blipFill>
          <a:blip r:embed="rId3">
            <a:alphaModFix/>
          </a:blip>
          <a:stretch>
            <a:fillRect/>
          </a:stretch>
        </p:blipFill>
        <p:spPr>
          <a:xfrm>
            <a:off x="5039794" y="2144337"/>
            <a:ext cx="1117592" cy="854826"/>
          </a:xfrm>
          <a:prstGeom prst="rect">
            <a:avLst/>
          </a:prstGeom>
          <a:noFill/>
          <a:ln>
            <a:noFill/>
          </a:ln>
        </p:spPr>
      </p:pic>
      <p:sp>
        <p:nvSpPr>
          <p:cNvPr id="398" name="Google Shape;398;p41"/>
          <p:cNvSpPr/>
          <p:nvPr/>
        </p:nvSpPr>
        <p:spPr>
          <a:xfrm>
            <a:off x="4793242" y="2412675"/>
            <a:ext cx="270600" cy="249000"/>
          </a:xfrm>
          <a:prstGeom prst="rightArrow">
            <a:avLst>
              <a:gd name="adj1" fmla="val 50000"/>
              <a:gd name="adj2" fmla="val 50000"/>
            </a:avLst>
          </a:prstGeom>
          <a:solidFill>
            <a:srgbClr val="D1D5DB"/>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99" name="Google Shape;399;p41"/>
          <p:cNvSpPr/>
          <p:nvPr/>
        </p:nvSpPr>
        <p:spPr>
          <a:xfrm>
            <a:off x="5189222" y="2405750"/>
            <a:ext cx="353100" cy="332100"/>
          </a:xfrm>
          <a:prstGeom prst="rect">
            <a:avLst/>
          </a:prstGeom>
          <a:solidFill>
            <a:srgbClr val="000000"/>
          </a:solidFill>
          <a:ln w="6225" cap="flat" cmpd="sng">
            <a:solidFill>
              <a:srgbClr val="595959"/>
            </a:solidFill>
            <a:prstDash val="solid"/>
            <a:round/>
            <a:headEnd type="none" w="sm" len="sm"/>
            <a:tailEnd type="none" w="sm" len="sm"/>
          </a:ln>
        </p:spPr>
        <p:txBody>
          <a:bodyPr spcFirstLastPara="1" wrap="square" lIns="59650" tIns="59650" rIns="59650" bIns="59650" anchor="ctr" anchorCtr="0">
            <a:noAutofit/>
          </a:bodyPr>
          <a:lstStyle/>
          <a:p>
            <a:pPr marL="0" lvl="0" indent="0" algn="ctr" rtl="0">
              <a:spcBef>
                <a:spcPts val="0"/>
              </a:spcBef>
              <a:spcAft>
                <a:spcPts val="0"/>
              </a:spcAft>
              <a:buNone/>
            </a:pPr>
            <a:endParaRPr sz="913"/>
          </a:p>
        </p:txBody>
      </p:sp>
      <p:sp>
        <p:nvSpPr>
          <p:cNvPr id="400" name="Google Shape;400;p41"/>
          <p:cNvSpPr txBox="1"/>
          <p:nvPr/>
        </p:nvSpPr>
        <p:spPr>
          <a:xfrm>
            <a:off x="991500" y="2104675"/>
            <a:ext cx="2741100" cy="376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a:solidFill>
                  <a:srgbClr val="4285F4"/>
                </a:solidFill>
              </a:rPr>
              <a:t>The fox jumped over the fence</a:t>
            </a:r>
            <a:endParaRPr>
              <a:solidFill>
                <a:srgbClr val="4285F4"/>
              </a:solidFill>
            </a:endParaRPr>
          </a:p>
        </p:txBody>
      </p:sp>
      <p:sp>
        <p:nvSpPr>
          <p:cNvPr id="401" name="Google Shape;401;p41"/>
          <p:cNvSpPr txBox="1"/>
          <p:nvPr/>
        </p:nvSpPr>
        <p:spPr>
          <a:xfrm>
            <a:off x="933275" y="2650833"/>
            <a:ext cx="2662500" cy="376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a:solidFill>
                  <a:srgbClr val="4285F4"/>
                </a:solidFill>
              </a:rPr>
              <a:t>The fox ______ over the fence</a:t>
            </a:r>
            <a:endParaRPr>
              <a:solidFill>
                <a:srgbClr val="4285F4"/>
              </a:solidFill>
            </a:endParaRPr>
          </a:p>
        </p:txBody>
      </p:sp>
      <p:sp>
        <p:nvSpPr>
          <p:cNvPr id="402" name="Google Shape;402;p41"/>
          <p:cNvSpPr/>
          <p:nvPr/>
        </p:nvSpPr>
        <p:spPr>
          <a:xfrm rot="5400000">
            <a:off x="2089467" y="2436462"/>
            <a:ext cx="350100" cy="270600"/>
          </a:xfrm>
          <a:prstGeom prst="rightArrow">
            <a:avLst>
              <a:gd name="adj1" fmla="val 50000"/>
              <a:gd name="adj2" fmla="val 50000"/>
            </a:avLst>
          </a:prstGeom>
          <a:solidFill>
            <a:srgbClr val="D1D5DB"/>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03" name="Google Shape;403;p41"/>
          <p:cNvSpPr/>
          <p:nvPr/>
        </p:nvSpPr>
        <p:spPr>
          <a:xfrm rot="5400000">
            <a:off x="3040045" y="2915625"/>
            <a:ext cx="419400" cy="586500"/>
          </a:xfrm>
          <a:prstGeom prst="rightArrow">
            <a:avLst>
              <a:gd name="adj1" fmla="val 50000"/>
              <a:gd name="adj2" fmla="val 50000"/>
            </a:avLst>
          </a:prstGeom>
          <a:solidFill>
            <a:srgbClr val="0097A7"/>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404" name="Google Shape;404;p41" title="Screenshot 2025-10-27 at 1.57.18 PM.png"/>
          <p:cNvPicPr preferRelativeResize="0"/>
          <p:nvPr/>
        </p:nvPicPr>
        <p:blipFill>
          <a:blip r:embed="rId4">
            <a:alphaModFix/>
          </a:blip>
          <a:stretch>
            <a:fillRect/>
          </a:stretch>
        </p:blipFill>
        <p:spPr>
          <a:xfrm>
            <a:off x="1507600" y="3395449"/>
            <a:ext cx="3448700" cy="1530601"/>
          </a:xfrm>
          <a:prstGeom prst="rect">
            <a:avLst/>
          </a:prstGeom>
          <a:noFill/>
          <a:ln>
            <a:noFill/>
          </a:ln>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408"/>
        <p:cNvGrpSpPr/>
        <p:nvPr/>
      </p:nvGrpSpPr>
      <p:grpSpPr>
        <a:xfrm>
          <a:off x="0" y="0"/>
          <a:ext cx="0" cy="0"/>
          <a:chOff x="0" y="0"/>
          <a:chExt cx="0" cy="0"/>
        </a:xfrm>
      </p:grpSpPr>
      <p:sp>
        <p:nvSpPr>
          <p:cNvPr id="409" name="Google Shape;409;p42"/>
          <p:cNvSpPr txBox="1">
            <a:spLocks noGrp="1"/>
          </p:cNvSpPr>
          <p:nvPr>
            <p:ph type="title"/>
          </p:nvPr>
        </p:nvSpPr>
        <p:spPr>
          <a:xfrm>
            <a:off x="628650" y="273844"/>
            <a:ext cx="7886700" cy="994200"/>
          </a:xfrm>
          <a:prstGeom prst="rect">
            <a:avLst/>
          </a:prstGeom>
        </p:spPr>
        <p:txBody>
          <a:bodyPr spcFirstLastPara="1" wrap="square" lIns="68575" tIns="34275" rIns="68575" bIns="34275" anchor="ctr" anchorCtr="0">
            <a:normAutofit/>
          </a:bodyPr>
          <a:lstStyle/>
          <a:p>
            <a:pPr marL="0" lvl="0" indent="0" algn="l" rtl="0">
              <a:spcBef>
                <a:spcPts val="0"/>
              </a:spcBef>
              <a:spcAft>
                <a:spcPts val="0"/>
              </a:spcAft>
              <a:buNone/>
            </a:pPr>
            <a:r>
              <a:rPr lang="en-GB"/>
              <a:t>Word Representation: </a:t>
            </a:r>
            <a:r>
              <a:rPr lang="en-GB">
                <a:solidFill>
                  <a:schemeClr val="accent5"/>
                </a:solidFill>
              </a:rPr>
              <a:t>Key Takeaways</a:t>
            </a:r>
            <a:endParaRPr>
              <a:solidFill>
                <a:schemeClr val="accent5"/>
              </a:solidFill>
            </a:endParaRPr>
          </a:p>
        </p:txBody>
      </p:sp>
      <p:sp>
        <p:nvSpPr>
          <p:cNvPr id="411" name="Google Shape;411;p42"/>
          <p:cNvSpPr txBox="1">
            <a:spLocks noGrp="1"/>
          </p:cNvSpPr>
          <p:nvPr>
            <p:ph type="body" idx="1"/>
          </p:nvPr>
        </p:nvSpPr>
        <p:spPr>
          <a:xfrm>
            <a:off x="628650" y="1260975"/>
            <a:ext cx="7886700" cy="3489000"/>
          </a:xfrm>
          <a:prstGeom prst="rect">
            <a:avLst/>
          </a:prstGeom>
        </p:spPr>
        <p:txBody>
          <a:bodyPr spcFirstLastPara="1" wrap="square" lIns="68575" tIns="34275" rIns="68575" bIns="34275" anchor="t" anchorCtr="0">
            <a:normAutofit/>
          </a:bodyPr>
          <a:lstStyle/>
          <a:p>
            <a:pPr marL="457200" lvl="0" indent="-342900" algn="l" rtl="0">
              <a:lnSpc>
                <a:spcPct val="150000"/>
              </a:lnSpc>
              <a:spcBef>
                <a:spcPts val="800"/>
              </a:spcBef>
              <a:spcAft>
                <a:spcPts val="0"/>
              </a:spcAft>
              <a:buSzPts val="1800"/>
              <a:buChar char="●"/>
            </a:pPr>
            <a:r>
              <a:rPr lang="en-GB">
                <a:solidFill>
                  <a:schemeClr val="accent5"/>
                </a:solidFill>
              </a:rPr>
              <a:t>Learning from raw data</a:t>
            </a:r>
            <a:r>
              <a:rPr lang="en-GB"/>
              <a:t> &gt;&gt; hard-coded human “knowledge”</a:t>
            </a:r>
            <a:endParaRPr/>
          </a:p>
          <a:p>
            <a:pPr marL="457200" lvl="0" indent="-342900" algn="l" rtl="0">
              <a:lnSpc>
                <a:spcPct val="150000"/>
              </a:lnSpc>
              <a:spcBef>
                <a:spcPts val="0"/>
              </a:spcBef>
              <a:spcAft>
                <a:spcPts val="0"/>
              </a:spcAft>
              <a:buClr>
                <a:schemeClr val="accent5"/>
              </a:buClr>
              <a:buSzPts val="1800"/>
              <a:buChar char="●"/>
            </a:pPr>
            <a:r>
              <a:rPr lang="en-GB">
                <a:solidFill>
                  <a:schemeClr val="accent5"/>
                </a:solidFill>
              </a:rPr>
              <a:t>Learning representations with self-supervised learning</a:t>
            </a:r>
            <a:endParaRPr>
              <a:solidFill>
                <a:schemeClr val="accent5"/>
              </a:solidFill>
            </a:endParaRPr>
          </a:p>
          <a:p>
            <a:pPr marL="457200" lvl="0" indent="-342900" algn="l" rtl="0">
              <a:lnSpc>
                <a:spcPct val="150000"/>
              </a:lnSpc>
              <a:spcBef>
                <a:spcPts val="0"/>
              </a:spcBef>
              <a:spcAft>
                <a:spcPts val="0"/>
              </a:spcAft>
              <a:buClr>
                <a:schemeClr val="accent5"/>
              </a:buClr>
              <a:buSzPts val="1800"/>
              <a:buChar char="●"/>
            </a:pPr>
            <a:r>
              <a:rPr lang="en-GB">
                <a:solidFill>
                  <a:schemeClr val="accent5"/>
                </a:solidFill>
              </a:rPr>
              <a:t>Contrastive learning: </a:t>
            </a:r>
            <a:r>
              <a:rPr lang="en-GB">
                <a:solidFill>
                  <a:schemeClr val="dk1"/>
                </a:solidFill>
              </a:rPr>
              <a:t>Learn vector representation from binary examples of close pairs and far pairs</a:t>
            </a:r>
            <a:endParaRPr>
              <a:solidFill>
                <a:schemeClr val="dk1"/>
              </a:solidFill>
            </a:endParaRPr>
          </a:p>
          <a:p>
            <a:pPr marL="914400" lvl="0" indent="0" algn="l" rtl="0">
              <a:lnSpc>
                <a:spcPct val="150000"/>
              </a:lnSpc>
              <a:spcBef>
                <a:spcPts val="1200"/>
              </a:spcBef>
              <a:spcAft>
                <a:spcPts val="1200"/>
              </a:spcAft>
              <a:buNone/>
            </a:pPr>
            <a:endParaRPr/>
          </a:p>
        </p:txBody>
      </p:sp>
      <p:sp>
        <p:nvSpPr>
          <p:cNvPr id="412" name="Google Shape;412;p42"/>
          <p:cNvSpPr txBox="1"/>
          <p:nvPr/>
        </p:nvSpPr>
        <p:spPr>
          <a:xfrm>
            <a:off x="364575" y="3005375"/>
            <a:ext cx="2355000" cy="1761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b="1">
                <a:solidFill>
                  <a:srgbClr val="00B050"/>
                </a:solidFill>
              </a:rPr>
              <a:t>Close examples:</a:t>
            </a:r>
            <a:endParaRPr b="1">
              <a:solidFill>
                <a:srgbClr val="00B050"/>
              </a:solidFill>
            </a:endParaRPr>
          </a:p>
          <a:p>
            <a:pPr marL="0" lvl="0" indent="0" algn="l" rtl="0">
              <a:spcBef>
                <a:spcPts val="0"/>
              </a:spcBef>
              <a:spcAft>
                <a:spcPts val="0"/>
              </a:spcAft>
              <a:buNone/>
            </a:pPr>
            <a:r>
              <a:rPr lang="en-GB">
                <a:solidFill>
                  <a:schemeClr val="dk2"/>
                </a:solidFill>
              </a:rPr>
              <a:t>king-queen, car-road, movie-cinema, ...</a:t>
            </a:r>
            <a:endParaRPr>
              <a:solidFill>
                <a:schemeClr val="dk2"/>
              </a:solidFill>
            </a:endParaRPr>
          </a:p>
          <a:p>
            <a:pPr marL="0" lvl="0" indent="0" algn="l" rtl="0">
              <a:spcBef>
                <a:spcPts val="0"/>
              </a:spcBef>
              <a:spcAft>
                <a:spcPts val="0"/>
              </a:spcAft>
              <a:buNone/>
            </a:pPr>
            <a:endParaRPr>
              <a:solidFill>
                <a:schemeClr val="dk2"/>
              </a:solidFill>
            </a:endParaRPr>
          </a:p>
          <a:p>
            <a:pPr marL="0" lvl="0" indent="0" algn="l" rtl="0">
              <a:spcBef>
                <a:spcPts val="0"/>
              </a:spcBef>
              <a:spcAft>
                <a:spcPts val="0"/>
              </a:spcAft>
              <a:buNone/>
            </a:pPr>
            <a:r>
              <a:rPr lang="en-GB" b="1">
                <a:solidFill>
                  <a:srgbClr val="A61C00"/>
                </a:solidFill>
              </a:rPr>
              <a:t>Far examples:</a:t>
            </a:r>
            <a:endParaRPr b="1">
              <a:solidFill>
                <a:srgbClr val="A61C00"/>
              </a:solidFill>
            </a:endParaRPr>
          </a:p>
          <a:p>
            <a:pPr marL="0" lvl="0" indent="0" algn="l" rtl="0">
              <a:spcBef>
                <a:spcPts val="0"/>
              </a:spcBef>
              <a:spcAft>
                <a:spcPts val="0"/>
              </a:spcAft>
              <a:buNone/>
            </a:pPr>
            <a:r>
              <a:rPr lang="en-GB">
                <a:solidFill>
                  <a:schemeClr val="dk2"/>
                </a:solidFill>
              </a:rPr>
              <a:t>king-ladybug, car-cabbage, flamenco-snow, …</a:t>
            </a:r>
            <a:endParaRPr>
              <a:solidFill>
                <a:schemeClr val="dk2"/>
              </a:solidFill>
            </a:endParaRPr>
          </a:p>
        </p:txBody>
      </p:sp>
      <p:sp>
        <p:nvSpPr>
          <p:cNvPr id="413" name="Google Shape;413;p42"/>
          <p:cNvSpPr/>
          <p:nvPr/>
        </p:nvSpPr>
        <p:spPr>
          <a:xfrm>
            <a:off x="2719578" y="3698225"/>
            <a:ext cx="692700" cy="376200"/>
          </a:xfrm>
          <a:prstGeom prst="rightArrow">
            <a:avLst>
              <a:gd name="adj1" fmla="val 50000"/>
              <a:gd name="adj2" fmla="val 50000"/>
            </a:avLst>
          </a:prstGeom>
          <a:solidFill>
            <a:srgbClr val="0097A7"/>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414" name="Google Shape;414;p42" title="Screenshot 2025-10-27 at 2.02.35 PM.png"/>
          <p:cNvPicPr preferRelativeResize="0"/>
          <p:nvPr/>
        </p:nvPicPr>
        <p:blipFill>
          <a:blip r:embed="rId3">
            <a:alphaModFix/>
          </a:blip>
          <a:stretch>
            <a:fillRect/>
          </a:stretch>
        </p:blipFill>
        <p:spPr>
          <a:xfrm>
            <a:off x="3455723" y="3036863"/>
            <a:ext cx="2761800" cy="1698925"/>
          </a:xfrm>
          <a:prstGeom prst="rect">
            <a:avLst/>
          </a:prstGeom>
          <a:noFill/>
          <a:ln>
            <a:noFill/>
          </a:ln>
        </p:spPr>
      </p:pic>
      <p:sp>
        <p:nvSpPr>
          <p:cNvPr id="415" name="Google Shape;415;p42"/>
          <p:cNvSpPr/>
          <p:nvPr/>
        </p:nvSpPr>
        <p:spPr>
          <a:xfrm>
            <a:off x="6300978" y="3698225"/>
            <a:ext cx="692700" cy="376200"/>
          </a:xfrm>
          <a:prstGeom prst="rightArrow">
            <a:avLst>
              <a:gd name="adj1" fmla="val 50000"/>
              <a:gd name="adj2" fmla="val 50000"/>
            </a:avLst>
          </a:prstGeom>
          <a:solidFill>
            <a:srgbClr val="0097A7"/>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nvGrpSpPr>
          <p:cNvPr id="416" name="Google Shape;416;p42"/>
          <p:cNvGrpSpPr/>
          <p:nvPr/>
        </p:nvGrpSpPr>
        <p:grpSpPr>
          <a:xfrm>
            <a:off x="5765225" y="4307138"/>
            <a:ext cx="3283836" cy="629594"/>
            <a:chOff x="2560204" y="3377188"/>
            <a:chExt cx="6772193" cy="1298400"/>
          </a:xfrm>
        </p:grpSpPr>
        <p:sp>
          <p:nvSpPr>
            <p:cNvPr id="417" name="Google Shape;417;p42"/>
            <p:cNvSpPr txBox="1"/>
            <p:nvPr/>
          </p:nvSpPr>
          <p:spPr>
            <a:xfrm>
              <a:off x="2560204" y="3377188"/>
              <a:ext cx="2056800" cy="1292700"/>
            </a:xfrm>
            <a:prstGeom prst="rect">
              <a:avLst/>
            </a:prstGeom>
            <a:blipFill rotWithShape="1">
              <a:blip r:embed="rId4">
                <a:alphaModFix/>
              </a:blip>
              <a:stretch>
                <a:fillRect l="-3089" b="-1939"/>
              </a:stretch>
            </a:blipFill>
            <a:ln>
              <a:noFill/>
            </a:ln>
          </p:spPr>
          <p:txBody>
            <a:bodyPr spcFirstLastPara="1" wrap="square" lIns="44350" tIns="22150" rIns="44350" bIns="22150" anchor="t" anchorCtr="0">
              <a:noAutofit/>
            </a:bodyPr>
            <a:lstStyle/>
            <a:p>
              <a:pPr marL="0" marR="0" lvl="0" indent="0" algn="l" rtl="0">
                <a:spcBef>
                  <a:spcPts val="0"/>
                </a:spcBef>
                <a:spcAft>
                  <a:spcPts val="0"/>
                </a:spcAft>
                <a:buNone/>
              </a:pPr>
              <a:r>
                <a:rPr lang="en-GB" sz="905">
                  <a:latin typeface="Century Gothic"/>
                  <a:ea typeface="Century Gothic"/>
                  <a:cs typeface="Century Gothic"/>
                  <a:sym typeface="Century Gothic"/>
                </a:rPr>
                <a:t> </a:t>
              </a:r>
              <a:endParaRPr sz="711"/>
            </a:p>
          </p:txBody>
        </p:sp>
        <p:sp>
          <p:nvSpPr>
            <p:cNvPr id="418" name="Google Shape;418;p42"/>
            <p:cNvSpPr txBox="1"/>
            <p:nvPr/>
          </p:nvSpPr>
          <p:spPr>
            <a:xfrm>
              <a:off x="4974898" y="3377188"/>
              <a:ext cx="2149500" cy="1298400"/>
            </a:xfrm>
            <a:prstGeom prst="rect">
              <a:avLst/>
            </a:prstGeom>
            <a:blipFill rotWithShape="1">
              <a:blip r:embed="rId5">
                <a:alphaModFix/>
              </a:blip>
              <a:stretch>
                <a:fillRect l="-2939" b="-959"/>
              </a:stretch>
            </a:blipFill>
            <a:ln>
              <a:noFill/>
            </a:ln>
          </p:spPr>
          <p:txBody>
            <a:bodyPr spcFirstLastPara="1" wrap="square" lIns="44350" tIns="22150" rIns="44350" bIns="22150" anchor="t" anchorCtr="0">
              <a:noAutofit/>
            </a:bodyPr>
            <a:lstStyle/>
            <a:p>
              <a:pPr marL="0" marR="0" lvl="0" indent="0" algn="l" rtl="0">
                <a:spcBef>
                  <a:spcPts val="0"/>
                </a:spcBef>
                <a:spcAft>
                  <a:spcPts val="0"/>
                </a:spcAft>
                <a:buNone/>
              </a:pPr>
              <a:r>
                <a:rPr lang="en-GB" sz="905">
                  <a:latin typeface="Century Gothic"/>
                  <a:ea typeface="Century Gothic"/>
                  <a:cs typeface="Century Gothic"/>
                  <a:sym typeface="Century Gothic"/>
                </a:rPr>
                <a:t> </a:t>
              </a:r>
              <a:endParaRPr sz="711"/>
            </a:p>
          </p:txBody>
        </p:sp>
        <p:sp>
          <p:nvSpPr>
            <p:cNvPr id="419" name="Google Shape;419;p42"/>
            <p:cNvSpPr txBox="1"/>
            <p:nvPr/>
          </p:nvSpPr>
          <p:spPr>
            <a:xfrm>
              <a:off x="7496997" y="3377188"/>
              <a:ext cx="1835400" cy="1298400"/>
            </a:xfrm>
            <a:prstGeom prst="rect">
              <a:avLst/>
            </a:prstGeom>
            <a:blipFill rotWithShape="1">
              <a:blip r:embed="rId6">
                <a:alphaModFix/>
              </a:blip>
              <a:stretch>
                <a:fillRect l="-2759" b="-959"/>
              </a:stretch>
            </a:blipFill>
            <a:ln>
              <a:noFill/>
            </a:ln>
          </p:spPr>
          <p:txBody>
            <a:bodyPr spcFirstLastPara="1" wrap="square" lIns="44350" tIns="22150" rIns="44350" bIns="22150" anchor="t" anchorCtr="0">
              <a:noAutofit/>
            </a:bodyPr>
            <a:lstStyle/>
            <a:p>
              <a:pPr marL="0" marR="0" lvl="0" indent="0" algn="l" rtl="0">
                <a:spcBef>
                  <a:spcPts val="0"/>
                </a:spcBef>
                <a:spcAft>
                  <a:spcPts val="0"/>
                </a:spcAft>
                <a:buNone/>
              </a:pPr>
              <a:r>
                <a:rPr lang="en-GB" sz="905">
                  <a:latin typeface="Century Gothic"/>
                  <a:ea typeface="Century Gothic"/>
                  <a:cs typeface="Century Gothic"/>
                  <a:sym typeface="Century Gothic"/>
                </a:rPr>
                <a:t> </a:t>
              </a:r>
              <a:endParaRPr sz="711"/>
            </a:p>
          </p:txBody>
        </p:sp>
      </p:grpSp>
      <p:pic>
        <p:nvPicPr>
          <p:cNvPr id="420" name="Google Shape;420;p42" title="Screenshot 2025-10-27 at 2.03.18 PM.png"/>
          <p:cNvPicPr preferRelativeResize="0"/>
          <p:nvPr/>
        </p:nvPicPr>
        <p:blipFill>
          <a:blip r:embed="rId7">
            <a:alphaModFix/>
          </a:blip>
          <a:stretch>
            <a:fillRect/>
          </a:stretch>
        </p:blipFill>
        <p:spPr>
          <a:xfrm>
            <a:off x="7309950" y="2745500"/>
            <a:ext cx="1380800" cy="1285575"/>
          </a:xfrm>
          <a:prstGeom prst="rect">
            <a:avLst/>
          </a:prstGeom>
          <a:noFill/>
          <a:ln>
            <a:noFill/>
          </a:ln>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434"/>
        <p:cNvGrpSpPr/>
        <p:nvPr/>
      </p:nvGrpSpPr>
      <p:grpSpPr>
        <a:xfrm>
          <a:off x="0" y="0"/>
          <a:ext cx="0" cy="0"/>
          <a:chOff x="0" y="0"/>
          <a:chExt cx="0" cy="0"/>
        </a:xfrm>
      </p:grpSpPr>
      <p:sp>
        <p:nvSpPr>
          <p:cNvPr id="435" name="Google Shape;435;p44"/>
          <p:cNvSpPr txBox="1">
            <a:spLocks noGrp="1"/>
          </p:cNvSpPr>
          <p:nvPr>
            <p:ph type="title"/>
          </p:nvPr>
        </p:nvSpPr>
        <p:spPr>
          <a:xfrm>
            <a:off x="467929" y="1314625"/>
            <a:ext cx="8184900" cy="1604700"/>
          </a:xfrm>
          <a:prstGeom prst="rect">
            <a:avLst/>
          </a:prstGeom>
          <a:noFill/>
          <a:ln>
            <a:noFill/>
          </a:ln>
        </p:spPr>
        <p:txBody>
          <a:bodyPr spcFirstLastPara="1" wrap="square" lIns="68575" tIns="34275" rIns="68575" bIns="34275" anchor="b" anchorCtr="0">
            <a:normAutofit/>
          </a:bodyPr>
          <a:lstStyle/>
          <a:p>
            <a:pPr marL="0" lvl="0" indent="0" algn="l" rtl="0">
              <a:lnSpc>
                <a:spcPct val="90000"/>
              </a:lnSpc>
              <a:spcBef>
                <a:spcPts val="0"/>
              </a:spcBef>
              <a:spcAft>
                <a:spcPts val="0"/>
              </a:spcAft>
              <a:buClr>
                <a:schemeClr val="dk1"/>
              </a:buClr>
              <a:buSzPts val="4500"/>
              <a:buFont typeface="Century Gothic"/>
              <a:buNone/>
            </a:pPr>
            <a:r>
              <a:rPr lang="en-GB"/>
              <a:t>Relation to matrix factorization</a:t>
            </a:r>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3E718D-8B1A-8422-0EB1-F7BE93428F49}"/>
              </a:ext>
            </a:extLst>
          </p:cNvPr>
          <p:cNvSpPr>
            <a:spLocks noGrp="1"/>
          </p:cNvSpPr>
          <p:nvPr>
            <p:ph type="title"/>
          </p:nvPr>
        </p:nvSpPr>
        <p:spPr/>
        <p:txBody>
          <a:bodyPr>
            <a:normAutofit fontScale="90000"/>
          </a:bodyPr>
          <a:lstStyle/>
          <a:p>
            <a:r>
              <a:rPr lang="en-US" dirty="0"/>
              <a:t>Recall: </a:t>
            </a:r>
            <a:r>
              <a:rPr lang="en-US" dirty="0" err="1"/>
              <a:t>Skipgram</a:t>
            </a:r>
            <a:r>
              <a:rPr lang="en-US" dirty="0"/>
              <a:t> vs. Co-occurrence Matrix</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7476911B-4830-AB5A-CDC6-5145701C21EE}"/>
                  </a:ext>
                </a:extLst>
              </p:cNvPr>
              <p:cNvSpPr>
                <a:spLocks noGrp="1"/>
              </p:cNvSpPr>
              <p:nvPr>
                <p:ph type="body" idx="1"/>
              </p:nvPr>
            </p:nvSpPr>
            <p:spPr/>
            <p:txBody>
              <a:bodyPr/>
              <a:lstStyle/>
              <a:p>
                <a:r>
                  <a:rPr lang="en-US" dirty="0"/>
                  <a:t>If </a:t>
                </a:r>
                <a14:m>
                  <m:oMath xmlns:m="http://schemas.openxmlformats.org/officeDocument/2006/math">
                    <m:r>
                      <a:rPr lang="en-US" b="0" i="1" smtClean="0">
                        <a:solidFill>
                          <a:schemeClr val="accent5"/>
                        </a:solidFill>
                        <a:latin typeface="Cambria Math" panose="02040503050406030204" pitchFamily="18" charset="0"/>
                      </a:rPr>
                      <m:t>𝑑</m:t>
                    </m:r>
                    <m:r>
                      <a:rPr lang="en-US" b="0" i="1" smtClean="0">
                        <a:solidFill>
                          <a:schemeClr val="accent5"/>
                        </a:solidFill>
                        <a:latin typeface="Cambria Math" panose="02040503050406030204" pitchFamily="18" charset="0"/>
                      </a:rPr>
                      <m:t>=</m:t>
                    </m:r>
                    <m:d>
                      <m:dPr>
                        <m:begChr m:val="|"/>
                        <m:endChr m:val="|"/>
                        <m:ctrlPr>
                          <a:rPr lang="en-US" b="0" i="1" smtClean="0">
                            <a:solidFill>
                              <a:schemeClr val="accent5"/>
                            </a:solidFill>
                            <a:latin typeface="Cambria Math" panose="02040503050406030204" pitchFamily="18" charset="0"/>
                          </a:rPr>
                        </m:ctrlPr>
                      </m:dPr>
                      <m:e>
                        <m:r>
                          <a:rPr lang="en-US" b="0" i="1" smtClean="0">
                            <a:solidFill>
                              <a:schemeClr val="accent5"/>
                            </a:solidFill>
                            <a:latin typeface="Cambria Math" panose="02040503050406030204" pitchFamily="18" charset="0"/>
                          </a:rPr>
                          <m:t>𝑉𝑜𝑐𝑎𝑏</m:t>
                        </m:r>
                      </m:e>
                    </m:d>
                  </m:oMath>
                </a14:m>
                <a:r>
                  <a:rPr lang="en-US" dirty="0"/>
                  <a:t> then setting </a:t>
                </a:r>
                <a14:m>
                  <m:oMath xmlns:m="http://schemas.openxmlformats.org/officeDocument/2006/math">
                    <m:r>
                      <a:rPr lang="en-US" i="1" smtClean="0">
                        <a:solidFill>
                          <a:schemeClr val="accent5"/>
                        </a:solidFill>
                        <a:latin typeface="Cambria Math" panose="02040503050406030204" pitchFamily="18" charset="0"/>
                      </a:rPr>
                      <m:t>∀</m:t>
                    </m:r>
                    <m:r>
                      <a:rPr lang="en-US" b="0" i="1" smtClean="0">
                        <a:solidFill>
                          <a:schemeClr val="accent5"/>
                        </a:solidFill>
                        <a:latin typeface="Cambria Math" panose="02040503050406030204" pitchFamily="18" charset="0"/>
                      </a:rPr>
                      <m:t>𝑐</m:t>
                    </m:r>
                    <m:r>
                      <a:rPr lang="en-US" b="0" i="1" smtClean="0">
                        <a:solidFill>
                          <a:schemeClr val="accent5"/>
                        </a:solidFill>
                        <a:latin typeface="Cambria Math" panose="02040503050406030204" pitchFamily="18" charset="0"/>
                      </a:rPr>
                      <m:t>,</m:t>
                    </m:r>
                    <m:r>
                      <a:rPr lang="en-US" b="0" i="1" smtClean="0">
                        <a:solidFill>
                          <a:schemeClr val="accent5"/>
                        </a:solidFill>
                        <a:latin typeface="Cambria Math" panose="02040503050406030204" pitchFamily="18" charset="0"/>
                      </a:rPr>
                      <m:t>𝑜</m:t>
                    </m:r>
                    <m:r>
                      <a:rPr lang="en-US" b="0" i="1" smtClean="0">
                        <a:solidFill>
                          <a:schemeClr val="accent5"/>
                        </a:solidFill>
                        <a:latin typeface="Cambria Math" panose="02040503050406030204" pitchFamily="18" charset="0"/>
                      </a:rPr>
                      <m:t>: </m:t>
                    </m:r>
                    <m:sSubSup>
                      <m:sSubSupPr>
                        <m:ctrlPr>
                          <a:rPr lang="en-US" b="0" i="1" smtClean="0">
                            <a:solidFill>
                              <a:schemeClr val="accent5"/>
                            </a:solidFill>
                            <a:latin typeface="Cambria Math" panose="02040503050406030204" pitchFamily="18" charset="0"/>
                          </a:rPr>
                        </m:ctrlPr>
                      </m:sSubSupPr>
                      <m:e>
                        <m:r>
                          <a:rPr lang="en-US" b="0" i="1" smtClean="0">
                            <a:solidFill>
                              <a:schemeClr val="accent5"/>
                            </a:solidFill>
                            <a:latin typeface="Cambria Math" panose="02040503050406030204" pitchFamily="18" charset="0"/>
                          </a:rPr>
                          <m:t>𝑣</m:t>
                        </m:r>
                      </m:e>
                      <m:sub>
                        <m:r>
                          <a:rPr lang="en-US" b="0" i="1" smtClean="0">
                            <a:solidFill>
                              <a:schemeClr val="accent5"/>
                            </a:solidFill>
                            <a:latin typeface="Cambria Math" panose="02040503050406030204" pitchFamily="18" charset="0"/>
                          </a:rPr>
                          <m:t>𝑐</m:t>
                        </m:r>
                      </m:sub>
                      <m:sup>
                        <m:r>
                          <a:rPr lang="en-US" b="0" i="1" smtClean="0">
                            <a:solidFill>
                              <a:schemeClr val="accent5"/>
                            </a:solidFill>
                            <a:latin typeface="Cambria Math" panose="02040503050406030204" pitchFamily="18" charset="0"/>
                          </a:rPr>
                          <m:t>𝑇</m:t>
                        </m:r>
                      </m:sup>
                    </m:sSubSup>
                    <m:sSub>
                      <m:sSubPr>
                        <m:ctrlPr>
                          <a:rPr lang="en-US" b="0" i="1" smtClean="0">
                            <a:solidFill>
                              <a:schemeClr val="accent5"/>
                            </a:solidFill>
                            <a:latin typeface="Cambria Math" panose="02040503050406030204" pitchFamily="18" charset="0"/>
                          </a:rPr>
                        </m:ctrlPr>
                      </m:sSubPr>
                      <m:e>
                        <m:r>
                          <a:rPr lang="en-US" b="0" i="1" smtClean="0">
                            <a:solidFill>
                              <a:schemeClr val="accent5"/>
                            </a:solidFill>
                            <a:latin typeface="Cambria Math" panose="02040503050406030204" pitchFamily="18" charset="0"/>
                          </a:rPr>
                          <m:t>𝑢</m:t>
                        </m:r>
                      </m:e>
                      <m:sub>
                        <m:r>
                          <a:rPr lang="en-US" b="0" i="1" smtClean="0">
                            <a:solidFill>
                              <a:schemeClr val="accent5"/>
                            </a:solidFill>
                            <a:latin typeface="Cambria Math" panose="02040503050406030204" pitchFamily="18" charset="0"/>
                          </a:rPr>
                          <m:t>𝑜</m:t>
                        </m:r>
                      </m:sub>
                    </m:sSub>
                    <m:r>
                      <a:rPr lang="en-US" b="0" i="1" smtClean="0">
                        <a:solidFill>
                          <a:schemeClr val="accent5"/>
                        </a:solidFill>
                        <a:latin typeface="Cambria Math" panose="02040503050406030204" pitchFamily="18" charset="0"/>
                      </a:rPr>
                      <m:t>=</m:t>
                    </m:r>
                    <m:func>
                      <m:funcPr>
                        <m:ctrlPr>
                          <a:rPr lang="en-US" b="0" i="1" smtClean="0">
                            <a:solidFill>
                              <a:schemeClr val="accent5"/>
                            </a:solidFill>
                            <a:latin typeface="Cambria Math" panose="02040503050406030204" pitchFamily="18" charset="0"/>
                          </a:rPr>
                        </m:ctrlPr>
                      </m:funcPr>
                      <m:fName>
                        <m:r>
                          <m:rPr>
                            <m:sty m:val="p"/>
                          </m:rPr>
                          <a:rPr lang="en-US" b="0" i="0" smtClean="0">
                            <a:solidFill>
                              <a:schemeClr val="accent5"/>
                            </a:solidFill>
                            <a:latin typeface="Cambria Math" panose="02040503050406030204" pitchFamily="18" charset="0"/>
                          </a:rPr>
                          <m:t>log</m:t>
                        </m:r>
                      </m:fName>
                      <m:e>
                        <m:r>
                          <a:rPr lang="en-US" b="0" i="1" smtClean="0">
                            <a:solidFill>
                              <a:schemeClr val="accent5"/>
                            </a:solidFill>
                            <a:latin typeface="Cambria Math" panose="02040503050406030204" pitchFamily="18" charset="0"/>
                          </a:rPr>
                          <m:t>#(</m:t>
                        </m:r>
                        <m:r>
                          <a:rPr lang="en-US" b="0" i="1" smtClean="0">
                            <a:solidFill>
                              <a:schemeClr val="accent5"/>
                            </a:solidFill>
                            <a:latin typeface="Cambria Math" panose="02040503050406030204" pitchFamily="18" charset="0"/>
                          </a:rPr>
                          <m:t>𝑐</m:t>
                        </m:r>
                        <m:r>
                          <a:rPr lang="en-US" b="0" i="1" smtClean="0">
                            <a:solidFill>
                              <a:schemeClr val="accent5"/>
                            </a:solidFill>
                            <a:latin typeface="Cambria Math" panose="02040503050406030204" pitchFamily="18" charset="0"/>
                          </a:rPr>
                          <m:t>,</m:t>
                        </m:r>
                        <m:r>
                          <a:rPr lang="en-US" b="0" i="1" smtClean="0">
                            <a:solidFill>
                              <a:schemeClr val="accent5"/>
                            </a:solidFill>
                            <a:latin typeface="Cambria Math" panose="02040503050406030204" pitchFamily="18" charset="0"/>
                          </a:rPr>
                          <m:t>𝑜</m:t>
                        </m:r>
                        <m:r>
                          <a:rPr lang="en-US" b="0" i="1" smtClean="0">
                            <a:solidFill>
                              <a:schemeClr val="accent5"/>
                            </a:solidFill>
                            <a:latin typeface="Cambria Math" panose="02040503050406030204" pitchFamily="18" charset="0"/>
                          </a:rPr>
                          <m:t>)</m:t>
                        </m:r>
                      </m:e>
                    </m:func>
                  </m:oMath>
                </a14:m>
                <a:r>
                  <a:rPr lang="en-US" dirty="0"/>
                  <a:t> is optimal for </a:t>
                </a:r>
                <a:r>
                  <a:rPr lang="en-US" dirty="0" err="1"/>
                  <a:t>Skipgram</a:t>
                </a:r>
                <a:endParaRPr lang="en-US" dirty="0"/>
              </a:p>
              <a:p>
                <a:endParaRPr lang="en-US" dirty="0"/>
              </a:p>
            </p:txBody>
          </p:sp>
        </mc:Choice>
        <mc:Fallback xmlns="">
          <p:sp>
            <p:nvSpPr>
              <p:cNvPr id="3" name="Text Placeholder 2">
                <a:extLst>
                  <a:ext uri="{FF2B5EF4-FFF2-40B4-BE49-F238E27FC236}">
                    <a16:creationId xmlns:a16="http://schemas.microsoft.com/office/drawing/2014/main" id="{7476911B-4830-AB5A-CDC6-5145701C21EE}"/>
                  </a:ext>
                </a:extLst>
              </p:cNvPr>
              <p:cNvSpPr>
                <a:spLocks noGrp="1" noRot="1" noChangeAspect="1" noMove="1" noResize="1" noEditPoints="1" noAdjustHandles="1" noChangeArrowheads="1" noChangeShapeType="1" noTextEdit="1"/>
              </p:cNvSpPr>
              <p:nvPr>
                <p:ph type="body" idx="1"/>
              </p:nvPr>
            </p:nvSpPr>
            <p:spPr>
              <a:blipFill>
                <a:blip r:embed="rId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5737442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127D44-004B-690A-1DB2-A9F0EDAB40A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A1704BD-5484-E562-8B4C-F4446F6A9B30}"/>
              </a:ext>
            </a:extLst>
          </p:cNvPr>
          <p:cNvSpPr>
            <a:spLocks noGrp="1"/>
          </p:cNvSpPr>
          <p:nvPr>
            <p:ph type="title"/>
          </p:nvPr>
        </p:nvSpPr>
        <p:spPr/>
        <p:txBody>
          <a:bodyPr>
            <a:normAutofit fontScale="90000"/>
          </a:bodyPr>
          <a:lstStyle/>
          <a:p>
            <a:r>
              <a:rPr lang="en-US" dirty="0"/>
              <a:t>Recall: </a:t>
            </a:r>
            <a:r>
              <a:rPr lang="en-US" dirty="0" err="1"/>
              <a:t>Skipgram</a:t>
            </a:r>
            <a:r>
              <a:rPr lang="en-US" dirty="0"/>
              <a:t> vs. Co-occurrence Matrix</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93407B63-F923-687D-B23C-A362F146B109}"/>
                  </a:ext>
                </a:extLst>
              </p:cNvPr>
              <p:cNvSpPr>
                <a:spLocks noGrp="1"/>
              </p:cNvSpPr>
              <p:nvPr>
                <p:ph type="body" idx="1"/>
              </p:nvPr>
            </p:nvSpPr>
            <p:spPr/>
            <p:txBody>
              <a:bodyPr/>
              <a:lstStyle/>
              <a:p>
                <a:r>
                  <a:rPr lang="en-US" dirty="0"/>
                  <a:t>If </a:t>
                </a:r>
                <a14:m>
                  <m:oMath xmlns:m="http://schemas.openxmlformats.org/officeDocument/2006/math">
                    <m:r>
                      <a:rPr lang="en-US" b="0" i="1" smtClean="0">
                        <a:solidFill>
                          <a:schemeClr val="accent5"/>
                        </a:solidFill>
                        <a:latin typeface="Cambria Math" panose="02040503050406030204" pitchFamily="18" charset="0"/>
                      </a:rPr>
                      <m:t>𝑑</m:t>
                    </m:r>
                    <m:r>
                      <a:rPr lang="en-US" b="0" i="1" smtClean="0">
                        <a:solidFill>
                          <a:schemeClr val="accent5"/>
                        </a:solidFill>
                        <a:latin typeface="Cambria Math" panose="02040503050406030204" pitchFamily="18" charset="0"/>
                      </a:rPr>
                      <m:t>=</m:t>
                    </m:r>
                    <m:d>
                      <m:dPr>
                        <m:begChr m:val="|"/>
                        <m:endChr m:val="|"/>
                        <m:ctrlPr>
                          <a:rPr lang="en-US" b="0" i="1" smtClean="0">
                            <a:solidFill>
                              <a:schemeClr val="accent5"/>
                            </a:solidFill>
                            <a:latin typeface="Cambria Math" panose="02040503050406030204" pitchFamily="18" charset="0"/>
                          </a:rPr>
                        </m:ctrlPr>
                      </m:dPr>
                      <m:e>
                        <m:r>
                          <a:rPr lang="en-US" b="0" i="1" smtClean="0">
                            <a:solidFill>
                              <a:schemeClr val="accent5"/>
                            </a:solidFill>
                            <a:latin typeface="Cambria Math" panose="02040503050406030204" pitchFamily="18" charset="0"/>
                          </a:rPr>
                          <m:t>𝑉𝑜𝑐𝑎𝑏</m:t>
                        </m:r>
                      </m:e>
                    </m:d>
                  </m:oMath>
                </a14:m>
                <a:r>
                  <a:rPr lang="en-US" dirty="0"/>
                  <a:t> then setting </a:t>
                </a:r>
                <a14:m>
                  <m:oMath xmlns:m="http://schemas.openxmlformats.org/officeDocument/2006/math">
                    <m:r>
                      <a:rPr lang="en-US" i="1" smtClean="0">
                        <a:solidFill>
                          <a:schemeClr val="accent5"/>
                        </a:solidFill>
                        <a:latin typeface="Cambria Math" panose="02040503050406030204" pitchFamily="18" charset="0"/>
                      </a:rPr>
                      <m:t>∀</m:t>
                    </m:r>
                    <m:r>
                      <a:rPr lang="en-US" b="0" i="1" smtClean="0">
                        <a:solidFill>
                          <a:schemeClr val="accent5"/>
                        </a:solidFill>
                        <a:latin typeface="Cambria Math" panose="02040503050406030204" pitchFamily="18" charset="0"/>
                      </a:rPr>
                      <m:t>𝑐</m:t>
                    </m:r>
                    <m:r>
                      <a:rPr lang="en-US" b="0" i="1" smtClean="0">
                        <a:solidFill>
                          <a:schemeClr val="accent5"/>
                        </a:solidFill>
                        <a:latin typeface="Cambria Math" panose="02040503050406030204" pitchFamily="18" charset="0"/>
                      </a:rPr>
                      <m:t>,</m:t>
                    </m:r>
                    <m:r>
                      <a:rPr lang="en-US" b="0" i="1" smtClean="0">
                        <a:solidFill>
                          <a:schemeClr val="accent5"/>
                        </a:solidFill>
                        <a:latin typeface="Cambria Math" panose="02040503050406030204" pitchFamily="18" charset="0"/>
                      </a:rPr>
                      <m:t>𝑜</m:t>
                    </m:r>
                    <m:r>
                      <a:rPr lang="en-US" b="0" i="1" smtClean="0">
                        <a:solidFill>
                          <a:schemeClr val="accent5"/>
                        </a:solidFill>
                        <a:latin typeface="Cambria Math" panose="02040503050406030204" pitchFamily="18" charset="0"/>
                      </a:rPr>
                      <m:t>: </m:t>
                    </m:r>
                    <m:sSubSup>
                      <m:sSubSupPr>
                        <m:ctrlPr>
                          <a:rPr lang="en-US" b="0" i="1" smtClean="0">
                            <a:solidFill>
                              <a:schemeClr val="accent5"/>
                            </a:solidFill>
                            <a:latin typeface="Cambria Math" panose="02040503050406030204" pitchFamily="18" charset="0"/>
                          </a:rPr>
                        </m:ctrlPr>
                      </m:sSubSupPr>
                      <m:e>
                        <m:r>
                          <a:rPr lang="en-US" b="0" i="1" smtClean="0">
                            <a:solidFill>
                              <a:schemeClr val="accent5"/>
                            </a:solidFill>
                            <a:latin typeface="Cambria Math" panose="02040503050406030204" pitchFamily="18" charset="0"/>
                          </a:rPr>
                          <m:t>𝑣</m:t>
                        </m:r>
                      </m:e>
                      <m:sub>
                        <m:r>
                          <a:rPr lang="en-US" b="0" i="1" smtClean="0">
                            <a:solidFill>
                              <a:schemeClr val="accent5"/>
                            </a:solidFill>
                            <a:latin typeface="Cambria Math" panose="02040503050406030204" pitchFamily="18" charset="0"/>
                          </a:rPr>
                          <m:t>𝑐</m:t>
                        </m:r>
                      </m:sub>
                      <m:sup>
                        <m:r>
                          <a:rPr lang="en-US" b="0" i="1" smtClean="0">
                            <a:solidFill>
                              <a:schemeClr val="accent5"/>
                            </a:solidFill>
                            <a:latin typeface="Cambria Math" panose="02040503050406030204" pitchFamily="18" charset="0"/>
                          </a:rPr>
                          <m:t>𝑇</m:t>
                        </m:r>
                      </m:sup>
                    </m:sSubSup>
                    <m:sSub>
                      <m:sSubPr>
                        <m:ctrlPr>
                          <a:rPr lang="en-US" b="0" i="1" smtClean="0">
                            <a:solidFill>
                              <a:schemeClr val="accent5"/>
                            </a:solidFill>
                            <a:latin typeface="Cambria Math" panose="02040503050406030204" pitchFamily="18" charset="0"/>
                          </a:rPr>
                        </m:ctrlPr>
                      </m:sSubPr>
                      <m:e>
                        <m:r>
                          <a:rPr lang="en-US" b="0" i="1" smtClean="0">
                            <a:solidFill>
                              <a:schemeClr val="accent5"/>
                            </a:solidFill>
                            <a:latin typeface="Cambria Math" panose="02040503050406030204" pitchFamily="18" charset="0"/>
                          </a:rPr>
                          <m:t>𝑢</m:t>
                        </m:r>
                      </m:e>
                      <m:sub>
                        <m:r>
                          <a:rPr lang="en-US" b="0" i="1" smtClean="0">
                            <a:solidFill>
                              <a:schemeClr val="accent5"/>
                            </a:solidFill>
                            <a:latin typeface="Cambria Math" panose="02040503050406030204" pitchFamily="18" charset="0"/>
                          </a:rPr>
                          <m:t>𝑜</m:t>
                        </m:r>
                      </m:sub>
                    </m:sSub>
                    <m:r>
                      <a:rPr lang="en-US" b="0" i="1" smtClean="0">
                        <a:solidFill>
                          <a:schemeClr val="accent5"/>
                        </a:solidFill>
                        <a:latin typeface="Cambria Math" panose="02040503050406030204" pitchFamily="18" charset="0"/>
                      </a:rPr>
                      <m:t>=</m:t>
                    </m:r>
                    <m:func>
                      <m:funcPr>
                        <m:ctrlPr>
                          <a:rPr lang="en-US" b="0" i="1" smtClean="0">
                            <a:solidFill>
                              <a:schemeClr val="accent5"/>
                            </a:solidFill>
                            <a:latin typeface="Cambria Math" panose="02040503050406030204" pitchFamily="18" charset="0"/>
                          </a:rPr>
                        </m:ctrlPr>
                      </m:funcPr>
                      <m:fName>
                        <m:r>
                          <m:rPr>
                            <m:sty m:val="p"/>
                          </m:rPr>
                          <a:rPr lang="en-US" b="0" i="0" smtClean="0">
                            <a:solidFill>
                              <a:schemeClr val="accent5"/>
                            </a:solidFill>
                            <a:latin typeface="Cambria Math" panose="02040503050406030204" pitchFamily="18" charset="0"/>
                          </a:rPr>
                          <m:t>log</m:t>
                        </m:r>
                      </m:fName>
                      <m:e>
                        <m:r>
                          <a:rPr lang="en-US" b="0" i="1" smtClean="0">
                            <a:solidFill>
                              <a:schemeClr val="accent5"/>
                            </a:solidFill>
                            <a:latin typeface="Cambria Math" panose="02040503050406030204" pitchFamily="18" charset="0"/>
                          </a:rPr>
                          <m:t>#(</m:t>
                        </m:r>
                        <m:r>
                          <a:rPr lang="en-US" b="0" i="1" smtClean="0">
                            <a:solidFill>
                              <a:schemeClr val="accent5"/>
                            </a:solidFill>
                            <a:latin typeface="Cambria Math" panose="02040503050406030204" pitchFamily="18" charset="0"/>
                          </a:rPr>
                          <m:t>𝑐</m:t>
                        </m:r>
                        <m:r>
                          <a:rPr lang="en-US" b="0" i="1" smtClean="0">
                            <a:solidFill>
                              <a:schemeClr val="accent5"/>
                            </a:solidFill>
                            <a:latin typeface="Cambria Math" panose="02040503050406030204" pitchFamily="18" charset="0"/>
                          </a:rPr>
                          <m:t>,</m:t>
                        </m:r>
                        <m:r>
                          <a:rPr lang="en-US" b="0" i="1" smtClean="0">
                            <a:solidFill>
                              <a:schemeClr val="accent5"/>
                            </a:solidFill>
                            <a:latin typeface="Cambria Math" panose="02040503050406030204" pitchFamily="18" charset="0"/>
                          </a:rPr>
                          <m:t>𝑜</m:t>
                        </m:r>
                        <m:r>
                          <a:rPr lang="en-US" b="0" i="1" smtClean="0">
                            <a:solidFill>
                              <a:schemeClr val="accent5"/>
                            </a:solidFill>
                            <a:latin typeface="Cambria Math" panose="02040503050406030204" pitchFamily="18" charset="0"/>
                          </a:rPr>
                          <m:t>)</m:t>
                        </m:r>
                      </m:e>
                    </m:func>
                  </m:oMath>
                </a14:m>
                <a:r>
                  <a:rPr lang="en-US" dirty="0"/>
                  <a:t> is optimal for </a:t>
                </a:r>
                <a:r>
                  <a:rPr lang="en-US" dirty="0" err="1"/>
                  <a:t>Skipgram</a:t>
                </a:r>
                <a:endParaRPr lang="en-US" dirty="0"/>
              </a:p>
              <a:p>
                <a:r>
                  <a:rPr lang="en-US" dirty="0"/>
                  <a:t>If </a:t>
                </a:r>
                <a14:m>
                  <m:oMath xmlns:m="http://schemas.openxmlformats.org/officeDocument/2006/math">
                    <m:r>
                      <a:rPr lang="en-US" i="1">
                        <a:solidFill>
                          <a:schemeClr val="accent5"/>
                        </a:solidFill>
                        <a:latin typeface="Cambria Math" panose="02040503050406030204" pitchFamily="18" charset="0"/>
                      </a:rPr>
                      <m:t>𝑑</m:t>
                    </m:r>
                    <m:r>
                      <a:rPr lang="en-US" b="0" i="1" smtClean="0">
                        <a:solidFill>
                          <a:schemeClr val="accent5"/>
                        </a:solidFill>
                        <a:latin typeface="Cambria Math" panose="02040503050406030204" pitchFamily="18" charset="0"/>
                      </a:rPr>
                      <m:t>≪</m:t>
                    </m:r>
                    <m:d>
                      <m:dPr>
                        <m:begChr m:val="|"/>
                        <m:endChr m:val="|"/>
                        <m:ctrlPr>
                          <a:rPr lang="en-US" i="1">
                            <a:solidFill>
                              <a:schemeClr val="accent5"/>
                            </a:solidFill>
                            <a:latin typeface="Cambria Math" panose="02040503050406030204" pitchFamily="18" charset="0"/>
                          </a:rPr>
                        </m:ctrlPr>
                      </m:dPr>
                      <m:e>
                        <m:r>
                          <a:rPr lang="en-US" i="1">
                            <a:solidFill>
                              <a:schemeClr val="accent5"/>
                            </a:solidFill>
                            <a:latin typeface="Cambria Math" panose="02040503050406030204" pitchFamily="18" charset="0"/>
                          </a:rPr>
                          <m:t>𝑉𝑜𝑐𝑎𝑏</m:t>
                        </m:r>
                      </m:e>
                    </m:d>
                  </m:oMath>
                </a14:m>
                <a:r>
                  <a:rPr lang="en-US" dirty="0"/>
                  <a:t>, intuitively, the model still tries to achieve this:</a:t>
                </a:r>
              </a:p>
              <a:p>
                <a:pPr marL="114300" indent="0">
                  <a:buNone/>
                </a:pPr>
                <a14:m>
                  <m:oMathPara xmlns:m="http://schemas.openxmlformats.org/officeDocument/2006/math">
                    <m:oMathParaPr>
                      <m:jc m:val="centerGroup"/>
                    </m:oMathParaPr>
                    <m:oMath xmlns:m="http://schemas.openxmlformats.org/officeDocument/2006/math">
                      <m:r>
                        <a:rPr lang="en-US" i="1">
                          <a:solidFill>
                            <a:schemeClr val="accent5"/>
                          </a:solidFill>
                          <a:latin typeface="Cambria Math" panose="02040503050406030204" pitchFamily="18" charset="0"/>
                        </a:rPr>
                        <m:t>∀</m:t>
                      </m:r>
                      <m:r>
                        <a:rPr lang="en-US" i="1">
                          <a:solidFill>
                            <a:schemeClr val="accent5"/>
                          </a:solidFill>
                          <a:latin typeface="Cambria Math" panose="02040503050406030204" pitchFamily="18" charset="0"/>
                        </a:rPr>
                        <m:t>𝑐</m:t>
                      </m:r>
                      <m:r>
                        <a:rPr lang="en-US" i="1">
                          <a:solidFill>
                            <a:schemeClr val="accent5"/>
                          </a:solidFill>
                          <a:latin typeface="Cambria Math" panose="02040503050406030204" pitchFamily="18" charset="0"/>
                        </a:rPr>
                        <m:t>,</m:t>
                      </m:r>
                      <m:r>
                        <a:rPr lang="en-US" i="1" smtClean="0">
                          <a:solidFill>
                            <a:schemeClr val="accent5"/>
                          </a:solidFill>
                          <a:latin typeface="Cambria Math" panose="02040503050406030204" pitchFamily="18" charset="0"/>
                        </a:rPr>
                        <m:t>𝑜</m:t>
                      </m:r>
                      <m:r>
                        <a:rPr lang="en-US" b="0" i="1" smtClean="0">
                          <a:solidFill>
                            <a:schemeClr val="accent5"/>
                          </a:solidFill>
                          <a:latin typeface="Cambria Math" panose="02040503050406030204" pitchFamily="18" charset="0"/>
                        </a:rPr>
                        <m:t>: </m:t>
                      </m:r>
                      <m:sSubSup>
                        <m:sSubSupPr>
                          <m:ctrlPr>
                            <a:rPr lang="en-US" i="1">
                              <a:solidFill>
                                <a:schemeClr val="accent5"/>
                              </a:solidFill>
                              <a:latin typeface="Cambria Math" panose="02040503050406030204" pitchFamily="18" charset="0"/>
                            </a:rPr>
                          </m:ctrlPr>
                        </m:sSubSupPr>
                        <m:e>
                          <m:r>
                            <a:rPr lang="en-US" i="1">
                              <a:solidFill>
                                <a:schemeClr val="accent5"/>
                              </a:solidFill>
                              <a:latin typeface="Cambria Math" panose="02040503050406030204" pitchFamily="18" charset="0"/>
                            </a:rPr>
                            <m:t>𝑣</m:t>
                          </m:r>
                        </m:e>
                        <m:sub>
                          <m:r>
                            <a:rPr lang="en-US" i="1">
                              <a:solidFill>
                                <a:schemeClr val="accent5"/>
                              </a:solidFill>
                              <a:latin typeface="Cambria Math" panose="02040503050406030204" pitchFamily="18" charset="0"/>
                            </a:rPr>
                            <m:t>𝑐</m:t>
                          </m:r>
                        </m:sub>
                        <m:sup>
                          <m:r>
                            <a:rPr lang="en-US" i="1">
                              <a:solidFill>
                                <a:schemeClr val="accent5"/>
                              </a:solidFill>
                              <a:latin typeface="Cambria Math" panose="02040503050406030204" pitchFamily="18" charset="0"/>
                            </a:rPr>
                            <m:t>𝑇</m:t>
                          </m:r>
                        </m:sup>
                      </m:sSubSup>
                      <m:sSub>
                        <m:sSubPr>
                          <m:ctrlPr>
                            <a:rPr lang="en-US" i="1">
                              <a:solidFill>
                                <a:schemeClr val="accent5"/>
                              </a:solidFill>
                              <a:latin typeface="Cambria Math" panose="02040503050406030204" pitchFamily="18" charset="0"/>
                            </a:rPr>
                          </m:ctrlPr>
                        </m:sSubPr>
                        <m:e>
                          <m:r>
                            <a:rPr lang="en-US" i="1">
                              <a:solidFill>
                                <a:schemeClr val="accent5"/>
                              </a:solidFill>
                              <a:latin typeface="Cambria Math" panose="02040503050406030204" pitchFamily="18" charset="0"/>
                            </a:rPr>
                            <m:t>𝑢</m:t>
                          </m:r>
                        </m:e>
                        <m:sub>
                          <m:r>
                            <a:rPr lang="en-US" i="1">
                              <a:solidFill>
                                <a:schemeClr val="accent5"/>
                              </a:solidFill>
                              <a:latin typeface="Cambria Math" panose="02040503050406030204" pitchFamily="18" charset="0"/>
                            </a:rPr>
                            <m:t>𝑜</m:t>
                          </m:r>
                        </m:sub>
                      </m:sSub>
                      <m:r>
                        <a:rPr lang="en-US" b="0" i="1" smtClean="0">
                          <a:solidFill>
                            <a:srgbClr val="C00000"/>
                          </a:solidFill>
                          <a:latin typeface="Cambria Math" panose="02040503050406030204" pitchFamily="18" charset="0"/>
                        </a:rPr>
                        <m:t>≈</m:t>
                      </m:r>
                      <m:func>
                        <m:funcPr>
                          <m:ctrlPr>
                            <a:rPr lang="en-US" i="1">
                              <a:solidFill>
                                <a:schemeClr val="accent5"/>
                              </a:solidFill>
                              <a:latin typeface="Cambria Math" panose="02040503050406030204" pitchFamily="18" charset="0"/>
                            </a:rPr>
                          </m:ctrlPr>
                        </m:funcPr>
                        <m:fName>
                          <m:r>
                            <m:rPr>
                              <m:sty m:val="p"/>
                            </m:rPr>
                            <a:rPr lang="en-US">
                              <a:solidFill>
                                <a:schemeClr val="accent5"/>
                              </a:solidFill>
                              <a:latin typeface="Cambria Math" panose="02040503050406030204" pitchFamily="18" charset="0"/>
                            </a:rPr>
                            <m:t>log</m:t>
                          </m:r>
                        </m:fName>
                        <m:e>
                          <m:r>
                            <a:rPr lang="en-US" i="1">
                              <a:solidFill>
                                <a:schemeClr val="accent5"/>
                              </a:solidFill>
                              <a:latin typeface="Cambria Math" panose="02040503050406030204" pitchFamily="18" charset="0"/>
                            </a:rPr>
                            <m:t>#(</m:t>
                          </m:r>
                          <m:r>
                            <a:rPr lang="en-US" i="1">
                              <a:solidFill>
                                <a:schemeClr val="accent5"/>
                              </a:solidFill>
                              <a:latin typeface="Cambria Math" panose="02040503050406030204" pitchFamily="18" charset="0"/>
                            </a:rPr>
                            <m:t>𝑐</m:t>
                          </m:r>
                          <m:r>
                            <a:rPr lang="en-US" i="1">
                              <a:solidFill>
                                <a:schemeClr val="accent5"/>
                              </a:solidFill>
                              <a:latin typeface="Cambria Math" panose="02040503050406030204" pitchFamily="18" charset="0"/>
                            </a:rPr>
                            <m:t>,</m:t>
                          </m:r>
                          <m:r>
                            <a:rPr lang="en-US" i="1">
                              <a:solidFill>
                                <a:schemeClr val="accent5"/>
                              </a:solidFill>
                              <a:latin typeface="Cambria Math" panose="02040503050406030204" pitchFamily="18" charset="0"/>
                            </a:rPr>
                            <m:t>𝑜</m:t>
                          </m:r>
                          <m:r>
                            <a:rPr lang="en-US" i="1">
                              <a:solidFill>
                                <a:schemeClr val="accent5"/>
                              </a:solidFill>
                              <a:latin typeface="Cambria Math" panose="02040503050406030204" pitchFamily="18" charset="0"/>
                            </a:rPr>
                            <m:t>)</m:t>
                          </m:r>
                        </m:e>
                      </m:func>
                    </m:oMath>
                  </m:oMathPara>
                </a14:m>
                <a:endParaRPr lang="en-US" dirty="0"/>
              </a:p>
            </p:txBody>
          </p:sp>
        </mc:Choice>
        <mc:Fallback xmlns="">
          <p:sp>
            <p:nvSpPr>
              <p:cNvPr id="3" name="Text Placeholder 2">
                <a:extLst>
                  <a:ext uri="{FF2B5EF4-FFF2-40B4-BE49-F238E27FC236}">
                    <a16:creationId xmlns:a16="http://schemas.microsoft.com/office/drawing/2014/main" id="{93407B63-F923-687D-B23C-A362F146B109}"/>
                  </a:ext>
                </a:extLst>
              </p:cNvPr>
              <p:cNvSpPr>
                <a:spLocks noGrp="1" noRot="1" noChangeAspect="1" noMove="1" noResize="1" noEditPoints="1" noAdjustHandles="1" noChangeArrowheads="1" noChangeShapeType="1" noTextEdit="1"/>
              </p:cNvSpPr>
              <p:nvPr>
                <p:ph type="body" idx="1"/>
              </p:nvPr>
            </p:nvSpPr>
            <p:spPr>
              <a:blipFill>
                <a:blip r:embed="rId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27288690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497D8C-ADD8-085B-BF71-70474120582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3A9D4AB-DD1A-7A03-7A00-1FC7403DBFDA}"/>
              </a:ext>
            </a:extLst>
          </p:cNvPr>
          <p:cNvSpPr>
            <a:spLocks noGrp="1"/>
          </p:cNvSpPr>
          <p:nvPr>
            <p:ph type="title"/>
          </p:nvPr>
        </p:nvSpPr>
        <p:spPr/>
        <p:txBody>
          <a:bodyPr>
            <a:normAutofit fontScale="90000"/>
          </a:bodyPr>
          <a:lstStyle/>
          <a:p>
            <a:r>
              <a:rPr lang="en-US" dirty="0"/>
              <a:t>Recall: </a:t>
            </a:r>
            <a:r>
              <a:rPr lang="en-US" dirty="0" err="1"/>
              <a:t>Skipgram</a:t>
            </a:r>
            <a:r>
              <a:rPr lang="en-US" dirty="0"/>
              <a:t> vs. Co-occurrence Matrix</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63B393AD-36EC-C3B1-8E91-3C4A548B8105}"/>
                  </a:ext>
                </a:extLst>
              </p:cNvPr>
              <p:cNvSpPr>
                <a:spLocks noGrp="1"/>
              </p:cNvSpPr>
              <p:nvPr>
                <p:ph type="body" idx="1"/>
              </p:nvPr>
            </p:nvSpPr>
            <p:spPr/>
            <p:txBody>
              <a:bodyPr/>
              <a:lstStyle/>
              <a:p>
                <a:r>
                  <a:rPr lang="en-US" dirty="0"/>
                  <a:t>If </a:t>
                </a:r>
                <a14:m>
                  <m:oMath xmlns:m="http://schemas.openxmlformats.org/officeDocument/2006/math">
                    <m:r>
                      <a:rPr lang="en-US" b="0" i="1" smtClean="0">
                        <a:solidFill>
                          <a:schemeClr val="accent5"/>
                        </a:solidFill>
                        <a:latin typeface="Cambria Math" panose="02040503050406030204" pitchFamily="18" charset="0"/>
                      </a:rPr>
                      <m:t>𝑑</m:t>
                    </m:r>
                    <m:r>
                      <a:rPr lang="en-US" b="0" i="1" smtClean="0">
                        <a:solidFill>
                          <a:schemeClr val="accent5"/>
                        </a:solidFill>
                        <a:latin typeface="Cambria Math" panose="02040503050406030204" pitchFamily="18" charset="0"/>
                      </a:rPr>
                      <m:t>=</m:t>
                    </m:r>
                    <m:d>
                      <m:dPr>
                        <m:begChr m:val="|"/>
                        <m:endChr m:val="|"/>
                        <m:ctrlPr>
                          <a:rPr lang="en-US" b="0" i="1" smtClean="0">
                            <a:solidFill>
                              <a:schemeClr val="accent5"/>
                            </a:solidFill>
                            <a:latin typeface="Cambria Math" panose="02040503050406030204" pitchFamily="18" charset="0"/>
                          </a:rPr>
                        </m:ctrlPr>
                      </m:dPr>
                      <m:e>
                        <m:r>
                          <a:rPr lang="en-US" b="0" i="1" smtClean="0">
                            <a:solidFill>
                              <a:schemeClr val="accent5"/>
                            </a:solidFill>
                            <a:latin typeface="Cambria Math" panose="02040503050406030204" pitchFamily="18" charset="0"/>
                          </a:rPr>
                          <m:t>𝑉𝑜𝑐𝑎𝑏</m:t>
                        </m:r>
                      </m:e>
                    </m:d>
                  </m:oMath>
                </a14:m>
                <a:r>
                  <a:rPr lang="en-US" dirty="0"/>
                  <a:t> then setting </a:t>
                </a:r>
                <a14:m>
                  <m:oMath xmlns:m="http://schemas.openxmlformats.org/officeDocument/2006/math">
                    <m:r>
                      <a:rPr lang="en-US" i="1" smtClean="0">
                        <a:solidFill>
                          <a:schemeClr val="accent5"/>
                        </a:solidFill>
                        <a:latin typeface="Cambria Math" panose="02040503050406030204" pitchFamily="18" charset="0"/>
                      </a:rPr>
                      <m:t>∀</m:t>
                    </m:r>
                    <m:r>
                      <a:rPr lang="en-US" b="0" i="1" smtClean="0">
                        <a:solidFill>
                          <a:schemeClr val="accent5"/>
                        </a:solidFill>
                        <a:latin typeface="Cambria Math" panose="02040503050406030204" pitchFamily="18" charset="0"/>
                      </a:rPr>
                      <m:t>𝑐</m:t>
                    </m:r>
                    <m:r>
                      <a:rPr lang="en-US" b="0" i="1" smtClean="0">
                        <a:solidFill>
                          <a:schemeClr val="accent5"/>
                        </a:solidFill>
                        <a:latin typeface="Cambria Math" panose="02040503050406030204" pitchFamily="18" charset="0"/>
                      </a:rPr>
                      <m:t>,</m:t>
                    </m:r>
                    <m:r>
                      <a:rPr lang="en-US" b="0" i="1" smtClean="0">
                        <a:solidFill>
                          <a:schemeClr val="accent5"/>
                        </a:solidFill>
                        <a:latin typeface="Cambria Math" panose="02040503050406030204" pitchFamily="18" charset="0"/>
                      </a:rPr>
                      <m:t>𝑜</m:t>
                    </m:r>
                    <m:r>
                      <a:rPr lang="en-US" b="0" i="1" smtClean="0">
                        <a:solidFill>
                          <a:schemeClr val="accent5"/>
                        </a:solidFill>
                        <a:latin typeface="Cambria Math" panose="02040503050406030204" pitchFamily="18" charset="0"/>
                      </a:rPr>
                      <m:t>: </m:t>
                    </m:r>
                    <m:sSubSup>
                      <m:sSubSupPr>
                        <m:ctrlPr>
                          <a:rPr lang="en-US" b="0" i="1" smtClean="0">
                            <a:solidFill>
                              <a:schemeClr val="accent5"/>
                            </a:solidFill>
                            <a:latin typeface="Cambria Math" panose="02040503050406030204" pitchFamily="18" charset="0"/>
                          </a:rPr>
                        </m:ctrlPr>
                      </m:sSubSupPr>
                      <m:e>
                        <m:r>
                          <a:rPr lang="en-US" b="0" i="1" smtClean="0">
                            <a:solidFill>
                              <a:schemeClr val="accent5"/>
                            </a:solidFill>
                            <a:latin typeface="Cambria Math" panose="02040503050406030204" pitchFamily="18" charset="0"/>
                          </a:rPr>
                          <m:t>𝑣</m:t>
                        </m:r>
                      </m:e>
                      <m:sub>
                        <m:r>
                          <a:rPr lang="en-US" b="0" i="1" smtClean="0">
                            <a:solidFill>
                              <a:schemeClr val="accent5"/>
                            </a:solidFill>
                            <a:latin typeface="Cambria Math" panose="02040503050406030204" pitchFamily="18" charset="0"/>
                          </a:rPr>
                          <m:t>𝑐</m:t>
                        </m:r>
                      </m:sub>
                      <m:sup>
                        <m:r>
                          <a:rPr lang="en-US" b="0" i="1" smtClean="0">
                            <a:solidFill>
                              <a:schemeClr val="accent5"/>
                            </a:solidFill>
                            <a:latin typeface="Cambria Math" panose="02040503050406030204" pitchFamily="18" charset="0"/>
                          </a:rPr>
                          <m:t>𝑇</m:t>
                        </m:r>
                      </m:sup>
                    </m:sSubSup>
                    <m:sSub>
                      <m:sSubPr>
                        <m:ctrlPr>
                          <a:rPr lang="en-US" b="0" i="1" smtClean="0">
                            <a:solidFill>
                              <a:schemeClr val="accent5"/>
                            </a:solidFill>
                            <a:latin typeface="Cambria Math" panose="02040503050406030204" pitchFamily="18" charset="0"/>
                          </a:rPr>
                        </m:ctrlPr>
                      </m:sSubPr>
                      <m:e>
                        <m:r>
                          <a:rPr lang="en-US" b="0" i="1" smtClean="0">
                            <a:solidFill>
                              <a:schemeClr val="accent5"/>
                            </a:solidFill>
                            <a:latin typeface="Cambria Math" panose="02040503050406030204" pitchFamily="18" charset="0"/>
                          </a:rPr>
                          <m:t>𝑢</m:t>
                        </m:r>
                      </m:e>
                      <m:sub>
                        <m:r>
                          <a:rPr lang="en-US" b="0" i="1" smtClean="0">
                            <a:solidFill>
                              <a:schemeClr val="accent5"/>
                            </a:solidFill>
                            <a:latin typeface="Cambria Math" panose="02040503050406030204" pitchFamily="18" charset="0"/>
                          </a:rPr>
                          <m:t>𝑜</m:t>
                        </m:r>
                      </m:sub>
                    </m:sSub>
                    <m:r>
                      <a:rPr lang="en-US" b="0" i="1" smtClean="0">
                        <a:solidFill>
                          <a:schemeClr val="accent5"/>
                        </a:solidFill>
                        <a:latin typeface="Cambria Math" panose="02040503050406030204" pitchFamily="18" charset="0"/>
                      </a:rPr>
                      <m:t>=</m:t>
                    </m:r>
                    <m:func>
                      <m:funcPr>
                        <m:ctrlPr>
                          <a:rPr lang="en-US" b="0" i="1" smtClean="0">
                            <a:solidFill>
                              <a:schemeClr val="accent5"/>
                            </a:solidFill>
                            <a:latin typeface="Cambria Math" panose="02040503050406030204" pitchFamily="18" charset="0"/>
                          </a:rPr>
                        </m:ctrlPr>
                      </m:funcPr>
                      <m:fName>
                        <m:r>
                          <m:rPr>
                            <m:sty m:val="p"/>
                          </m:rPr>
                          <a:rPr lang="en-US" b="0" i="0" smtClean="0">
                            <a:solidFill>
                              <a:schemeClr val="accent5"/>
                            </a:solidFill>
                            <a:latin typeface="Cambria Math" panose="02040503050406030204" pitchFamily="18" charset="0"/>
                          </a:rPr>
                          <m:t>log</m:t>
                        </m:r>
                      </m:fName>
                      <m:e>
                        <m:r>
                          <a:rPr lang="en-US" b="0" i="1" smtClean="0">
                            <a:solidFill>
                              <a:schemeClr val="accent5"/>
                            </a:solidFill>
                            <a:latin typeface="Cambria Math" panose="02040503050406030204" pitchFamily="18" charset="0"/>
                          </a:rPr>
                          <m:t>#(</m:t>
                        </m:r>
                        <m:r>
                          <a:rPr lang="en-US" b="0" i="1" smtClean="0">
                            <a:solidFill>
                              <a:schemeClr val="accent5"/>
                            </a:solidFill>
                            <a:latin typeface="Cambria Math" panose="02040503050406030204" pitchFamily="18" charset="0"/>
                          </a:rPr>
                          <m:t>𝑐</m:t>
                        </m:r>
                        <m:r>
                          <a:rPr lang="en-US" b="0" i="1" smtClean="0">
                            <a:solidFill>
                              <a:schemeClr val="accent5"/>
                            </a:solidFill>
                            <a:latin typeface="Cambria Math" panose="02040503050406030204" pitchFamily="18" charset="0"/>
                          </a:rPr>
                          <m:t>,</m:t>
                        </m:r>
                        <m:r>
                          <a:rPr lang="en-US" b="0" i="1" smtClean="0">
                            <a:solidFill>
                              <a:schemeClr val="accent5"/>
                            </a:solidFill>
                            <a:latin typeface="Cambria Math" panose="02040503050406030204" pitchFamily="18" charset="0"/>
                          </a:rPr>
                          <m:t>𝑜</m:t>
                        </m:r>
                        <m:r>
                          <a:rPr lang="en-US" b="0" i="1" smtClean="0">
                            <a:solidFill>
                              <a:schemeClr val="accent5"/>
                            </a:solidFill>
                            <a:latin typeface="Cambria Math" panose="02040503050406030204" pitchFamily="18" charset="0"/>
                          </a:rPr>
                          <m:t>)</m:t>
                        </m:r>
                      </m:e>
                    </m:func>
                  </m:oMath>
                </a14:m>
                <a:r>
                  <a:rPr lang="en-US" dirty="0"/>
                  <a:t> is optimal for </a:t>
                </a:r>
                <a:r>
                  <a:rPr lang="en-US" dirty="0" err="1"/>
                  <a:t>Skipgram</a:t>
                </a:r>
                <a:endParaRPr lang="en-US" dirty="0"/>
              </a:p>
              <a:p>
                <a:r>
                  <a:rPr lang="en-US" dirty="0"/>
                  <a:t>If </a:t>
                </a:r>
                <a14:m>
                  <m:oMath xmlns:m="http://schemas.openxmlformats.org/officeDocument/2006/math">
                    <m:r>
                      <a:rPr lang="en-US" i="1">
                        <a:solidFill>
                          <a:schemeClr val="accent5"/>
                        </a:solidFill>
                        <a:latin typeface="Cambria Math" panose="02040503050406030204" pitchFamily="18" charset="0"/>
                      </a:rPr>
                      <m:t>𝑑</m:t>
                    </m:r>
                    <m:r>
                      <a:rPr lang="en-US" b="0" i="1" smtClean="0">
                        <a:solidFill>
                          <a:schemeClr val="accent5"/>
                        </a:solidFill>
                        <a:latin typeface="Cambria Math" panose="02040503050406030204" pitchFamily="18" charset="0"/>
                      </a:rPr>
                      <m:t>≪</m:t>
                    </m:r>
                    <m:d>
                      <m:dPr>
                        <m:begChr m:val="|"/>
                        <m:endChr m:val="|"/>
                        <m:ctrlPr>
                          <a:rPr lang="en-US" i="1">
                            <a:solidFill>
                              <a:schemeClr val="accent5"/>
                            </a:solidFill>
                            <a:latin typeface="Cambria Math" panose="02040503050406030204" pitchFamily="18" charset="0"/>
                          </a:rPr>
                        </m:ctrlPr>
                      </m:dPr>
                      <m:e>
                        <m:r>
                          <a:rPr lang="en-US" i="1">
                            <a:solidFill>
                              <a:schemeClr val="accent5"/>
                            </a:solidFill>
                            <a:latin typeface="Cambria Math" panose="02040503050406030204" pitchFamily="18" charset="0"/>
                          </a:rPr>
                          <m:t>𝑉𝑜𝑐𝑎𝑏</m:t>
                        </m:r>
                      </m:e>
                    </m:d>
                  </m:oMath>
                </a14:m>
                <a:r>
                  <a:rPr lang="en-US" dirty="0"/>
                  <a:t>, intuitively, the model still tries to achieve this:</a:t>
                </a:r>
              </a:p>
              <a:p>
                <a:pPr marL="114300" indent="0">
                  <a:buNone/>
                </a:pPr>
                <a14:m>
                  <m:oMathPara xmlns:m="http://schemas.openxmlformats.org/officeDocument/2006/math">
                    <m:oMathParaPr>
                      <m:jc m:val="centerGroup"/>
                    </m:oMathParaPr>
                    <m:oMath xmlns:m="http://schemas.openxmlformats.org/officeDocument/2006/math">
                      <m:r>
                        <a:rPr lang="en-US" i="1">
                          <a:solidFill>
                            <a:schemeClr val="accent5"/>
                          </a:solidFill>
                          <a:latin typeface="Cambria Math" panose="02040503050406030204" pitchFamily="18" charset="0"/>
                        </a:rPr>
                        <m:t>∀</m:t>
                      </m:r>
                      <m:r>
                        <a:rPr lang="en-US" i="1">
                          <a:solidFill>
                            <a:schemeClr val="accent5"/>
                          </a:solidFill>
                          <a:latin typeface="Cambria Math" panose="02040503050406030204" pitchFamily="18" charset="0"/>
                        </a:rPr>
                        <m:t>𝑐</m:t>
                      </m:r>
                      <m:r>
                        <a:rPr lang="en-US" i="1">
                          <a:solidFill>
                            <a:schemeClr val="accent5"/>
                          </a:solidFill>
                          <a:latin typeface="Cambria Math" panose="02040503050406030204" pitchFamily="18" charset="0"/>
                        </a:rPr>
                        <m:t>,</m:t>
                      </m:r>
                      <m:r>
                        <a:rPr lang="en-US" i="1" smtClean="0">
                          <a:solidFill>
                            <a:schemeClr val="accent5"/>
                          </a:solidFill>
                          <a:latin typeface="Cambria Math" panose="02040503050406030204" pitchFamily="18" charset="0"/>
                        </a:rPr>
                        <m:t>𝑜</m:t>
                      </m:r>
                      <m:r>
                        <a:rPr lang="en-US" b="0" i="1" smtClean="0">
                          <a:solidFill>
                            <a:schemeClr val="accent5"/>
                          </a:solidFill>
                          <a:latin typeface="Cambria Math" panose="02040503050406030204" pitchFamily="18" charset="0"/>
                        </a:rPr>
                        <m:t>: </m:t>
                      </m:r>
                      <m:sSubSup>
                        <m:sSubSupPr>
                          <m:ctrlPr>
                            <a:rPr lang="en-US" i="1">
                              <a:solidFill>
                                <a:schemeClr val="accent5"/>
                              </a:solidFill>
                              <a:latin typeface="Cambria Math" panose="02040503050406030204" pitchFamily="18" charset="0"/>
                            </a:rPr>
                          </m:ctrlPr>
                        </m:sSubSupPr>
                        <m:e>
                          <m:r>
                            <a:rPr lang="en-US" i="1">
                              <a:solidFill>
                                <a:schemeClr val="accent5"/>
                              </a:solidFill>
                              <a:latin typeface="Cambria Math" panose="02040503050406030204" pitchFamily="18" charset="0"/>
                            </a:rPr>
                            <m:t>𝑣</m:t>
                          </m:r>
                        </m:e>
                        <m:sub>
                          <m:r>
                            <a:rPr lang="en-US" i="1">
                              <a:solidFill>
                                <a:schemeClr val="accent5"/>
                              </a:solidFill>
                              <a:latin typeface="Cambria Math" panose="02040503050406030204" pitchFamily="18" charset="0"/>
                            </a:rPr>
                            <m:t>𝑐</m:t>
                          </m:r>
                        </m:sub>
                        <m:sup>
                          <m:r>
                            <a:rPr lang="en-US" i="1">
                              <a:solidFill>
                                <a:schemeClr val="accent5"/>
                              </a:solidFill>
                              <a:latin typeface="Cambria Math" panose="02040503050406030204" pitchFamily="18" charset="0"/>
                            </a:rPr>
                            <m:t>𝑇</m:t>
                          </m:r>
                        </m:sup>
                      </m:sSubSup>
                      <m:sSub>
                        <m:sSubPr>
                          <m:ctrlPr>
                            <a:rPr lang="en-US" i="1">
                              <a:solidFill>
                                <a:schemeClr val="accent5"/>
                              </a:solidFill>
                              <a:latin typeface="Cambria Math" panose="02040503050406030204" pitchFamily="18" charset="0"/>
                            </a:rPr>
                          </m:ctrlPr>
                        </m:sSubPr>
                        <m:e>
                          <m:r>
                            <a:rPr lang="en-US" i="1">
                              <a:solidFill>
                                <a:schemeClr val="accent5"/>
                              </a:solidFill>
                              <a:latin typeface="Cambria Math" panose="02040503050406030204" pitchFamily="18" charset="0"/>
                            </a:rPr>
                            <m:t>𝑢</m:t>
                          </m:r>
                        </m:e>
                        <m:sub>
                          <m:r>
                            <a:rPr lang="en-US" i="1">
                              <a:solidFill>
                                <a:schemeClr val="accent5"/>
                              </a:solidFill>
                              <a:latin typeface="Cambria Math" panose="02040503050406030204" pitchFamily="18" charset="0"/>
                            </a:rPr>
                            <m:t>𝑜</m:t>
                          </m:r>
                        </m:sub>
                      </m:sSub>
                      <m:r>
                        <a:rPr lang="en-US" b="0" i="1" smtClean="0">
                          <a:solidFill>
                            <a:srgbClr val="C00000"/>
                          </a:solidFill>
                          <a:latin typeface="Cambria Math" panose="02040503050406030204" pitchFamily="18" charset="0"/>
                        </a:rPr>
                        <m:t>≈</m:t>
                      </m:r>
                      <m:func>
                        <m:funcPr>
                          <m:ctrlPr>
                            <a:rPr lang="en-US" i="1">
                              <a:solidFill>
                                <a:schemeClr val="accent5"/>
                              </a:solidFill>
                              <a:latin typeface="Cambria Math" panose="02040503050406030204" pitchFamily="18" charset="0"/>
                            </a:rPr>
                          </m:ctrlPr>
                        </m:funcPr>
                        <m:fName>
                          <m:r>
                            <m:rPr>
                              <m:sty m:val="p"/>
                            </m:rPr>
                            <a:rPr lang="en-US">
                              <a:solidFill>
                                <a:schemeClr val="accent5"/>
                              </a:solidFill>
                              <a:latin typeface="Cambria Math" panose="02040503050406030204" pitchFamily="18" charset="0"/>
                            </a:rPr>
                            <m:t>log</m:t>
                          </m:r>
                        </m:fName>
                        <m:e>
                          <m:r>
                            <a:rPr lang="en-US" i="1">
                              <a:solidFill>
                                <a:schemeClr val="accent5"/>
                              </a:solidFill>
                              <a:latin typeface="Cambria Math" panose="02040503050406030204" pitchFamily="18" charset="0"/>
                            </a:rPr>
                            <m:t>#(</m:t>
                          </m:r>
                          <m:r>
                            <a:rPr lang="en-US" i="1">
                              <a:solidFill>
                                <a:schemeClr val="accent5"/>
                              </a:solidFill>
                              <a:latin typeface="Cambria Math" panose="02040503050406030204" pitchFamily="18" charset="0"/>
                            </a:rPr>
                            <m:t>𝑐</m:t>
                          </m:r>
                          <m:r>
                            <a:rPr lang="en-US" i="1">
                              <a:solidFill>
                                <a:schemeClr val="accent5"/>
                              </a:solidFill>
                              <a:latin typeface="Cambria Math" panose="02040503050406030204" pitchFamily="18" charset="0"/>
                            </a:rPr>
                            <m:t>,</m:t>
                          </m:r>
                          <m:r>
                            <a:rPr lang="en-US" i="1">
                              <a:solidFill>
                                <a:schemeClr val="accent5"/>
                              </a:solidFill>
                              <a:latin typeface="Cambria Math" panose="02040503050406030204" pitchFamily="18" charset="0"/>
                            </a:rPr>
                            <m:t>𝑜</m:t>
                          </m:r>
                          <m:r>
                            <a:rPr lang="en-US" i="1">
                              <a:solidFill>
                                <a:schemeClr val="accent5"/>
                              </a:solidFill>
                              <a:latin typeface="Cambria Math" panose="02040503050406030204" pitchFamily="18" charset="0"/>
                            </a:rPr>
                            <m:t>)</m:t>
                          </m:r>
                        </m:e>
                      </m:func>
                    </m:oMath>
                  </m:oMathPara>
                </a14:m>
                <a:endParaRPr lang="en-US" dirty="0"/>
              </a:p>
              <a:p>
                <a:r>
                  <a:rPr lang="en-US" dirty="0"/>
                  <a:t>We can write this in matrix form:</a:t>
                </a:r>
              </a:p>
            </p:txBody>
          </p:sp>
        </mc:Choice>
        <mc:Fallback xmlns="">
          <p:sp>
            <p:nvSpPr>
              <p:cNvPr id="3" name="Text Placeholder 2">
                <a:extLst>
                  <a:ext uri="{FF2B5EF4-FFF2-40B4-BE49-F238E27FC236}">
                    <a16:creationId xmlns:a16="http://schemas.microsoft.com/office/drawing/2014/main" id="{63B393AD-36EC-C3B1-8E91-3C4A548B8105}"/>
                  </a:ext>
                </a:extLst>
              </p:cNvPr>
              <p:cNvSpPr>
                <a:spLocks noGrp="1" noRot="1" noChangeAspect="1" noMove="1" noResize="1" noEditPoints="1" noAdjustHandles="1" noChangeArrowheads="1" noChangeShapeType="1" noTextEdit="1"/>
              </p:cNvSpPr>
              <p:nvPr>
                <p:ph type="body" idx="1"/>
              </p:nvPr>
            </p:nvSpPr>
            <p:spPr>
              <a:blipFill>
                <a:blip r:embed="rId2"/>
                <a:stretch>
                  <a:fillRect/>
                </a:stretch>
              </a:blipFill>
            </p:spPr>
            <p:txBody>
              <a:bodyPr/>
              <a:lstStyle/>
              <a:p>
                <a:r>
                  <a:rPr lang="en-US">
                    <a:noFill/>
                  </a:rPr>
                  <a:t> </a:t>
                </a:r>
              </a:p>
            </p:txBody>
          </p:sp>
        </mc:Fallback>
      </mc:AlternateContent>
      <p:sp>
        <p:nvSpPr>
          <p:cNvPr id="5" name="Rectangle 4">
            <a:extLst>
              <a:ext uri="{FF2B5EF4-FFF2-40B4-BE49-F238E27FC236}">
                <a16:creationId xmlns:a16="http://schemas.microsoft.com/office/drawing/2014/main" id="{E3B2A531-5E9C-5039-7C4B-FAC0D588E4D5}"/>
              </a:ext>
            </a:extLst>
          </p:cNvPr>
          <p:cNvSpPr/>
          <p:nvPr/>
        </p:nvSpPr>
        <p:spPr>
          <a:xfrm rot="5400000">
            <a:off x="482138" y="3638602"/>
            <a:ext cx="1421477" cy="698269"/>
          </a:xfrm>
          <a:prstGeom prst="rect">
            <a:avLst/>
          </a:prstGeom>
          <a:solidFill>
            <a:schemeClr val="bg1">
              <a:lumMod val="85000"/>
            </a:schemeClr>
          </a:solidFill>
          <a:ln>
            <a:solidFill>
              <a:schemeClr val="accent5"/>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p>
        </p:txBody>
      </p:sp>
      <p:sp>
        <p:nvSpPr>
          <p:cNvPr id="7" name="Rectangle 6">
            <a:extLst>
              <a:ext uri="{FF2B5EF4-FFF2-40B4-BE49-F238E27FC236}">
                <a16:creationId xmlns:a16="http://schemas.microsoft.com/office/drawing/2014/main" id="{B98DCE37-FE9A-80E5-A945-B8A080E90970}"/>
              </a:ext>
            </a:extLst>
          </p:cNvPr>
          <p:cNvSpPr/>
          <p:nvPr/>
        </p:nvSpPr>
        <p:spPr>
          <a:xfrm>
            <a:off x="1787263" y="3103184"/>
            <a:ext cx="1421477" cy="698269"/>
          </a:xfrm>
          <a:prstGeom prst="rect">
            <a:avLst/>
          </a:prstGeom>
          <a:solidFill>
            <a:schemeClr val="bg1">
              <a:lumMod val="85000"/>
            </a:schemeClr>
          </a:solidFill>
          <a:ln>
            <a:solidFill>
              <a:schemeClr val="accent5"/>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8" name="Rectangle 7">
            <a:extLst>
              <a:ext uri="{FF2B5EF4-FFF2-40B4-BE49-F238E27FC236}">
                <a16:creationId xmlns:a16="http://schemas.microsoft.com/office/drawing/2014/main" id="{26A5AD23-41C0-C3F5-AB48-865688E80DC2}"/>
              </a:ext>
            </a:extLst>
          </p:cNvPr>
          <p:cNvSpPr/>
          <p:nvPr/>
        </p:nvSpPr>
        <p:spPr>
          <a:xfrm rot="5400000">
            <a:off x="4206215" y="3276999"/>
            <a:ext cx="1421477" cy="1421475"/>
          </a:xfrm>
          <a:prstGeom prst="rect">
            <a:avLst/>
          </a:prstGeom>
          <a:solidFill>
            <a:schemeClr val="bg1">
              <a:lumMod val="85000"/>
            </a:schemeClr>
          </a:solidFill>
          <a:ln>
            <a:solidFill>
              <a:schemeClr val="accent5"/>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09202BCB-F215-09BC-674A-59029FB12381}"/>
                  </a:ext>
                </a:extLst>
              </p:cNvPr>
              <p:cNvSpPr txBox="1"/>
              <p:nvPr/>
            </p:nvSpPr>
            <p:spPr>
              <a:xfrm>
                <a:off x="1001220" y="4024611"/>
                <a:ext cx="383310" cy="49244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3200" b="0" i="1" smtClean="0">
                          <a:solidFill>
                            <a:schemeClr val="accent5"/>
                          </a:solidFill>
                          <a:latin typeface="Cambria Math" panose="02040503050406030204" pitchFamily="18" charset="0"/>
                        </a:rPr>
                        <m:t>𝑉</m:t>
                      </m:r>
                    </m:oMath>
                  </m:oMathPara>
                </a14:m>
                <a:endParaRPr lang="en-US" sz="3200" dirty="0">
                  <a:solidFill>
                    <a:schemeClr val="accent5"/>
                  </a:solidFill>
                </a:endParaRPr>
              </a:p>
            </p:txBody>
          </p:sp>
        </mc:Choice>
        <mc:Fallback xmlns="">
          <p:sp>
            <p:nvSpPr>
              <p:cNvPr id="10" name="TextBox 9">
                <a:extLst>
                  <a:ext uri="{FF2B5EF4-FFF2-40B4-BE49-F238E27FC236}">
                    <a16:creationId xmlns:a16="http://schemas.microsoft.com/office/drawing/2014/main" id="{09202BCB-F215-09BC-674A-59029FB12381}"/>
                  </a:ext>
                </a:extLst>
              </p:cNvPr>
              <p:cNvSpPr txBox="1">
                <a:spLocks noRot="1" noChangeAspect="1" noMove="1" noResize="1" noEditPoints="1" noAdjustHandles="1" noChangeArrowheads="1" noChangeShapeType="1" noTextEdit="1"/>
              </p:cNvSpPr>
              <p:nvPr/>
            </p:nvSpPr>
            <p:spPr>
              <a:xfrm>
                <a:off x="1001220" y="4024611"/>
                <a:ext cx="383310" cy="492443"/>
              </a:xfrm>
              <a:prstGeom prst="rect">
                <a:avLst/>
              </a:prstGeom>
              <a:blipFill>
                <a:blip r:embed="rId3"/>
                <a:stretch>
                  <a:fillRect l="-19355" r="-19355" b="-75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E93ECA10-F3F9-C8AD-1E74-7B177EF7C91B}"/>
                  </a:ext>
                </a:extLst>
              </p:cNvPr>
              <p:cNvSpPr txBox="1"/>
              <p:nvPr/>
            </p:nvSpPr>
            <p:spPr>
              <a:xfrm>
                <a:off x="2094044" y="3206096"/>
                <a:ext cx="403957" cy="492443"/>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3200" b="0" i="1" smtClean="0">
                          <a:solidFill>
                            <a:schemeClr val="accent5"/>
                          </a:solidFill>
                          <a:latin typeface="Cambria Math" panose="02040503050406030204" pitchFamily="18" charset="0"/>
                        </a:rPr>
                        <m:t>𝑈</m:t>
                      </m:r>
                    </m:oMath>
                  </m:oMathPara>
                </a14:m>
                <a:endParaRPr lang="en-US" sz="3200" dirty="0">
                  <a:solidFill>
                    <a:schemeClr val="accent5"/>
                  </a:solidFill>
                </a:endParaRPr>
              </a:p>
            </p:txBody>
          </p:sp>
        </mc:Choice>
        <mc:Fallback xmlns="">
          <p:sp>
            <p:nvSpPr>
              <p:cNvPr id="11" name="TextBox 10">
                <a:extLst>
                  <a:ext uri="{FF2B5EF4-FFF2-40B4-BE49-F238E27FC236}">
                    <a16:creationId xmlns:a16="http://schemas.microsoft.com/office/drawing/2014/main" id="{E93ECA10-F3F9-C8AD-1E74-7B177EF7C91B}"/>
                  </a:ext>
                </a:extLst>
              </p:cNvPr>
              <p:cNvSpPr txBox="1">
                <a:spLocks noRot="1" noChangeAspect="1" noMove="1" noResize="1" noEditPoints="1" noAdjustHandles="1" noChangeArrowheads="1" noChangeShapeType="1" noTextEdit="1"/>
              </p:cNvSpPr>
              <p:nvPr/>
            </p:nvSpPr>
            <p:spPr>
              <a:xfrm>
                <a:off x="2094044" y="3206096"/>
                <a:ext cx="403957" cy="492443"/>
              </a:xfrm>
              <a:prstGeom prst="rect">
                <a:avLst/>
              </a:prstGeom>
              <a:blipFill>
                <a:blip r:embed="rId4"/>
                <a:stretch>
                  <a:fillRect l="-21875" r="-18750" b="-7500"/>
                </a:stretch>
              </a:blipFill>
            </p:spPr>
            <p:txBody>
              <a:bodyPr/>
              <a:lstStyle/>
              <a:p>
                <a:r>
                  <a:rPr lang="en-US">
                    <a:noFill/>
                  </a:rPr>
                  <a:t> </a:t>
                </a:r>
              </a:p>
            </p:txBody>
          </p:sp>
        </mc:Fallback>
      </mc:AlternateContent>
      <p:sp>
        <p:nvSpPr>
          <p:cNvPr id="12" name="Rectangle 11">
            <a:extLst>
              <a:ext uri="{FF2B5EF4-FFF2-40B4-BE49-F238E27FC236}">
                <a16:creationId xmlns:a16="http://schemas.microsoft.com/office/drawing/2014/main" id="{5C1E8D55-E4CD-6A7C-CBD8-2E4817D71C96}"/>
              </a:ext>
            </a:extLst>
          </p:cNvPr>
          <p:cNvSpPr/>
          <p:nvPr/>
        </p:nvSpPr>
        <p:spPr>
          <a:xfrm>
            <a:off x="2710870" y="3103184"/>
            <a:ext cx="108829" cy="698269"/>
          </a:xfrm>
          <a:prstGeom prst="rect">
            <a:avLst/>
          </a:prstGeom>
          <a:solidFill>
            <a:srgbClr val="7030A0"/>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3" name="Rectangle 12">
            <a:extLst>
              <a:ext uri="{FF2B5EF4-FFF2-40B4-BE49-F238E27FC236}">
                <a16:creationId xmlns:a16="http://schemas.microsoft.com/office/drawing/2014/main" id="{BD7CFDCB-2237-BF7F-1421-29F86FDAFF7E}"/>
              </a:ext>
            </a:extLst>
          </p:cNvPr>
          <p:cNvSpPr/>
          <p:nvPr/>
        </p:nvSpPr>
        <p:spPr>
          <a:xfrm rot="5400000">
            <a:off x="1138461" y="3283233"/>
            <a:ext cx="108829" cy="698269"/>
          </a:xfrm>
          <a:prstGeom prst="rect">
            <a:avLst/>
          </a:prstGeom>
          <a:solidFill>
            <a:srgbClr val="7030A0"/>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8CC18686-3C77-96FF-2F57-B774B4B0A0D3}"/>
                  </a:ext>
                </a:extLst>
              </p:cNvPr>
              <p:cNvSpPr txBox="1"/>
              <p:nvPr/>
            </p:nvSpPr>
            <p:spPr>
              <a:xfrm>
                <a:off x="470063" y="3452317"/>
                <a:ext cx="440575" cy="30777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en-US" b="0" i="1" smtClean="0">
                              <a:solidFill>
                                <a:schemeClr val="tx1"/>
                              </a:solidFill>
                              <a:latin typeface="Cambria Math" panose="02040503050406030204" pitchFamily="18" charset="0"/>
                            </a:rPr>
                          </m:ctrlPr>
                        </m:sSubSupPr>
                        <m:e>
                          <m:r>
                            <a:rPr lang="en-US" b="0" i="1" smtClean="0">
                              <a:solidFill>
                                <a:schemeClr val="tx1"/>
                              </a:solidFill>
                              <a:latin typeface="Cambria Math" panose="02040503050406030204" pitchFamily="18" charset="0"/>
                            </a:rPr>
                            <m:t>𝑣</m:t>
                          </m:r>
                        </m:e>
                        <m:sub>
                          <m:r>
                            <a:rPr lang="en-US" b="0" i="1" smtClean="0">
                              <a:solidFill>
                                <a:schemeClr val="tx1"/>
                              </a:solidFill>
                              <a:latin typeface="Cambria Math" panose="02040503050406030204" pitchFamily="18" charset="0"/>
                            </a:rPr>
                            <m:t>𝑐</m:t>
                          </m:r>
                        </m:sub>
                        <m:sup>
                          <m:r>
                            <a:rPr lang="en-US" b="0" i="1" smtClean="0">
                              <a:solidFill>
                                <a:schemeClr val="tx1"/>
                              </a:solidFill>
                              <a:latin typeface="Cambria Math" panose="02040503050406030204" pitchFamily="18" charset="0"/>
                            </a:rPr>
                            <m:t>𝑇</m:t>
                          </m:r>
                        </m:sup>
                      </m:sSubSup>
                    </m:oMath>
                  </m:oMathPara>
                </a14:m>
                <a:endParaRPr lang="en-US" dirty="0">
                  <a:solidFill>
                    <a:schemeClr val="tx1"/>
                  </a:solidFill>
                </a:endParaRPr>
              </a:p>
            </p:txBody>
          </p:sp>
        </mc:Choice>
        <mc:Fallback xmlns="">
          <p:sp>
            <p:nvSpPr>
              <p:cNvPr id="16" name="TextBox 15">
                <a:extLst>
                  <a:ext uri="{FF2B5EF4-FFF2-40B4-BE49-F238E27FC236}">
                    <a16:creationId xmlns:a16="http://schemas.microsoft.com/office/drawing/2014/main" id="{8CC18686-3C77-96FF-2F57-B774B4B0A0D3}"/>
                  </a:ext>
                </a:extLst>
              </p:cNvPr>
              <p:cNvSpPr txBox="1">
                <a:spLocks noRot="1" noChangeAspect="1" noMove="1" noResize="1" noEditPoints="1" noAdjustHandles="1" noChangeArrowheads="1" noChangeShapeType="1" noTextEdit="1"/>
              </p:cNvSpPr>
              <p:nvPr/>
            </p:nvSpPr>
            <p:spPr>
              <a:xfrm>
                <a:off x="470063" y="3452317"/>
                <a:ext cx="440575" cy="307777"/>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2FCA9831-1BCB-D194-E6B7-5319D3A92869}"/>
                  </a:ext>
                </a:extLst>
              </p:cNvPr>
              <p:cNvSpPr txBox="1"/>
              <p:nvPr/>
            </p:nvSpPr>
            <p:spPr>
              <a:xfrm>
                <a:off x="2561622" y="3731791"/>
                <a:ext cx="440575" cy="30777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b="0"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𝑢</m:t>
                          </m:r>
                        </m:e>
                        <m:sub>
                          <m:r>
                            <a:rPr lang="en-US" b="0" i="1" smtClean="0">
                              <a:solidFill>
                                <a:schemeClr val="tx1"/>
                              </a:solidFill>
                              <a:latin typeface="Cambria Math" panose="02040503050406030204" pitchFamily="18" charset="0"/>
                            </a:rPr>
                            <m:t>𝑜</m:t>
                          </m:r>
                        </m:sub>
                      </m:sSub>
                    </m:oMath>
                  </m:oMathPara>
                </a14:m>
                <a:endParaRPr lang="en-US" b="0" dirty="0">
                  <a:solidFill>
                    <a:schemeClr val="tx1"/>
                  </a:solidFill>
                </a:endParaRPr>
              </a:p>
            </p:txBody>
          </p:sp>
        </mc:Choice>
        <mc:Fallback xmlns="">
          <p:sp>
            <p:nvSpPr>
              <p:cNvPr id="18" name="TextBox 17">
                <a:extLst>
                  <a:ext uri="{FF2B5EF4-FFF2-40B4-BE49-F238E27FC236}">
                    <a16:creationId xmlns:a16="http://schemas.microsoft.com/office/drawing/2014/main" id="{2FCA9831-1BCB-D194-E6B7-5319D3A92869}"/>
                  </a:ext>
                </a:extLst>
              </p:cNvPr>
              <p:cNvSpPr txBox="1">
                <a:spLocks noRot="1" noChangeAspect="1" noMove="1" noResize="1" noEditPoints="1" noAdjustHandles="1" noChangeArrowheads="1" noChangeShapeType="1" noTextEdit="1"/>
              </p:cNvSpPr>
              <p:nvPr/>
            </p:nvSpPr>
            <p:spPr>
              <a:xfrm>
                <a:off x="2561622" y="3731791"/>
                <a:ext cx="440575" cy="307777"/>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BB87E544-3F74-4556-92A6-C73A3F0B40C0}"/>
                  </a:ext>
                </a:extLst>
              </p:cNvPr>
              <p:cNvSpPr txBox="1"/>
              <p:nvPr/>
            </p:nvSpPr>
            <p:spPr>
              <a:xfrm>
                <a:off x="4906272" y="3324590"/>
                <a:ext cx="642554" cy="30777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en-US" b="0" i="1" smtClean="0">
                              <a:solidFill>
                                <a:schemeClr val="tx1"/>
                              </a:solidFill>
                              <a:latin typeface="Cambria Math" panose="02040503050406030204" pitchFamily="18" charset="0"/>
                            </a:rPr>
                          </m:ctrlPr>
                        </m:sSubSupPr>
                        <m:e>
                          <m:r>
                            <a:rPr lang="en-US" b="0" i="1" smtClean="0">
                              <a:solidFill>
                                <a:schemeClr val="tx1"/>
                              </a:solidFill>
                              <a:latin typeface="Cambria Math" panose="02040503050406030204" pitchFamily="18" charset="0"/>
                            </a:rPr>
                            <m:t>𝑣</m:t>
                          </m:r>
                        </m:e>
                        <m:sub>
                          <m:r>
                            <a:rPr lang="en-US" b="0" i="1" smtClean="0">
                              <a:solidFill>
                                <a:schemeClr val="tx1"/>
                              </a:solidFill>
                              <a:latin typeface="Cambria Math" panose="02040503050406030204" pitchFamily="18" charset="0"/>
                            </a:rPr>
                            <m:t>𝑐</m:t>
                          </m:r>
                        </m:sub>
                        <m:sup>
                          <m:r>
                            <a:rPr lang="en-US" b="0" i="1" smtClean="0">
                              <a:solidFill>
                                <a:schemeClr val="tx1"/>
                              </a:solidFill>
                              <a:latin typeface="Cambria Math" panose="02040503050406030204" pitchFamily="18" charset="0"/>
                            </a:rPr>
                            <m:t>𝑇</m:t>
                          </m:r>
                        </m:sup>
                      </m:sSubSup>
                      <m:sSub>
                        <m:sSubPr>
                          <m:ctrlPr>
                            <a:rPr lang="en-US" b="0"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𝑢</m:t>
                          </m:r>
                        </m:e>
                        <m:sub>
                          <m:r>
                            <a:rPr lang="en-US" b="0" i="1" smtClean="0">
                              <a:solidFill>
                                <a:schemeClr val="tx1"/>
                              </a:solidFill>
                              <a:latin typeface="Cambria Math" panose="02040503050406030204" pitchFamily="18" charset="0"/>
                            </a:rPr>
                            <m:t>𝑜</m:t>
                          </m:r>
                        </m:sub>
                      </m:sSub>
                    </m:oMath>
                  </m:oMathPara>
                </a14:m>
                <a:endParaRPr lang="en-US" dirty="0">
                  <a:solidFill>
                    <a:schemeClr val="tx1"/>
                  </a:solidFill>
                </a:endParaRPr>
              </a:p>
            </p:txBody>
          </p:sp>
        </mc:Choice>
        <mc:Fallback xmlns="">
          <p:sp>
            <p:nvSpPr>
              <p:cNvPr id="19" name="TextBox 18">
                <a:extLst>
                  <a:ext uri="{FF2B5EF4-FFF2-40B4-BE49-F238E27FC236}">
                    <a16:creationId xmlns:a16="http://schemas.microsoft.com/office/drawing/2014/main" id="{BB87E544-3F74-4556-92A6-C73A3F0B40C0}"/>
                  </a:ext>
                </a:extLst>
              </p:cNvPr>
              <p:cNvSpPr txBox="1">
                <a:spLocks noRot="1" noChangeAspect="1" noMove="1" noResize="1" noEditPoints="1" noAdjustHandles="1" noChangeArrowheads="1" noChangeShapeType="1" noTextEdit="1"/>
              </p:cNvSpPr>
              <p:nvPr/>
            </p:nvSpPr>
            <p:spPr>
              <a:xfrm>
                <a:off x="4906272" y="3324590"/>
                <a:ext cx="642554" cy="307777"/>
              </a:xfrm>
              <a:prstGeom prst="rect">
                <a:avLst/>
              </a:prstGeom>
              <a:blipFill>
                <a:blip r:embed="rId7"/>
                <a:stretch>
                  <a:fillRect/>
                </a:stretch>
              </a:blipFill>
            </p:spPr>
            <p:txBody>
              <a:bodyPr/>
              <a:lstStyle/>
              <a:p>
                <a:r>
                  <a:rPr lang="en-US">
                    <a:noFill/>
                  </a:rPr>
                  <a:t> </a:t>
                </a:r>
              </a:p>
            </p:txBody>
          </p:sp>
        </mc:Fallback>
      </mc:AlternateContent>
      <p:sp>
        <p:nvSpPr>
          <p:cNvPr id="20" name="Rectangle 19">
            <a:extLst>
              <a:ext uri="{FF2B5EF4-FFF2-40B4-BE49-F238E27FC236}">
                <a16:creationId xmlns:a16="http://schemas.microsoft.com/office/drawing/2014/main" id="{D7D8412D-4E0B-FAF4-2E44-CD6520CC9EFC}"/>
              </a:ext>
            </a:extLst>
          </p:cNvPr>
          <p:cNvSpPr/>
          <p:nvPr/>
        </p:nvSpPr>
        <p:spPr>
          <a:xfrm>
            <a:off x="5157578" y="3620945"/>
            <a:ext cx="145941" cy="146171"/>
          </a:xfrm>
          <a:prstGeom prst="rect">
            <a:avLst/>
          </a:prstGeom>
          <a:solidFill>
            <a:srgbClr val="7030A0"/>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21" name="Rectangle 20">
            <a:extLst>
              <a:ext uri="{FF2B5EF4-FFF2-40B4-BE49-F238E27FC236}">
                <a16:creationId xmlns:a16="http://schemas.microsoft.com/office/drawing/2014/main" id="{4E552CF5-955E-931F-9873-347FE67ECD5C}"/>
              </a:ext>
            </a:extLst>
          </p:cNvPr>
          <p:cNvSpPr/>
          <p:nvPr/>
        </p:nvSpPr>
        <p:spPr>
          <a:xfrm rot="5400000">
            <a:off x="6413347" y="3276999"/>
            <a:ext cx="1421477" cy="1421475"/>
          </a:xfrm>
          <a:prstGeom prst="rect">
            <a:avLst/>
          </a:prstGeom>
          <a:solidFill>
            <a:schemeClr val="bg1">
              <a:lumMod val="85000"/>
            </a:schemeClr>
          </a:solidFill>
          <a:ln>
            <a:solidFill>
              <a:schemeClr val="tx1">
                <a:lumMod val="65000"/>
                <a:lumOff val="35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EDA4E2E3-F961-6C7F-FE7F-021E882635D3}"/>
                  </a:ext>
                </a:extLst>
              </p:cNvPr>
              <p:cNvSpPr txBox="1"/>
              <p:nvPr/>
            </p:nvSpPr>
            <p:spPr>
              <a:xfrm>
                <a:off x="6980400" y="3298428"/>
                <a:ext cx="642554" cy="30777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unc>
                        <m:funcPr>
                          <m:ctrlPr>
                            <a:rPr lang="en-US" b="0" i="1" smtClean="0">
                              <a:solidFill>
                                <a:schemeClr val="tx1"/>
                              </a:solidFill>
                              <a:latin typeface="Cambria Math" panose="02040503050406030204" pitchFamily="18" charset="0"/>
                            </a:rPr>
                          </m:ctrlPr>
                        </m:funcPr>
                        <m:fName>
                          <m:r>
                            <m:rPr>
                              <m:sty m:val="p"/>
                            </m:rPr>
                            <a:rPr lang="en-US" b="0" i="0" smtClean="0">
                              <a:solidFill>
                                <a:schemeClr val="tx1"/>
                              </a:solidFill>
                              <a:latin typeface="Cambria Math" panose="02040503050406030204" pitchFamily="18" charset="0"/>
                            </a:rPr>
                            <m:t>log</m:t>
                          </m:r>
                        </m:fName>
                        <m:e>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𝑐</m:t>
                          </m:r>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𝑜</m:t>
                          </m:r>
                          <m:r>
                            <a:rPr lang="en-US" b="0" i="1" smtClean="0">
                              <a:solidFill>
                                <a:schemeClr val="tx1"/>
                              </a:solidFill>
                              <a:latin typeface="Cambria Math" panose="02040503050406030204" pitchFamily="18" charset="0"/>
                            </a:rPr>
                            <m:t>)</m:t>
                          </m:r>
                        </m:e>
                      </m:func>
                    </m:oMath>
                  </m:oMathPara>
                </a14:m>
                <a:endParaRPr lang="en-US" dirty="0">
                  <a:solidFill>
                    <a:schemeClr val="tx1"/>
                  </a:solidFill>
                </a:endParaRPr>
              </a:p>
            </p:txBody>
          </p:sp>
        </mc:Choice>
        <mc:Fallback xmlns="">
          <p:sp>
            <p:nvSpPr>
              <p:cNvPr id="22" name="TextBox 21">
                <a:extLst>
                  <a:ext uri="{FF2B5EF4-FFF2-40B4-BE49-F238E27FC236}">
                    <a16:creationId xmlns:a16="http://schemas.microsoft.com/office/drawing/2014/main" id="{EDA4E2E3-F961-6C7F-FE7F-021E882635D3}"/>
                  </a:ext>
                </a:extLst>
              </p:cNvPr>
              <p:cNvSpPr txBox="1">
                <a:spLocks noRot="1" noChangeAspect="1" noMove="1" noResize="1" noEditPoints="1" noAdjustHandles="1" noChangeArrowheads="1" noChangeShapeType="1" noTextEdit="1"/>
              </p:cNvSpPr>
              <p:nvPr/>
            </p:nvSpPr>
            <p:spPr>
              <a:xfrm>
                <a:off x="6980400" y="3298428"/>
                <a:ext cx="642554" cy="307777"/>
              </a:xfrm>
              <a:prstGeom prst="rect">
                <a:avLst/>
              </a:prstGeom>
              <a:blipFill>
                <a:blip r:embed="rId8"/>
                <a:stretch>
                  <a:fillRect r="-47059" b="-11538"/>
                </a:stretch>
              </a:blipFill>
            </p:spPr>
            <p:txBody>
              <a:bodyPr/>
              <a:lstStyle/>
              <a:p>
                <a:r>
                  <a:rPr lang="en-US">
                    <a:noFill/>
                  </a:rPr>
                  <a:t> </a:t>
                </a:r>
              </a:p>
            </p:txBody>
          </p:sp>
        </mc:Fallback>
      </mc:AlternateContent>
      <p:sp>
        <p:nvSpPr>
          <p:cNvPr id="23" name="Rectangle 22">
            <a:extLst>
              <a:ext uri="{FF2B5EF4-FFF2-40B4-BE49-F238E27FC236}">
                <a16:creationId xmlns:a16="http://schemas.microsoft.com/office/drawing/2014/main" id="{4B34EB05-ADED-D65B-C762-2ACD5BFF89E7}"/>
              </a:ext>
            </a:extLst>
          </p:cNvPr>
          <p:cNvSpPr/>
          <p:nvPr/>
        </p:nvSpPr>
        <p:spPr>
          <a:xfrm>
            <a:off x="7364710" y="3620945"/>
            <a:ext cx="145941" cy="146171"/>
          </a:xfrm>
          <a:prstGeom prst="rect">
            <a:avLst/>
          </a:prstGeom>
          <a:solidFill>
            <a:schemeClr val="tx1">
              <a:lumMod val="65000"/>
              <a:lumOff val="35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9F14F768-A555-2CC2-C5CD-918A378DB1A1}"/>
                  </a:ext>
                </a:extLst>
              </p:cNvPr>
              <p:cNvSpPr txBox="1"/>
              <p:nvPr/>
            </p:nvSpPr>
            <p:spPr>
              <a:xfrm>
                <a:off x="4586734" y="4076432"/>
                <a:ext cx="660437" cy="49244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3200" b="0" i="1" smtClean="0">
                          <a:solidFill>
                            <a:schemeClr val="accent5"/>
                          </a:solidFill>
                          <a:latin typeface="Cambria Math" panose="02040503050406030204" pitchFamily="18" charset="0"/>
                        </a:rPr>
                        <m:t>𝑉𝑈</m:t>
                      </m:r>
                    </m:oMath>
                  </m:oMathPara>
                </a14:m>
                <a:endParaRPr lang="en-US" sz="3200" dirty="0">
                  <a:solidFill>
                    <a:schemeClr val="accent5"/>
                  </a:solidFill>
                </a:endParaRPr>
              </a:p>
            </p:txBody>
          </p:sp>
        </mc:Choice>
        <mc:Fallback xmlns="">
          <p:sp>
            <p:nvSpPr>
              <p:cNvPr id="24" name="TextBox 23">
                <a:extLst>
                  <a:ext uri="{FF2B5EF4-FFF2-40B4-BE49-F238E27FC236}">
                    <a16:creationId xmlns:a16="http://schemas.microsoft.com/office/drawing/2014/main" id="{9F14F768-A555-2CC2-C5CD-918A378DB1A1}"/>
                  </a:ext>
                </a:extLst>
              </p:cNvPr>
              <p:cNvSpPr txBox="1">
                <a:spLocks noRot="1" noChangeAspect="1" noMove="1" noResize="1" noEditPoints="1" noAdjustHandles="1" noChangeArrowheads="1" noChangeShapeType="1" noTextEdit="1"/>
              </p:cNvSpPr>
              <p:nvPr/>
            </p:nvSpPr>
            <p:spPr>
              <a:xfrm>
                <a:off x="4586734" y="4076432"/>
                <a:ext cx="660437" cy="492443"/>
              </a:xfrm>
              <a:prstGeom prst="rect">
                <a:avLst/>
              </a:prstGeom>
              <a:blipFill>
                <a:blip r:embed="rId9"/>
                <a:stretch>
                  <a:fillRect l="-9259" r="-9259" b="-769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670B686F-91BA-96C1-B41B-9B7BBA64EB8C}"/>
                  </a:ext>
                </a:extLst>
              </p:cNvPr>
              <p:cNvSpPr txBox="1"/>
              <p:nvPr/>
            </p:nvSpPr>
            <p:spPr>
              <a:xfrm>
                <a:off x="5741359" y="3633489"/>
                <a:ext cx="533699" cy="73866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4200" b="0" i="1" smtClean="0">
                          <a:solidFill>
                            <a:srgbClr val="C00000"/>
                          </a:solidFill>
                          <a:latin typeface="Cambria Math" panose="02040503050406030204" pitchFamily="18" charset="0"/>
                        </a:rPr>
                        <m:t>≈</m:t>
                      </m:r>
                    </m:oMath>
                  </m:oMathPara>
                </a14:m>
                <a:endParaRPr lang="en-US" sz="4200" dirty="0"/>
              </a:p>
            </p:txBody>
          </p:sp>
        </mc:Choice>
        <mc:Fallback xmlns="">
          <p:sp>
            <p:nvSpPr>
              <p:cNvPr id="26" name="TextBox 25">
                <a:extLst>
                  <a:ext uri="{FF2B5EF4-FFF2-40B4-BE49-F238E27FC236}">
                    <a16:creationId xmlns:a16="http://schemas.microsoft.com/office/drawing/2014/main" id="{670B686F-91BA-96C1-B41B-9B7BBA64EB8C}"/>
                  </a:ext>
                </a:extLst>
              </p:cNvPr>
              <p:cNvSpPr txBox="1">
                <a:spLocks noRot="1" noChangeAspect="1" noMove="1" noResize="1" noEditPoints="1" noAdjustHandles="1" noChangeArrowheads="1" noChangeShapeType="1" noTextEdit="1"/>
              </p:cNvSpPr>
              <p:nvPr/>
            </p:nvSpPr>
            <p:spPr>
              <a:xfrm>
                <a:off x="5741359" y="3633489"/>
                <a:ext cx="533699" cy="738664"/>
              </a:xfrm>
              <a:prstGeom prst="rect">
                <a:avLst/>
              </a:prstGeom>
              <a:blipFill>
                <a:blip r:embed="rId10"/>
                <a:stretch>
                  <a:fillRect l="-9524" r="-1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C157A096-18F6-1986-F3AC-DAF7FD42F9A5}"/>
                  </a:ext>
                </a:extLst>
              </p:cNvPr>
              <p:cNvSpPr txBox="1"/>
              <p:nvPr/>
            </p:nvSpPr>
            <p:spPr>
              <a:xfrm>
                <a:off x="3466999" y="3551825"/>
                <a:ext cx="533699" cy="73866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4200" b="0" i="1" smtClean="0">
                          <a:latin typeface="Cambria Math" panose="02040503050406030204" pitchFamily="18" charset="0"/>
                        </a:rPr>
                        <m:t>=</m:t>
                      </m:r>
                    </m:oMath>
                  </m:oMathPara>
                </a14:m>
                <a:endParaRPr lang="en-US" sz="4200" dirty="0"/>
              </a:p>
            </p:txBody>
          </p:sp>
        </mc:Choice>
        <mc:Fallback xmlns="">
          <p:sp>
            <p:nvSpPr>
              <p:cNvPr id="27" name="TextBox 26">
                <a:extLst>
                  <a:ext uri="{FF2B5EF4-FFF2-40B4-BE49-F238E27FC236}">
                    <a16:creationId xmlns:a16="http://schemas.microsoft.com/office/drawing/2014/main" id="{C157A096-18F6-1986-F3AC-DAF7FD42F9A5}"/>
                  </a:ext>
                </a:extLst>
              </p:cNvPr>
              <p:cNvSpPr txBox="1">
                <a:spLocks noRot="1" noChangeAspect="1" noMove="1" noResize="1" noEditPoints="1" noAdjustHandles="1" noChangeArrowheads="1" noChangeShapeType="1" noTextEdit="1"/>
              </p:cNvSpPr>
              <p:nvPr/>
            </p:nvSpPr>
            <p:spPr>
              <a:xfrm>
                <a:off x="3466999" y="3551825"/>
                <a:ext cx="533699" cy="738664"/>
              </a:xfrm>
              <a:prstGeom prst="rect">
                <a:avLst/>
              </a:prstGeom>
              <a:blipFill>
                <a:blip r:embed="rId11"/>
                <a:stretch>
                  <a:fillRect l="-7143" r="-1428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3EB034B0-E765-9CAE-0CFC-FF4369D8E52E}"/>
                  </a:ext>
                </a:extLst>
              </p:cNvPr>
              <p:cNvSpPr txBox="1"/>
              <p:nvPr/>
            </p:nvSpPr>
            <p:spPr>
              <a:xfrm>
                <a:off x="617830" y="4694511"/>
                <a:ext cx="1150089" cy="30777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d>
                        <m:dPr>
                          <m:begChr m:val="|"/>
                          <m:endChr m:val="|"/>
                          <m:ctrlPr>
                            <a:rPr lang="en-US" b="0" i="1" smtClean="0">
                              <a:solidFill>
                                <a:schemeClr val="tx1">
                                  <a:lumMod val="50000"/>
                                  <a:lumOff val="50000"/>
                                </a:schemeClr>
                              </a:solidFill>
                              <a:latin typeface="Cambria Math" panose="02040503050406030204" pitchFamily="18" charset="0"/>
                            </a:rPr>
                          </m:ctrlPr>
                        </m:dPr>
                        <m:e>
                          <m:r>
                            <a:rPr lang="en-US" b="0" i="1" smtClean="0">
                              <a:solidFill>
                                <a:schemeClr val="tx1">
                                  <a:lumMod val="50000"/>
                                  <a:lumOff val="50000"/>
                                </a:schemeClr>
                              </a:solidFill>
                              <a:latin typeface="Cambria Math" panose="02040503050406030204" pitchFamily="18" charset="0"/>
                            </a:rPr>
                            <m:t>𝑉𝑜𝑐𝑎𝑏</m:t>
                          </m:r>
                        </m:e>
                      </m:d>
                      <m:r>
                        <a:rPr lang="en-US" b="0" i="1" smtClean="0">
                          <a:solidFill>
                            <a:schemeClr val="tx1">
                              <a:lumMod val="50000"/>
                              <a:lumOff val="50000"/>
                            </a:schemeClr>
                          </a:solidFill>
                          <a:latin typeface="Cambria Math" panose="02040503050406030204" pitchFamily="18" charset="0"/>
                        </a:rPr>
                        <m:t>×</m:t>
                      </m:r>
                      <m:r>
                        <a:rPr lang="en-US" b="0" i="1" smtClean="0">
                          <a:solidFill>
                            <a:schemeClr val="tx1">
                              <a:lumMod val="50000"/>
                              <a:lumOff val="50000"/>
                            </a:schemeClr>
                          </a:solidFill>
                          <a:latin typeface="Cambria Math" panose="02040503050406030204" pitchFamily="18" charset="0"/>
                        </a:rPr>
                        <m:t>𝑑</m:t>
                      </m:r>
                    </m:oMath>
                  </m:oMathPara>
                </a14:m>
                <a:endParaRPr lang="en-US" b="0" dirty="0">
                  <a:solidFill>
                    <a:schemeClr val="tx1">
                      <a:lumMod val="50000"/>
                      <a:lumOff val="50000"/>
                    </a:schemeClr>
                  </a:solidFill>
                </a:endParaRPr>
              </a:p>
            </p:txBody>
          </p:sp>
        </mc:Choice>
        <mc:Fallback xmlns="">
          <p:sp>
            <p:nvSpPr>
              <p:cNvPr id="28" name="TextBox 27">
                <a:extLst>
                  <a:ext uri="{FF2B5EF4-FFF2-40B4-BE49-F238E27FC236}">
                    <a16:creationId xmlns:a16="http://schemas.microsoft.com/office/drawing/2014/main" id="{3EB034B0-E765-9CAE-0CFC-FF4369D8E52E}"/>
                  </a:ext>
                </a:extLst>
              </p:cNvPr>
              <p:cNvSpPr txBox="1">
                <a:spLocks noRot="1" noChangeAspect="1" noMove="1" noResize="1" noEditPoints="1" noAdjustHandles="1" noChangeArrowheads="1" noChangeShapeType="1" noTextEdit="1"/>
              </p:cNvSpPr>
              <p:nvPr/>
            </p:nvSpPr>
            <p:spPr>
              <a:xfrm>
                <a:off x="617830" y="4694511"/>
                <a:ext cx="1150089" cy="307777"/>
              </a:xfrm>
              <a:prstGeom prst="rect">
                <a:avLst/>
              </a:prstGeom>
              <a:blipFill>
                <a:blip r:embed="rId1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A31A5BAE-44DE-8E6F-4F19-20346B847431}"/>
                  </a:ext>
                </a:extLst>
              </p:cNvPr>
              <p:cNvSpPr txBox="1"/>
              <p:nvPr/>
            </p:nvSpPr>
            <p:spPr>
              <a:xfrm>
                <a:off x="1836978" y="4679640"/>
                <a:ext cx="1150089" cy="30777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b="0" i="1" smtClean="0">
                          <a:solidFill>
                            <a:schemeClr val="tx1">
                              <a:lumMod val="50000"/>
                              <a:lumOff val="50000"/>
                            </a:schemeClr>
                          </a:solidFill>
                          <a:latin typeface="Cambria Math" panose="02040503050406030204" pitchFamily="18" charset="0"/>
                        </a:rPr>
                        <m:t>𝑑</m:t>
                      </m:r>
                      <m:r>
                        <a:rPr lang="en-US" b="0" i="1" smtClean="0">
                          <a:solidFill>
                            <a:schemeClr val="tx1">
                              <a:lumMod val="50000"/>
                              <a:lumOff val="50000"/>
                            </a:schemeClr>
                          </a:solidFill>
                          <a:latin typeface="Cambria Math" panose="02040503050406030204" pitchFamily="18" charset="0"/>
                        </a:rPr>
                        <m:t>×</m:t>
                      </m:r>
                      <m:d>
                        <m:dPr>
                          <m:begChr m:val="|"/>
                          <m:endChr m:val="|"/>
                          <m:ctrlPr>
                            <a:rPr lang="en-US" b="0" i="1" smtClean="0">
                              <a:solidFill>
                                <a:schemeClr val="tx1">
                                  <a:lumMod val="50000"/>
                                  <a:lumOff val="50000"/>
                                </a:schemeClr>
                              </a:solidFill>
                              <a:latin typeface="Cambria Math" panose="02040503050406030204" pitchFamily="18" charset="0"/>
                            </a:rPr>
                          </m:ctrlPr>
                        </m:dPr>
                        <m:e>
                          <m:r>
                            <a:rPr lang="en-US" b="0" i="1" smtClean="0">
                              <a:solidFill>
                                <a:schemeClr val="tx1">
                                  <a:lumMod val="50000"/>
                                  <a:lumOff val="50000"/>
                                </a:schemeClr>
                              </a:solidFill>
                              <a:latin typeface="Cambria Math" panose="02040503050406030204" pitchFamily="18" charset="0"/>
                            </a:rPr>
                            <m:t>𝑉𝑜𝑐𝑎𝑏</m:t>
                          </m:r>
                        </m:e>
                      </m:d>
                    </m:oMath>
                  </m:oMathPara>
                </a14:m>
                <a:endParaRPr lang="en-US" b="0" dirty="0">
                  <a:solidFill>
                    <a:schemeClr val="tx1">
                      <a:lumMod val="50000"/>
                      <a:lumOff val="50000"/>
                    </a:schemeClr>
                  </a:solidFill>
                </a:endParaRPr>
              </a:p>
            </p:txBody>
          </p:sp>
        </mc:Choice>
        <mc:Fallback xmlns="">
          <p:sp>
            <p:nvSpPr>
              <p:cNvPr id="29" name="TextBox 28">
                <a:extLst>
                  <a:ext uri="{FF2B5EF4-FFF2-40B4-BE49-F238E27FC236}">
                    <a16:creationId xmlns:a16="http://schemas.microsoft.com/office/drawing/2014/main" id="{A31A5BAE-44DE-8E6F-4F19-20346B847431}"/>
                  </a:ext>
                </a:extLst>
              </p:cNvPr>
              <p:cNvSpPr txBox="1">
                <a:spLocks noRot="1" noChangeAspect="1" noMove="1" noResize="1" noEditPoints="1" noAdjustHandles="1" noChangeArrowheads="1" noChangeShapeType="1" noTextEdit="1"/>
              </p:cNvSpPr>
              <p:nvPr/>
            </p:nvSpPr>
            <p:spPr>
              <a:xfrm>
                <a:off x="1836978" y="4679640"/>
                <a:ext cx="1150089" cy="307777"/>
              </a:xfrm>
              <a:prstGeom prst="rect">
                <a:avLst/>
              </a:prstGeom>
              <a:blipFill>
                <a:blip r:embed="rId1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1DAD7049-866D-0850-D8A4-BD9B29686269}"/>
                  </a:ext>
                </a:extLst>
              </p:cNvPr>
              <p:cNvSpPr txBox="1"/>
              <p:nvPr/>
            </p:nvSpPr>
            <p:spPr>
              <a:xfrm>
                <a:off x="4077460" y="4724302"/>
                <a:ext cx="1676210" cy="30777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d>
                        <m:dPr>
                          <m:begChr m:val="|"/>
                          <m:endChr m:val="|"/>
                          <m:ctrlPr>
                            <a:rPr lang="en-US" b="0" i="1" smtClean="0">
                              <a:solidFill>
                                <a:schemeClr val="tx1">
                                  <a:lumMod val="50000"/>
                                  <a:lumOff val="50000"/>
                                </a:schemeClr>
                              </a:solidFill>
                              <a:latin typeface="Cambria Math" panose="02040503050406030204" pitchFamily="18" charset="0"/>
                            </a:rPr>
                          </m:ctrlPr>
                        </m:dPr>
                        <m:e>
                          <m:r>
                            <a:rPr lang="en-US" b="0" i="1" smtClean="0">
                              <a:solidFill>
                                <a:schemeClr val="tx1">
                                  <a:lumMod val="50000"/>
                                  <a:lumOff val="50000"/>
                                </a:schemeClr>
                              </a:solidFill>
                              <a:latin typeface="Cambria Math" panose="02040503050406030204" pitchFamily="18" charset="0"/>
                            </a:rPr>
                            <m:t>𝑉𝑜𝑐𝑎𝑏</m:t>
                          </m:r>
                        </m:e>
                      </m:d>
                      <m:r>
                        <a:rPr lang="en-US" b="0" i="1" smtClean="0">
                          <a:solidFill>
                            <a:schemeClr val="tx1">
                              <a:lumMod val="50000"/>
                              <a:lumOff val="50000"/>
                            </a:schemeClr>
                          </a:solidFill>
                          <a:latin typeface="Cambria Math" panose="02040503050406030204" pitchFamily="18" charset="0"/>
                        </a:rPr>
                        <m:t>×|</m:t>
                      </m:r>
                      <m:r>
                        <a:rPr lang="en-US" b="0" i="1" smtClean="0">
                          <a:solidFill>
                            <a:schemeClr val="tx1">
                              <a:lumMod val="50000"/>
                              <a:lumOff val="50000"/>
                            </a:schemeClr>
                          </a:solidFill>
                          <a:latin typeface="Cambria Math" panose="02040503050406030204" pitchFamily="18" charset="0"/>
                        </a:rPr>
                        <m:t>𝑉𝑜𝑐𝑎𝑏</m:t>
                      </m:r>
                      <m:r>
                        <a:rPr lang="en-US" b="0" i="1" smtClean="0">
                          <a:solidFill>
                            <a:schemeClr val="tx1">
                              <a:lumMod val="50000"/>
                              <a:lumOff val="50000"/>
                            </a:schemeClr>
                          </a:solidFill>
                          <a:latin typeface="Cambria Math" panose="02040503050406030204" pitchFamily="18" charset="0"/>
                        </a:rPr>
                        <m:t>|</m:t>
                      </m:r>
                    </m:oMath>
                  </m:oMathPara>
                </a14:m>
                <a:endParaRPr lang="en-US" b="0" dirty="0">
                  <a:solidFill>
                    <a:schemeClr val="tx1">
                      <a:lumMod val="50000"/>
                      <a:lumOff val="50000"/>
                    </a:schemeClr>
                  </a:solidFill>
                </a:endParaRPr>
              </a:p>
            </p:txBody>
          </p:sp>
        </mc:Choice>
        <mc:Fallback xmlns="">
          <p:sp>
            <p:nvSpPr>
              <p:cNvPr id="30" name="TextBox 29">
                <a:extLst>
                  <a:ext uri="{FF2B5EF4-FFF2-40B4-BE49-F238E27FC236}">
                    <a16:creationId xmlns:a16="http://schemas.microsoft.com/office/drawing/2014/main" id="{1DAD7049-866D-0850-D8A4-BD9B29686269}"/>
                  </a:ext>
                </a:extLst>
              </p:cNvPr>
              <p:cNvSpPr txBox="1">
                <a:spLocks noRot="1" noChangeAspect="1" noMove="1" noResize="1" noEditPoints="1" noAdjustHandles="1" noChangeArrowheads="1" noChangeShapeType="1" noTextEdit="1"/>
              </p:cNvSpPr>
              <p:nvPr/>
            </p:nvSpPr>
            <p:spPr>
              <a:xfrm>
                <a:off x="4077460" y="4724302"/>
                <a:ext cx="1676210" cy="307777"/>
              </a:xfrm>
              <a:prstGeom prst="rect">
                <a:avLst/>
              </a:prstGeom>
              <a:blipFill>
                <a:blip r:embed="rId14"/>
                <a:stretch>
                  <a:fillRect b="-1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FB2BA83F-6E7F-556C-7CC0-30CF992218EA}"/>
                  </a:ext>
                </a:extLst>
              </p:cNvPr>
              <p:cNvSpPr txBox="1"/>
              <p:nvPr/>
            </p:nvSpPr>
            <p:spPr>
              <a:xfrm>
                <a:off x="6295682" y="4715988"/>
                <a:ext cx="1676210" cy="30777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d>
                        <m:dPr>
                          <m:begChr m:val="|"/>
                          <m:endChr m:val="|"/>
                          <m:ctrlPr>
                            <a:rPr lang="en-US" b="0" i="1" smtClean="0">
                              <a:solidFill>
                                <a:schemeClr val="tx1">
                                  <a:lumMod val="50000"/>
                                  <a:lumOff val="50000"/>
                                </a:schemeClr>
                              </a:solidFill>
                              <a:latin typeface="Cambria Math" panose="02040503050406030204" pitchFamily="18" charset="0"/>
                            </a:rPr>
                          </m:ctrlPr>
                        </m:dPr>
                        <m:e>
                          <m:r>
                            <a:rPr lang="en-US" b="0" i="1" smtClean="0">
                              <a:solidFill>
                                <a:schemeClr val="tx1">
                                  <a:lumMod val="50000"/>
                                  <a:lumOff val="50000"/>
                                </a:schemeClr>
                              </a:solidFill>
                              <a:latin typeface="Cambria Math" panose="02040503050406030204" pitchFamily="18" charset="0"/>
                            </a:rPr>
                            <m:t>𝑉𝑜𝑐𝑎𝑏</m:t>
                          </m:r>
                        </m:e>
                      </m:d>
                      <m:r>
                        <a:rPr lang="en-US" b="0" i="1" smtClean="0">
                          <a:solidFill>
                            <a:schemeClr val="tx1">
                              <a:lumMod val="50000"/>
                              <a:lumOff val="50000"/>
                            </a:schemeClr>
                          </a:solidFill>
                          <a:latin typeface="Cambria Math" panose="02040503050406030204" pitchFamily="18" charset="0"/>
                        </a:rPr>
                        <m:t>×|</m:t>
                      </m:r>
                      <m:r>
                        <a:rPr lang="en-US" b="0" i="1" smtClean="0">
                          <a:solidFill>
                            <a:schemeClr val="tx1">
                              <a:lumMod val="50000"/>
                              <a:lumOff val="50000"/>
                            </a:schemeClr>
                          </a:solidFill>
                          <a:latin typeface="Cambria Math" panose="02040503050406030204" pitchFamily="18" charset="0"/>
                        </a:rPr>
                        <m:t>𝑉𝑜𝑐𝑎𝑏</m:t>
                      </m:r>
                      <m:r>
                        <a:rPr lang="en-US" b="0" i="1" smtClean="0">
                          <a:solidFill>
                            <a:schemeClr val="tx1">
                              <a:lumMod val="50000"/>
                              <a:lumOff val="50000"/>
                            </a:schemeClr>
                          </a:solidFill>
                          <a:latin typeface="Cambria Math" panose="02040503050406030204" pitchFamily="18" charset="0"/>
                        </a:rPr>
                        <m:t>|</m:t>
                      </m:r>
                    </m:oMath>
                  </m:oMathPara>
                </a14:m>
                <a:endParaRPr lang="en-US" b="0" dirty="0">
                  <a:solidFill>
                    <a:schemeClr val="tx1">
                      <a:lumMod val="50000"/>
                      <a:lumOff val="50000"/>
                    </a:schemeClr>
                  </a:solidFill>
                </a:endParaRPr>
              </a:p>
            </p:txBody>
          </p:sp>
        </mc:Choice>
        <mc:Fallback xmlns="">
          <p:sp>
            <p:nvSpPr>
              <p:cNvPr id="31" name="TextBox 30">
                <a:extLst>
                  <a:ext uri="{FF2B5EF4-FFF2-40B4-BE49-F238E27FC236}">
                    <a16:creationId xmlns:a16="http://schemas.microsoft.com/office/drawing/2014/main" id="{FB2BA83F-6E7F-556C-7CC0-30CF992218EA}"/>
                  </a:ext>
                </a:extLst>
              </p:cNvPr>
              <p:cNvSpPr txBox="1">
                <a:spLocks noRot="1" noChangeAspect="1" noMove="1" noResize="1" noEditPoints="1" noAdjustHandles="1" noChangeArrowheads="1" noChangeShapeType="1" noTextEdit="1"/>
              </p:cNvSpPr>
              <p:nvPr/>
            </p:nvSpPr>
            <p:spPr>
              <a:xfrm>
                <a:off x="6295682" y="4715988"/>
                <a:ext cx="1676210" cy="307777"/>
              </a:xfrm>
              <a:prstGeom prst="rect">
                <a:avLst/>
              </a:prstGeom>
              <a:blipFill>
                <a:blip r:embed="rId15"/>
                <a:stretch>
                  <a:fillRect b="-12000"/>
                </a:stretch>
              </a:blipFill>
            </p:spPr>
            <p:txBody>
              <a:bodyPr/>
              <a:lstStyle/>
              <a:p>
                <a:r>
                  <a:rPr lang="en-US">
                    <a:noFill/>
                  </a:rPr>
                  <a:t> </a:t>
                </a:r>
              </a:p>
            </p:txBody>
          </p:sp>
        </mc:Fallback>
      </mc:AlternateContent>
    </p:spTree>
    <p:extLst>
      <p:ext uri="{BB962C8B-B14F-4D97-AF65-F5344CB8AC3E}">
        <p14:creationId xmlns:p14="http://schemas.microsoft.com/office/powerpoint/2010/main" val="193270049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D83141-963B-B78A-39C4-77E03EA31EE2}"/>
              </a:ext>
            </a:extLst>
          </p:cNvPr>
          <p:cNvSpPr>
            <a:spLocks noGrp="1"/>
          </p:cNvSpPr>
          <p:nvPr>
            <p:ph type="title"/>
          </p:nvPr>
        </p:nvSpPr>
        <p:spPr/>
        <p:txBody>
          <a:bodyPr>
            <a:normAutofit fontScale="90000"/>
          </a:bodyPr>
          <a:lstStyle/>
          <a:p>
            <a:r>
              <a:rPr lang="en-US" dirty="0"/>
              <a:t>Matrix Factorization</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1C71FD21-467C-79B9-1583-3C6C2C0E1569}"/>
                  </a:ext>
                </a:extLst>
              </p:cNvPr>
              <p:cNvSpPr>
                <a:spLocks noGrp="1"/>
              </p:cNvSpPr>
              <p:nvPr>
                <p:ph type="body" idx="1"/>
              </p:nvPr>
            </p:nvSpPr>
            <p:spPr>
              <a:xfrm>
                <a:off x="174567" y="1017726"/>
                <a:ext cx="8846591" cy="3920034"/>
              </a:xfrm>
            </p:spPr>
            <p:txBody>
              <a:bodyPr>
                <a:normAutofit/>
              </a:bodyPr>
              <a:lstStyle/>
              <a:p>
                <a:r>
                  <a:rPr lang="en-US" dirty="0"/>
                  <a:t>Skipgram can thus be seen as </a:t>
                </a:r>
                <a:r>
                  <a:rPr lang="en-US" b="1" dirty="0"/>
                  <a:t>implicit matrix factorization</a:t>
                </a:r>
                <a:r>
                  <a:rPr lang="en-US" dirty="0"/>
                  <a:t>: </a:t>
                </a:r>
              </a:p>
              <a:p>
                <a:r>
                  <a:rPr lang="en-US" dirty="0"/>
                  <a:t>Given a log-co-occurrence matrix </a:t>
                </a:r>
                <a14:m>
                  <m:oMath xmlns:m="http://schemas.openxmlformats.org/officeDocument/2006/math">
                    <m:r>
                      <a:rPr lang="en-US" b="0" i="1" smtClean="0">
                        <a:latin typeface="Cambria Math" panose="02040503050406030204" pitchFamily="18" charset="0"/>
                      </a:rPr>
                      <m:t>𝑀</m:t>
                    </m:r>
                  </m:oMath>
                </a14:m>
                <a:r>
                  <a:rPr lang="en-US" dirty="0"/>
                  <a:t>, find lower-rank </a:t>
                </a:r>
                <a14:m>
                  <m:oMath xmlns:m="http://schemas.openxmlformats.org/officeDocument/2006/math">
                    <m:r>
                      <a:rPr lang="en-US" b="0" i="1" smtClean="0">
                        <a:latin typeface="Cambria Math" panose="02040503050406030204" pitchFamily="18" charset="0"/>
                      </a:rPr>
                      <m:t>𝑈</m:t>
                    </m:r>
                    <m:r>
                      <a:rPr lang="en-US" b="0" i="1" smtClean="0">
                        <a:latin typeface="Cambria Math" panose="02040503050406030204" pitchFamily="18" charset="0"/>
                      </a:rPr>
                      <m:t>,</m:t>
                    </m:r>
                    <m:r>
                      <a:rPr lang="en-US" b="0" i="1" smtClean="0">
                        <a:latin typeface="Cambria Math" panose="02040503050406030204" pitchFamily="18" charset="0"/>
                      </a:rPr>
                      <m:t>𝑉</m:t>
                    </m:r>
                  </m:oMath>
                </a14:m>
                <a:r>
                  <a:rPr lang="en-US" dirty="0"/>
                  <a:t> matrices such that</a:t>
                </a:r>
              </a:p>
              <a:p>
                <a:endParaRPr lang="en-US" dirty="0"/>
              </a:p>
              <a:p>
                <a:endParaRPr lang="en-US" dirty="0"/>
              </a:p>
              <a:p>
                <a:endParaRPr lang="en-US" dirty="0"/>
              </a:p>
              <a:p>
                <a:endParaRPr lang="en-US" dirty="0"/>
              </a:p>
            </p:txBody>
          </p:sp>
        </mc:Choice>
        <mc:Fallback xmlns="">
          <p:sp>
            <p:nvSpPr>
              <p:cNvPr id="3" name="Text Placeholder 2">
                <a:extLst>
                  <a:ext uri="{FF2B5EF4-FFF2-40B4-BE49-F238E27FC236}">
                    <a16:creationId xmlns:a16="http://schemas.microsoft.com/office/drawing/2014/main" id="{1C71FD21-467C-79B9-1583-3C6C2C0E1569}"/>
                  </a:ext>
                </a:extLst>
              </p:cNvPr>
              <p:cNvSpPr>
                <a:spLocks noGrp="1" noRot="1" noChangeAspect="1" noMove="1" noResize="1" noEditPoints="1" noAdjustHandles="1" noChangeArrowheads="1" noChangeShapeType="1" noTextEdit="1"/>
              </p:cNvSpPr>
              <p:nvPr>
                <p:ph type="body" idx="1"/>
              </p:nvPr>
            </p:nvSpPr>
            <p:spPr>
              <a:xfrm>
                <a:off x="174567" y="1017726"/>
                <a:ext cx="8846591" cy="3920034"/>
              </a:xfrm>
              <a:blipFill>
                <a:blip r:embed="rId2"/>
                <a:stretch>
                  <a:fillRect/>
                </a:stretch>
              </a:blipFill>
            </p:spPr>
            <p:txBody>
              <a:bodyPr/>
              <a:lstStyle/>
              <a:p>
                <a:r>
                  <a:rPr lang="en-US">
                    <a:noFill/>
                  </a:rPr>
                  <a:t> </a:t>
                </a:r>
              </a:p>
            </p:txBody>
          </p:sp>
        </mc:Fallback>
      </mc:AlternateContent>
      <p:sp>
        <p:nvSpPr>
          <p:cNvPr id="5" name="Rectangle 4">
            <a:extLst>
              <a:ext uri="{FF2B5EF4-FFF2-40B4-BE49-F238E27FC236}">
                <a16:creationId xmlns:a16="http://schemas.microsoft.com/office/drawing/2014/main" id="{5FA12938-7E46-FFAC-8598-5B868F581726}"/>
              </a:ext>
            </a:extLst>
          </p:cNvPr>
          <p:cNvSpPr/>
          <p:nvPr/>
        </p:nvSpPr>
        <p:spPr>
          <a:xfrm rot="5400000">
            <a:off x="1471300" y="2482147"/>
            <a:ext cx="1421477" cy="698269"/>
          </a:xfrm>
          <a:prstGeom prst="rect">
            <a:avLst/>
          </a:prstGeom>
          <a:solidFill>
            <a:schemeClr val="bg1">
              <a:lumMod val="85000"/>
            </a:schemeClr>
          </a:solidFill>
          <a:ln>
            <a:solidFill>
              <a:schemeClr val="accent5"/>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p>
        </p:txBody>
      </p:sp>
      <p:sp>
        <p:nvSpPr>
          <p:cNvPr id="6" name="Rectangle 5">
            <a:extLst>
              <a:ext uri="{FF2B5EF4-FFF2-40B4-BE49-F238E27FC236}">
                <a16:creationId xmlns:a16="http://schemas.microsoft.com/office/drawing/2014/main" id="{402AC3D9-0B6F-8929-5440-9604EEE51731}"/>
              </a:ext>
            </a:extLst>
          </p:cNvPr>
          <p:cNvSpPr/>
          <p:nvPr/>
        </p:nvSpPr>
        <p:spPr>
          <a:xfrm>
            <a:off x="2710833" y="2064674"/>
            <a:ext cx="1421477" cy="698269"/>
          </a:xfrm>
          <a:prstGeom prst="rect">
            <a:avLst/>
          </a:prstGeom>
          <a:solidFill>
            <a:schemeClr val="bg1">
              <a:lumMod val="85000"/>
            </a:schemeClr>
          </a:solidFill>
          <a:ln>
            <a:solidFill>
              <a:schemeClr val="accent5"/>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96D7C757-497D-1F5B-E0CC-66F729D45719}"/>
                  </a:ext>
                </a:extLst>
              </p:cNvPr>
              <p:cNvSpPr txBox="1"/>
              <p:nvPr/>
            </p:nvSpPr>
            <p:spPr>
              <a:xfrm>
                <a:off x="1990383" y="2585059"/>
                <a:ext cx="383310" cy="49244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3200" b="0" i="1" smtClean="0">
                          <a:solidFill>
                            <a:schemeClr val="accent5"/>
                          </a:solidFill>
                          <a:latin typeface="Cambria Math" panose="02040503050406030204" pitchFamily="18" charset="0"/>
                        </a:rPr>
                        <m:t>𝑉</m:t>
                      </m:r>
                    </m:oMath>
                  </m:oMathPara>
                </a14:m>
                <a:endParaRPr lang="en-US" sz="3200" dirty="0">
                  <a:solidFill>
                    <a:schemeClr val="accent5"/>
                  </a:solidFill>
                </a:endParaRPr>
              </a:p>
            </p:txBody>
          </p:sp>
        </mc:Choice>
        <mc:Fallback xmlns="">
          <p:sp>
            <p:nvSpPr>
              <p:cNvPr id="7" name="TextBox 6">
                <a:extLst>
                  <a:ext uri="{FF2B5EF4-FFF2-40B4-BE49-F238E27FC236}">
                    <a16:creationId xmlns:a16="http://schemas.microsoft.com/office/drawing/2014/main" id="{96D7C757-497D-1F5B-E0CC-66F729D45719}"/>
                  </a:ext>
                </a:extLst>
              </p:cNvPr>
              <p:cNvSpPr txBox="1">
                <a:spLocks noRot="1" noChangeAspect="1" noMove="1" noResize="1" noEditPoints="1" noAdjustHandles="1" noChangeArrowheads="1" noChangeShapeType="1" noTextEdit="1"/>
              </p:cNvSpPr>
              <p:nvPr/>
            </p:nvSpPr>
            <p:spPr>
              <a:xfrm>
                <a:off x="1990383" y="2585059"/>
                <a:ext cx="383310" cy="492443"/>
              </a:xfrm>
              <a:prstGeom prst="rect">
                <a:avLst/>
              </a:prstGeom>
              <a:blipFill>
                <a:blip r:embed="rId3"/>
                <a:stretch>
                  <a:fillRect l="-19355" r="-16129" b="-75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4C2B0B29-789F-E11C-A508-033A0D1F084A}"/>
                  </a:ext>
                </a:extLst>
              </p:cNvPr>
              <p:cNvSpPr txBox="1"/>
              <p:nvPr/>
            </p:nvSpPr>
            <p:spPr>
              <a:xfrm>
                <a:off x="3176211" y="2167587"/>
                <a:ext cx="403957" cy="492443"/>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3200" b="0" i="1" smtClean="0">
                          <a:solidFill>
                            <a:schemeClr val="accent5"/>
                          </a:solidFill>
                          <a:latin typeface="Cambria Math" panose="02040503050406030204" pitchFamily="18" charset="0"/>
                        </a:rPr>
                        <m:t>𝑈</m:t>
                      </m:r>
                    </m:oMath>
                  </m:oMathPara>
                </a14:m>
                <a:endParaRPr lang="en-US" sz="3200" dirty="0">
                  <a:solidFill>
                    <a:schemeClr val="accent5"/>
                  </a:solidFill>
                </a:endParaRPr>
              </a:p>
            </p:txBody>
          </p:sp>
        </mc:Choice>
        <mc:Fallback xmlns="">
          <p:sp>
            <p:nvSpPr>
              <p:cNvPr id="8" name="TextBox 7">
                <a:extLst>
                  <a:ext uri="{FF2B5EF4-FFF2-40B4-BE49-F238E27FC236}">
                    <a16:creationId xmlns:a16="http://schemas.microsoft.com/office/drawing/2014/main" id="{4C2B0B29-789F-E11C-A508-033A0D1F084A}"/>
                  </a:ext>
                </a:extLst>
              </p:cNvPr>
              <p:cNvSpPr txBox="1">
                <a:spLocks noRot="1" noChangeAspect="1" noMove="1" noResize="1" noEditPoints="1" noAdjustHandles="1" noChangeArrowheads="1" noChangeShapeType="1" noTextEdit="1"/>
              </p:cNvSpPr>
              <p:nvPr/>
            </p:nvSpPr>
            <p:spPr>
              <a:xfrm>
                <a:off x="3176211" y="2167587"/>
                <a:ext cx="403957" cy="492443"/>
              </a:xfrm>
              <a:prstGeom prst="rect">
                <a:avLst/>
              </a:prstGeom>
              <a:blipFill>
                <a:blip r:embed="rId4"/>
                <a:stretch>
                  <a:fillRect l="-21875" r="-18750" b="-7500"/>
                </a:stretch>
              </a:blipFill>
            </p:spPr>
            <p:txBody>
              <a:bodyPr/>
              <a:lstStyle/>
              <a:p>
                <a:r>
                  <a:rPr lang="en-US">
                    <a:noFill/>
                  </a:rPr>
                  <a:t> </a:t>
                </a:r>
              </a:p>
            </p:txBody>
          </p:sp>
        </mc:Fallback>
      </mc:AlternateContent>
      <p:sp>
        <p:nvSpPr>
          <p:cNvPr id="9" name="Rectangle 8">
            <a:extLst>
              <a:ext uri="{FF2B5EF4-FFF2-40B4-BE49-F238E27FC236}">
                <a16:creationId xmlns:a16="http://schemas.microsoft.com/office/drawing/2014/main" id="{729B4DD8-014A-5E04-22B6-ECC51B19E117}"/>
              </a:ext>
            </a:extLst>
          </p:cNvPr>
          <p:cNvSpPr/>
          <p:nvPr/>
        </p:nvSpPr>
        <p:spPr>
          <a:xfrm rot="5400000">
            <a:off x="4939150" y="2120544"/>
            <a:ext cx="1421477" cy="1421475"/>
          </a:xfrm>
          <a:prstGeom prst="rect">
            <a:avLst/>
          </a:prstGeom>
          <a:solidFill>
            <a:schemeClr val="bg1">
              <a:lumMod val="85000"/>
            </a:schemeClr>
          </a:solidFill>
          <a:ln>
            <a:solidFill>
              <a:schemeClr val="tx1">
                <a:lumMod val="65000"/>
                <a:lumOff val="35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2B813CE0-971C-2C7D-C93D-B6FC210070DB}"/>
                  </a:ext>
                </a:extLst>
              </p:cNvPr>
              <p:cNvSpPr txBox="1"/>
              <p:nvPr/>
            </p:nvSpPr>
            <p:spPr>
              <a:xfrm>
                <a:off x="4185567" y="2513859"/>
                <a:ext cx="533699" cy="73866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4200" b="0" i="1" smtClean="0">
                          <a:solidFill>
                            <a:srgbClr val="C00000"/>
                          </a:solidFill>
                          <a:latin typeface="Cambria Math" panose="02040503050406030204" pitchFamily="18" charset="0"/>
                        </a:rPr>
                        <m:t>≈</m:t>
                      </m:r>
                    </m:oMath>
                  </m:oMathPara>
                </a14:m>
                <a:endParaRPr lang="en-US" sz="4200" dirty="0"/>
              </a:p>
            </p:txBody>
          </p:sp>
        </mc:Choice>
        <mc:Fallback xmlns="">
          <p:sp>
            <p:nvSpPr>
              <p:cNvPr id="10" name="TextBox 9">
                <a:extLst>
                  <a:ext uri="{FF2B5EF4-FFF2-40B4-BE49-F238E27FC236}">
                    <a16:creationId xmlns:a16="http://schemas.microsoft.com/office/drawing/2014/main" id="{2B813CE0-971C-2C7D-C93D-B6FC210070DB}"/>
                  </a:ext>
                </a:extLst>
              </p:cNvPr>
              <p:cNvSpPr txBox="1">
                <a:spLocks noRot="1" noChangeAspect="1" noMove="1" noResize="1" noEditPoints="1" noAdjustHandles="1" noChangeArrowheads="1" noChangeShapeType="1" noTextEdit="1"/>
              </p:cNvSpPr>
              <p:nvPr/>
            </p:nvSpPr>
            <p:spPr>
              <a:xfrm>
                <a:off x="4185567" y="2513859"/>
                <a:ext cx="533699" cy="738664"/>
              </a:xfrm>
              <a:prstGeom prst="rect">
                <a:avLst/>
              </a:prstGeom>
              <a:blipFill>
                <a:blip r:embed="rId5"/>
                <a:stretch>
                  <a:fillRect l="-6977" r="-1395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4E260CB2-9718-DBE9-005E-189FB30ED20A}"/>
                  </a:ext>
                </a:extLst>
              </p:cNvPr>
              <p:cNvSpPr txBox="1"/>
              <p:nvPr/>
            </p:nvSpPr>
            <p:spPr>
              <a:xfrm>
                <a:off x="5447909" y="2585058"/>
                <a:ext cx="403957" cy="492443"/>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3200" b="0" i="1" smtClean="0">
                          <a:solidFill>
                            <a:schemeClr val="tx1">
                              <a:lumMod val="65000"/>
                              <a:lumOff val="35000"/>
                            </a:schemeClr>
                          </a:solidFill>
                          <a:latin typeface="Cambria Math" panose="02040503050406030204" pitchFamily="18" charset="0"/>
                        </a:rPr>
                        <m:t>𝑀</m:t>
                      </m:r>
                    </m:oMath>
                  </m:oMathPara>
                </a14:m>
                <a:endParaRPr lang="en-US" sz="3200" dirty="0">
                  <a:solidFill>
                    <a:schemeClr val="tx1">
                      <a:lumMod val="65000"/>
                      <a:lumOff val="35000"/>
                    </a:schemeClr>
                  </a:solidFill>
                </a:endParaRPr>
              </a:p>
            </p:txBody>
          </p:sp>
        </mc:Choice>
        <mc:Fallback xmlns="">
          <p:sp>
            <p:nvSpPr>
              <p:cNvPr id="11" name="TextBox 10">
                <a:extLst>
                  <a:ext uri="{FF2B5EF4-FFF2-40B4-BE49-F238E27FC236}">
                    <a16:creationId xmlns:a16="http://schemas.microsoft.com/office/drawing/2014/main" id="{4E260CB2-9718-DBE9-005E-189FB30ED20A}"/>
                  </a:ext>
                </a:extLst>
              </p:cNvPr>
              <p:cNvSpPr txBox="1">
                <a:spLocks noRot="1" noChangeAspect="1" noMove="1" noResize="1" noEditPoints="1" noAdjustHandles="1" noChangeArrowheads="1" noChangeShapeType="1" noTextEdit="1"/>
              </p:cNvSpPr>
              <p:nvPr/>
            </p:nvSpPr>
            <p:spPr>
              <a:xfrm>
                <a:off x="5447909" y="2585058"/>
                <a:ext cx="403957" cy="492443"/>
              </a:xfrm>
              <a:prstGeom prst="rect">
                <a:avLst/>
              </a:prstGeom>
              <a:blipFill>
                <a:blip r:embed="rId6"/>
                <a:stretch>
                  <a:fillRect l="-28125" r="-25000" b="-7500"/>
                </a:stretch>
              </a:blipFill>
            </p:spPr>
            <p:txBody>
              <a:bodyPr/>
              <a:lstStyle/>
              <a:p>
                <a:r>
                  <a:rPr lang="en-US">
                    <a:noFill/>
                  </a:rPr>
                  <a:t> </a:t>
                </a:r>
              </a:p>
            </p:txBody>
          </p:sp>
        </mc:Fallback>
      </mc:AlternateContent>
    </p:spTree>
    <p:extLst>
      <p:ext uri="{BB962C8B-B14F-4D97-AF65-F5344CB8AC3E}">
        <p14:creationId xmlns:p14="http://schemas.microsoft.com/office/powerpoint/2010/main" val="277713455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B207B3-81FF-7AB5-166C-C4B1DA393D8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100DF07-69CA-94CD-CBB2-DC33046D53D1}"/>
              </a:ext>
            </a:extLst>
          </p:cNvPr>
          <p:cNvSpPr>
            <a:spLocks noGrp="1"/>
          </p:cNvSpPr>
          <p:nvPr>
            <p:ph type="title"/>
          </p:nvPr>
        </p:nvSpPr>
        <p:spPr/>
        <p:txBody>
          <a:bodyPr>
            <a:normAutofit fontScale="90000"/>
          </a:bodyPr>
          <a:lstStyle/>
          <a:p>
            <a:r>
              <a:rPr lang="en-US" dirty="0"/>
              <a:t>Matrix Factorization</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6DEAAB1A-D03E-35FA-6C17-A31B7A3A2BEA}"/>
                  </a:ext>
                </a:extLst>
              </p:cNvPr>
              <p:cNvSpPr>
                <a:spLocks noGrp="1"/>
              </p:cNvSpPr>
              <p:nvPr>
                <p:ph type="body" idx="1"/>
              </p:nvPr>
            </p:nvSpPr>
            <p:spPr>
              <a:xfrm>
                <a:off x="174567" y="1017726"/>
                <a:ext cx="8846591" cy="3920034"/>
              </a:xfrm>
            </p:spPr>
            <p:txBody>
              <a:bodyPr>
                <a:normAutofit/>
              </a:bodyPr>
              <a:lstStyle/>
              <a:p>
                <a:r>
                  <a:rPr lang="en-US" dirty="0"/>
                  <a:t>Skipgram can thus be seen as </a:t>
                </a:r>
                <a:r>
                  <a:rPr lang="en-US" b="1" dirty="0"/>
                  <a:t>implicit matrix factorization</a:t>
                </a:r>
                <a:r>
                  <a:rPr lang="en-US" dirty="0"/>
                  <a:t>: </a:t>
                </a:r>
              </a:p>
              <a:p>
                <a:r>
                  <a:rPr lang="en-US" dirty="0"/>
                  <a:t>Given a log-co-occurrence matrix </a:t>
                </a:r>
                <a14:m>
                  <m:oMath xmlns:m="http://schemas.openxmlformats.org/officeDocument/2006/math">
                    <m:r>
                      <a:rPr lang="en-US" b="0" i="1" smtClean="0">
                        <a:latin typeface="Cambria Math" panose="02040503050406030204" pitchFamily="18" charset="0"/>
                      </a:rPr>
                      <m:t>𝑀</m:t>
                    </m:r>
                  </m:oMath>
                </a14:m>
                <a:r>
                  <a:rPr lang="en-US" dirty="0"/>
                  <a:t>, find lower-rank </a:t>
                </a:r>
                <a14:m>
                  <m:oMath xmlns:m="http://schemas.openxmlformats.org/officeDocument/2006/math">
                    <m:r>
                      <a:rPr lang="en-US" b="0" i="1" smtClean="0">
                        <a:latin typeface="Cambria Math" panose="02040503050406030204" pitchFamily="18" charset="0"/>
                      </a:rPr>
                      <m:t>𝑈</m:t>
                    </m:r>
                    <m:r>
                      <a:rPr lang="en-US" b="0" i="1" smtClean="0">
                        <a:latin typeface="Cambria Math" panose="02040503050406030204" pitchFamily="18" charset="0"/>
                      </a:rPr>
                      <m:t>,</m:t>
                    </m:r>
                    <m:r>
                      <a:rPr lang="en-US" b="0" i="1" smtClean="0">
                        <a:latin typeface="Cambria Math" panose="02040503050406030204" pitchFamily="18" charset="0"/>
                      </a:rPr>
                      <m:t>𝑉</m:t>
                    </m:r>
                  </m:oMath>
                </a14:m>
                <a:r>
                  <a:rPr lang="en-US" dirty="0"/>
                  <a:t> matrices such that</a:t>
                </a:r>
              </a:p>
              <a:p>
                <a:endParaRPr lang="en-US" dirty="0"/>
              </a:p>
              <a:p>
                <a:endParaRPr lang="en-US" dirty="0"/>
              </a:p>
              <a:p>
                <a:endParaRPr lang="en-US" dirty="0"/>
              </a:p>
              <a:p>
                <a:endParaRPr lang="en-US" dirty="0"/>
              </a:p>
              <a:p>
                <a:r>
                  <a:rPr lang="en-US" dirty="0"/>
                  <a:t>Question: what matrix does </a:t>
                </a:r>
                <a:r>
                  <a:rPr lang="en-US" dirty="0" err="1"/>
                  <a:t>Skipgram</a:t>
                </a:r>
                <a:r>
                  <a:rPr lang="en-US" dirty="0"/>
                  <a:t> with negative sampling implicitly factorize?</a:t>
                </a:r>
              </a:p>
              <a:p>
                <a:pPr lvl="1"/>
                <a:endParaRPr lang="en-US" sz="1400" dirty="0">
                  <a:solidFill>
                    <a:schemeClr val="accent1">
                      <a:lumMod val="50000"/>
                    </a:schemeClr>
                  </a:solidFill>
                </a:endParaRPr>
              </a:p>
            </p:txBody>
          </p:sp>
        </mc:Choice>
        <mc:Fallback xmlns="">
          <p:sp>
            <p:nvSpPr>
              <p:cNvPr id="3" name="Text Placeholder 2">
                <a:extLst>
                  <a:ext uri="{FF2B5EF4-FFF2-40B4-BE49-F238E27FC236}">
                    <a16:creationId xmlns:a16="http://schemas.microsoft.com/office/drawing/2014/main" id="{6DEAAB1A-D03E-35FA-6C17-A31B7A3A2BEA}"/>
                  </a:ext>
                </a:extLst>
              </p:cNvPr>
              <p:cNvSpPr>
                <a:spLocks noGrp="1" noRot="1" noChangeAspect="1" noMove="1" noResize="1" noEditPoints="1" noAdjustHandles="1" noChangeArrowheads="1" noChangeShapeType="1" noTextEdit="1"/>
              </p:cNvSpPr>
              <p:nvPr>
                <p:ph type="body" idx="1"/>
              </p:nvPr>
            </p:nvSpPr>
            <p:spPr>
              <a:xfrm>
                <a:off x="174567" y="1017726"/>
                <a:ext cx="8846591" cy="3920034"/>
              </a:xfrm>
              <a:blipFill>
                <a:blip r:embed="rId2"/>
                <a:stretch>
                  <a:fillRect/>
                </a:stretch>
              </a:blipFill>
            </p:spPr>
            <p:txBody>
              <a:bodyPr/>
              <a:lstStyle/>
              <a:p>
                <a:r>
                  <a:rPr lang="en-US">
                    <a:noFill/>
                  </a:rPr>
                  <a:t> </a:t>
                </a:r>
              </a:p>
            </p:txBody>
          </p:sp>
        </mc:Fallback>
      </mc:AlternateContent>
      <p:sp>
        <p:nvSpPr>
          <p:cNvPr id="5" name="Rectangle 4">
            <a:extLst>
              <a:ext uri="{FF2B5EF4-FFF2-40B4-BE49-F238E27FC236}">
                <a16:creationId xmlns:a16="http://schemas.microsoft.com/office/drawing/2014/main" id="{77C423C9-F8D7-3562-E66D-80AB0806AEA3}"/>
              </a:ext>
            </a:extLst>
          </p:cNvPr>
          <p:cNvSpPr/>
          <p:nvPr/>
        </p:nvSpPr>
        <p:spPr>
          <a:xfrm rot="5400000">
            <a:off x="1471300" y="2482147"/>
            <a:ext cx="1421477" cy="698269"/>
          </a:xfrm>
          <a:prstGeom prst="rect">
            <a:avLst/>
          </a:prstGeom>
          <a:solidFill>
            <a:schemeClr val="bg1">
              <a:lumMod val="85000"/>
            </a:schemeClr>
          </a:solidFill>
          <a:ln>
            <a:solidFill>
              <a:schemeClr val="accent5"/>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p>
        </p:txBody>
      </p:sp>
      <p:sp>
        <p:nvSpPr>
          <p:cNvPr id="6" name="Rectangle 5">
            <a:extLst>
              <a:ext uri="{FF2B5EF4-FFF2-40B4-BE49-F238E27FC236}">
                <a16:creationId xmlns:a16="http://schemas.microsoft.com/office/drawing/2014/main" id="{91C3F8F3-C584-CB32-F59F-F56E14F372EE}"/>
              </a:ext>
            </a:extLst>
          </p:cNvPr>
          <p:cNvSpPr/>
          <p:nvPr/>
        </p:nvSpPr>
        <p:spPr>
          <a:xfrm>
            <a:off x="2710833" y="2064674"/>
            <a:ext cx="1421477" cy="698269"/>
          </a:xfrm>
          <a:prstGeom prst="rect">
            <a:avLst/>
          </a:prstGeom>
          <a:solidFill>
            <a:schemeClr val="bg1">
              <a:lumMod val="85000"/>
            </a:schemeClr>
          </a:solidFill>
          <a:ln>
            <a:solidFill>
              <a:schemeClr val="accent5"/>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81232063-5C67-8118-2FDF-59416188CD99}"/>
                  </a:ext>
                </a:extLst>
              </p:cNvPr>
              <p:cNvSpPr txBox="1"/>
              <p:nvPr/>
            </p:nvSpPr>
            <p:spPr>
              <a:xfrm>
                <a:off x="1990383" y="2585059"/>
                <a:ext cx="383310" cy="49244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3200" b="0" i="1" smtClean="0">
                          <a:solidFill>
                            <a:schemeClr val="accent5"/>
                          </a:solidFill>
                          <a:latin typeface="Cambria Math" panose="02040503050406030204" pitchFamily="18" charset="0"/>
                        </a:rPr>
                        <m:t>𝑉</m:t>
                      </m:r>
                    </m:oMath>
                  </m:oMathPara>
                </a14:m>
                <a:endParaRPr lang="en-US" sz="3200" dirty="0">
                  <a:solidFill>
                    <a:schemeClr val="accent5"/>
                  </a:solidFill>
                </a:endParaRPr>
              </a:p>
            </p:txBody>
          </p:sp>
        </mc:Choice>
        <mc:Fallback xmlns="">
          <p:sp>
            <p:nvSpPr>
              <p:cNvPr id="7" name="TextBox 6">
                <a:extLst>
                  <a:ext uri="{FF2B5EF4-FFF2-40B4-BE49-F238E27FC236}">
                    <a16:creationId xmlns:a16="http://schemas.microsoft.com/office/drawing/2014/main" id="{81232063-5C67-8118-2FDF-59416188CD99}"/>
                  </a:ext>
                </a:extLst>
              </p:cNvPr>
              <p:cNvSpPr txBox="1">
                <a:spLocks noRot="1" noChangeAspect="1" noMove="1" noResize="1" noEditPoints="1" noAdjustHandles="1" noChangeArrowheads="1" noChangeShapeType="1" noTextEdit="1"/>
              </p:cNvSpPr>
              <p:nvPr/>
            </p:nvSpPr>
            <p:spPr>
              <a:xfrm>
                <a:off x="1990383" y="2585059"/>
                <a:ext cx="383310" cy="492443"/>
              </a:xfrm>
              <a:prstGeom prst="rect">
                <a:avLst/>
              </a:prstGeom>
              <a:blipFill>
                <a:blip r:embed="rId3"/>
                <a:stretch>
                  <a:fillRect l="-19355" r="-16129" b="-75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3ECA164A-8E56-BDFF-D302-4664A1C88DCF}"/>
                  </a:ext>
                </a:extLst>
              </p:cNvPr>
              <p:cNvSpPr txBox="1"/>
              <p:nvPr/>
            </p:nvSpPr>
            <p:spPr>
              <a:xfrm>
                <a:off x="3176211" y="2167587"/>
                <a:ext cx="403957" cy="492443"/>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3200" b="0" i="1" smtClean="0">
                          <a:solidFill>
                            <a:schemeClr val="accent5"/>
                          </a:solidFill>
                          <a:latin typeface="Cambria Math" panose="02040503050406030204" pitchFamily="18" charset="0"/>
                        </a:rPr>
                        <m:t>𝑈</m:t>
                      </m:r>
                    </m:oMath>
                  </m:oMathPara>
                </a14:m>
                <a:endParaRPr lang="en-US" sz="3200" dirty="0">
                  <a:solidFill>
                    <a:schemeClr val="accent5"/>
                  </a:solidFill>
                </a:endParaRPr>
              </a:p>
            </p:txBody>
          </p:sp>
        </mc:Choice>
        <mc:Fallback xmlns="">
          <p:sp>
            <p:nvSpPr>
              <p:cNvPr id="8" name="TextBox 7">
                <a:extLst>
                  <a:ext uri="{FF2B5EF4-FFF2-40B4-BE49-F238E27FC236}">
                    <a16:creationId xmlns:a16="http://schemas.microsoft.com/office/drawing/2014/main" id="{3ECA164A-8E56-BDFF-D302-4664A1C88DCF}"/>
                  </a:ext>
                </a:extLst>
              </p:cNvPr>
              <p:cNvSpPr txBox="1">
                <a:spLocks noRot="1" noChangeAspect="1" noMove="1" noResize="1" noEditPoints="1" noAdjustHandles="1" noChangeArrowheads="1" noChangeShapeType="1" noTextEdit="1"/>
              </p:cNvSpPr>
              <p:nvPr/>
            </p:nvSpPr>
            <p:spPr>
              <a:xfrm>
                <a:off x="3176211" y="2167587"/>
                <a:ext cx="403957" cy="492443"/>
              </a:xfrm>
              <a:prstGeom prst="rect">
                <a:avLst/>
              </a:prstGeom>
              <a:blipFill>
                <a:blip r:embed="rId4"/>
                <a:stretch>
                  <a:fillRect l="-21875" r="-18750" b="-7500"/>
                </a:stretch>
              </a:blipFill>
            </p:spPr>
            <p:txBody>
              <a:bodyPr/>
              <a:lstStyle/>
              <a:p>
                <a:r>
                  <a:rPr lang="en-US">
                    <a:noFill/>
                  </a:rPr>
                  <a:t> </a:t>
                </a:r>
              </a:p>
            </p:txBody>
          </p:sp>
        </mc:Fallback>
      </mc:AlternateContent>
      <p:sp>
        <p:nvSpPr>
          <p:cNvPr id="9" name="Rectangle 8">
            <a:extLst>
              <a:ext uri="{FF2B5EF4-FFF2-40B4-BE49-F238E27FC236}">
                <a16:creationId xmlns:a16="http://schemas.microsoft.com/office/drawing/2014/main" id="{6834D0A7-DE9E-764F-2771-58D3D982CC70}"/>
              </a:ext>
            </a:extLst>
          </p:cNvPr>
          <p:cNvSpPr/>
          <p:nvPr/>
        </p:nvSpPr>
        <p:spPr>
          <a:xfrm rot="5400000">
            <a:off x="4939150" y="2120544"/>
            <a:ext cx="1421477" cy="1421475"/>
          </a:xfrm>
          <a:prstGeom prst="rect">
            <a:avLst/>
          </a:prstGeom>
          <a:solidFill>
            <a:schemeClr val="bg1">
              <a:lumMod val="85000"/>
            </a:schemeClr>
          </a:solidFill>
          <a:ln>
            <a:solidFill>
              <a:schemeClr val="tx1">
                <a:lumMod val="65000"/>
                <a:lumOff val="35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86468F35-1D7B-AA8A-1785-B55D814BA6AA}"/>
                  </a:ext>
                </a:extLst>
              </p:cNvPr>
              <p:cNvSpPr txBox="1"/>
              <p:nvPr/>
            </p:nvSpPr>
            <p:spPr>
              <a:xfrm>
                <a:off x="4185567" y="2513859"/>
                <a:ext cx="533699" cy="73866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4200" b="0" i="1" smtClean="0">
                          <a:solidFill>
                            <a:srgbClr val="C00000"/>
                          </a:solidFill>
                          <a:latin typeface="Cambria Math" panose="02040503050406030204" pitchFamily="18" charset="0"/>
                        </a:rPr>
                        <m:t>≈</m:t>
                      </m:r>
                    </m:oMath>
                  </m:oMathPara>
                </a14:m>
                <a:endParaRPr lang="en-US" sz="4200" dirty="0"/>
              </a:p>
            </p:txBody>
          </p:sp>
        </mc:Choice>
        <mc:Fallback xmlns="">
          <p:sp>
            <p:nvSpPr>
              <p:cNvPr id="10" name="TextBox 9">
                <a:extLst>
                  <a:ext uri="{FF2B5EF4-FFF2-40B4-BE49-F238E27FC236}">
                    <a16:creationId xmlns:a16="http://schemas.microsoft.com/office/drawing/2014/main" id="{86468F35-1D7B-AA8A-1785-B55D814BA6AA}"/>
                  </a:ext>
                </a:extLst>
              </p:cNvPr>
              <p:cNvSpPr txBox="1">
                <a:spLocks noRot="1" noChangeAspect="1" noMove="1" noResize="1" noEditPoints="1" noAdjustHandles="1" noChangeArrowheads="1" noChangeShapeType="1" noTextEdit="1"/>
              </p:cNvSpPr>
              <p:nvPr/>
            </p:nvSpPr>
            <p:spPr>
              <a:xfrm>
                <a:off x="4185567" y="2513859"/>
                <a:ext cx="533699" cy="738664"/>
              </a:xfrm>
              <a:prstGeom prst="rect">
                <a:avLst/>
              </a:prstGeom>
              <a:blipFill>
                <a:blip r:embed="rId5"/>
                <a:stretch>
                  <a:fillRect l="-6977" r="-1395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313965FE-E27D-D284-8E49-CF6B01D05B78}"/>
                  </a:ext>
                </a:extLst>
              </p:cNvPr>
              <p:cNvSpPr txBox="1"/>
              <p:nvPr/>
            </p:nvSpPr>
            <p:spPr>
              <a:xfrm>
                <a:off x="5447909" y="2585058"/>
                <a:ext cx="403957" cy="492443"/>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3200" b="0" i="1" smtClean="0">
                          <a:solidFill>
                            <a:schemeClr val="tx1">
                              <a:lumMod val="65000"/>
                              <a:lumOff val="35000"/>
                            </a:schemeClr>
                          </a:solidFill>
                          <a:latin typeface="Cambria Math" panose="02040503050406030204" pitchFamily="18" charset="0"/>
                        </a:rPr>
                        <m:t>𝑀</m:t>
                      </m:r>
                    </m:oMath>
                  </m:oMathPara>
                </a14:m>
                <a:endParaRPr lang="en-US" sz="3200" dirty="0">
                  <a:solidFill>
                    <a:schemeClr val="tx1">
                      <a:lumMod val="65000"/>
                      <a:lumOff val="35000"/>
                    </a:schemeClr>
                  </a:solidFill>
                </a:endParaRPr>
              </a:p>
            </p:txBody>
          </p:sp>
        </mc:Choice>
        <mc:Fallback xmlns="">
          <p:sp>
            <p:nvSpPr>
              <p:cNvPr id="11" name="TextBox 10">
                <a:extLst>
                  <a:ext uri="{FF2B5EF4-FFF2-40B4-BE49-F238E27FC236}">
                    <a16:creationId xmlns:a16="http://schemas.microsoft.com/office/drawing/2014/main" id="{313965FE-E27D-D284-8E49-CF6B01D05B78}"/>
                  </a:ext>
                </a:extLst>
              </p:cNvPr>
              <p:cNvSpPr txBox="1">
                <a:spLocks noRot="1" noChangeAspect="1" noMove="1" noResize="1" noEditPoints="1" noAdjustHandles="1" noChangeArrowheads="1" noChangeShapeType="1" noTextEdit="1"/>
              </p:cNvSpPr>
              <p:nvPr/>
            </p:nvSpPr>
            <p:spPr>
              <a:xfrm>
                <a:off x="5447909" y="2585058"/>
                <a:ext cx="403957" cy="492443"/>
              </a:xfrm>
              <a:prstGeom prst="rect">
                <a:avLst/>
              </a:prstGeom>
              <a:blipFill>
                <a:blip r:embed="rId6"/>
                <a:stretch>
                  <a:fillRect l="-28125" r="-25000" b="-7500"/>
                </a:stretch>
              </a:blipFill>
            </p:spPr>
            <p:txBody>
              <a:bodyPr/>
              <a:lstStyle/>
              <a:p>
                <a:r>
                  <a:rPr lang="en-US">
                    <a:noFill/>
                  </a:rPr>
                  <a:t> </a:t>
                </a:r>
              </a:p>
            </p:txBody>
          </p:sp>
        </mc:Fallback>
      </mc:AlternateContent>
    </p:spTree>
    <p:extLst>
      <p:ext uri="{BB962C8B-B14F-4D97-AF65-F5344CB8AC3E}">
        <p14:creationId xmlns:p14="http://schemas.microsoft.com/office/powerpoint/2010/main" val="260212917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DF7444-6681-16D2-CB14-BC4DB566163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3EFA7C8-9648-0A57-FC7B-FD598F7277B4}"/>
              </a:ext>
            </a:extLst>
          </p:cNvPr>
          <p:cNvSpPr>
            <a:spLocks noGrp="1"/>
          </p:cNvSpPr>
          <p:nvPr>
            <p:ph type="title"/>
          </p:nvPr>
        </p:nvSpPr>
        <p:spPr/>
        <p:txBody>
          <a:bodyPr>
            <a:normAutofit fontScale="90000"/>
          </a:bodyPr>
          <a:lstStyle/>
          <a:p>
            <a:r>
              <a:rPr lang="en-US" dirty="0"/>
              <a:t>Matrix Factorization</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4763D31C-6D77-5A02-F7D8-5B6655E47582}"/>
                  </a:ext>
                </a:extLst>
              </p:cNvPr>
              <p:cNvSpPr>
                <a:spLocks noGrp="1"/>
              </p:cNvSpPr>
              <p:nvPr>
                <p:ph type="body" idx="1"/>
              </p:nvPr>
            </p:nvSpPr>
            <p:spPr>
              <a:xfrm>
                <a:off x="174567" y="1017726"/>
                <a:ext cx="8846591" cy="3920034"/>
              </a:xfrm>
            </p:spPr>
            <p:txBody>
              <a:bodyPr>
                <a:normAutofit/>
              </a:bodyPr>
              <a:lstStyle/>
              <a:p>
                <a:r>
                  <a:rPr lang="en-US" dirty="0"/>
                  <a:t>Skipgram can thus be seen as </a:t>
                </a:r>
                <a:r>
                  <a:rPr lang="en-US" b="1" dirty="0"/>
                  <a:t>implicit matrix factorization</a:t>
                </a:r>
                <a:r>
                  <a:rPr lang="en-US" dirty="0"/>
                  <a:t>: </a:t>
                </a:r>
              </a:p>
              <a:p>
                <a:r>
                  <a:rPr lang="en-US" dirty="0"/>
                  <a:t>Given a log-co-occurrence matrix </a:t>
                </a:r>
                <a14:m>
                  <m:oMath xmlns:m="http://schemas.openxmlformats.org/officeDocument/2006/math">
                    <m:r>
                      <a:rPr lang="en-US" b="0" i="1" smtClean="0">
                        <a:latin typeface="Cambria Math" panose="02040503050406030204" pitchFamily="18" charset="0"/>
                      </a:rPr>
                      <m:t>𝑀</m:t>
                    </m:r>
                  </m:oMath>
                </a14:m>
                <a:r>
                  <a:rPr lang="en-US" dirty="0"/>
                  <a:t>, find lower-rank </a:t>
                </a:r>
                <a14:m>
                  <m:oMath xmlns:m="http://schemas.openxmlformats.org/officeDocument/2006/math">
                    <m:r>
                      <a:rPr lang="en-US" b="0" i="1" smtClean="0">
                        <a:latin typeface="Cambria Math" panose="02040503050406030204" pitchFamily="18" charset="0"/>
                      </a:rPr>
                      <m:t>𝑈</m:t>
                    </m:r>
                    <m:r>
                      <a:rPr lang="en-US" b="0" i="1" smtClean="0">
                        <a:latin typeface="Cambria Math" panose="02040503050406030204" pitchFamily="18" charset="0"/>
                      </a:rPr>
                      <m:t>,</m:t>
                    </m:r>
                    <m:r>
                      <a:rPr lang="en-US" b="0" i="1" smtClean="0">
                        <a:latin typeface="Cambria Math" panose="02040503050406030204" pitchFamily="18" charset="0"/>
                      </a:rPr>
                      <m:t>𝑉</m:t>
                    </m:r>
                  </m:oMath>
                </a14:m>
                <a:r>
                  <a:rPr lang="en-US" dirty="0"/>
                  <a:t> matrices such that</a:t>
                </a:r>
              </a:p>
              <a:p>
                <a:endParaRPr lang="en-US" dirty="0"/>
              </a:p>
              <a:p>
                <a:endParaRPr lang="en-US" dirty="0"/>
              </a:p>
              <a:p>
                <a:endParaRPr lang="en-US" dirty="0"/>
              </a:p>
              <a:p>
                <a:endParaRPr lang="en-US" dirty="0"/>
              </a:p>
              <a:p>
                <a:r>
                  <a:rPr lang="en-US" dirty="0"/>
                  <a:t>Question: what matrix does </a:t>
                </a:r>
                <a:r>
                  <a:rPr lang="en-US" dirty="0" err="1"/>
                  <a:t>Skipgram</a:t>
                </a:r>
                <a:r>
                  <a:rPr lang="en-US" dirty="0"/>
                  <a:t> with negative sampling implicitly factorize?</a:t>
                </a:r>
              </a:p>
              <a:p>
                <a:pPr lvl="1"/>
                <a:r>
                  <a:rPr lang="en-US" dirty="0"/>
                  <a:t>Answer: the “shifted pointwise mutual information matrix”</a:t>
                </a:r>
              </a:p>
              <a:p>
                <a:pPr lvl="1"/>
                <a:r>
                  <a:rPr lang="en-US" sz="1400" dirty="0">
                    <a:solidFill>
                      <a:schemeClr val="accent1">
                        <a:lumMod val="50000"/>
                      </a:schemeClr>
                    </a:solidFill>
                  </a:rPr>
                  <a:t>Levy &amp; Goldberg, “Neural Word Embedding as Implicit Matrix Factorization”, </a:t>
                </a:r>
                <a:r>
                  <a:rPr lang="en-US" sz="1400" dirty="0" err="1">
                    <a:solidFill>
                      <a:schemeClr val="accent1">
                        <a:lumMod val="50000"/>
                      </a:schemeClr>
                    </a:solidFill>
                  </a:rPr>
                  <a:t>NeurIPS</a:t>
                </a:r>
                <a:r>
                  <a:rPr lang="en-US" sz="1400" dirty="0">
                    <a:solidFill>
                      <a:schemeClr val="accent1">
                        <a:lumMod val="50000"/>
                      </a:schemeClr>
                    </a:solidFill>
                  </a:rPr>
                  <a:t> 2014</a:t>
                </a:r>
              </a:p>
            </p:txBody>
          </p:sp>
        </mc:Choice>
        <mc:Fallback xmlns="">
          <p:sp>
            <p:nvSpPr>
              <p:cNvPr id="3" name="Text Placeholder 2">
                <a:extLst>
                  <a:ext uri="{FF2B5EF4-FFF2-40B4-BE49-F238E27FC236}">
                    <a16:creationId xmlns:a16="http://schemas.microsoft.com/office/drawing/2014/main" id="{4763D31C-6D77-5A02-F7D8-5B6655E47582}"/>
                  </a:ext>
                </a:extLst>
              </p:cNvPr>
              <p:cNvSpPr>
                <a:spLocks noGrp="1" noRot="1" noChangeAspect="1" noMove="1" noResize="1" noEditPoints="1" noAdjustHandles="1" noChangeArrowheads="1" noChangeShapeType="1" noTextEdit="1"/>
              </p:cNvSpPr>
              <p:nvPr>
                <p:ph type="body" idx="1"/>
              </p:nvPr>
            </p:nvSpPr>
            <p:spPr>
              <a:xfrm>
                <a:off x="174567" y="1017726"/>
                <a:ext cx="8846591" cy="3920034"/>
              </a:xfrm>
              <a:blipFill>
                <a:blip r:embed="rId2"/>
                <a:stretch>
                  <a:fillRect/>
                </a:stretch>
              </a:blipFill>
            </p:spPr>
            <p:txBody>
              <a:bodyPr/>
              <a:lstStyle/>
              <a:p>
                <a:r>
                  <a:rPr lang="en-US">
                    <a:noFill/>
                  </a:rPr>
                  <a:t> </a:t>
                </a:r>
              </a:p>
            </p:txBody>
          </p:sp>
        </mc:Fallback>
      </mc:AlternateContent>
      <p:sp>
        <p:nvSpPr>
          <p:cNvPr id="5" name="Rectangle 4">
            <a:extLst>
              <a:ext uri="{FF2B5EF4-FFF2-40B4-BE49-F238E27FC236}">
                <a16:creationId xmlns:a16="http://schemas.microsoft.com/office/drawing/2014/main" id="{562DAEB3-6D13-D8B9-7579-D73E55270A97}"/>
              </a:ext>
            </a:extLst>
          </p:cNvPr>
          <p:cNvSpPr/>
          <p:nvPr/>
        </p:nvSpPr>
        <p:spPr>
          <a:xfrm rot="5400000">
            <a:off x="1471300" y="2482147"/>
            <a:ext cx="1421477" cy="698269"/>
          </a:xfrm>
          <a:prstGeom prst="rect">
            <a:avLst/>
          </a:prstGeom>
          <a:solidFill>
            <a:schemeClr val="bg1">
              <a:lumMod val="85000"/>
            </a:schemeClr>
          </a:solidFill>
          <a:ln>
            <a:solidFill>
              <a:schemeClr val="accent5"/>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p>
        </p:txBody>
      </p:sp>
      <p:sp>
        <p:nvSpPr>
          <p:cNvPr id="6" name="Rectangle 5">
            <a:extLst>
              <a:ext uri="{FF2B5EF4-FFF2-40B4-BE49-F238E27FC236}">
                <a16:creationId xmlns:a16="http://schemas.microsoft.com/office/drawing/2014/main" id="{D4342D5A-C679-0DC4-7671-1D398FAD2DBD}"/>
              </a:ext>
            </a:extLst>
          </p:cNvPr>
          <p:cNvSpPr/>
          <p:nvPr/>
        </p:nvSpPr>
        <p:spPr>
          <a:xfrm>
            <a:off x="2710833" y="2064674"/>
            <a:ext cx="1421477" cy="698269"/>
          </a:xfrm>
          <a:prstGeom prst="rect">
            <a:avLst/>
          </a:prstGeom>
          <a:solidFill>
            <a:schemeClr val="bg1">
              <a:lumMod val="85000"/>
            </a:schemeClr>
          </a:solidFill>
          <a:ln>
            <a:solidFill>
              <a:schemeClr val="accent5"/>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90B090C1-84B1-6D96-21BB-07D3FA195A7D}"/>
                  </a:ext>
                </a:extLst>
              </p:cNvPr>
              <p:cNvSpPr txBox="1"/>
              <p:nvPr/>
            </p:nvSpPr>
            <p:spPr>
              <a:xfrm>
                <a:off x="1990383" y="2585059"/>
                <a:ext cx="383310" cy="49244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3200" b="0" i="1" smtClean="0">
                          <a:solidFill>
                            <a:schemeClr val="accent5"/>
                          </a:solidFill>
                          <a:latin typeface="Cambria Math" panose="02040503050406030204" pitchFamily="18" charset="0"/>
                        </a:rPr>
                        <m:t>𝑉</m:t>
                      </m:r>
                    </m:oMath>
                  </m:oMathPara>
                </a14:m>
                <a:endParaRPr lang="en-US" sz="3200" dirty="0">
                  <a:solidFill>
                    <a:schemeClr val="accent5"/>
                  </a:solidFill>
                </a:endParaRPr>
              </a:p>
            </p:txBody>
          </p:sp>
        </mc:Choice>
        <mc:Fallback xmlns="">
          <p:sp>
            <p:nvSpPr>
              <p:cNvPr id="7" name="TextBox 6">
                <a:extLst>
                  <a:ext uri="{FF2B5EF4-FFF2-40B4-BE49-F238E27FC236}">
                    <a16:creationId xmlns:a16="http://schemas.microsoft.com/office/drawing/2014/main" id="{90B090C1-84B1-6D96-21BB-07D3FA195A7D}"/>
                  </a:ext>
                </a:extLst>
              </p:cNvPr>
              <p:cNvSpPr txBox="1">
                <a:spLocks noRot="1" noChangeAspect="1" noMove="1" noResize="1" noEditPoints="1" noAdjustHandles="1" noChangeArrowheads="1" noChangeShapeType="1" noTextEdit="1"/>
              </p:cNvSpPr>
              <p:nvPr/>
            </p:nvSpPr>
            <p:spPr>
              <a:xfrm>
                <a:off x="1990383" y="2585059"/>
                <a:ext cx="383310" cy="492443"/>
              </a:xfrm>
              <a:prstGeom prst="rect">
                <a:avLst/>
              </a:prstGeom>
              <a:blipFill>
                <a:blip r:embed="rId3"/>
                <a:stretch>
                  <a:fillRect l="-19355" r="-16129" b="-75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67764E19-0D5A-6CE6-CEA8-38E2BD6CF557}"/>
                  </a:ext>
                </a:extLst>
              </p:cNvPr>
              <p:cNvSpPr txBox="1"/>
              <p:nvPr/>
            </p:nvSpPr>
            <p:spPr>
              <a:xfrm>
                <a:off x="3176211" y="2167587"/>
                <a:ext cx="403957" cy="492443"/>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3200" b="0" i="1" smtClean="0">
                          <a:solidFill>
                            <a:schemeClr val="accent5"/>
                          </a:solidFill>
                          <a:latin typeface="Cambria Math" panose="02040503050406030204" pitchFamily="18" charset="0"/>
                        </a:rPr>
                        <m:t>𝑈</m:t>
                      </m:r>
                    </m:oMath>
                  </m:oMathPara>
                </a14:m>
                <a:endParaRPr lang="en-US" sz="3200" dirty="0">
                  <a:solidFill>
                    <a:schemeClr val="accent5"/>
                  </a:solidFill>
                </a:endParaRPr>
              </a:p>
            </p:txBody>
          </p:sp>
        </mc:Choice>
        <mc:Fallback xmlns="">
          <p:sp>
            <p:nvSpPr>
              <p:cNvPr id="8" name="TextBox 7">
                <a:extLst>
                  <a:ext uri="{FF2B5EF4-FFF2-40B4-BE49-F238E27FC236}">
                    <a16:creationId xmlns:a16="http://schemas.microsoft.com/office/drawing/2014/main" id="{67764E19-0D5A-6CE6-CEA8-38E2BD6CF557}"/>
                  </a:ext>
                </a:extLst>
              </p:cNvPr>
              <p:cNvSpPr txBox="1">
                <a:spLocks noRot="1" noChangeAspect="1" noMove="1" noResize="1" noEditPoints="1" noAdjustHandles="1" noChangeArrowheads="1" noChangeShapeType="1" noTextEdit="1"/>
              </p:cNvSpPr>
              <p:nvPr/>
            </p:nvSpPr>
            <p:spPr>
              <a:xfrm>
                <a:off x="3176211" y="2167587"/>
                <a:ext cx="403957" cy="492443"/>
              </a:xfrm>
              <a:prstGeom prst="rect">
                <a:avLst/>
              </a:prstGeom>
              <a:blipFill>
                <a:blip r:embed="rId4"/>
                <a:stretch>
                  <a:fillRect l="-21875" r="-18750" b="-7500"/>
                </a:stretch>
              </a:blipFill>
            </p:spPr>
            <p:txBody>
              <a:bodyPr/>
              <a:lstStyle/>
              <a:p>
                <a:r>
                  <a:rPr lang="en-US">
                    <a:noFill/>
                  </a:rPr>
                  <a:t> </a:t>
                </a:r>
              </a:p>
            </p:txBody>
          </p:sp>
        </mc:Fallback>
      </mc:AlternateContent>
      <p:sp>
        <p:nvSpPr>
          <p:cNvPr id="9" name="Rectangle 8">
            <a:extLst>
              <a:ext uri="{FF2B5EF4-FFF2-40B4-BE49-F238E27FC236}">
                <a16:creationId xmlns:a16="http://schemas.microsoft.com/office/drawing/2014/main" id="{2A4BC34E-C243-E83F-CB4D-EA6E0D901BA0}"/>
              </a:ext>
            </a:extLst>
          </p:cNvPr>
          <p:cNvSpPr/>
          <p:nvPr/>
        </p:nvSpPr>
        <p:spPr>
          <a:xfrm rot="5400000">
            <a:off x="4939150" y="2120544"/>
            <a:ext cx="1421477" cy="1421475"/>
          </a:xfrm>
          <a:prstGeom prst="rect">
            <a:avLst/>
          </a:prstGeom>
          <a:solidFill>
            <a:schemeClr val="bg1">
              <a:lumMod val="85000"/>
            </a:schemeClr>
          </a:solidFill>
          <a:ln>
            <a:solidFill>
              <a:schemeClr val="tx1">
                <a:lumMod val="65000"/>
                <a:lumOff val="35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C5507366-21FB-B8ED-B6E7-5450EA37BC0A}"/>
                  </a:ext>
                </a:extLst>
              </p:cNvPr>
              <p:cNvSpPr txBox="1"/>
              <p:nvPr/>
            </p:nvSpPr>
            <p:spPr>
              <a:xfrm>
                <a:off x="4185567" y="2513859"/>
                <a:ext cx="533699" cy="73866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4200" b="0" i="1" smtClean="0">
                          <a:solidFill>
                            <a:srgbClr val="C00000"/>
                          </a:solidFill>
                          <a:latin typeface="Cambria Math" panose="02040503050406030204" pitchFamily="18" charset="0"/>
                        </a:rPr>
                        <m:t>≈</m:t>
                      </m:r>
                    </m:oMath>
                  </m:oMathPara>
                </a14:m>
                <a:endParaRPr lang="en-US" sz="4200" dirty="0"/>
              </a:p>
            </p:txBody>
          </p:sp>
        </mc:Choice>
        <mc:Fallback xmlns="">
          <p:sp>
            <p:nvSpPr>
              <p:cNvPr id="10" name="TextBox 9">
                <a:extLst>
                  <a:ext uri="{FF2B5EF4-FFF2-40B4-BE49-F238E27FC236}">
                    <a16:creationId xmlns:a16="http://schemas.microsoft.com/office/drawing/2014/main" id="{C5507366-21FB-B8ED-B6E7-5450EA37BC0A}"/>
                  </a:ext>
                </a:extLst>
              </p:cNvPr>
              <p:cNvSpPr txBox="1">
                <a:spLocks noRot="1" noChangeAspect="1" noMove="1" noResize="1" noEditPoints="1" noAdjustHandles="1" noChangeArrowheads="1" noChangeShapeType="1" noTextEdit="1"/>
              </p:cNvSpPr>
              <p:nvPr/>
            </p:nvSpPr>
            <p:spPr>
              <a:xfrm>
                <a:off x="4185567" y="2513859"/>
                <a:ext cx="533699" cy="738664"/>
              </a:xfrm>
              <a:prstGeom prst="rect">
                <a:avLst/>
              </a:prstGeom>
              <a:blipFill>
                <a:blip r:embed="rId5"/>
                <a:stretch>
                  <a:fillRect l="-6977" r="-1395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DEAE51C0-B178-8572-E5E7-DFC833340DAA}"/>
                  </a:ext>
                </a:extLst>
              </p:cNvPr>
              <p:cNvSpPr txBox="1"/>
              <p:nvPr/>
            </p:nvSpPr>
            <p:spPr>
              <a:xfrm>
                <a:off x="5447909" y="2585058"/>
                <a:ext cx="403957" cy="492443"/>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3200" b="0" i="1" smtClean="0">
                          <a:solidFill>
                            <a:schemeClr val="tx1">
                              <a:lumMod val="65000"/>
                              <a:lumOff val="35000"/>
                            </a:schemeClr>
                          </a:solidFill>
                          <a:latin typeface="Cambria Math" panose="02040503050406030204" pitchFamily="18" charset="0"/>
                        </a:rPr>
                        <m:t>𝑀</m:t>
                      </m:r>
                    </m:oMath>
                  </m:oMathPara>
                </a14:m>
                <a:endParaRPr lang="en-US" sz="3200" dirty="0">
                  <a:solidFill>
                    <a:schemeClr val="tx1">
                      <a:lumMod val="65000"/>
                      <a:lumOff val="35000"/>
                    </a:schemeClr>
                  </a:solidFill>
                </a:endParaRPr>
              </a:p>
            </p:txBody>
          </p:sp>
        </mc:Choice>
        <mc:Fallback xmlns="">
          <p:sp>
            <p:nvSpPr>
              <p:cNvPr id="11" name="TextBox 10">
                <a:extLst>
                  <a:ext uri="{FF2B5EF4-FFF2-40B4-BE49-F238E27FC236}">
                    <a16:creationId xmlns:a16="http://schemas.microsoft.com/office/drawing/2014/main" id="{DEAE51C0-B178-8572-E5E7-DFC833340DAA}"/>
                  </a:ext>
                </a:extLst>
              </p:cNvPr>
              <p:cNvSpPr txBox="1">
                <a:spLocks noRot="1" noChangeAspect="1" noMove="1" noResize="1" noEditPoints="1" noAdjustHandles="1" noChangeArrowheads="1" noChangeShapeType="1" noTextEdit="1"/>
              </p:cNvSpPr>
              <p:nvPr/>
            </p:nvSpPr>
            <p:spPr>
              <a:xfrm>
                <a:off x="5447909" y="2585058"/>
                <a:ext cx="403957" cy="492443"/>
              </a:xfrm>
              <a:prstGeom prst="rect">
                <a:avLst/>
              </a:prstGeom>
              <a:blipFill>
                <a:blip r:embed="rId6"/>
                <a:stretch>
                  <a:fillRect l="-28125" r="-25000" b="-75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B0780DEF-CA5D-08D6-41BF-ABCF8131A06F}"/>
                  </a:ext>
                </a:extLst>
              </p:cNvPr>
              <p:cNvSpPr txBox="1"/>
              <p:nvPr/>
            </p:nvSpPr>
            <p:spPr>
              <a:xfrm>
                <a:off x="6793347" y="3944618"/>
                <a:ext cx="2227811" cy="53155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b="0" i="1" smtClean="0">
                              <a:solidFill>
                                <a:srgbClr val="7030A0"/>
                              </a:solidFill>
                              <a:latin typeface="Cambria Math" panose="02040503050406030204" pitchFamily="18" charset="0"/>
                            </a:rPr>
                          </m:ctrlPr>
                        </m:sSubPr>
                        <m:e>
                          <m:r>
                            <a:rPr lang="en-US" b="0" i="1" smtClean="0">
                              <a:solidFill>
                                <a:srgbClr val="7030A0"/>
                              </a:solidFill>
                              <a:latin typeface="Cambria Math" panose="02040503050406030204" pitchFamily="18" charset="0"/>
                            </a:rPr>
                            <m:t>𝑀</m:t>
                          </m:r>
                        </m:e>
                        <m:sub>
                          <m:r>
                            <a:rPr lang="en-US" b="0" i="1" smtClean="0">
                              <a:solidFill>
                                <a:srgbClr val="7030A0"/>
                              </a:solidFill>
                              <a:latin typeface="Cambria Math" panose="02040503050406030204" pitchFamily="18" charset="0"/>
                            </a:rPr>
                            <m:t>𝑖𝑗</m:t>
                          </m:r>
                        </m:sub>
                      </m:sSub>
                      <m:r>
                        <a:rPr lang="en-US" b="0" i="1" smtClean="0">
                          <a:solidFill>
                            <a:srgbClr val="7030A0"/>
                          </a:solidFill>
                          <a:latin typeface="Cambria Math" panose="02040503050406030204" pitchFamily="18" charset="0"/>
                        </a:rPr>
                        <m:t>=</m:t>
                      </m:r>
                      <m:func>
                        <m:funcPr>
                          <m:ctrlPr>
                            <a:rPr lang="en-US" b="0" i="1" smtClean="0">
                              <a:solidFill>
                                <a:srgbClr val="7030A0"/>
                              </a:solidFill>
                              <a:latin typeface="Cambria Math" panose="02040503050406030204" pitchFamily="18" charset="0"/>
                            </a:rPr>
                          </m:ctrlPr>
                        </m:funcPr>
                        <m:fName>
                          <m:r>
                            <m:rPr>
                              <m:sty m:val="p"/>
                            </m:rPr>
                            <a:rPr lang="en-US" b="0" i="0" smtClean="0">
                              <a:solidFill>
                                <a:srgbClr val="7030A0"/>
                              </a:solidFill>
                              <a:latin typeface="Cambria Math" panose="02040503050406030204" pitchFamily="18" charset="0"/>
                            </a:rPr>
                            <m:t>log</m:t>
                          </m:r>
                        </m:fName>
                        <m:e>
                          <m:d>
                            <m:dPr>
                              <m:ctrlPr>
                                <a:rPr lang="en-US" b="0" i="1" smtClean="0">
                                  <a:solidFill>
                                    <a:srgbClr val="7030A0"/>
                                  </a:solidFill>
                                  <a:latin typeface="Cambria Math" panose="02040503050406030204" pitchFamily="18" charset="0"/>
                                </a:rPr>
                              </m:ctrlPr>
                            </m:dPr>
                            <m:e>
                              <m:f>
                                <m:fPr>
                                  <m:ctrlPr>
                                    <a:rPr lang="en-US" b="0" i="1" smtClean="0">
                                      <a:solidFill>
                                        <a:srgbClr val="7030A0"/>
                                      </a:solidFill>
                                      <a:latin typeface="Cambria Math" panose="02040503050406030204" pitchFamily="18" charset="0"/>
                                    </a:rPr>
                                  </m:ctrlPr>
                                </m:fPr>
                                <m:num>
                                  <m:r>
                                    <a:rPr lang="en-US" b="0" i="1" smtClean="0">
                                      <a:solidFill>
                                        <a:srgbClr val="7030A0"/>
                                      </a:solidFill>
                                      <a:latin typeface="Cambria Math" panose="02040503050406030204" pitchFamily="18" charset="0"/>
                                    </a:rPr>
                                    <m:t>𝑘</m:t>
                                  </m:r>
                                  <m:r>
                                    <a:rPr lang="en-US" b="0" i="1" smtClean="0">
                                      <a:solidFill>
                                        <a:srgbClr val="7030A0"/>
                                      </a:solidFill>
                                      <a:latin typeface="Cambria Math" panose="02040503050406030204" pitchFamily="18" charset="0"/>
                                    </a:rPr>
                                    <m:t>⋅#(</m:t>
                                  </m:r>
                                  <m:r>
                                    <a:rPr lang="en-US" b="0" i="1" smtClean="0">
                                      <a:solidFill>
                                        <a:srgbClr val="7030A0"/>
                                      </a:solidFill>
                                      <a:latin typeface="Cambria Math" panose="02040503050406030204" pitchFamily="18" charset="0"/>
                                    </a:rPr>
                                    <m:t>𝑐</m:t>
                                  </m:r>
                                  <m:r>
                                    <a:rPr lang="en-US" b="0" i="1" smtClean="0">
                                      <a:solidFill>
                                        <a:srgbClr val="7030A0"/>
                                      </a:solidFill>
                                      <a:latin typeface="Cambria Math" panose="02040503050406030204" pitchFamily="18" charset="0"/>
                                    </a:rPr>
                                    <m:t>,</m:t>
                                  </m:r>
                                  <m:r>
                                    <a:rPr lang="en-US" b="0" i="1" smtClean="0">
                                      <a:solidFill>
                                        <a:srgbClr val="7030A0"/>
                                      </a:solidFill>
                                      <a:latin typeface="Cambria Math" panose="02040503050406030204" pitchFamily="18" charset="0"/>
                                    </a:rPr>
                                    <m:t>𝑜</m:t>
                                  </m:r>
                                  <m:r>
                                    <a:rPr lang="en-US" b="0" i="1" smtClean="0">
                                      <a:solidFill>
                                        <a:srgbClr val="7030A0"/>
                                      </a:solidFill>
                                      <a:latin typeface="Cambria Math" panose="02040503050406030204" pitchFamily="18" charset="0"/>
                                    </a:rPr>
                                    <m:t>)</m:t>
                                  </m:r>
                                </m:num>
                                <m:den>
                                  <m:d>
                                    <m:dPr>
                                      <m:begChr m:val="|"/>
                                      <m:endChr m:val="|"/>
                                      <m:ctrlPr>
                                        <a:rPr lang="en-US" b="0" i="1" smtClean="0">
                                          <a:solidFill>
                                            <a:srgbClr val="7030A0"/>
                                          </a:solidFill>
                                          <a:latin typeface="Cambria Math" panose="02040503050406030204" pitchFamily="18" charset="0"/>
                                        </a:rPr>
                                      </m:ctrlPr>
                                    </m:dPr>
                                    <m:e>
                                      <m:r>
                                        <a:rPr lang="en-US" b="0" i="1" smtClean="0">
                                          <a:solidFill>
                                            <a:srgbClr val="7030A0"/>
                                          </a:solidFill>
                                          <a:latin typeface="Cambria Math" panose="02040503050406030204" pitchFamily="18" charset="0"/>
                                        </a:rPr>
                                        <m:t>𝐷</m:t>
                                      </m:r>
                                    </m:e>
                                  </m:d>
                                  <m:r>
                                    <a:rPr lang="en-US" b="0" i="1" smtClean="0">
                                      <a:solidFill>
                                        <a:srgbClr val="7030A0"/>
                                      </a:solidFill>
                                      <a:latin typeface="Cambria Math" panose="02040503050406030204" pitchFamily="18" charset="0"/>
                                    </a:rPr>
                                    <m:t>⋅#</m:t>
                                  </m:r>
                                  <m:r>
                                    <a:rPr lang="en-US" b="0" i="1" smtClean="0">
                                      <a:solidFill>
                                        <a:srgbClr val="7030A0"/>
                                      </a:solidFill>
                                      <a:latin typeface="Cambria Math" panose="02040503050406030204" pitchFamily="18" charset="0"/>
                                    </a:rPr>
                                    <m:t>𝑐</m:t>
                                  </m:r>
                                  <m:r>
                                    <a:rPr lang="en-US" b="0" i="1" smtClean="0">
                                      <a:solidFill>
                                        <a:srgbClr val="7030A0"/>
                                      </a:solidFill>
                                      <a:latin typeface="Cambria Math" panose="02040503050406030204" pitchFamily="18" charset="0"/>
                                    </a:rPr>
                                    <m:t>⋅#</m:t>
                                  </m:r>
                                  <m:r>
                                    <a:rPr lang="en-US" b="0" i="1" smtClean="0">
                                      <a:solidFill>
                                        <a:srgbClr val="7030A0"/>
                                      </a:solidFill>
                                      <a:latin typeface="Cambria Math" panose="02040503050406030204" pitchFamily="18" charset="0"/>
                                    </a:rPr>
                                    <m:t>𝑜</m:t>
                                  </m:r>
                                </m:den>
                              </m:f>
                            </m:e>
                          </m:d>
                        </m:e>
                      </m:func>
                    </m:oMath>
                  </m:oMathPara>
                </a14:m>
                <a:endParaRPr lang="en-US" dirty="0">
                  <a:solidFill>
                    <a:srgbClr val="7030A0"/>
                  </a:solidFill>
                </a:endParaRPr>
              </a:p>
            </p:txBody>
          </p:sp>
        </mc:Choice>
        <mc:Fallback xmlns="">
          <p:sp>
            <p:nvSpPr>
              <p:cNvPr id="12" name="TextBox 11">
                <a:extLst>
                  <a:ext uri="{FF2B5EF4-FFF2-40B4-BE49-F238E27FC236}">
                    <a16:creationId xmlns:a16="http://schemas.microsoft.com/office/drawing/2014/main" id="{B0780DEF-CA5D-08D6-41BF-ABCF8131A06F}"/>
                  </a:ext>
                </a:extLst>
              </p:cNvPr>
              <p:cNvSpPr txBox="1">
                <a:spLocks noRot="1" noChangeAspect="1" noMove="1" noResize="1" noEditPoints="1" noAdjustHandles="1" noChangeArrowheads="1" noChangeShapeType="1" noTextEdit="1"/>
              </p:cNvSpPr>
              <p:nvPr/>
            </p:nvSpPr>
            <p:spPr>
              <a:xfrm>
                <a:off x="6793347" y="3944618"/>
                <a:ext cx="2227811" cy="531556"/>
              </a:xfrm>
              <a:prstGeom prst="rect">
                <a:avLst/>
              </a:prstGeom>
              <a:blipFill>
                <a:blip r:embed="rId7"/>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87825659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D67A42-2ADD-C345-F22D-A8261FA7AC5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863CFA6-53D7-3A84-848C-D407119EA2DA}"/>
              </a:ext>
            </a:extLst>
          </p:cNvPr>
          <p:cNvSpPr>
            <a:spLocks noGrp="1"/>
          </p:cNvSpPr>
          <p:nvPr>
            <p:ph type="title"/>
          </p:nvPr>
        </p:nvSpPr>
        <p:spPr/>
        <p:txBody>
          <a:bodyPr>
            <a:normAutofit fontScale="90000"/>
          </a:bodyPr>
          <a:lstStyle/>
          <a:p>
            <a:r>
              <a:rPr lang="en-US" dirty="0"/>
              <a:t>Matrix Factorization</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0E564661-13C5-8DA2-697A-7E3829481A04}"/>
                  </a:ext>
                </a:extLst>
              </p:cNvPr>
              <p:cNvSpPr>
                <a:spLocks noGrp="1"/>
              </p:cNvSpPr>
              <p:nvPr>
                <p:ph type="body" idx="1"/>
              </p:nvPr>
            </p:nvSpPr>
            <p:spPr>
              <a:xfrm>
                <a:off x="311700" y="1152475"/>
                <a:ext cx="8520600" cy="3546000"/>
              </a:xfrm>
            </p:spPr>
            <p:txBody>
              <a:bodyPr>
                <a:normAutofit fontScale="92500" lnSpcReduction="10000"/>
              </a:bodyPr>
              <a:lstStyle/>
              <a:p>
                <a:r>
                  <a:rPr lang="en-US" dirty="0"/>
                  <a:t>Do we know methods for </a:t>
                </a:r>
                <a:r>
                  <a:rPr lang="en-US" b="1" dirty="0"/>
                  <a:t>explicit</a:t>
                </a:r>
                <a:r>
                  <a:rPr lang="en-US" dirty="0"/>
                  <a:t> matrix factorization?</a:t>
                </a:r>
              </a:p>
              <a:p>
                <a:pPr lvl="1"/>
                <a:r>
                  <a:rPr lang="en-US" dirty="0"/>
                  <a:t>Input: matrix </a:t>
                </a:r>
                <a14:m>
                  <m:oMath xmlns:m="http://schemas.openxmlformats.org/officeDocument/2006/math">
                    <m:r>
                      <a:rPr lang="en-US" b="0" i="1" smtClean="0">
                        <a:solidFill>
                          <a:schemeClr val="accent5"/>
                        </a:solidFill>
                        <a:latin typeface="Cambria Math" panose="02040503050406030204" pitchFamily="18" charset="0"/>
                      </a:rPr>
                      <m:t>𝑀</m:t>
                    </m:r>
                  </m:oMath>
                </a14:m>
                <a:r>
                  <a:rPr lang="en-US" dirty="0"/>
                  <a:t> of order </a:t>
                </a:r>
                <a14:m>
                  <m:oMath xmlns:m="http://schemas.openxmlformats.org/officeDocument/2006/math">
                    <m:r>
                      <a:rPr lang="en-US" b="0" i="1" smtClean="0">
                        <a:solidFill>
                          <a:schemeClr val="accent5"/>
                        </a:solidFill>
                        <a:latin typeface="Cambria Math" panose="02040503050406030204" pitchFamily="18" charset="0"/>
                      </a:rPr>
                      <m:t>𝑛</m:t>
                    </m:r>
                    <m:r>
                      <a:rPr lang="en-US" b="0" i="1" smtClean="0">
                        <a:solidFill>
                          <a:schemeClr val="accent5"/>
                        </a:solidFill>
                        <a:latin typeface="Cambria Math" panose="02040503050406030204" pitchFamily="18" charset="0"/>
                      </a:rPr>
                      <m:t>×</m:t>
                    </m:r>
                    <m:r>
                      <a:rPr lang="en-US" b="0" i="1" smtClean="0">
                        <a:solidFill>
                          <a:schemeClr val="accent5"/>
                        </a:solidFill>
                        <a:latin typeface="Cambria Math" panose="02040503050406030204" pitchFamily="18" charset="0"/>
                      </a:rPr>
                      <m:t>𝑛</m:t>
                    </m:r>
                  </m:oMath>
                </a14:m>
                <a:r>
                  <a:rPr lang="en-US" dirty="0"/>
                  <a:t>, and lower dimension </a:t>
                </a:r>
                <a14:m>
                  <m:oMath xmlns:m="http://schemas.openxmlformats.org/officeDocument/2006/math">
                    <m:r>
                      <a:rPr lang="en-US" b="0" i="1" smtClean="0">
                        <a:solidFill>
                          <a:schemeClr val="accent5"/>
                        </a:solidFill>
                        <a:latin typeface="Cambria Math" panose="02040503050406030204" pitchFamily="18" charset="0"/>
                      </a:rPr>
                      <m:t>𝑑</m:t>
                    </m:r>
                    <m:r>
                      <a:rPr lang="en-US" b="0" i="1" smtClean="0">
                        <a:solidFill>
                          <a:schemeClr val="accent5"/>
                        </a:solidFill>
                        <a:latin typeface="Cambria Math" panose="02040503050406030204" pitchFamily="18" charset="0"/>
                      </a:rPr>
                      <m:t>≪</m:t>
                    </m:r>
                    <m:r>
                      <a:rPr lang="en-US" b="0" i="1" smtClean="0">
                        <a:solidFill>
                          <a:schemeClr val="accent5"/>
                        </a:solidFill>
                        <a:latin typeface="Cambria Math" panose="02040503050406030204" pitchFamily="18" charset="0"/>
                      </a:rPr>
                      <m:t>𝑛</m:t>
                    </m:r>
                  </m:oMath>
                </a14:m>
                <a:endParaRPr lang="en-US" dirty="0"/>
              </a:p>
              <a:p>
                <a:pPr lvl="1"/>
                <a:r>
                  <a:rPr lang="en-US" dirty="0"/>
                  <a:t>Desired output: matrices </a:t>
                </a:r>
                <a14:m>
                  <m:oMath xmlns:m="http://schemas.openxmlformats.org/officeDocument/2006/math">
                    <m:r>
                      <a:rPr lang="en-US" b="0" i="1" smtClean="0">
                        <a:solidFill>
                          <a:schemeClr val="accent5"/>
                        </a:solidFill>
                        <a:latin typeface="Cambria Math" panose="02040503050406030204" pitchFamily="18" charset="0"/>
                      </a:rPr>
                      <m:t>𝑉</m:t>
                    </m:r>
                    <m:r>
                      <a:rPr lang="en-US" b="0" i="1" smtClean="0">
                        <a:solidFill>
                          <a:schemeClr val="accent5"/>
                        </a:solidFill>
                        <a:latin typeface="Cambria Math" panose="02040503050406030204" pitchFamily="18" charset="0"/>
                      </a:rPr>
                      <m:t>,</m:t>
                    </m:r>
                    <m:r>
                      <a:rPr lang="en-US" b="0" i="1" smtClean="0">
                        <a:solidFill>
                          <a:schemeClr val="accent5"/>
                        </a:solidFill>
                        <a:latin typeface="Cambria Math" panose="02040503050406030204" pitchFamily="18" charset="0"/>
                      </a:rPr>
                      <m:t>𝑈</m:t>
                    </m:r>
                  </m:oMath>
                </a14:m>
                <a:r>
                  <a:rPr lang="en-US" dirty="0">
                    <a:solidFill>
                      <a:schemeClr val="accent5"/>
                    </a:solidFill>
                  </a:rPr>
                  <a:t> </a:t>
                </a:r>
                <a:r>
                  <a:rPr lang="en-US" dirty="0"/>
                  <a:t>of order </a:t>
                </a:r>
                <a14:m>
                  <m:oMath xmlns:m="http://schemas.openxmlformats.org/officeDocument/2006/math">
                    <m:r>
                      <a:rPr lang="en-US" b="0" i="1" smtClean="0">
                        <a:solidFill>
                          <a:schemeClr val="accent5"/>
                        </a:solidFill>
                        <a:latin typeface="Cambria Math" panose="02040503050406030204" pitchFamily="18" charset="0"/>
                      </a:rPr>
                      <m:t>𝑛</m:t>
                    </m:r>
                    <m:r>
                      <a:rPr lang="en-US" b="0" i="1" smtClean="0">
                        <a:solidFill>
                          <a:schemeClr val="accent5"/>
                        </a:solidFill>
                        <a:latin typeface="Cambria Math" panose="02040503050406030204" pitchFamily="18" charset="0"/>
                      </a:rPr>
                      <m:t>×</m:t>
                    </m:r>
                    <m:r>
                      <a:rPr lang="en-US" b="0" i="1" smtClean="0">
                        <a:solidFill>
                          <a:schemeClr val="accent5"/>
                        </a:solidFill>
                        <a:latin typeface="Cambria Math" panose="02040503050406030204" pitchFamily="18" charset="0"/>
                      </a:rPr>
                      <m:t>𝑑</m:t>
                    </m:r>
                    <m:r>
                      <a:rPr lang="en-US" b="0" i="1" smtClean="0">
                        <a:solidFill>
                          <a:schemeClr val="accent5"/>
                        </a:solidFill>
                        <a:latin typeface="Cambria Math" panose="02040503050406030204" pitchFamily="18" charset="0"/>
                      </a:rPr>
                      <m:t>,</m:t>
                    </m:r>
                    <m:r>
                      <a:rPr lang="en-US" b="0" i="1" smtClean="0">
                        <a:solidFill>
                          <a:schemeClr val="accent5"/>
                        </a:solidFill>
                        <a:latin typeface="Cambria Math" panose="02040503050406030204" pitchFamily="18" charset="0"/>
                      </a:rPr>
                      <m:t>𝑑</m:t>
                    </m:r>
                    <m:r>
                      <a:rPr lang="en-US" b="0" i="1" smtClean="0">
                        <a:solidFill>
                          <a:schemeClr val="accent5"/>
                        </a:solidFill>
                        <a:latin typeface="Cambria Math" panose="02040503050406030204" pitchFamily="18" charset="0"/>
                      </a:rPr>
                      <m:t>×</m:t>
                    </m:r>
                    <m:r>
                      <a:rPr lang="en-US" b="0" i="1" smtClean="0">
                        <a:solidFill>
                          <a:schemeClr val="accent5"/>
                        </a:solidFill>
                        <a:latin typeface="Cambria Math" panose="02040503050406030204" pitchFamily="18" charset="0"/>
                      </a:rPr>
                      <m:t>𝑛</m:t>
                    </m:r>
                  </m:oMath>
                </a14:m>
                <a:r>
                  <a:rPr lang="en-US" dirty="0">
                    <a:solidFill>
                      <a:schemeClr val="accent5"/>
                    </a:solidFill>
                  </a:rPr>
                  <a:t> </a:t>
                </a:r>
                <a:r>
                  <a:rPr lang="en-US" dirty="0"/>
                  <a:t>such that </a:t>
                </a:r>
                <a14:m>
                  <m:oMath xmlns:m="http://schemas.openxmlformats.org/officeDocument/2006/math">
                    <m:r>
                      <a:rPr lang="en-US" b="0" i="1" smtClean="0">
                        <a:solidFill>
                          <a:schemeClr val="accent5"/>
                        </a:solidFill>
                        <a:latin typeface="Cambria Math" panose="02040503050406030204" pitchFamily="18" charset="0"/>
                      </a:rPr>
                      <m:t>𝑉𝑈</m:t>
                    </m:r>
                    <m:r>
                      <a:rPr lang="en-US" b="0" i="1" smtClean="0">
                        <a:solidFill>
                          <a:schemeClr val="accent5"/>
                        </a:solidFill>
                        <a:latin typeface="Cambria Math" panose="02040503050406030204" pitchFamily="18" charset="0"/>
                      </a:rPr>
                      <m:t>≈</m:t>
                    </m:r>
                    <m:r>
                      <a:rPr lang="en-US" b="0" i="1" smtClean="0">
                        <a:solidFill>
                          <a:schemeClr val="accent5"/>
                        </a:solidFill>
                        <a:latin typeface="Cambria Math" panose="02040503050406030204" pitchFamily="18" charset="0"/>
                      </a:rPr>
                      <m:t>𝑀</m:t>
                    </m:r>
                  </m:oMath>
                </a14:m>
                <a:endParaRPr lang="en-US" dirty="0"/>
              </a:p>
              <a:p>
                <a:r>
                  <a:rPr lang="en-US" b="1" dirty="0"/>
                  <a:t>Yes</a:t>
                </a:r>
                <a:r>
                  <a:rPr lang="en-US" dirty="0"/>
                  <a:t>: PCA, SVD…</a:t>
                </a:r>
              </a:p>
              <a:p>
                <a:pPr lvl="1"/>
                <a:r>
                  <a:rPr lang="en-US" dirty="0"/>
                  <a:t>Can we use them for word embeddings instead of word2vec?</a:t>
                </a:r>
              </a:p>
              <a:p>
                <a:pPr lvl="1"/>
                <a:r>
                  <a:rPr lang="en-US" dirty="0"/>
                  <a:t>Apparently, sometimes: </a:t>
                </a:r>
                <a:r>
                  <a:rPr lang="en-US" i="1" dirty="0"/>
                  <a:t>“factorization with SVD can achieve solutions that are at least as good as SGNS [for some tasks]” </a:t>
                </a:r>
                <a:r>
                  <a:rPr lang="en-US" sz="1400" dirty="0">
                    <a:solidFill>
                      <a:schemeClr val="accent1">
                        <a:lumMod val="50000"/>
                      </a:schemeClr>
                    </a:solidFill>
                  </a:rPr>
                  <a:t>(Levy &amp; Goldberg, 2014)</a:t>
                </a:r>
              </a:p>
              <a:p>
                <a:r>
                  <a:rPr lang="en-US" dirty="0">
                    <a:solidFill>
                      <a:srgbClr val="7030A0"/>
                    </a:solidFill>
                  </a:rPr>
                  <a:t>Can we combine the word2vec self-supervised learning idea with the matrix factorization view?</a:t>
                </a:r>
              </a:p>
            </p:txBody>
          </p:sp>
        </mc:Choice>
        <mc:Fallback xmlns="">
          <p:sp>
            <p:nvSpPr>
              <p:cNvPr id="3" name="Text Placeholder 2">
                <a:extLst>
                  <a:ext uri="{FF2B5EF4-FFF2-40B4-BE49-F238E27FC236}">
                    <a16:creationId xmlns:a16="http://schemas.microsoft.com/office/drawing/2014/main" id="{0E564661-13C5-8DA2-697A-7E3829481A04}"/>
                  </a:ext>
                </a:extLst>
              </p:cNvPr>
              <p:cNvSpPr>
                <a:spLocks noGrp="1" noRot="1" noChangeAspect="1" noMove="1" noResize="1" noEditPoints="1" noAdjustHandles="1" noChangeArrowheads="1" noChangeShapeType="1" noTextEdit="1"/>
              </p:cNvSpPr>
              <p:nvPr>
                <p:ph type="body" idx="1"/>
              </p:nvPr>
            </p:nvSpPr>
            <p:spPr>
              <a:xfrm>
                <a:off x="311700" y="1152475"/>
                <a:ext cx="8520600" cy="3546000"/>
              </a:xfrm>
              <a:blipFill>
                <a:blip r:embed="rId3"/>
                <a:stretch>
                  <a:fillRect/>
                </a:stretch>
              </a:blipFill>
            </p:spPr>
            <p:txBody>
              <a:bodyPr/>
              <a:lstStyle/>
              <a:p>
                <a:r>
                  <a:rPr lang="en-US">
                    <a:noFill/>
                  </a:rPr>
                  <a:t> </a:t>
                </a:r>
              </a:p>
            </p:txBody>
          </p:sp>
        </mc:Fallback>
      </mc:AlternateContent>
      <p:sp>
        <p:nvSpPr>
          <p:cNvPr id="5" name="Rectangle 4">
            <a:extLst>
              <a:ext uri="{FF2B5EF4-FFF2-40B4-BE49-F238E27FC236}">
                <a16:creationId xmlns:a16="http://schemas.microsoft.com/office/drawing/2014/main" id="{735FCBFB-E614-6250-5B26-E1AB09B72774}"/>
              </a:ext>
            </a:extLst>
          </p:cNvPr>
          <p:cNvSpPr/>
          <p:nvPr/>
        </p:nvSpPr>
        <p:spPr>
          <a:xfrm rot="5400000">
            <a:off x="5707366" y="595857"/>
            <a:ext cx="888541" cy="383310"/>
          </a:xfrm>
          <a:prstGeom prst="rect">
            <a:avLst/>
          </a:prstGeom>
          <a:solidFill>
            <a:schemeClr val="bg1">
              <a:lumMod val="85000"/>
            </a:schemeClr>
          </a:solidFill>
          <a:ln>
            <a:solidFill>
              <a:schemeClr val="accent5"/>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7F8E8BC0-35B4-FC0F-CDB8-2AB30E92A6C5}"/>
                  </a:ext>
                </a:extLst>
              </p:cNvPr>
              <p:cNvSpPr txBox="1"/>
              <p:nvPr/>
            </p:nvSpPr>
            <p:spPr>
              <a:xfrm>
                <a:off x="5959981" y="583088"/>
                <a:ext cx="383310" cy="400110"/>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2600" b="0" i="1" smtClean="0">
                          <a:solidFill>
                            <a:schemeClr val="accent5"/>
                          </a:solidFill>
                          <a:latin typeface="Cambria Math" panose="02040503050406030204" pitchFamily="18" charset="0"/>
                        </a:rPr>
                        <m:t>𝑉</m:t>
                      </m:r>
                    </m:oMath>
                  </m:oMathPara>
                </a14:m>
                <a:endParaRPr lang="en-US" sz="2600" dirty="0">
                  <a:solidFill>
                    <a:schemeClr val="accent5"/>
                  </a:solidFill>
                </a:endParaRPr>
              </a:p>
            </p:txBody>
          </p:sp>
        </mc:Choice>
        <mc:Fallback xmlns="">
          <p:sp>
            <p:nvSpPr>
              <p:cNvPr id="7" name="TextBox 6">
                <a:extLst>
                  <a:ext uri="{FF2B5EF4-FFF2-40B4-BE49-F238E27FC236}">
                    <a16:creationId xmlns:a16="http://schemas.microsoft.com/office/drawing/2014/main" id="{7F8E8BC0-35B4-FC0F-CDB8-2AB30E92A6C5}"/>
                  </a:ext>
                </a:extLst>
              </p:cNvPr>
              <p:cNvSpPr txBox="1">
                <a:spLocks noRot="1" noChangeAspect="1" noMove="1" noResize="1" noEditPoints="1" noAdjustHandles="1" noChangeArrowheads="1" noChangeShapeType="1" noTextEdit="1"/>
              </p:cNvSpPr>
              <p:nvPr/>
            </p:nvSpPr>
            <p:spPr>
              <a:xfrm>
                <a:off x="5959981" y="583088"/>
                <a:ext cx="383310" cy="400110"/>
              </a:xfrm>
              <a:prstGeom prst="rect">
                <a:avLst/>
              </a:prstGeom>
              <a:blipFill>
                <a:blip r:embed="rId4"/>
                <a:stretch>
                  <a:fillRect l="-6452" r="-3226" b="-6250"/>
                </a:stretch>
              </a:blipFill>
            </p:spPr>
            <p:txBody>
              <a:bodyPr/>
              <a:lstStyle/>
              <a:p>
                <a:r>
                  <a:rPr lang="en-US">
                    <a:noFill/>
                  </a:rPr>
                  <a:t> </a:t>
                </a:r>
              </a:p>
            </p:txBody>
          </p:sp>
        </mc:Fallback>
      </mc:AlternateContent>
      <p:sp>
        <p:nvSpPr>
          <p:cNvPr id="9" name="Rectangle 8">
            <a:extLst>
              <a:ext uri="{FF2B5EF4-FFF2-40B4-BE49-F238E27FC236}">
                <a16:creationId xmlns:a16="http://schemas.microsoft.com/office/drawing/2014/main" id="{79458091-8B75-191E-093D-A0C09B0CE075}"/>
              </a:ext>
            </a:extLst>
          </p:cNvPr>
          <p:cNvSpPr/>
          <p:nvPr/>
        </p:nvSpPr>
        <p:spPr>
          <a:xfrm rot="5400000">
            <a:off x="7938874" y="338357"/>
            <a:ext cx="888541" cy="898311"/>
          </a:xfrm>
          <a:prstGeom prst="rect">
            <a:avLst/>
          </a:prstGeom>
          <a:solidFill>
            <a:schemeClr val="bg1">
              <a:lumMod val="85000"/>
            </a:schemeClr>
          </a:solidFill>
          <a:ln>
            <a:solidFill>
              <a:schemeClr val="tx1">
                <a:lumMod val="65000"/>
                <a:lumOff val="35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CDE19ABC-8601-62F5-3D0D-D39236C71CDF}"/>
                  </a:ext>
                </a:extLst>
              </p:cNvPr>
              <p:cNvSpPr txBox="1"/>
              <p:nvPr/>
            </p:nvSpPr>
            <p:spPr>
              <a:xfrm>
                <a:off x="7257540" y="413811"/>
                <a:ext cx="533699" cy="73866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4200" b="0" i="1" smtClean="0">
                          <a:solidFill>
                            <a:srgbClr val="C00000"/>
                          </a:solidFill>
                          <a:latin typeface="Cambria Math" panose="02040503050406030204" pitchFamily="18" charset="0"/>
                        </a:rPr>
                        <m:t>≈</m:t>
                      </m:r>
                    </m:oMath>
                  </m:oMathPara>
                </a14:m>
                <a:endParaRPr lang="en-US" sz="4200" dirty="0"/>
              </a:p>
            </p:txBody>
          </p:sp>
        </mc:Choice>
        <mc:Fallback xmlns="">
          <p:sp>
            <p:nvSpPr>
              <p:cNvPr id="10" name="TextBox 9">
                <a:extLst>
                  <a:ext uri="{FF2B5EF4-FFF2-40B4-BE49-F238E27FC236}">
                    <a16:creationId xmlns:a16="http://schemas.microsoft.com/office/drawing/2014/main" id="{CDE19ABC-8601-62F5-3D0D-D39236C71CDF}"/>
                  </a:ext>
                </a:extLst>
              </p:cNvPr>
              <p:cNvSpPr txBox="1">
                <a:spLocks noRot="1" noChangeAspect="1" noMove="1" noResize="1" noEditPoints="1" noAdjustHandles="1" noChangeArrowheads="1" noChangeShapeType="1" noTextEdit="1"/>
              </p:cNvSpPr>
              <p:nvPr/>
            </p:nvSpPr>
            <p:spPr>
              <a:xfrm>
                <a:off x="7257540" y="413811"/>
                <a:ext cx="533699" cy="738664"/>
              </a:xfrm>
              <a:prstGeom prst="rect">
                <a:avLst/>
              </a:prstGeom>
              <a:blipFill>
                <a:blip r:embed="rId5"/>
                <a:stretch>
                  <a:fillRect l="-6977" r="-1395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E02C77D4-A81C-6DCE-4E53-9B8DDC9FBB5C}"/>
                  </a:ext>
                </a:extLst>
              </p:cNvPr>
              <p:cNvSpPr txBox="1"/>
              <p:nvPr/>
            </p:nvSpPr>
            <p:spPr>
              <a:xfrm>
                <a:off x="8204852" y="582651"/>
                <a:ext cx="403957" cy="400110"/>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2600" b="0" i="1" smtClean="0">
                          <a:solidFill>
                            <a:schemeClr val="tx1">
                              <a:lumMod val="65000"/>
                              <a:lumOff val="35000"/>
                            </a:schemeClr>
                          </a:solidFill>
                          <a:latin typeface="Cambria Math" panose="02040503050406030204" pitchFamily="18" charset="0"/>
                        </a:rPr>
                        <m:t>𝑀</m:t>
                      </m:r>
                    </m:oMath>
                  </m:oMathPara>
                </a14:m>
                <a:endParaRPr lang="en-US" sz="2600" dirty="0">
                  <a:solidFill>
                    <a:schemeClr val="tx1">
                      <a:lumMod val="65000"/>
                      <a:lumOff val="35000"/>
                    </a:schemeClr>
                  </a:solidFill>
                </a:endParaRPr>
              </a:p>
            </p:txBody>
          </p:sp>
        </mc:Choice>
        <mc:Fallback xmlns="">
          <p:sp>
            <p:nvSpPr>
              <p:cNvPr id="11" name="TextBox 10">
                <a:extLst>
                  <a:ext uri="{FF2B5EF4-FFF2-40B4-BE49-F238E27FC236}">
                    <a16:creationId xmlns:a16="http://schemas.microsoft.com/office/drawing/2014/main" id="{E02C77D4-A81C-6DCE-4E53-9B8DDC9FBB5C}"/>
                  </a:ext>
                </a:extLst>
              </p:cNvPr>
              <p:cNvSpPr txBox="1">
                <a:spLocks noRot="1" noChangeAspect="1" noMove="1" noResize="1" noEditPoints="1" noAdjustHandles="1" noChangeArrowheads="1" noChangeShapeType="1" noTextEdit="1"/>
              </p:cNvSpPr>
              <p:nvPr/>
            </p:nvSpPr>
            <p:spPr>
              <a:xfrm>
                <a:off x="8204852" y="582651"/>
                <a:ext cx="403957" cy="400110"/>
              </a:xfrm>
              <a:prstGeom prst="rect">
                <a:avLst/>
              </a:prstGeom>
              <a:blipFill>
                <a:blip r:embed="rId6"/>
                <a:stretch>
                  <a:fillRect l="-15625" r="-12500" b="-6250"/>
                </a:stretch>
              </a:blipFill>
            </p:spPr>
            <p:txBody>
              <a:bodyPr/>
              <a:lstStyle/>
              <a:p>
                <a:r>
                  <a:rPr lang="en-US">
                    <a:noFill/>
                  </a:rPr>
                  <a:t> </a:t>
                </a:r>
              </a:p>
            </p:txBody>
          </p:sp>
        </mc:Fallback>
      </mc:AlternateContent>
      <p:sp>
        <p:nvSpPr>
          <p:cNvPr id="12" name="Rectangle 11">
            <a:extLst>
              <a:ext uri="{FF2B5EF4-FFF2-40B4-BE49-F238E27FC236}">
                <a16:creationId xmlns:a16="http://schemas.microsoft.com/office/drawing/2014/main" id="{B32CD3DF-A213-E1DD-EE37-5BBBB224597D}"/>
              </a:ext>
            </a:extLst>
          </p:cNvPr>
          <p:cNvSpPr/>
          <p:nvPr/>
        </p:nvSpPr>
        <p:spPr>
          <a:xfrm>
            <a:off x="6414749" y="182541"/>
            <a:ext cx="888541" cy="383310"/>
          </a:xfrm>
          <a:prstGeom prst="rect">
            <a:avLst/>
          </a:prstGeom>
          <a:solidFill>
            <a:schemeClr val="bg1">
              <a:lumMod val="85000"/>
            </a:schemeClr>
          </a:solidFill>
          <a:ln>
            <a:solidFill>
              <a:schemeClr val="accent5"/>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38FD7FA2-9E88-8D6C-9738-EB8E50B7C1B4}"/>
                  </a:ext>
                </a:extLst>
              </p:cNvPr>
              <p:cNvSpPr txBox="1"/>
              <p:nvPr/>
            </p:nvSpPr>
            <p:spPr>
              <a:xfrm>
                <a:off x="6645990" y="182541"/>
                <a:ext cx="403957" cy="400110"/>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2600" b="0" i="1" smtClean="0">
                          <a:solidFill>
                            <a:schemeClr val="accent5"/>
                          </a:solidFill>
                          <a:latin typeface="Cambria Math" panose="02040503050406030204" pitchFamily="18" charset="0"/>
                        </a:rPr>
                        <m:t>𝑈</m:t>
                      </m:r>
                    </m:oMath>
                  </m:oMathPara>
                </a14:m>
                <a:endParaRPr lang="en-US" sz="2600" dirty="0">
                  <a:solidFill>
                    <a:schemeClr val="accent5"/>
                  </a:solidFill>
                </a:endParaRPr>
              </a:p>
            </p:txBody>
          </p:sp>
        </mc:Choice>
        <mc:Fallback xmlns="">
          <p:sp>
            <p:nvSpPr>
              <p:cNvPr id="8" name="TextBox 7">
                <a:extLst>
                  <a:ext uri="{FF2B5EF4-FFF2-40B4-BE49-F238E27FC236}">
                    <a16:creationId xmlns:a16="http://schemas.microsoft.com/office/drawing/2014/main" id="{38FD7FA2-9E88-8D6C-9738-EB8E50B7C1B4}"/>
                  </a:ext>
                </a:extLst>
              </p:cNvPr>
              <p:cNvSpPr txBox="1">
                <a:spLocks noRot="1" noChangeAspect="1" noMove="1" noResize="1" noEditPoints="1" noAdjustHandles="1" noChangeArrowheads="1" noChangeShapeType="1" noTextEdit="1"/>
              </p:cNvSpPr>
              <p:nvPr/>
            </p:nvSpPr>
            <p:spPr>
              <a:xfrm>
                <a:off x="6645990" y="182541"/>
                <a:ext cx="403957" cy="400110"/>
              </a:xfrm>
              <a:prstGeom prst="rect">
                <a:avLst/>
              </a:prstGeom>
              <a:blipFill>
                <a:blip r:embed="rId7"/>
                <a:stretch>
                  <a:fillRect l="-6250" r="-6250" b="-3030"/>
                </a:stretch>
              </a:blipFill>
            </p:spPr>
            <p:txBody>
              <a:bodyPr/>
              <a:lstStyle/>
              <a:p>
                <a:r>
                  <a:rPr lang="en-US">
                    <a:noFill/>
                  </a:rPr>
                  <a:t> </a:t>
                </a:r>
              </a:p>
            </p:txBody>
          </p:sp>
        </mc:Fallback>
      </mc:AlternateContent>
      <p:sp>
        <p:nvSpPr>
          <p:cNvPr id="13" name="Rectangle 12">
            <a:extLst>
              <a:ext uri="{FF2B5EF4-FFF2-40B4-BE49-F238E27FC236}">
                <a16:creationId xmlns:a16="http://schemas.microsoft.com/office/drawing/2014/main" id="{0B8DEDAE-2C8C-50F4-0783-6336D53A1218}"/>
              </a:ext>
            </a:extLst>
          </p:cNvPr>
          <p:cNvSpPr/>
          <p:nvPr/>
        </p:nvSpPr>
        <p:spPr>
          <a:xfrm>
            <a:off x="311700" y="2369127"/>
            <a:ext cx="8150656" cy="2236124"/>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76141735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919D22-A067-A9CD-50E4-27E544DED3D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5511054-5083-AFFF-515E-D749602AC9DE}"/>
              </a:ext>
            </a:extLst>
          </p:cNvPr>
          <p:cNvSpPr>
            <a:spLocks noGrp="1"/>
          </p:cNvSpPr>
          <p:nvPr>
            <p:ph type="title"/>
          </p:nvPr>
        </p:nvSpPr>
        <p:spPr/>
        <p:txBody>
          <a:bodyPr>
            <a:normAutofit fontScale="90000"/>
          </a:bodyPr>
          <a:lstStyle/>
          <a:p>
            <a:r>
              <a:rPr lang="en-US" dirty="0"/>
              <a:t>Matrix Factorization</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C327DD26-7173-19C0-3D5A-CABB15B50BC1}"/>
                  </a:ext>
                </a:extLst>
              </p:cNvPr>
              <p:cNvSpPr>
                <a:spLocks noGrp="1"/>
              </p:cNvSpPr>
              <p:nvPr>
                <p:ph type="body" idx="1"/>
              </p:nvPr>
            </p:nvSpPr>
            <p:spPr>
              <a:xfrm>
                <a:off x="311700" y="1152475"/>
                <a:ext cx="8520600" cy="3546000"/>
              </a:xfrm>
            </p:spPr>
            <p:txBody>
              <a:bodyPr>
                <a:normAutofit fontScale="92500" lnSpcReduction="10000"/>
              </a:bodyPr>
              <a:lstStyle/>
              <a:p>
                <a:r>
                  <a:rPr lang="en-US" dirty="0"/>
                  <a:t>Do we know methods for </a:t>
                </a:r>
                <a:r>
                  <a:rPr lang="en-US" b="1" dirty="0"/>
                  <a:t>explicit</a:t>
                </a:r>
                <a:r>
                  <a:rPr lang="en-US" dirty="0"/>
                  <a:t> matrix factorization?</a:t>
                </a:r>
              </a:p>
              <a:p>
                <a:pPr lvl="1"/>
                <a:r>
                  <a:rPr lang="en-US" dirty="0"/>
                  <a:t>Input: matrix </a:t>
                </a:r>
                <a14:m>
                  <m:oMath xmlns:m="http://schemas.openxmlformats.org/officeDocument/2006/math">
                    <m:r>
                      <a:rPr lang="en-US" b="0" i="1" smtClean="0">
                        <a:solidFill>
                          <a:schemeClr val="accent5"/>
                        </a:solidFill>
                        <a:latin typeface="Cambria Math" panose="02040503050406030204" pitchFamily="18" charset="0"/>
                      </a:rPr>
                      <m:t>𝑀</m:t>
                    </m:r>
                  </m:oMath>
                </a14:m>
                <a:r>
                  <a:rPr lang="en-US" dirty="0"/>
                  <a:t> of order </a:t>
                </a:r>
                <a14:m>
                  <m:oMath xmlns:m="http://schemas.openxmlformats.org/officeDocument/2006/math">
                    <m:r>
                      <a:rPr lang="en-US" b="0" i="1" smtClean="0">
                        <a:solidFill>
                          <a:schemeClr val="accent5"/>
                        </a:solidFill>
                        <a:latin typeface="Cambria Math" panose="02040503050406030204" pitchFamily="18" charset="0"/>
                      </a:rPr>
                      <m:t>𝑛</m:t>
                    </m:r>
                    <m:r>
                      <a:rPr lang="en-US" b="0" i="1" smtClean="0">
                        <a:solidFill>
                          <a:schemeClr val="accent5"/>
                        </a:solidFill>
                        <a:latin typeface="Cambria Math" panose="02040503050406030204" pitchFamily="18" charset="0"/>
                      </a:rPr>
                      <m:t>×</m:t>
                    </m:r>
                    <m:r>
                      <a:rPr lang="en-US" b="0" i="1" smtClean="0">
                        <a:solidFill>
                          <a:schemeClr val="accent5"/>
                        </a:solidFill>
                        <a:latin typeface="Cambria Math" panose="02040503050406030204" pitchFamily="18" charset="0"/>
                      </a:rPr>
                      <m:t>𝑛</m:t>
                    </m:r>
                  </m:oMath>
                </a14:m>
                <a:r>
                  <a:rPr lang="en-US" dirty="0"/>
                  <a:t>, and lower dimension </a:t>
                </a:r>
                <a14:m>
                  <m:oMath xmlns:m="http://schemas.openxmlformats.org/officeDocument/2006/math">
                    <m:r>
                      <a:rPr lang="en-US" b="0" i="1" smtClean="0">
                        <a:solidFill>
                          <a:schemeClr val="accent5"/>
                        </a:solidFill>
                        <a:latin typeface="Cambria Math" panose="02040503050406030204" pitchFamily="18" charset="0"/>
                      </a:rPr>
                      <m:t>𝑑</m:t>
                    </m:r>
                    <m:r>
                      <a:rPr lang="en-US" b="0" i="1" smtClean="0">
                        <a:solidFill>
                          <a:schemeClr val="accent5"/>
                        </a:solidFill>
                        <a:latin typeface="Cambria Math" panose="02040503050406030204" pitchFamily="18" charset="0"/>
                      </a:rPr>
                      <m:t>≪</m:t>
                    </m:r>
                    <m:r>
                      <a:rPr lang="en-US" b="0" i="1" smtClean="0">
                        <a:solidFill>
                          <a:schemeClr val="accent5"/>
                        </a:solidFill>
                        <a:latin typeface="Cambria Math" panose="02040503050406030204" pitchFamily="18" charset="0"/>
                      </a:rPr>
                      <m:t>𝑛</m:t>
                    </m:r>
                  </m:oMath>
                </a14:m>
                <a:endParaRPr lang="en-US" dirty="0"/>
              </a:p>
              <a:p>
                <a:pPr lvl="1"/>
                <a:r>
                  <a:rPr lang="en-US" dirty="0"/>
                  <a:t>Desired output: matrices </a:t>
                </a:r>
                <a14:m>
                  <m:oMath xmlns:m="http://schemas.openxmlformats.org/officeDocument/2006/math">
                    <m:r>
                      <a:rPr lang="en-US" b="0" i="1" smtClean="0">
                        <a:solidFill>
                          <a:schemeClr val="accent5"/>
                        </a:solidFill>
                        <a:latin typeface="Cambria Math" panose="02040503050406030204" pitchFamily="18" charset="0"/>
                      </a:rPr>
                      <m:t>𝑉</m:t>
                    </m:r>
                    <m:r>
                      <a:rPr lang="en-US" b="0" i="1" smtClean="0">
                        <a:solidFill>
                          <a:schemeClr val="accent5"/>
                        </a:solidFill>
                        <a:latin typeface="Cambria Math" panose="02040503050406030204" pitchFamily="18" charset="0"/>
                      </a:rPr>
                      <m:t>,</m:t>
                    </m:r>
                    <m:r>
                      <a:rPr lang="en-US" b="0" i="1" smtClean="0">
                        <a:solidFill>
                          <a:schemeClr val="accent5"/>
                        </a:solidFill>
                        <a:latin typeface="Cambria Math" panose="02040503050406030204" pitchFamily="18" charset="0"/>
                      </a:rPr>
                      <m:t>𝑈</m:t>
                    </m:r>
                  </m:oMath>
                </a14:m>
                <a:r>
                  <a:rPr lang="en-US" dirty="0">
                    <a:solidFill>
                      <a:schemeClr val="accent5"/>
                    </a:solidFill>
                  </a:rPr>
                  <a:t> </a:t>
                </a:r>
                <a:r>
                  <a:rPr lang="en-US" dirty="0"/>
                  <a:t>of order </a:t>
                </a:r>
                <a14:m>
                  <m:oMath xmlns:m="http://schemas.openxmlformats.org/officeDocument/2006/math">
                    <m:r>
                      <a:rPr lang="en-US" b="0" i="1" smtClean="0">
                        <a:solidFill>
                          <a:schemeClr val="accent5"/>
                        </a:solidFill>
                        <a:latin typeface="Cambria Math" panose="02040503050406030204" pitchFamily="18" charset="0"/>
                      </a:rPr>
                      <m:t>𝑛</m:t>
                    </m:r>
                    <m:r>
                      <a:rPr lang="en-US" b="0" i="1" smtClean="0">
                        <a:solidFill>
                          <a:schemeClr val="accent5"/>
                        </a:solidFill>
                        <a:latin typeface="Cambria Math" panose="02040503050406030204" pitchFamily="18" charset="0"/>
                      </a:rPr>
                      <m:t>×</m:t>
                    </m:r>
                    <m:r>
                      <a:rPr lang="en-US" b="0" i="1" smtClean="0">
                        <a:solidFill>
                          <a:schemeClr val="accent5"/>
                        </a:solidFill>
                        <a:latin typeface="Cambria Math" panose="02040503050406030204" pitchFamily="18" charset="0"/>
                      </a:rPr>
                      <m:t>𝑑</m:t>
                    </m:r>
                    <m:r>
                      <a:rPr lang="en-US" b="0" i="1" smtClean="0">
                        <a:solidFill>
                          <a:schemeClr val="accent5"/>
                        </a:solidFill>
                        <a:latin typeface="Cambria Math" panose="02040503050406030204" pitchFamily="18" charset="0"/>
                      </a:rPr>
                      <m:t>,</m:t>
                    </m:r>
                    <m:r>
                      <a:rPr lang="en-US" b="0" i="1" smtClean="0">
                        <a:solidFill>
                          <a:schemeClr val="accent5"/>
                        </a:solidFill>
                        <a:latin typeface="Cambria Math" panose="02040503050406030204" pitchFamily="18" charset="0"/>
                      </a:rPr>
                      <m:t>𝑑</m:t>
                    </m:r>
                    <m:r>
                      <a:rPr lang="en-US" b="0" i="1" smtClean="0">
                        <a:solidFill>
                          <a:schemeClr val="accent5"/>
                        </a:solidFill>
                        <a:latin typeface="Cambria Math" panose="02040503050406030204" pitchFamily="18" charset="0"/>
                      </a:rPr>
                      <m:t>×</m:t>
                    </m:r>
                    <m:r>
                      <a:rPr lang="en-US" b="0" i="1" smtClean="0">
                        <a:solidFill>
                          <a:schemeClr val="accent5"/>
                        </a:solidFill>
                        <a:latin typeface="Cambria Math" panose="02040503050406030204" pitchFamily="18" charset="0"/>
                      </a:rPr>
                      <m:t>𝑛</m:t>
                    </m:r>
                  </m:oMath>
                </a14:m>
                <a:r>
                  <a:rPr lang="en-US" dirty="0">
                    <a:solidFill>
                      <a:schemeClr val="accent5"/>
                    </a:solidFill>
                  </a:rPr>
                  <a:t> </a:t>
                </a:r>
                <a:r>
                  <a:rPr lang="en-US" dirty="0"/>
                  <a:t>such that </a:t>
                </a:r>
                <a14:m>
                  <m:oMath xmlns:m="http://schemas.openxmlformats.org/officeDocument/2006/math">
                    <m:r>
                      <a:rPr lang="en-US" b="0" i="1" smtClean="0">
                        <a:solidFill>
                          <a:schemeClr val="accent5"/>
                        </a:solidFill>
                        <a:latin typeface="Cambria Math" panose="02040503050406030204" pitchFamily="18" charset="0"/>
                      </a:rPr>
                      <m:t>𝑉𝑈</m:t>
                    </m:r>
                    <m:r>
                      <a:rPr lang="en-US" b="0" i="1" smtClean="0">
                        <a:solidFill>
                          <a:schemeClr val="accent5"/>
                        </a:solidFill>
                        <a:latin typeface="Cambria Math" panose="02040503050406030204" pitchFamily="18" charset="0"/>
                      </a:rPr>
                      <m:t>≈</m:t>
                    </m:r>
                    <m:r>
                      <a:rPr lang="en-US" b="0" i="1" smtClean="0">
                        <a:solidFill>
                          <a:schemeClr val="accent5"/>
                        </a:solidFill>
                        <a:latin typeface="Cambria Math" panose="02040503050406030204" pitchFamily="18" charset="0"/>
                      </a:rPr>
                      <m:t>𝑀</m:t>
                    </m:r>
                  </m:oMath>
                </a14:m>
                <a:endParaRPr lang="en-US" dirty="0"/>
              </a:p>
              <a:p>
                <a:r>
                  <a:rPr lang="en-US" b="1" dirty="0"/>
                  <a:t>Yes</a:t>
                </a:r>
                <a:r>
                  <a:rPr lang="en-US" dirty="0"/>
                  <a:t>: PCA, SVD…</a:t>
                </a:r>
              </a:p>
              <a:p>
                <a:pPr lvl="1"/>
                <a:r>
                  <a:rPr lang="en-US" dirty="0"/>
                  <a:t>Can we use them for word embeddings instead of word2vec?</a:t>
                </a:r>
              </a:p>
              <a:p>
                <a:pPr lvl="1"/>
                <a:r>
                  <a:rPr lang="en-US" dirty="0"/>
                  <a:t>Apparently, sometimes: </a:t>
                </a:r>
                <a:r>
                  <a:rPr lang="en-US" i="1" dirty="0"/>
                  <a:t>“factorization with SVD can achieve solutions that are at least as good as SGNS [for some tasks]” </a:t>
                </a:r>
                <a:r>
                  <a:rPr lang="en-US" sz="1400" dirty="0">
                    <a:solidFill>
                      <a:schemeClr val="accent1">
                        <a:lumMod val="50000"/>
                      </a:schemeClr>
                    </a:solidFill>
                  </a:rPr>
                  <a:t>(Levy &amp; Goldberg, 2014)</a:t>
                </a:r>
              </a:p>
              <a:p>
                <a:r>
                  <a:rPr lang="en-US" dirty="0">
                    <a:solidFill>
                      <a:srgbClr val="7030A0"/>
                    </a:solidFill>
                  </a:rPr>
                  <a:t>Can we combine the word2vec self-supervised learning idea with the matrix factorization view?</a:t>
                </a:r>
              </a:p>
            </p:txBody>
          </p:sp>
        </mc:Choice>
        <mc:Fallback xmlns="">
          <p:sp>
            <p:nvSpPr>
              <p:cNvPr id="3" name="Text Placeholder 2">
                <a:extLst>
                  <a:ext uri="{FF2B5EF4-FFF2-40B4-BE49-F238E27FC236}">
                    <a16:creationId xmlns:a16="http://schemas.microsoft.com/office/drawing/2014/main" id="{C327DD26-7173-19C0-3D5A-CABB15B50BC1}"/>
                  </a:ext>
                </a:extLst>
              </p:cNvPr>
              <p:cNvSpPr>
                <a:spLocks noGrp="1" noRot="1" noChangeAspect="1" noMove="1" noResize="1" noEditPoints="1" noAdjustHandles="1" noChangeArrowheads="1" noChangeShapeType="1" noTextEdit="1"/>
              </p:cNvSpPr>
              <p:nvPr>
                <p:ph type="body" idx="1"/>
              </p:nvPr>
            </p:nvSpPr>
            <p:spPr>
              <a:xfrm>
                <a:off x="311700" y="1152475"/>
                <a:ext cx="8520600" cy="3546000"/>
              </a:xfrm>
              <a:blipFill>
                <a:blip r:embed="rId2"/>
                <a:stretch>
                  <a:fillRect/>
                </a:stretch>
              </a:blipFill>
            </p:spPr>
            <p:txBody>
              <a:bodyPr/>
              <a:lstStyle/>
              <a:p>
                <a:r>
                  <a:rPr lang="en-US">
                    <a:noFill/>
                  </a:rPr>
                  <a:t> </a:t>
                </a:r>
              </a:p>
            </p:txBody>
          </p:sp>
        </mc:Fallback>
      </mc:AlternateContent>
      <p:sp>
        <p:nvSpPr>
          <p:cNvPr id="5" name="Rectangle 4">
            <a:extLst>
              <a:ext uri="{FF2B5EF4-FFF2-40B4-BE49-F238E27FC236}">
                <a16:creationId xmlns:a16="http://schemas.microsoft.com/office/drawing/2014/main" id="{11D55714-775B-1743-19BC-34F3660CB0BF}"/>
              </a:ext>
            </a:extLst>
          </p:cNvPr>
          <p:cNvSpPr/>
          <p:nvPr/>
        </p:nvSpPr>
        <p:spPr>
          <a:xfrm rot="5400000">
            <a:off x="5707366" y="595857"/>
            <a:ext cx="888541" cy="383310"/>
          </a:xfrm>
          <a:prstGeom prst="rect">
            <a:avLst/>
          </a:prstGeom>
          <a:solidFill>
            <a:schemeClr val="bg1">
              <a:lumMod val="85000"/>
            </a:schemeClr>
          </a:solidFill>
          <a:ln>
            <a:solidFill>
              <a:schemeClr val="accent5"/>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FFD9D7DF-059E-6A89-433D-F4BF287DB4F0}"/>
                  </a:ext>
                </a:extLst>
              </p:cNvPr>
              <p:cNvSpPr txBox="1"/>
              <p:nvPr/>
            </p:nvSpPr>
            <p:spPr>
              <a:xfrm>
                <a:off x="5959981" y="583088"/>
                <a:ext cx="383310" cy="400110"/>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2600" b="0" i="1" smtClean="0">
                          <a:solidFill>
                            <a:schemeClr val="accent5"/>
                          </a:solidFill>
                          <a:latin typeface="Cambria Math" panose="02040503050406030204" pitchFamily="18" charset="0"/>
                        </a:rPr>
                        <m:t>𝑉</m:t>
                      </m:r>
                    </m:oMath>
                  </m:oMathPara>
                </a14:m>
                <a:endParaRPr lang="en-US" sz="2600" dirty="0">
                  <a:solidFill>
                    <a:schemeClr val="accent5"/>
                  </a:solidFill>
                </a:endParaRPr>
              </a:p>
            </p:txBody>
          </p:sp>
        </mc:Choice>
        <mc:Fallback xmlns="">
          <p:sp>
            <p:nvSpPr>
              <p:cNvPr id="7" name="TextBox 6">
                <a:extLst>
                  <a:ext uri="{FF2B5EF4-FFF2-40B4-BE49-F238E27FC236}">
                    <a16:creationId xmlns:a16="http://schemas.microsoft.com/office/drawing/2014/main" id="{FFD9D7DF-059E-6A89-433D-F4BF287DB4F0}"/>
                  </a:ext>
                </a:extLst>
              </p:cNvPr>
              <p:cNvSpPr txBox="1">
                <a:spLocks noRot="1" noChangeAspect="1" noMove="1" noResize="1" noEditPoints="1" noAdjustHandles="1" noChangeArrowheads="1" noChangeShapeType="1" noTextEdit="1"/>
              </p:cNvSpPr>
              <p:nvPr/>
            </p:nvSpPr>
            <p:spPr>
              <a:xfrm>
                <a:off x="5959981" y="583088"/>
                <a:ext cx="383310" cy="400110"/>
              </a:xfrm>
              <a:prstGeom prst="rect">
                <a:avLst/>
              </a:prstGeom>
              <a:blipFill>
                <a:blip r:embed="rId3"/>
                <a:stretch>
                  <a:fillRect l="-6452" r="-3226" b="-6250"/>
                </a:stretch>
              </a:blipFill>
            </p:spPr>
            <p:txBody>
              <a:bodyPr/>
              <a:lstStyle/>
              <a:p>
                <a:r>
                  <a:rPr lang="en-US">
                    <a:noFill/>
                  </a:rPr>
                  <a:t> </a:t>
                </a:r>
              </a:p>
            </p:txBody>
          </p:sp>
        </mc:Fallback>
      </mc:AlternateContent>
      <p:sp>
        <p:nvSpPr>
          <p:cNvPr id="9" name="Rectangle 8">
            <a:extLst>
              <a:ext uri="{FF2B5EF4-FFF2-40B4-BE49-F238E27FC236}">
                <a16:creationId xmlns:a16="http://schemas.microsoft.com/office/drawing/2014/main" id="{6E68A398-FB1A-391D-B2D6-2174932845D0}"/>
              </a:ext>
            </a:extLst>
          </p:cNvPr>
          <p:cNvSpPr/>
          <p:nvPr/>
        </p:nvSpPr>
        <p:spPr>
          <a:xfrm rot="5400000">
            <a:off x="7938874" y="338357"/>
            <a:ext cx="888541" cy="898311"/>
          </a:xfrm>
          <a:prstGeom prst="rect">
            <a:avLst/>
          </a:prstGeom>
          <a:solidFill>
            <a:schemeClr val="bg1">
              <a:lumMod val="85000"/>
            </a:schemeClr>
          </a:solidFill>
          <a:ln>
            <a:solidFill>
              <a:schemeClr val="tx1">
                <a:lumMod val="65000"/>
                <a:lumOff val="35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0723C13E-A5DD-A86D-31DA-6DE29E3FBB2C}"/>
                  </a:ext>
                </a:extLst>
              </p:cNvPr>
              <p:cNvSpPr txBox="1"/>
              <p:nvPr/>
            </p:nvSpPr>
            <p:spPr>
              <a:xfrm>
                <a:off x="7257540" y="413811"/>
                <a:ext cx="533699" cy="73866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4200" b="0" i="1" smtClean="0">
                          <a:solidFill>
                            <a:srgbClr val="C00000"/>
                          </a:solidFill>
                          <a:latin typeface="Cambria Math" panose="02040503050406030204" pitchFamily="18" charset="0"/>
                        </a:rPr>
                        <m:t>≈</m:t>
                      </m:r>
                    </m:oMath>
                  </m:oMathPara>
                </a14:m>
                <a:endParaRPr lang="en-US" sz="4200" dirty="0"/>
              </a:p>
            </p:txBody>
          </p:sp>
        </mc:Choice>
        <mc:Fallback xmlns="">
          <p:sp>
            <p:nvSpPr>
              <p:cNvPr id="10" name="TextBox 9">
                <a:extLst>
                  <a:ext uri="{FF2B5EF4-FFF2-40B4-BE49-F238E27FC236}">
                    <a16:creationId xmlns:a16="http://schemas.microsoft.com/office/drawing/2014/main" id="{0723C13E-A5DD-A86D-31DA-6DE29E3FBB2C}"/>
                  </a:ext>
                </a:extLst>
              </p:cNvPr>
              <p:cNvSpPr txBox="1">
                <a:spLocks noRot="1" noChangeAspect="1" noMove="1" noResize="1" noEditPoints="1" noAdjustHandles="1" noChangeArrowheads="1" noChangeShapeType="1" noTextEdit="1"/>
              </p:cNvSpPr>
              <p:nvPr/>
            </p:nvSpPr>
            <p:spPr>
              <a:xfrm>
                <a:off x="7257540" y="413811"/>
                <a:ext cx="533699" cy="738664"/>
              </a:xfrm>
              <a:prstGeom prst="rect">
                <a:avLst/>
              </a:prstGeom>
              <a:blipFill>
                <a:blip r:embed="rId4"/>
                <a:stretch>
                  <a:fillRect l="-6977" r="-1395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ACDDCBE2-D32E-996F-8AAE-8ED0E08AC003}"/>
                  </a:ext>
                </a:extLst>
              </p:cNvPr>
              <p:cNvSpPr txBox="1"/>
              <p:nvPr/>
            </p:nvSpPr>
            <p:spPr>
              <a:xfrm>
                <a:off x="8204852" y="582651"/>
                <a:ext cx="403957" cy="400110"/>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2600" b="0" i="1" smtClean="0">
                          <a:solidFill>
                            <a:schemeClr val="tx1">
                              <a:lumMod val="65000"/>
                              <a:lumOff val="35000"/>
                            </a:schemeClr>
                          </a:solidFill>
                          <a:latin typeface="Cambria Math" panose="02040503050406030204" pitchFamily="18" charset="0"/>
                        </a:rPr>
                        <m:t>𝑀</m:t>
                      </m:r>
                    </m:oMath>
                  </m:oMathPara>
                </a14:m>
                <a:endParaRPr lang="en-US" sz="2600" dirty="0">
                  <a:solidFill>
                    <a:schemeClr val="tx1">
                      <a:lumMod val="65000"/>
                      <a:lumOff val="35000"/>
                    </a:schemeClr>
                  </a:solidFill>
                </a:endParaRPr>
              </a:p>
            </p:txBody>
          </p:sp>
        </mc:Choice>
        <mc:Fallback xmlns="">
          <p:sp>
            <p:nvSpPr>
              <p:cNvPr id="11" name="TextBox 10">
                <a:extLst>
                  <a:ext uri="{FF2B5EF4-FFF2-40B4-BE49-F238E27FC236}">
                    <a16:creationId xmlns:a16="http://schemas.microsoft.com/office/drawing/2014/main" id="{ACDDCBE2-D32E-996F-8AAE-8ED0E08AC003}"/>
                  </a:ext>
                </a:extLst>
              </p:cNvPr>
              <p:cNvSpPr txBox="1">
                <a:spLocks noRot="1" noChangeAspect="1" noMove="1" noResize="1" noEditPoints="1" noAdjustHandles="1" noChangeArrowheads="1" noChangeShapeType="1" noTextEdit="1"/>
              </p:cNvSpPr>
              <p:nvPr/>
            </p:nvSpPr>
            <p:spPr>
              <a:xfrm>
                <a:off x="8204852" y="582651"/>
                <a:ext cx="403957" cy="400110"/>
              </a:xfrm>
              <a:prstGeom prst="rect">
                <a:avLst/>
              </a:prstGeom>
              <a:blipFill>
                <a:blip r:embed="rId5"/>
                <a:stretch>
                  <a:fillRect l="-15625" r="-12500" b="-6250"/>
                </a:stretch>
              </a:blipFill>
            </p:spPr>
            <p:txBody>
              <a:bodyPr/>
              <a:lstStyle/>
              <a:p>
                <a:r>
                  <a:rPr lang="en-US">
                    <a:noFill/>
                  </a:rPr>
                  <a:t> </a:t>
                </a:r>
              </a:p>
            </p:txBody>
          </p:sp>
        </mc:Fallback>
      </mc:AlternateContent>
      <p:sp>
        <p:nvSpPr>
          <p:cNvPr id="12" name="Rectangle 11">
            <a:extLst>
              <a:ext uri="{FF2B5EF4-FFF2-40B4-BE49-F238E27FC236}">
                <a16:creationId xmlns:a16="http://schemas.microsoft.com/office/drawing/2014/main" id="{A0F8B262-F681-C643-9229-434D611695FE}"/>
              </a:ext>
            </a:extLst>
          </p:cNvPr>
          <p:cNvSpPr/>
          <p:nvPr/>
        </p:nvSpPr>
        <p:spPr>
          <a:xfrm>
            <a:off x="6414749" y="182541"/>
            <a:ext cx="888541" cy="383310"/>
          </a:xfrm>
          <a:prstGeom prst="rect">
            <a:avLst/>
          </a:prstGeom>
          <a:solidFill>
            <a:schemeClr val="bg1">
              <a:lumMod val="85000"/>
            </a:schemeClr>
          </a:solidFill>
          <a:ln>
            <a:solidFill>
              <a:schemeClr val="accent5"/>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5B743409-4C9E-BADD-18E7-21924AF26BF7}"/>
                  </a:ext>
                </a:extLst>
              </p:cNvPr>
              <p:cNvSpPr txBox="1"/>
              <p:nvPr/>
            </p:nvSpPr>
            <p:spPr>
              <a:xfrm>
                <a:off x="6645990" y="182541"/>
                <a:ext cx="403957" cy="400110"/>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2600" b="0" i="1" smtClean="0">
                          <a:solidFill>
                            <a:schemeClr val="accent5"/>
                          </a:solidFill>
                          <a:latin typeface="Cambria Math" panose="02040503050406030204" pitchFamily="18" charset="0"/>
                        </a:rPr>
                        <m:t>𝑈</m:t>
                      </m:r>
                    </m:oMath>
                  </m:oMathPara>
                </a14:m>
                <a:endParaRPr lang="en-US" sz="2600" dirty="0">
                  <a:solidFill>
                    <a:schemeClr val="accent5"/>
                  </a:solidFill>
                </a:endParaRPr>
              </a:p>
            </p:txBody>
          </p:sp>
        </mc:Choice>
        <mc:Fallback xmlns="">
          <p:sp>
            <p:nvSpPr>
              <p:cNvPr id="8" name="TextBox 7">
                <a:extLst>
                  <a:ext uri="{FF2B5EF4-FFF2-40B4-BE49-F238E27FC236}">
                    <a16:creationId xmlns:a16="http://schemas.microsoft.com/office/drawing/2014/main" id="{5B743409-4C9E-BADD-18E7-21924AF26BF7}"/>
                  </a:ext>
                </a:extLst>
              </p:cNvPr>
              <p:cNvSpPr txBox="1">
                <a:spLocks noRot="1" noChangeAspect="1" noMove="1" noResize="1" noEditPoints="1" noAdjustHandles="1" noChangeArrowheads="1" noChangeShapeType="1" noTextEdit="1"/>
              </p:cNvSpPr>
              <p:nvPr/>
            </p:nvSpPr>
            <p:spPr>
              <a:xfrm>
                <a:off x="6645990" y="182541"/>
                <a:ext cx="403957" cy="400110"/>
              </a:xfrm>
              <a:prstGeom prst="rect">
                <a:avLst/>
              </a:prstGeom>
              <a:blipFill>
                <a:blip r:embed="rId6"/>
                <a:stretch>
                  <a:fillRect l="-6250" r="-6250" b="-3030"/>
                </a:stretch>
              </a:blipFill>
            </p:spPr>
            <p:txBody>
              <a:bodyPr/>
              <a:lstStyle/>
              <a:p>
                <a:r>
                  <a:rPr lang="en-US">
                    <a:noFill/>
                  </a:rPr>
                  <a:t> </a:t>
                </a:r>
              </a:p>
            </p:txBody>
          </p:sp>
        </mc:Fallback>
      </mc:AlternateContent>
      <p:sp>
        <p:nvSpPr>
          <p:cNvPr id="13" name="Rectangle 12">
            <a:extLst>
              <a:ext uri="{FF2B5EF4-FFF2-40B4-BE49-F238E27FC236}">
                <a16:creationId xmlns:a16="http://schemas.microsoft.com/office/drawing/2014/main" id="{BF1ED816-FDD3-774C-DC19-1AADB5F6578B}"/>
              </a:ext>
            </a:extLst>
          </p:cNvPr>
          <p:cNvSpPr/>
          <p:nvPr/>
        </p:nvSpPr>
        <p:spPr>
          <a:xfrm>
            <a:off x="311700" y="2734887"/>
            <a:ext cx="8150656" cy="1870364"/>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37244553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B2AB78-BEDA-325B-5E27-67C026FB013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8923C27-5E58-517A-1A7D-BF7921B7087B}"/>
              </a:ext>
            </a:extLst>
          </p:cNvPr>
          <p:cNvSpPr>
            <a:spLocks noGrp="1"/>
          </p:cNvSpPr>
          <p:nvPr>
            <p:ph type="title"/>
          </p:nvPr>
        </p:nvSpPr>
        <p:spPr/>
        <p:txBody>
          <a:bodyPr>
            <a:normAutofit fontScale="90000"/>
          </a:bodyPr>
          <a:lstStyle/>
          <a:p>
            <a:r>
              <a:rPr lang="en-US" dirty="0"/>
              <a:t>Matrix Factorization</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157ECDD6-044D-BE97-F576-0B93B841BC9C}"/>
                  </a:ext>
                </a:extLst>
              </p:cNvPr>
              <p:cNvSpPr>
                <a:spLocks noGrp="1"/>
              </p:cNvSpPr>
              <p:nvPr>
                <p:ph type="body" idx="1"/>
              </p:nvPr>
            </p:nvSpPr>
            <p:spPr>
              <a:xfrm>
                <a:off x="311700" y="1152475"/>
                <a:ext cx="8520600" cy="3546000"/>
              </a:xfrm>
            </p:spPr>
            <p:txBody>
              <a:bodyPr>
                <a:normAutofit fontScale="92500" lnSpcReduction="10000"/>
              </a:bodyPr>
              <a:lstStyle/>
              <a:p>
                <a:r>
                  <a:rPr lang="en-US" dirty="0"/>
                  <a:t>Do we know methods for </a:t>
                </a:r>
                <a:r>
                  <a:rPr lang="en-US" b="1" dirty="0"/>
                  <a:t>explicit</a:t>
                </a:r>
                <a:r>
                  <a:rPr lang="en-US" dirty="0"/>
                  <a:t> matrix factorization?</a:t>
                </a:r>
              </a:p>
              <a:p>
                <a:pPr lvl="1"/>
                <a:r>
                  <a:rPr lang="en-US" dirty="0"/>
                  <a:t>Input: matrix </a:t>
                </a:r>
                <a14:m>
                  <m:oMath xmlns:m="http://schemas.openxmlformats.org/officeDocument/2006/math">
                    <m:r>
                      <a:rPr lang="en-US" b="0" i="1" smtClean="0">
                        <a:solidFill>
                          <a:schemeClr val="accent5"/>
                        </a:solidFill>
                        <a:latin typeface="Cambria Math" panose="02040503050406030204" pitchFamily="18" charset="0"/>
                      </a:rPr>
                      <m:t>𝑀</m:t>
                    </m:r>
                  </m:oMath>
                </a14:m>
                <a:r>
                  <a:rPr lang="en-US" dirty="0"/>
                  <a:t> of order </a:t>
                </a:r>
                <a14:m>
                  <m:oMath xmlns:m="http://schemas.openxmlformats.org/officeDocument/2006/math">
                    <m:r>
                      <a:rPr lang="en-US" b="0" i="1" smtClean="0">
                        <a:solidFill>
                          <a:schemeClr val="accent5"/>
                        </a:solidFill>
                        <a:latin typeface="Cambria Math" panose="02040503050406030204" pitchFamily="18" charset="0"/>
                      </a:rPr>
                      <m:t>𝑛</m:t>
                    </m:r>
                    <m:r>
                      <a:rPr lang="en-US" b="0" i="1" smtClean="0">
                        <a:solidFill>
                          <a:schemeClr val="accent5"/>
                        </a:solidFill>
                        <a:latin typeface="Cambria Math" panose="02040503050406030204" pitchFamily="18" charset="0"/>
                      </a:rPr>
                      <m:t>×</m:t>
                    </m:r>
                    <m:r>
                      <a:rPr lang="en-US" b="0" i="1" smtClean="0">
                        <a:solidFill>
                          <a:schemeClr val="accent5"/>
                        </a:solidFill>
                        <a:latin typeface="Cambria Math" panose="02040503050406030204" pitchFamily="18" charset="0"/>
                      </a:rPr>
                      <m:t>𝑛</m:t>
                    </m:r>
                  </m:oMath>
                </a14:m>
                <a:r>
                  <a:rPr lang="en-US" dirty="0"/>
                  <a:t>, and lower dimension </a:t>
                </a:r>
                <a14:m>
                  <m:oMath xmlns:m="http://schemas.openxmlformats.org/officeDocument/2006/math">
                    <m:r>
                      <a:rPr lang="en-US" b="0" i="1" smtClean="0">
                        <a:solidFill>
                          <a:schemeClr val="accent5"/>
                        </a:solidFill>
                        <a:latin typeface="Cambria Math" panose="02040503050406030204" pitchFamily="18" charset="0"/>
                      </a:rPr>
                      <m:t>𝑑</m:t>
                    </m:r>
                    <m:r>
                      <a:rPr lang="en-US" b="0" i="1" smtClean="0">
                        <a:solidFill>
                          <a:schemeClr val="accent5"/>
                        </a:solidFill>
                        <a:latin typeface="Cambria Math" panose="02040503050406030204" pitchFamily="18" charset="0"/>
                      </a:rPr>
                      <m:t>≪</m:t>
                    </m:r>
                    <m:r>
                      <a:rPr lang="en-US" b="0" i="1" smtClean="0">
                        <a:solidFill>
                          <a:schemeClr val="accent5"/>
                        </a:solidFill>
                        <a:latin typeface="Cambria Math" panose="02040503050406030204" pitchFamily="18" charset="0"/>
                      </a:rPr>
                      <m:t>𝑛</m:t>
                    </m:r>
                  </m:oMath>
                </a14:m>
                <a:endParaRPr lang="en-US" dirty="0"/>
              </a:p>
              <a:p>
                <a:pPr lvl="1"/>
                <a:r>
                  <a:rPr lang="en-US" dirty="0"/>
                  <a:t>Desired output: matrices </a:t>
                </a:r>
                <a14:m>
                  <m:oMath xmlns:m="http://schemas.openxmlformats.org/officeDocument/2006/math">
                    <m:r>
                      <a:rPr lang="en-US" b="0" i="1" smtClean="0">
                        <a:solidFill>
                          <a:schemeClr val="accent5"/>
                        </a:solidFill>
                        <a:latin typeface="Cambria Math" panose="02040503050406030204" pitchFamily="18" charset="0"/>
                      </a:rPr>
                      <m:t>𝑉</m:t>
                    </m:r>
                    <m:r>
                      <a:rPr lang="en-US" b="0" i="1" smtClean="0">
                        <a:solidFill>
                          <a:schemeClr val="accent5"/>
                        </a:solidFill>
                        <a:latin typeface="Cambria Math" panose="02040503050406030204" pitchFamily="18" charset="0"/>
                      </a:rPr>
                      <m:t>,</m:t>
                    </m:r>
                    <m:r>
                      <a:rPr lang="en-US" b="0" i="1" smtClean="0">
                        <a:solidFill>
                          <a:schemeClr val="accent5"/>
                        </a:solidFill>
                        <a:latin typeface="Cambria Math" panose="02040503050406030204" pitchFamily="18" charset="0"/>
                      </a:rPr>
                      <m:t>𝑈</m:t>
                    </m:r>
                  </m:oMath>
                </a14:m>
                <a:r>
                  <a:rPr lang="en-US" dirty="0">
                    <a:solidFill>
                      <a:schemeClr val="accent5"/>
                    </a:solidFill>
                  </a:rPr>
                  <a:t> </a:t>
                </a:r>
                <a:r>
                  <a:rPr lang="en-US" dirty="0"/>
                  <a:t>of order </a:t>
                </a:r>
                <a14:m>
                  <m:oMath xmlns:m="http://schemas.openxmlformats.org/officeDocument/2006/math">
                    <m:r>
                      <a:rPr lang="en-US" b="0" i="1" smtClean="0">
                        <a:solidFill>
                          <a:schemeClr val="accent5"/>
                        </a:solidFill>
                        <a:latin typeface="Cambria Math" panose="02040503050406030204" pitchFamily="18" charset="0"/>
                      </a:rPr>
                      <m:t>𝑛</m:t>
                    </m:r>
                    <m:r>
                      <a:rPr lang="en-US" b="0" i="1" smtClean="0">
                        <a:solidFill>
                          <a:schemeClr val="accent5"/>
                        </a:solidFill>
                        <a:latin typeface="Cambria Math" panose="02040503050406030204" pitchFamily="18" charset="0"/>
                      </a:rPr>
                      <m:t>×</m:t>
                    </m:r>
                    <m:r>
                      <a:rPr lang="en-US" b="0" i="1" smtClean="0">
                        <a:solidFill>
                          <a:schemeClr val="accent5"/>
                        </a:solidFill>
                        <a:latin typeface="Cambria Math" panose="02040503050406030204" pitchFamily="18" charset="0"/>
                      </a:rPr>
                      <m:t>𝑑</m:t>
                    </m:r>
                    <m:r>
                      <a:rPr lang="en-US" b="0" i="1" smtClean="0">
                        <a:solidFill>
                          <a:schemeClr val="accent5"/>
                        </a:solidFill>
                        <a:latin typeface="Cambria Math" panose="02040503050406030204" pitchFamily="18" charset="0"/>
                      </a:rPr>
                      <m:t>,</m:t>
                    </m:r>
                    <m:r>
                      <a:rPr lang="en-US" b="0" i="1" smtClean="0">
                        <a:solidFill>
                          <a:schemeClr val="accent5"/>
                        </a:solidFill>
                        <a:latin typeface="Cambria Math" panose="02040503050406030204" pitchFamily="18" charset="0"/>
                      </a:rPr>
                      <m:t>𝑑</m:t>
                    </m:r>
                    <m:r>
                      <a:rPr lang="en-US" b="0" i="1" smtClean="0">
                        <a:solidFill>
                          <a:schemeClr val="accent5"/>
                        </a:solidFill>
                        <a:latin typeface="Cambria Math" panose="02040503050406030204" pitchFamily="18" charset="0"/>
                      </a:rPr>
                      <m:t>×</m:t>
                    </m:r>
                    <m:r>
                      <a:rPr lang="en-US" b="0" i="1" smtClean="0">
                        <a:solidFill>
                          <a:schemeClr val="accent5"/>
                        </a:solidFill>
                        <a:latin typeface="Cambria Math" panose="02040503050406030204" pitchFamily="18" charset="0"/>
                      </a:rPr>
                      <m:t>𝑛</m:t>
                    </m:r>
                  </m:oMath>
                </a14:m>
                <a:r>
                  <a:rPr lang="en-US" dirty="0">
                    <a:solidFill>
                      <a:schemeClr val="accent5"/>
                    </a:solidFill>
                  </a:rPr>
                  <a:t> </a:t>
                </a:r>
                <a:r>
                  <a:rPr lang="en-US" dirty="0"/>
                  <a:t>such that </a:t>
                </a:r>
                <a14:m>
                  <m:oMath xmlns:m="http://schemas.openxmlformats.org/officeDocument/2006/math">
                    <m:r>
                      <a:rPr lang="en-US" b="0" i="1" smtClean="0">
                        <a:solidFill>
                          <a:schemeClr val="accent5"/>
                        </a:solidFill>
                        <a:latin typeface="Cambria Math" panose="02040503050406030204" pitchFamily="18" charset="0"/>
                      </a:rPr>
                      <m:t>𝑉𝑈</m:t>
                    </m:r>
                    <m:r>
                      <a:rPr lang="en-US" b="0" i="1" smtClean="0">
                        <a:solidFill>
                          <a:schemeClr val="accent5"/>
                        </a:solidFill>
                        <a:latin typeface="Cambria Math" panose="02040503050406030204" pitchFamily="18" charset="0"/>
                      </a:rPr>
                      <m:t>≈</m:t>
                    </m:r>
                    <m:r>
                      <a:rPr lang="en-US" b="0" i="1" smtClean="0">
                        <a:solidFill>
                          <a:schemeClr val="accent5"/>
                        </a:solidFill>
                        <a:latin typeface="Cambria Math" panose="02040503050406030204" pitchFamily="18" charset="0"/>
                      </a:rPr>
                      <m:t>𝑀</m:t>
                    </m:r>
                  </m:oMath>
                </a14:m>
                <a:endParaRPr lang="en-US" dirty="0"/>
              </a:p>
              <a:p>
                <a:r>
                  <a:rPr lang="en-US" b="1" dirty="0"/>
                  <a:t>Yes</a:t>
                </a:r>
                <a:r>
                  <a:rPr lang="en-US" dirty="0"/>
                  <a:t>: PCA, SVD…</a:t>
                </a:r>
              </a:p>
              <a:p>
                <a:pPr lvl="1"/>
                <a:r>
                  <a:rPr lang="en-US" dirty="0"/>
                  <a:t>Can we use them for word embeddings instead of word2vec?</a:t>
                </a:r>
              </a:p>
              <a:p>
                <a:pPr lvl="1"/>
                <a:r>
                  <a:rPr lang="en-US" dirty="0"/>
                  <a:t>Apparently, sometimes: </a:t>
                </a:r>
                <a:r>
                  <a:rPr lang="en-US" i="1" dirty="0"/>
                  <a:t>“factorization with SVD can achieve solutions that are at least as good as SGNS [for some tasks]” </a:t>
                </a:r>
                <a:r>
                  <a:rPr lang="en-US" sz="1400" dirty="0">
                    <a:solidFill>
                      <a:schemeClr val="accent1">
                        <a:lumMod val="50000"/>
                      </a:schemeClr>
                    </a:solidFill>
                  </a:rPr>
                  <a:t>(Levy &amp; Goldberg, 2014)</a:t>
                </a:r>
              </a:p>
              <a:p>
                <a:r>
                  <a:rPr lang="en-US" dirty="0">
                    <a:solidFill>
                      <a:srgbClr val="7030A0"/>
                    </a:solidFill>
                  </a:rPr>
                  <a:t>Can we combine the word2vec self-supervised learning idea with the matrix factorization view?</a:t>
                </a:r>
              </a:p>
            </p:txBody>
          </p:sp>
        </mc:Choice>
        <mc:Fallback xmlns="">
          <p:sp>
            <p:nvSpPr>
              <p:cNvPr id="3" name="Text Placeholder 2">
                <a:extLst>
                  <a:ext uri="{FF2B5EF4-FFF2-40B4-BE49-F238E27FC236}">
                    <a16:creationId xmlns:a16="http://schemas.microsoft.com/office/drawing/2014/main" id="{157ECDD6-044D-BE97-F576-0B93B841BC9C}"/>
                  </a:ext>
                </a:extLst>
              </p:cNvPr>
              <p:cNvSpPr>
                <a:spLocks noGrp="1" noRot="1" noChangeAspect="1" noMove="1" noResize="1" noEditPoints="1" noAdjustHandles="1" noChangeArrowheads="1" noChangeShapeType="1" noTextEdit="1"/>
              </p:cNvSpPr>
              <p:nvPr>
                <p:ph type="body" idx="1"/>
              </p:nvPr>
            </p:nvSpPr>
            <p:spPr>
              <a:xfrm>
                <a:off x="311700" y="1152475"/>
                <a:ext cx="8520600" cy="3546000"/>
              </a:xfrm>
              <a:blipFill>
                <a:blip r:embed="rId2"/>
                <a:stretch>
                  <a:fillRect/>
                </a:stretch>
              </a:blipFill>
            </p:spPr>
            <p:txBody>
              <a:bodyPr/>
              <a:lstStyle/>
              <a:p>
                <a:r>
                  <a:rPr lang="en-US">
                    <a:noFill/>
                  </a:rPr>
                  <a:t> </a:t>
                </a:r>
              </a:p>
            </p:txBody>
          </p:sp>
        </mc:Fallback>
      </mc:AlternateContent>
      <p:sp>
        <p:nvSpPr>
          <p:cNvPr id="5" name="Rectangle 4">
            <a:extLst>
              <a:ext uri="{FF2B5EF4-FFF2-40B4-BE49-F238E27FC236}">
                <a16:creationId xmlns:a16="http://schemas.microsoft.com/office/drawing/2014/main" id="{54D43A2B-840C-BFF3-1FCB-445C7C301BAB}"/>
              </a:ext>
            </a:extLst>
          </p:cNvPr>
          <p:cNvSpPr/>
          <p:nvPr/>
        </p:nvSpPr>
        <p:spPr>
          <a:xfrm rot="5400000">
            <a:off x="5707366" y="595857"/>
            <a:ext cx="888541" cy="383310"/>
          </a:xfrm>
          <a:prstGeom prst="rect">
            <a:avLst/>
          </a:prstGeom>
          <a:solidFill>
            <a:schemeClr val="bg1">
              <a:lumMod val="85000"/>
            </a:schemeClr>
          </a:solidFill>
          <a:ln>
            <a:solidFill>
              <a:schemeClr val="accent5"/>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8929EC04-51DA-995E-2F08-D1B699454ADC}"/>
                  </a:ext>
                </a:extLst>
              </p:cNvPr>
              <p:cNvSpPr txBox="1"/>
              <p:nvPr/>
            </p:nvSpPr>
            <p:spPr>
              <a:xfrm>
                <a:off x="5959981" y="583088"/>
                <a:ext cx="383310" cy="400110"/>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2600" b="0" i="1" smtClean="0">
                          <a:solidFill>
                            <a:schemeClr val="accent5"/>
                          </a:solidFill>
                          <a:latin typeface="Cambria Math" panose="02040503050406030204" pitchFamily="18" charset="0"/>
                        </a:rPr>
                        <m:t>𝑉</m:t>
                      </m:r>
                    </m:oMath>
                  </m:oMathPara>
                </a14:m>
                <a:endParaRPr lang="en-US" sz="2600" dirty="0">
                  <a:solidFill>
                    <a:schemeClr val="accent5"/>
                  </a:solidFill>
                </a:endParaRPr>
              </a:p>
            </p:txBody>
          </p:sp>
        </mc:Choice>
        <mc:Fallback xmlns="">
          <p:sp>
            <p:nvSpPr>
              <p:cNvPr id="7" name="TextBox 6">
                <a:extLst>
                  <a:ext uri="{FF2B5EF4-FFF2-40B4-BE49-F238E27FC236}">
                    <a16:creationId xmlns:a16="http://schemas.microsoft.com/office/drawing/2014/main" id="{8929EC04-51DA-995E-2F08-D1B699454ADC}"/>
                  </a:ext>
                </a:extLst>
              </p:cNvPr>
              <p:cNvSpPr txBox="1">
                <a:spLocks noRot="1" noChangeAspect="1" noMove="1" noResize="1" noEditPoints="1" noAdjustHandles="1" noChangeArrowheads="1" noChangeShapeType="1" noTextEdit="1"/>
              </p:cNvSpPr>
              <p:nvPr/>
            </p:nvSpPr>
            <p:spPr>
              <a:xfrm>
                <a:off x="5959981" y="583088"/>
                <a:ext cx="383310" cy="400110"/>
              </a:xfrm>
              <a:prstGeom prst="rect">
                <a:avLst/>
              </a:prstGeom>
              <a:blipFill>
                <a:blip r:embed="rId3"/>
                <a:stretch>
                  <a:fillRect l="-6452" r="-3226" b="-6250"/>
                </a:stretch>
              </a:blipFill>
            </p:spPr>
            <p:txBody>
              <a:bodyPr/>
              <a:lstStyle/>
              <a:p>
                <a:r>
                  <a:rPr lang="en-US">
                    <a:noFill/>
                  </a:rPr>
                  <a:t> </a:t>
                </a:r>
              </a:p>
            </p:txBody>
          </p:sp>
        </mc:Fallback>
      </mc:AlternateContent>
      <p:sp>
        <p:nvSpPr>
          <p:cNvPr id="9" name="Rectangle 8">
            <a:extLst>
              <a:ext uri="{FF2B5EF4-FFF2-40B4-BE49-F238E27FC236}">
                <a16:creationId xmlns:a16="http://schemas.microsoft.com/office/drawing/2014/main" id="{A45CAA20-774B-0166-5EB8-6EF0924D1A08}"/>
              </a:ext>
            </a:extLst>
          </p:cNvPr>
          <p:cNvSpPr/>
          <p:nvPr/>
        </p:nvSpPr>
        <p:spPr>
          <a:xfrm rot="5400000">
            <a:off x="7938874" y="338357"/>
            <a:ext cx="888541" cy="898311"/>
          </a:xfrm>
          <a:prstGeom prst="rect">
            <a:avLst/>
          </a:prstGeom>
          <a:solidFill>
            <a:schemeClr val="bg1">
              <a:lumMod val="85000"/>
            </a:schemeClr>
          </a:solidFill>
          <a:ln>
            <a:solidFill>
              <a:schemeClr val="tx1">
                <a:lumMod val="65000"/>
                <a:lumOff val="35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446326FD-5162-DF3D-3E0F-AFA80A9F4C30}"/>
                  </a:ext>
                </a:extLst>
              </p:cNvPr>
              <p:cNvSpPr txBox="1"/>
              <p:nvPr/>
            </p:nvSpPr>
            <p:spPr>
              <a:xfrm>
                <a:off x="7257540" y="413811"/>
                <a:ext cx="533699" cy="73866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4200" b="0" i="1" smtClean="0">
                          <a:solidFill>
                            <a:srgbClr val="C00000"/>
                          </a:solidFill>
                          <a:latin typeface="Cambria Math" panose="02040503050406030204" pitchFamily="18" charset="0"/>
                        </a:rPr>
                        <m:t>≈</m:t>
                      </m:r>
                    </m:oMath>
                  </m:oMathPara>
                </a14:m>
                <a:endParaRPr lang="en-US" sz="4200" dirty="0"/>
              </a:p>
            </p:txBody>
          </p:sp>
        </mc:Choice>
        <mc:Fallback xmlns="">
          <p:sp>
            <p:nvSpPr>
              <p:cNvPr id="10" name="TextBox 9">
                <a:extLst>
                  <a:ext uri="{FF2B5EF4-FFF2-40B4-BE49-F238E27FC236}">
                    <a16:creationId xmlns:a16="http://schemas.microsoft.com/office/drawing/2014/main" id="{446326FD-5162-DF3D-3E0F-AFA80A9F4C30}"/>
                  </a:ext>
                </a:extLst>
              </p:cNvPr>
              <p:cNvSpPr txBox="1">
                <a:spLocks noRot="1" noChangeAspect="1" noMove="1" noResize="1" noEditPoints="1" noAdjustHandles="1" noChangeArrowheads="1" noChangeShapeType="1" noTextEdit="1"/>
              </p:cNvSpPr>
              <p:nvPr/>
            </p:nvSpPr>
            <p:spPr>
              <a:xfrm>
                <a:off x="7257540" y="413811"/>
                <a:ext cx="533699" cy="738664"/>
              </a:xfrm>
              <a:prstGeom prst="rect">
                <a:avLst/>
              </a:prstGeom>
              <a:blipFill>
                <a:blip r:embed="rId4"/>
                <a:stretch>
                  <a:fillRect l="-6977" r="-1395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9B35EB38-B2E4-1FC8-A19F-04790DF9C99D}"/>
                  </a:ext>
                </a:extLst>
              </p:cNvPr>
              <p:cNvSpPr txBox="1"/>
              <p:nvPr/>
            </p:nvSpPr>
            <p:spPr>
              <a:xfrm>
                <a:off x="8204852" y="582651"/>
                <a:ext cx="403957" cy="400110"/>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2600" b="0" i="1" smtClean="0">
                          <a:solidFill>
                            <a:schemeClr val="tx1">
                              <a:lumMod val="65000"/>
                              <a:lumOff val="35000"/>
                            </a:schemeClr>
                          </a:solidFill>
                          <a:latin typeface="Cambria Math" panose="02040503050406030204" pitchFamily="18" charset="0"/>
                        </a:rPr>
                        <m:t>𝑀</m:t>
                      </m:r>
                    </m:oMath>
                  </m:oMathPara>
                </a14:m>
                <a:endParaRPr lang="en-US" sz="2600" dirty="0">
                  <a:solidFill>
                    <a:schemeClr val="tx1">
                      <a:lumMod val="65000"/>
                      <a:lumOff val="35000"/>
                    </a:schemeClr>
                  </a:solidFill>
                </a:endParaRPr>
              </a:p>
            </p:txBody>
          </p:sp>
        </mc:Choice>
        <mc:Fallback xmlns="">
          <p:sp>
            <p:nvSpPr>
              <p:cNvPr id="11" name="TextBox 10">
                <a:extLst>
                  <a:ext uri="{FF2B5EF4-FFF2-40B4-BE49-F238E27FC236}">
                    <a16:creationId xmlns:a16="http://schemas.microsoft.com/office/drawing/2014/main" id="{9B35EB38-B2E4-1FC8-A19F-04790DF9C99D}"/>
                  </a:ext>
                </a:extLst>
              </p:cNvPr>
              <p:cNvSpPr txBox="1">
                <a:spLocks noRot="1" noChangeAspect="1" noMove="1" noResize="1" noEditPoints="1" noAdjustHandles="1" noChangeArrowheads="1" noChangeShapeType="1" noTextEdit="1"/>
              </p:cNvSpPr>
              <p:nvPr/>
            </p:nvSpPr>
            <p:spPr>
              <a:xfrm>
                <a:off x="8204852" y="582651"/>
                <a:ext cx="403957" cy="400110"/>
              </a:xfrm>
              <a:prstGeom prst="rect">
                <a:avLst/>
              </a:prstGeom>
              <a:blipFill>
                <a:blip r:embed="rId5"/>
                <a:stretch>
                  <a:fillRect l="-15625" r="-12500" b="-6250"/>
                </a:stretch>
              </a:blipFill>
            </p:spPr>
            <p:txBody>
              <a:bodyPr/>
              <a:lstStyle/>
              <a:p>
                <a:r>
                  <a:rPr lang="en-US">
                    <a:noFill/>
                  </a:rPr>
                  <a:t> </a:t>
                </a:r>
              </a:p>
            </p:txBody>
          </p:sp>
        </mc:Fallback>
      </mc:AlternateContent>
      <p:sp>
        <p:nvSpPr>
          <p:cNvPr id="12" name="Rectangle 11">
            <a:extLst>
              <a:ext uri="{FF2B5EF4-FFF2-40B4-BE49-F238E27FC236}">
                <a16:creationId xmlns:a16="http://schemas.microsoft.com/office/drawing/2014/main" id="{7AEA9AC8-368D-CE3C-F0D9-64C50BE44ECC}"/>
              </a:ext>
            </a:extLst>
          </p:cNvPr>
          <p:cNvSpPr/>
          <p:nvPr/>
        </p:nvSpPr>
        <p:spPr>
          <a:xfrm>
            <a:off x="6414749" y="182541"/>
            <a:ext cx="888541" cy="383310"/>
          </a:xfrm>
          <a:prstGeom prst="rect">
            <a:avLst/>
          </a:prstGeom>
          <a:solidFill>
            <a:schemeClr val="bg1">
              <a:lumMod val="85000"/>
            </a:schemeClr>
          </a:solidFill>
          <a:ln>
            <a:solidFill>
              <a:schemeClr val="accent5"/>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C272298B-55E1-E597-CE4D-AADC42C136F0}"/>
                  </a:ext>
                </a:extLst>
              </p:cNvPr>
              <p:cNvSpPr txBox="1"/>
              <p:nvPr/>
            </p:nvSpPr>
            <p:spPr>
              <a:xfrm>
                <a:off x="6645990" y="182541"/>
                <a:ext cx="403957" cy="400110"/>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2600" b="0" i="1" smtClean="0">
                          <a:solidFill>
                            <a:schemeClr val="accent5"/>
                          </a:solidFill>
                          <a:latin typeface="Cambria Math" panose="02040503050406030204" pitchFamily="18" charset="0"/>
                        </a:rPr>
                        <m:t>𝑈</m:t>
                      </m:r>
                    </m:oMath>
                  </m:oMathPara>
                </a14:m>
                <a:endParaRPr lang="en-US" sz="2600" dirty="0">
                  <a:solidFill>
                    <a:schemeClr val="accent5"/>
                  </a:solidFill>
                </a:endParaRPr>
              </a:p>
            </p:txBody>
          </p:sp>
        </mc:Choice>
        <mc:Fallback xmlns="">
          <p:sp>
            <p:nvSpPr>
              <p:cNvPr id="8" name="TextBox 7">
                <a:extLst>
                  <a:ext uri="{FF2B5EF4-FFF2-40B4-BE49-F238E27FC236}">
                    <a16:creationId xmlns:a16="http://schemas.microsoft.com/office/drawing/2014/main" id="{C272298B-55E1-E597-CE4D-AADC42C136F0}"/>
                  </a:ext>
                </a:extLst>
              </p:cNvPr>
              <p:cNvSpPr txBox="1">
                <a:spLocks noRot="1" noChangeAspect="1" noMove="1" noResize="1" noEditPoints="1" noAdjustHandles="1" noChangeArrowheads="1" noChangeShapeType="1" noTextEdit="1"/>
              </p:cNvSpPr>
              <p:nvPr/>
            </p:nvSpPr>
            <p:spPr>
              <a:xfrm>
                <a:off x="6645990" y="182541"/>
                <a:ext cx="403957" cy="400110"/>
              </a:xfrm>
              <a:prstGeom prst="rect">
                <a:avLst/>
              </a:prstGeom>
              <a:blipFill>
                <a:blip r:embed="rId6"/>
                <a:stretch>
                  <a:fillRect l="-6250" r="-6250" b="-3030"/>
                </a:stretch>
              </a:blipFill>
            </p:spPr>
            <p:txBody>
              <a:bodyPr/>
              <a:lstStyle/>
              <a:p>
                <a:r>
                  <a:rPr lang="en-US">
                    <a:noFill/>
                  </a:rPr>
                  <a:t> </a:t>
                </a:r>
              </a:p>
            </p:txBody>
          </p:sp>
        </mc:Fallback>
      </mc:AlternateContent>
      <p:sp>
        <p:nvSpPr>
          <p:cNvPr id="13" name="Rectangle 12">
            <a:extLst>
              <a:ext uri="{FF2B5EF4-FFF2-40B4-BE49-F238E27FC236}">
                <a16:creationId xmlns:a16="http://schemas.microsoft.com/office/drawing/2014/main" id="{71C26666-D8B3-2CC6-92D9-CB33CBF8C51C}"/>
              </a:ext>
            </a:extLst>
          </p:cNvPr>
          <p:cNvSpPr/>
          <p:nvPr/>
        </p:nvSpPr>
        <p:spPr>
          <a:xfrm>
            <a:off x="311700" y="3092335"/>
            <a:ext cx="8150656" cy="1512916"/>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1578645307"/>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267848-AB73-E3CD-6F09-D81BA72242B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3FD9EE0-6061-B7A6-95B3-56EBA656AF95}"/>
              </a:ext>
            </a:extLst>
          </p:cNvPr>
          <p:cNvSpPr>
            <a:spLocks noGrp="1"/>
          </p:cNvSpPr>
          <p:nvPr>
            <p:ph type="title"/>
          </p:nvPr>
        </p:nvSpPr>
        <p:spPr/>
        <p:txBody>
          <a:bodyPr>
            <a:normAutofit fontScale="90000"/>
          </a:bodyPr>
          <a:lstStyle/>
          <a:p>
            <a:r>
              <a:rPr lang="en-US" dirty="0"/>
              <a:t>Matrix Factorization</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05F3D98E-5732-16CD-9435-ED44CF52789F}"/>
                  </a:ext>
                </a:extLst>
              </p:cNvPr>
              <p:cNvSpPr>
                <a:spLocks noGrp="1"/>
              </p:cNvSpPr>
              <p:nvPr>
                <p:ph type="body" idx="1"/>
              </p:nvPr>
            </p:nvSpPr>
            <p:spPr>
              <a:xfrm>
                <a:off x="311700" y="1152475"/>
                <a:ext cx="8520600" cy="3546000"/>
              </a:xfrm>
            </p:spPr>
            <p:txBody>
              <a:bodyPr>
                <a:normAutofit fontScale="92500" lnSpcReduction="10000"/>
              </a:bodyPr>
              <a:lstStyle/>
              <a:p>
                <a:r>
                  <a:rPr lang="en-US" dirty="0"/>
                  <a:t>Do we know methods for </a:t>
                </a:r>
                <a:r>
                  <a:rPr lang="en-US" b="1" dirty="0"/>
                  <a:t>explicit</a:t>
                </a:r>
                <a:r>
                  <a:rPr lang="en-US" dirty="0"/>
                  <a:t> matrix factorization?</a:t>
                </a:r>
              </a:p>
              <a:p>
                <a:pPr lvl="1"/>
                <a:r>
                  <a:rPr lang="en-US" dirty="0"/>
                  <a:t>Input: matrix </a:t>
                </a:r>
                <a14:m>
                  <m:oMath xmlns:m="http://schemas.openxmlformats.org/officeDocument/2006/math">
                    <m:r>
                      <a:rPr lang="en-US" b="0" i="1" smtClean="0">
                        <a:solidFill>
                          <a:schemeClr val="accent5"/>
                        </a:solidFill>
                        <a:latin typeface="Cambria Math" panose="02040503050406030204" pitchFamily="18" charset="0"/>
                      </a:rPr>
                      <m:t>𝑀</m:t>
                    </m:r>
                  </m:oMath>
                </a14:m>
                <a:r>
                  <a:rPr lang="en-US" dirty="0"/>
                  <a:t> of order </a:t>
                </a:r>
                <a14:m>
                  <m:oMath xmlns:m="http://schemas.openxmlformats.org/officeDocument/2006/math">
                    <m:r>
                      <a:rPr lang="en-US" b="0" i="1" smtClean="0">
                        <a:solidFill>
                          <a:schemeClr val="accent5"/>
                        </a:solidFill>
                        <a:latin typeface="Cambria Math" panose="02040503050406030204" pitchFamily="18" charset="0"/>
                      </a:rPr>
                      <m:t>𝑛</m:t>
                    </m:r>
                    <m:r>
                      <a:rPr lang="en-US" b="0" i="1" smtClean="0">
                        <a:solidFill>
                          <a:schemeClr val="accent5"/>
                        </a:solidFill>
                        <a:latin typeface="Cambria Math" panose="02040503050406030204" pitchFamily="18" charset="0"/>
                      </a:rPr>
                      <m:t>×</m:t>
                    </m:r>
                    <m:r>
                      <a:rPr lang="en-US" b="0" i="1" smtClean="0">
                        <a:solidFill>
                          <a:schemeClr val="accent5"/>
                        </a:solidFill>
                        <a:latin typeface="Cambria Math" panose="02040503050406030204" pitchFamily="18" charset="0"/>
                      </a:rPr>
                      <m:t>𝑛</m:t>
                    </m:r>
                  </m:oMath>
                </a14:m>
                <a:r>
                  <a:rPr lang="en-US" dirty="0"/>
                  <a:t>, and lower dimension </a:t>
                </a:r>
                <a14:m>
                  <m:oMath xmlns:m="http://schemas.openxmlformats.org/officeDocument/2006/math">
                    <m:r>
                      <a:rPr lang="en-US" b="0" i="1" smtClean="0">
                        <a:solidFill>
                          <a:schemeClr val="accent5"/>
                        </a:solidFill>
                        <a:latin typeface="Cambria Math" panose="02040503050406030204" pitchFamily="18" charset="0"/>
                      </a:rPr>
                      <m:t>𝑑</m:t>
                    </m:r>
                    <m:r>
                      <a:rPr lang="en-US" b="0" i="1" smtClean="0">
                        <a:solidFill>
                          <a:schemeClr val="accent5"/>
                        </a:solidFill>
                        <a:latin typeface="Cambria Math" panose="02040503050406030204" pitchFamily="18" charset="0"/>
                      </a:rPr>
                      <m:t>≪</m:t>
                    </m:r>
                    <m:r>
                      <a:rPr lang="en-US" b="0" i="1" smtClean="0">
                        <a:solidFill>
                          <a:schemeClr val="accent5"/>
                        </a:solidFill>
                        <a:latin typeface="Cambria Math" panose="02040503050406030204" pitchFamily="18" charset="0"/>
                      </a:rPr>
                      <m:t>𝑛</m:t>
                    </m:r>
                  </m:oMath>
                </a14:m>
                <a:endParaRPr lang="en-US" dirty="0"/>
              </a:p>
              <a:p>
                <a:pPr lvl="1"/>
                <a:r>
                  <a:rPr lang="en-US" dirty="0"/>
                  <a:t>Desired output: matrices </a:t>
                </a:r>
                <a14:m>
                  <m:oMath xmlns:m="http://schemas.openxmlformats.org/officeDocument/2006/math">
                    <m:r>
                      <a:rPr lang="en-US" b="0" i="1" smtClean="0">
                        <a:solidFill>
                          <a:schemeClr val="accent5"/>
                        </a:solidFill>
                        <a:latin typeface="Cambria Math" panose="02040503050406030204" pitchFamily="18" charset="0"/>
                      </a:rPr>
                      <m:t>𝑉</m:t>
                    </m:r>
                    <m:r>
                      <a:rPr lang="en-US" b="0" i="1" smtClean="0">
                        <a:solidFill>
                          <a:schemeClr val="accent5"/>
                        </a:solidFill>
                        <a:latin typeface="Cambria Math" panose="02040503050406030204" pitchFamily="18" charset="0"/>
                      </a:rPr>
                      <m:t>,</m:t>
                    </m:r>
                    <m:r>
                      <a:rPr lang="en-US" b="0" i="1" smtClean="0">
                        <a:solidFill>
                          <a:schemeClr val="accent5"/>
                        </a:solidFill>
                        <a:latin typeface="Cambria Math" panose="02040503050406030204" pitchFamily="18" charset="0"/>
                      </a:rPr>
                      <m:t>𝑈</m:t>
                    </m:r>
                  </m:oMath>
                </a14:m>
                <a:r>
                  <a:rPr lang="en-US" dirty="0">
                    <a:solidFill>
                      <a:schemeClr val="accent5"/>
                    </a:solidFill>
                  </a:rPr>
                  <a:t> </a:t>
                </a:r>
                <a:r>
                  <a:rPr lang="en-US" dirty="0"/>
                  <a:t>of order </a:t>
                </a:r>
                <a14:m>
                  <m:oMath xmlns:m="http://schemas.openxmlformats.org/officeDocument/2006/math">
                    <m:r>
                      <a:rPr lang="en-US" b="0" i="1" smtClean="0">
                        <a:solidFill>
                          <a:schemeClr val="accent5"/>
                        </a:solidFill>
                        <a:latin typeface="Cambria Math" panose="02040503050406030204" pitchFamily="18" charset="0"/>
                      </a:rPr>
                      <m:t>𝑛</m:t>
                    </m:r>
                    <m:r>
                      <a:rPr lang="en-US" b="0" i="1" smtClean="0">
                        <a:solidFill>
                          <a:schemeClr val="accent5"/>
                        </a:solidFill>
                        <a:latin typeface="Cambria Math" panose="02040503050406030204" pitchFamily="18" charset="0"/>
                      </a:rPr>
                      <m:t>×</m:t>
                    </m:r>
                    <m:r>
                      <a:rPr lang="en-US" b="0" i="1" smtClean="0">
                        <a:solidFill>
                          <a:schemeClr val="accent5"/>
                        </a:solidFill>
                        <a:latin typeface="Cambria Math" panose="02040503050406030204" pitchFamily="18" charset="0"/>
                      </a:rPr>
                      <m:t>𝑑</m:t>
                    </m:r>
                    <m:r>
                      <a:rPr lang="en-US" b="0" i="1" smtClean="0">
                        <a:solidFill>
                          <a:schemeClr val="accent5"/>
                        </a:solidFill>
                        <a:latin typeface="Cambria Math" panose="02040503050406030204" pitchFamily="18" charset="0"/>
                      </a:rPr>
                      <m:t>,</m:t>
                    </m:r>
                    <m:r>
                      <a:rPr lang="en-US" b="0" i="1" smtClean="0">
                        <a:solidFill>
                          <a:schemeClr val="accent5"/>
                        </a:solidFill>
                        <a:latin typeface="Cambria Math" panose="02040503050406030204" pitchFamily="18" charset="0"/>
                      </a:rPr>
                      <m:t>𝑑</m:t>
                    </m:r>
                    <m:r>
                      <a:rPr lang="en-US" b="0" i="1" smtClean="0">
                        <a:solidFill>
                          <a:schemeClr val="accent5"/>
                        </a:solidFill>
                        <a:latin typeface="Cambria Math" panose="02040503050406030204" pitchFamily="18" charset="0"/>
                      </a:rPr>
                      <m:t>×</m:t>
                    </m:r>
                    <m:r>
                      <a:rPr lang="en-US" b="0" i="1" smtClean="0">
                        <a:solidFill>
                          <a:schemeClr val="accent5"/>
                        </a:solidFill>
                        <a:latin typeface="Cambria Math" panose="02040503050406030204" pitchFamily="18" charset="0"/>
                      </a:rPr>
                      <m:t>𝑛</m:t>
                    </m:r>
                  </m:oMath>
                </a14:m>
                <a:r>
                  <a:rPr lang="en-US" dirty="0">
                    <a:solidFill>
                      <a:schemeClr val="accent5"/>
                    </a:solidFill>
                  </a:rPr>
                  <a:t> </a:t>
                </a:r>
                <a:r>
                  <a:rPr lang="en-US" dirty="0"/>
                  <a:t>such that </a:t>
                </a:r>
                <a14:m>
                  <m:oMath xmlns:m="http://schemas.openxmlformats.org/officeDocument/2006/math">
                    <m:r>
                      <a:rPr lang="en-US" b="0" i="1" smtClean="0">
                        <a:solidFill>
                          <a:schemeClr val="accent5"/>
                        </a:solidFill>
                        <a:latin typeface="Cambria Math" panose="02040503050406030204" pitchFamily="18" charset="0"/>
                      </a:rPr>
                      <m:t>𝑉𝑈</m:t>
                    </m:r>
                    <m:r>
                      <a:rPr lang="en-US" b="0" i="1" smtClean="0">
                        <a:solidFill>
                          <a:schemeClr val="accent5"/>
                        </a:solidFill>
                        <a:latin typeface="Cambria Math" panose="02040503050406030204" pitchFamily="18" charset="0"/>
                      </a:rPr>
                      <m:t>≈</m:t>
                    </m:r>
                    <m:r>
                      <a:rPr lang="en-US" b="0" i="1" smtClean="0">
                        <a:solidFill>
                          <a:schemeClr val="accent5"/>
                        </a:solidFill>
                        <a:latin typeface="Cambria Math" panose="02040503050406030204" pitchFamily="18" charset="0"/>
                      </a:rPr>
                      <m:t>𝑀</m:t>
                    </m:r>
                  </m:oMath>
                </a14:m>
                <a:endParaRPr lang="en-US" dirty="0"/>
              </a:p>
              <a:p>
                <a:r>
                  <a:rPr lang="en-US" b="1" dirty="0"/>
                  <a:t>Yes</a:t>
                </a:r>
                <a:r>
                  <a:rPr lang="en-US" dirty="0"/>
                  <a:t>: PCA, SVD…</a:t>
                </a:r>
              </a:p>
              <a:p>
                <a:pPr lvl="1"/>
                <a:r>
                  <a:rPr lang="en-US" dirty="0"/>
                  <a:t>Can we use them for word embeddings instead of word2vec?</a:t>
                </a:r>
              </a:p>
              <a:p>
                <a:pPr lvl="1"/>
                <a:r>
                  <a:rPr lang="en-US" dirty="0"/>
                  <a:t>Apparently, sometimes: </a:t>
                </a:r>
                <a:r>
                  <a:rPr lang="en-US" i="1" dirty="0"/>
                  <a:t>“factorization with SVD can achieve solutions that are at least as good as SGNS [for some tasks]” </a:t>
                </a:r>
                <a:r>
                  <a:rPr lang="en-US" sz="1400" dirty="0">
                    <a:solidFill>
                      <a:schemeClr val="accent1">
                        <a:lumMod val="50000"/>
                      </a:schemeClr>
                    </a:solidFill>
                  </a:rPr>
                  <a:t>(Levy &amp; Goldberg, 2014)</a:t>
                </a:r>
              </a:p>
              <a:p>
                <a:r>
                  <a:rPr lang="en-US" dirty="0">
                    <a:solidFill>
                      <a:srgbClr val="7030A0"/>
                    </a:solidFill>
                  </a:rPr>
                  <a:t>Can we combine the word2vec self-supervised learning idea with the matrix factorization view?</a:t>
                </a:r>
              </a:p>
            </p:txBody>
          </p:sp>
        </mc:Choice>
        <mc:Fallback xmlns="">
          <p:sp>
            <p:nvSpPr>
              <p:cNvPr id="3" name="Text Placeholder 2">
                <a:extLst>
                  <a:ext uri="{FF2B5EF4-FFF2-40B4-BE49-F238E27FC236}">
                    <a16:creationId xmlns:a16="http://schemas.microsoft.com/office/drawing/2014/main" id="{05F3D98E-5732-16CD-9435-ED44CF52789F}"/>
                  </a:ext>
                </a:extLst>
              </p:cNvPr>
              <p:cNvSpPr>
                <a:spLocks noGrp="1" noRot="1" noChangeAspect="1" noMove="1" noResize="1" noEditPoints="1" noAdjustHandles="1" noChangeArrowheads="1" noChangeShapeType="1" noTextEdit="1"/>
              </p:cNvSpPr>
              <p:nvPr>
                <p:ph type="body" idx="1"/>
              </p:nvPr>
            </p:nvSpPr>
            <p:spPr>
              <a:xfrm>
                <a:off x="311700" y="1152475"/>
                <a:ext cx="8520600" cy="3546000"/>
              </a:xfrm>
              <a:blipFill>
                <a:blip r:embed="rId2"/>
                <a:stretch>
                  <a:fillRect/>
                </a:stretch>
              </a:blipFill>
            </p:spPr>
            <p:txBody>
              <a:bodyPr/>
              <a:lstStyle/>
              <a:p>
                <a:r>
                  <a:rPr lang="en-US">
                    <a:noFill/>
                  </a:rPr>
                  <a:t> </a:t>
                </a:r>
              </a:p>
            </p:txBody>
          </p:sp>
        </mc:Fallback>
      </mc:AlternateContent>
      <p:sp>
        <p:nvSpPr>
          <p:cNvPr id="5" name="Rectangle 4">
            <a:extLst>
              <a:ext uri="{FF2B5EF4-FFF2-40B4-BE49-F238E27FC236}">
                <a16:creationId xmlns:a16="http://schemas.microsoft.com/office/drawing/2014/main" id="{3B268D02-A433-B896-0D3A-A7AA20F01686}"/>
              </a:ext>
            </a:extLst>
          </p:cNvPr>
          <p:cNvSpPr/>
          <p:nvPr/>
        </p:nvSpPr>
        <p:spPr>
          <a:xfrm rot="5400000">
            <a:off x="5707366" y="595857"/>
            <a:ext cx="888541" cy="383310"/>
          </a:xfrm>
          <a:prstGeom prst="rect">
            <a:avLst/>
          </a:prstGeom>
          <a:solidFill>
            <a:schemeClr val="bg1">
              <a:lumMod val="85000"/>
            </a:schemeClr>
          </a:solidFill>
          <a:ln>
            <a:solidFill>
              <a:schemeClr val="accent5"/>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85975047-BB4A-2902-65FA-25BC28577DBD}"/>
                  </a:ext>
                </a:extLst>
              </p:cNvPr>
              <p:cNvSpPr txBox="1"/>
              <p:nvPr/>
            </p:nvSpPr>
            <p:spPr>
              <a:xfrm>
                <a:off x="5959981" y="583088"/>
                <a:ext cx="383310" cy="400110"/>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2600" b="0" i="1" smtClean="0">
                          <a:solidFill>
                            <a:schemeClr val="accent5"/>
                          </a:solidFill>
                          <a:latin typeface="Cambria Math" panose="02040503050406030204" pitchFamily="18" charset="0"/>
                        </a:rPr>
                        <m:t>𝑉</m:t>
                      </m:r>
                    </m:oMath>
                  </m:oMathPara>
                </a14:m>
                <a:endParaRPr lang="en-US" sz="2600" dirty="0">
                  <a:solidFill>
                    <a:schemeClr val="accent5"/>
                  </a:solidFill>
                </a:endParaRPr>
              </a:p>
            </p:txBody>
          </p:sp>
        </mc:Choice>
        <mc:Fallback xmlns="">
          <p:sp>
            <p:nvSpPr>
              <p:cNvPr id="7" name="TextBox 6">
                <a:extLst>
                  <a:ext uri="{FF2B5EF4-FFF2-40B4-BE49-F238E27FC236}">
                    <a16:creationId xmlns:a16="http://schemas.microsoft.com/office/drawing/2014/main" id="{85975047-BB4A-2902-65FA-25BC28577DBD}"/>
                  </a:ext>
                </a:extLst>
              </p:cNvPr>
              <p:cNvSpPr txBox="1">
                <a:spLocks noRot="1" noChangeAspect="1" noMove="1" noResize="1" noEditPoints="1" noAdjustHandles="1" noChangeArrowheads="1" noChangeShapeType="1" noTextEdit="1"/>
              </p:cNvSpPr>
              <p:nvPr/>
            </p:nvSpPr>
            <p:spPr>
              <a:xfrm>
                <a:off x="5959981" y="583088"/>
                <a:ext cx="383310" cy="400110"/>
              </a:xfrm>
              <a:prstGeom prst="rect">
                <a:avLst/>
              </a:prstGeom>
              <a:blipFill>
                <a:blip r:embed="rId3"/>
                <a:stretch>
                  <a:fillRect l="-6452" r="-3226" b="-6250"/>
                </a:stretch>
              </a:blipFill>
            </p:spPr>
            <p:txBody>
              <a:bodyPr/>
              <a:lstStyle/>
              <a:p>
                <a:r>
                  <a:rPr lang="en-US">
                    <a:noFill/>
                  </a:rPr>
                  <a:t> </a:t>
                </a:r>
              </a:p>
            </p:txBody>
          </p:sp>
        </mc:Fallback>
      </mc:AlternateContent>
      <p:sp>
        <p:nvSpPr>
          <p:cNvPr id="9" name="Rectangle 8">
            <a:extLst>
              <a:ext uri="{FF2B5EF4-FFF2-40B4-BE49-F238E27FC236}">
                <a16:creationId xmlns:a16="http://schemas.microsoft.com/office/drawing/2014/main" id="{D1002C8D-104F-FE2E-1994-67C0B8DC48E3}"/>
              </a:ext>
            </a:extLst>
          </p:cNvPr>
          <p:cNvSpPr/>
          <p:nvPr/>
        </p:nvSpPr>
        <p:spPr>
          <a:xfrm rot="5400000">
            <a:off x="7938874" y="338357"/>
            <a:ext cx="888541" cy="898311"/>
          </a:xfrm>
          <a:prstGeom prst="rect">
            <a:avLst/>
          </a:prstGeom>
          <a:solidFill>
            <a:schemeClr val="bg1">
              <a:lumMod val="85000"/>
            </a:schemeClr>
          </a:solidFill>
          <a:ln>
            <a:solidFill>
              <a:schemeClr val="tx1">
                <a:lumMod val="65000"/>
                <a:lumOff val="35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7C5CC610-3D6F-185F-8B4F-777907049B36}"/>
                  </a:ext>
                </a:extLst>
              </p:cNvPr>
              <p:cNvSpPr txBox="1"/>
              <p:nvPr/>
            </p:nvSpPr>
            <p:spPr>
              <a:xfrm>
                <a:off x="7257540" y="413811"/>
                <a:ext cx="533699" cy="73866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4200" b="0" i="1" smtClean="0">
                          <a:solidFill>
                            <a:srgbClr val="C00000"/>
                          </a:solidFill>
                          <a:latin typeface="Cambria Math" panose="02040503050406030204" pitchFamily="18" charset="0"/>
                        </a:rPr>
                        <m:t>≈</m:t>
                      </m:r>
                    </m:oMath>
                  </m:oMathPara>
                </a14:m>
                <a:endParaRPr lang="en-US" sz="4200" dirty="0"/>
              </a:p>
            </p:txBody>
          </p:sp>
        </mc:Choice>
        <mc:Fallback xmlns="">
          <p:sp>
            <p:nvSpPr>
              <p:cNvPr id="10" name="TextBox 9">
                <a:extLst>
                  <a:ext uri="{FF2B5EF4-FFF2-40B4-BE49-F238E27FC236}">
                    <a16:creationId xmlns:a16="http://schemas.microsoft.com/office/drawing/2014/main" id="{7C5CC610-3D6F-185F-8B4F-777907049B36}"/>
                  </a:ext>
                </a:extLst>
              </p:cNvPr>
              <p:cNvSpPr txBox="1">
                <a:spLocks noRot="1" noChangeAspect="1" noMove="1" noResize="1" noEditPoints="1" noAdjustHandles="1" noChangeArrowheads="1" noChangeShapeType="1" noTextEdit="1"/>
              </p:cNvSpPr>
              <p:nvPr/>
            </p:nvSpPr>
            <p:spPr>
              <a:xfrm>
                <a:off x="7257540" y="413811"/>
                <a:ext cx="533699" cy="738664"/>
              </a:xfrm>
              <a:prstGeom prst="rect">
                <a:avLst/>
              </a:prstGeom>
              <a:blipFill>
                <a:blip r:embed="rId4"/>
                <a:stretch>
                  <a:fillRect l="-6977" r="-1395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1C075A02-44C8-F636-F222-A6BB25972720}"/>
                  </a:ext>
                </a:extLst>
              </p:cNvPr>
              <p:cNvSpPr txBox="1"/>
              <p:nvPr/>
            </p:nvSpPr>
            <p:spPr>
              <a:xfrm>
                <a:off x="8204852" y="582651"/>
                <a:ext cx="403957" cy="400110"/>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2600" b="0" i="1" smtClean="0">
                          <a:solidFill>
                            <a:schemeClr val="tx1">
                              <a:lumMod val="65000"/>
                              <a:lumOff val="35000"/>
                            </a:schemeClr>
                          </a:solidFill>
                          <a:latin typeface="Cambria Math" panose="02040503050406030204" pitchFamily="18" charset="0"/>
                        </a:rPr>
                        <m:t>𝑀</m:t>
                      </m:r>
                    </m:oMath>
                  </m:oMathPara>
                </a14:m>
                <a:endParaRPr lang="en-US" sz="2600" dirty="0">
                  <a:solidFill>
                    <a:schemeClr val="tx1">
                      <a:lumMod val="65000"/>
                      <a:lumOff val="35000"/>
                    </a:schemeClr>
                  </a:solidFill>
                </a:endParaRPr>
              </a:p>
            </p:txBody>
          </p:sp>
        </mc:Choice>
        <mc:Fallback xmlns="">
          <p:sp>
            <p:nvSpPr>
              <p:cNvPr id="11" name="TextBox 10">
                <a:extLst>
                  <a:ext uri="{FF2B5EF4-FFF2-40B4-BE49-F238E27FC236}">
                    <a16:creationId xmlns:a16="http://schemas.microsoft.com/office/drawing/2014/main" id="{1C075A02-44C8-F636-F222-A6BB25972720}"/>
                  </a:ext>
                </a:extLst>
              </p:cNvPr>
              <p:cNvSpPr txBox="1">
                <a:spLocks noRot="1" noChangeAspect="1" noMove="1" noResize="1" noEditPoints="1" noAdjustHandles="1" noChangeArrowheads="1" noChangeShapeType="1" noTextEdit="1"/>
              </p:cNvSpPr>
              <p:nvPr/>
            </p:nvSpPr>
            <p:spPr>
              <a:xfrm>
                <a:off x="8204852" y="582651"/>
                <a:ext cx="403957" cy="400110"/>
              </a:xfrm>
              <a:prstGeom prst="rect">
                <a:avLst/>
              </a:prstGeom>
              <a:blipFill>
                <a:blip r:embed="rId5"/>
                <a:stretch>
                  <a:fillRect l="-15625" r="-12500" b="-6250"/>
                </a:stretch>
              </a:blipFill>
            </p:spPr>
            <p:txBody>
              <a:bodyPr/>
              <a:lstStyle/>
              <a:p>
                <a:r>
                  <a:rPr lang="en-US">
                    <a:noFill/>
                  </a:rPr>
                  <a:t> </a:t>
                </a:r>
              </a:p>
            </p:txBody>
          </p:sp>
        </mc:Fallback>
      </mc:AlternateContent>
      <p:sp>
        <p:nvSpPr>
          <p:cNvPr id="12" name="Rectangle 11">
            <a:extLst>
              <a:ext uri="{FF2B5EF4-FFF2-40B4-BE49-F238E27FC236}">
                <a16:creationId xmlns:a16="http://schemas.microsoft.com/office/drawing/2014/main" id="{65F696B9-2353-A428-6C3D-B50D230EB859}"/>
              </a:ext>
            </a:extLst>
          </p:cNvPr>
          <p:cNvSpPr/>
          <p:nvPr/>
        </p:nvSpPr>
        <p:spPr>
          <a:xfrm>
            <a:off x="6414749" y="182541"/>
            <a:ext cx="888541" cy="383310"/>
          </a:xfrm>
          <a:prstGeom prst="rect">
            <a:avLst/>
          </a:prstGeom>
          <a:solidFill>
            <a:schemeClr val="bg1">
              <a:lumMod val="85000"/>
            </a:schemeClr>
          </a:solidFill>
          <a:ln>
            <a:solidFill>
              <a:schemeClr val="accent5"/>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79E80299-67C4-FD3B-8135-AE46566725AA}"/>
                  </a:ext>
                </a:extLst>
              </p:cNvPr>
              <p:cNvSpPr txBox="1"/>
              <p:nvPr/>
            </p:nvSpPr>
            <p:spPr>
              <a:xfrm>
                <a:off x="6645990" y="182541"/>
                <a:ext cx="403957" cy="400110"/>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2600" b="0" i="1" smtClean="0">
                          <a:solidFill>
                            <a:schemeClr val="accent5"/>
                          </a:solidFill>
                          <a:latin typeface="Cambria Math" panose="02040503050406030204" pitchFamily="18" charset="0"/>
                        </a:rPr>
                        <m:t>𝑈</m:t>
                      </m:r>
                    </m:oMath>
                  </m:oMathPara>
                </a14:m>
                <a:endParaRPr lang="en-US" sz="2600" dirty="0">
                  <a:solidFill>
                    <a:schemeClr val="accent5"/>
                  </a:solidFill>
                </a:endParaRPr>
              </a:p>
            </p:txBody>
          </p:sp>
        </mc:Choice>
        <mc:Fallback xmlns="">
          <p:sp>
            <p:nvSpPr>
              <p:cNvPr id="8" name="TextBox 7">
                <a:extLst>
                  <a:ext uri="{FF2B5EF4-FFF2-40B4-BE49-F238E27FC236}">
                    <a16:creationId xmlns:a16="http://schemas.microsoft.com/office/drawing/2014/main" id="{79E80299-67C4-FD3B-8135-AE46566725AA}"/>
                  </a:ext>
                </a:extLst>
              </p:cNvPr>
              <p:cNvSpPr txBox="1">
                <a:spLocks noRot="1" noChangeAspect="1" noMove="1" noResize="1" noEditPoints="1" noAdjustHandles="1" noChangeArrowheads="1" noChangeShapeType="1" noTextEdit="1"/>
              </p:cNvSpPr>
              <p:nvPr/>
            </p:nvSpPr>
            <p:spPr>
              <a:xfrm>
                <a:off x="6645990" y="182541"/>
                <a:ext cx="403957" cy="400110"/>
              </a:xfrm>
              <a:prstGeom prst="rect">
                <a:avLst/>
              </a:prstGeom>
              <a:blipFill>
                <a:blip r:embed="rId6"/>
                <a:stretch>
                  <a:fillRect l="-6250" r="-6250" b="-3030"/>
                </a:stretch>
              </a:blipFill>
            </p:spPr>
            <p:txBody>
              <a:bodyPr/>
              <a:lstStyle/>
              <a:p>
                <a:r>
                  <a:rPr lang="en-US">
                    <a:noFill/>
                  </a:rPr>
                  <a:t> </a:t>
                </a:r>
              </a:p>
            </p:txBody>
          </p:sp>
        </mc:Fallback>
      </mc:AlternateContent>
      <p:sp>
        <p:nvSpPr>
          <p:cNvPr id="13" name="Rectangle 12">
            <a:extLst>
              <a:ext uri="{FF2B5EF4-FFF2-40B4-BE49-F238E27FC236}">
                <a16:creationId xmlns:a16="http://schemas.microsoft.com/office/drawing/2014/main" id="{0441AFA1-718E-33D8-717A-F5894E699C57}"/>
              </a:ext>
            </a:extLst>
          </p:cNvPr>
          <p:cNvSpPr/>
          <p:nvPr/>
        </p:nvSpPr>
        <p:spPr>
          <a:xfrm>
            <a:off x="311700" y="3782291"/>
            <a:ext cx="8059216" cy="822960"/>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865509930"/>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0D9BEB-00CE-BDCC-E7EF-51FAB31166F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B4BB530-7F0C-3F7F-8030-D5DBBDB802CF}"/>
              </a:ext>
            </a:extLst>
          </p:cNvPr>
          <p:cNvSpPr>
            <a:spLocks noGrp="1"/>
          </p:cNvSpPr>
          <p:nvPr>
            <p:ph type="title"/>
          </p:nvPr>
        </p:nvSpPr>
        <p:spPr/>
        <p:txBody>
          <a:bodyPr>
            <a:normAutofit fontScale="90000"/>
          </a:bodyPr>
          <a:lstStyle/>
          <a:p>
            <a:r>
              <a:rPr lang="en-US" dirty="0"/>
              <a:t>Matrix Factorization</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3093F71D-EC36-4DE8-F42B-A2C68D08A5CB}"/>
                  </a:ext>
                </a:extLst>
              </p:cNvPr>
              <p:cNvSpPr>
                <a:spLocks noGrp="1"/>
              </p:cNvSpPr>
              <p:nvPr>
                <p:ph type="body" idx="1"/>
              </p:nvPr>
            </p:nvSpPr>
            <p:spPr>
              <a:xfrm>
                <a:off x="311700" y="1152475"/>
                <a:ext cx="8520600" cy="3546000"/>
              </a:xfrm>
            </p:spPr>
            <p:txBody>
              <a:bodyPr>
                <a:normAutofit fontScale="92500" lnSpcReduction="10000"/>
              </a:bodyPr>
              <a:lstStyle/>
              <a:p>
                <a:r>
                  <a:rPr lang="en-US" dirty="0"/>
                  <a:t>Do we know methods for </a:t>
                </a:r>
                <a:r>
                  <a:rPr lang="en-US" b="1" dirty="0"/>
                  <a:t>explicit</a:t>
                </a:r>
                <a:r>
                  <a:rPr lang="en-US" dirty="0"/>
                  <a:t> matrix factorization?</a:t>
                </a:r>
              </a:p>
              <a:p>
                <a:pPr lvl="1"/>
                <a:r>
                  <a:rPr lang="en-US" dirty="0"/>
                  <a:t>Input: matrix </a:t>
                </a:r>
                <a14:m>
                  <m:oMath xmlns:m="http://schemas.openxmlformats.org/officeDocument/2006/math">
                    <m:r>
                      <a:rPr lang="en-US" b="0" i="1" smtClean="0">
                        <a:solidFill>
                          <a:schemeClr val="accent5"/>
                        </a:solidFill>
                        <a:latin typeface="Cambria Math" panose="02040503050406030204" pitchFamily="18" charset="0"/>
                      </a:rPr>
                      <m:t>𝑀</m:t>
                    </m:r>
                  </m:oMath>
                </a14:m>
                <a:r>
                  <a:rPr lang="en-US" dirty="0"/>
                  <a:t> of order </a:t>
                </a:r>
                <a14:m>
                  <m:oMath xmlns:m="http://schemas.openxmlformats.org/officeDocument/2006/math">
                    <m:r>
                      <a:rPr lang="en-US" b="0" i="1" smtClean="0">
                        <a:solidFill>
                          <a:schemeClr val="accent5"/>
                        </a:solidFill>
                        <a:latin typeface="Cambria Math" panose="02040503050406030204" pitchFamily="18" charset="0"/>
                      </a:rPr>
                      <m:t>𝑛</m:t>
                    </m:r>
                    <m:r>
                      <a:rPr lang="en-US" b="0" i="1" smtClean="0">
                        <a:solidFill>
                          <a:schemeClr val="accent5"/>
                        </a:solidFill>
                        <a:latin typeface="Cambria Math" panose="02040503050406030204" pitchFamily="18" charset="0"/>
                      </a:rPr>
                      <m:t>×</m:t>
                    </m:r>
                    <m:r>
                      <a:rPr lang="en-US" b="0" i="1" smtClean="0">
                        <a:solidFill>
                          <a:schemeClr val="accent5"/>
                        </a:solidFill>
                        <a:latin typeface="Cambria Math" panose="02040503050406030204" pitchFamily="18" charset="0"/>
                      </a:rPr>
                      <m:t>𝑛</m:t>
                    </m:r>
                  </m:oMath>
                </a14:m>
                <a:r>
                  <a:rPr lang="en-US" dirty="0"/>
                  <a:t>, and lower dimension </a:t>
                </a:r>
                <a14:m>
                  <m:oMath xmlns:m="http://schemas.openxmlformats.org/officeDocument/2006/math">
                    <m:r>
                      <a:rPr lang="en-US" b="0" i="1" smtClean="0">
                        <a:solidFill>
                          <a:schemeClr val="accent5"/>
                        </a:solidFill>
                        <a:latin typeface="Cambria Math" panose="02040503050406030204" pitchFamily="18" charset="0"/>
                      </a:rPr>
                      <m:t>𝑑</m:t>
                    </m:r>
                    <m:r>
                      <a:rPr lang="en-US" b="0" i="1" smtClean="0">
                        <a:solidFill>
                          <a:schemeClr val="accent5"/>
                        </a:solidFill>
                        <a:latin typeface="Cambria Math" panose="02040503050406030204" pitchFamily="18" charset="0"/>
                      </a:rPr>
                      <m:t>≪</m:t>
                    </m:r>
                    <m:r>
                      <a:rPr lang="en-US" b="0" i="1" smtClean="0">
                        <a:solidFill>
                          <a:schemeClr val="accent5"/>
                        </a:solidFill>
                        <a:latin typeface="Cambria Math" panose="02040503050406030204" pitchFamily="18" charset="0"/>
                      </a:rPr>
                      <m:t>𝑛</m:t>
                    </m:r>
                  </m:oMath>
                </a14:m>
                <a:endParaRPr lang="en-US" dirty="0"/>
              </a:p>
              <a:p>
                <a:pPr lvl="1"/>
                <a:r>
                  <a:rPr lang="en-US" dirty="0"/>
                  <a:t>Desired output: matrices </a:t>
                </a:r>
                <a14:m>
                  <m:oMath xmlns:m="http://schemas.openxmlformats.org/officeDocument/2006/math">
                    <m:r>
                      <a:rPr lang="en-US" b="0" i="1" smtClean="0">
                        <a:solidFill>
                          <a:schemeClr val="accent5"/>
                        </a:solidFill>
                        <a:latin typeface="Cambria Math" panose="02040503050406030204" pitchFamily="18" charset="0"/>
                      </a:rPr>
                      <m:t>𝑉</m:t>
                    </m:r>
                    <m:r>
                      <a:rPr lang="en-US" b="0" i="1" smtClean="0">
                        <a:solidFill>
                          <a:schemeClr val="accent5"/>
                        </a:solidFill>
                        <a:latin typeface="Cambria Math" panose="02040503050406030204" pitchFamily="18" charset="0"/>
                      </a:rPr>
                      <m:t>,</m:t>
                    </m:r>
                    <m:r>
                      <a:rPr lang="en-US" b="0" i="1" smtClean="0">
                        <a:solidFill>
                          <a:schemeClr val="accent5"/>
                        </a:solidFill>
                        <a:latin typeface="Cambria Math" panose="02040503050406030204" pitchFamily="18" charset="0"/>
                      </a:rPr>
                      <m:t>𝑈</m:t>
                    </m:r>
                  </m:oMath>
                </a14:m>
                <a:r>
                  <a:rPr lang="en-US" dirty="0">
                    <a:solidFill>
                      <a:schemeClr val="accent5"/>
                    </a:solidFill>
                  </a:rPr>
                  <a:t> </a:t>
                </a:r>
                <a:r>
                  <a:rPr lang="en-US" dirty="0"/>
                  <a:t>of order </a:t>
                </a:r>
                <a14:m>
                  <m:oMath xmlns:m="http://schemas.openxmlformats.org/officeDocument/2006/math">
                    <m:r>
                      <a:rPr lang="en-US" b="0" i="1" smtClean="0">
                        <a:solidFill>
                          <a:schemeClr val="accent5"/>
                        </a:solidFill>
                        <a:latin typeface="Cambria Math" panose="02040503050406030204" pitchFamily="18" charset="0"/>
                      </a:rPr>
                      <m:t>𝑛</m:t>
                    </m:r>
                    <m:r>
                      <a:rPr lang="en-US" b="0" i="1" smtClean="0">
                        <a:solidFill>
                          <a:schemeClr val="accent5"/>
                        </a:solidFill>
                        <a:latin typeface="Cambria Math" panose="02040503050406030204" pitchFamily="18" charset="0"/>
                      </a:rPr>
                      <m:t>×</m:t>
                    </m:r>
                    <m:r>
                      <a:rPr lang="en-US" b="0" i="1" smtClean="0">
                        <a:solidFill>
                          <a:schemeClr val="accent5"/>
                        </a:solidFill>
                        <a:latin typeface="Cambria Math" panose="02040503050406030204" pitchFamily="18" charset="0"/>
                      </a:rPr>
                      <m:t>𝑑</m:t>
                    </m:r>
                    <m:r>
                      <a:rPr lang="en-US" b="0" i="1" smtClean="0">
                        <a:solidFill>
                          <a:schemeClr val="accent5"/>
                        </a:solidFill>
                        <a:latin typeface="Cambria Math" panose="02040503050406030204" pitchFamily="18" charset="0"/>
                      </a:rPr>
                      <m:t>,</m:t>
                    </m:r>
                    <m:r>
                      <a:rPr lang="en-US" b="0" i="1" smtClean="0">
                        <a:solidFill>
                          <a:schemeClr val="accent5"/>
                        </a:solidFill>
                        <a:latin typeface="Cambria Math" panose="02040503050406030204" pitchFamily="18" charset="0"/>
                      </a:rPr>
                      <m:t>𝑑</m:t>
                    </m:r>
                    <m:r>
                      <a:rPr lang="en-US" b="0" i="1" smtClean="0">
                        <a:solidFill>
                          <a:schemeClr val="accent5"/>
                        </a:solidFill>
                        <a:latin typeface="Cambria Math" panose="02040503050406030204" pitchFamily="18" charset="0"/>
                      </a:rPr>
                      <m:t>×</m:t>
                    </m:r>
                    <m:r>
                      <a:rPr lang="en-US" b="0" i="1" smtClean="0">
                        <a:solidFill>
                          <a:schemeClr val="accent5"/>
                        </a:solidFill>
                        <a:latin typeface="Cambria Math" panose="02040503050406030204" pitchFamily="18" charset="0"/>
                      </a:rPr>
                      <m:t>𝑛</m:t>
                    </m:r>
                  </m:oMath>
                </a14:m>
                <a:r>
                  <a:rPr lang="en-US" dirty="0">
                    <a:solidFill>
                      <a:schemeClr val="accent5"/>
                    </a:solidFill>
                  </a:rPr>
                  <a:t> </a:t>
                </a:r>
                <a:r>
                  <a:rPr lang="en-US" dirty="0"/>
                  <a:t>such that </a:t>
                </a:r>
                <a14:m>
                  <m:oMath xmlns:m="http://schemas.openxmlformats.org/officeDocument/2006/math">
                    <m:r>
                      <a:rPr lang="en-US" b="0" i="1" smtClean="0">
                        <a:solidFill>
                          <a:schemeClr val="accent5"/>
                        </a:solidFill>
                        <a:latin typeface="Cambria Math" panose="02040503050406030204" pitchFamily="18" charset="0"/>
                      </a:rPr>
                      <m:t>𝑉𝑈</m:t>
                    </m:r>
                    <m:r>
                      <a:rPr lang="en-US" b="0" i="1" smtClean="0">
                        <a:solidFill>
                          <a:schemeClr val="accent5"/>
                        </a:solidFill>
                        <a:latin typeface="Cambria Math" panose="02040503050406030204" pitchFamily="18" charset="0"/>
                      </a:rPr>
                      <m:t>≈</m:t>
                    </m:r>
                    <m:r>
                      <a:rPr lang="en-US" b="0" i="1" smtClean="0">
                        <a:solidFill>
                          <a:schemeClr val="accent5"/>
                        </a:solidFill>
                        <a:latin typeface="Cambria Math" panose="02040503050406030204" pitchFamily="18" charset="0"/>
                      </a:rPr>
                      <m:t>𝑀</m:t>
                    </m:r>
                  </m:oMath>
                </a14:m>
                <a:endParaRPr lang="en-US" dirty="0"/>
              </a:p>
              <a:p>
                <a:r>
                  <a:rPr lang="en-US" b="1" dirty="0"/>
                  <a:t>Yes</a:t>
                </a:r>
                <a:r>
                  <a:rPr lang="en-US" dirty="0"/>
                  <a:t>: PCA, SVD…</a:t>
                </a:r>
              </a:p>
              <a:p>
                <a:pPr lvl="1"/>
                <a:r>
                  <a:rPr lang="en-US" dirty="0"/>
                  <a:t>Can we use them for word embeddings instead of word2vec?</a:t>
                </a:r>
              </a:p>
              <a:p>
                <a:pPr lvl="1"/>
                <a:r>
                  <a:rPr lang="en-US" dirty="0"/>
                  <a:t>Apparently, sometimes: </a:t>
                </a:r>
                <a:r>
                  <a:rPr lang="en-US" i="1" dirty="0"/>
                  <a:t>“factorization with SVD can achieve solutions that are at least as good as SGNS [for some tasks]” </a:t>
                </a:r>
                <a:r>
                  <a:rPr lang="en-US" sz="1400" dirty="0">
                    <a:solidFill>
                      <a:schemeClr val="accent1">
                        <a:lumMod val="50000"/>
                      </a:schemeClr>
                    </a:solidFill>
                  </a:rPr>
                  <a:t>(Levy &amp; Goldberg, 2014)</a:t>
                </a:r>
              </a:p>
              <a:p>
                <a:r>
                  <a:rPr lang="en-US" dirty="0">
                    <a:solidFill>
                      <a:srgbClr val="7030A0"/>
                    </a:solidFill>
                  </a:rPr>
                  <a:t>Can we combine the word2vec self-supervised learning idea with the matrix factorization view to get even better word embeddings?</a:t>
                </a:r>
              </a:p>
            </p:txBody>
          </p:sp>
        </mc:Choice>
        <mc:Fallback xmlns="">
          <p:sp>
            <p:nvSpPr>
              <p:cNvPr id="3" name="Text Placeholder 2">
                <a:extLst>
                  <a:ext uri="{FF2B5EF4-FFF2-40B4-BE49-F238E27FC236}">
                    <a16:creationId xmlns:a16="http://schemas.microsoft.com/office/drawing/2014/main" id="{3093F71D-EC36-4DE8-F42B-A2C68D08A5CB}"/>
                  </a:ext>
                </a:extLst>
              </p:cNvPr>
              <p:cNvSpPr>
                <a:spLocks noGrp="1" noRot="1" noChangeAspect="1" noMove="1" noResize="1" noEditPoints="1" noAdjustHandles="1" noChangeArrowheads="1" noChangeShapeType="1" noTextEdit="1"/>
              </p:cNvSpPr>
              <p:nvPr>
                <p:ph type="body" idx="1"/>
              </p:nvPr>
            </p:nvSpPr>
            <p:spPr>
              <a:xfrm>
                <a:off x="311700" y="1152475"/>
                <a:ext cx="8520600" cy="3546000"/>
              </a:xfrm>
              <a:blipFill>
                <a:blip r:embed="rId2"/>
                <a:stretch>
                  <a:fillRect/>
                </a:stretch>
              </a:blipFill>
            </p:spPr>
            <p:txBody>
              <a:bodyPr/>
              <a:lstStyle/>
              <a:p>
                <a:r>
                  <a:rPr lang="en-US">
                    <a:noFill/>
                  </a:rPr>
                  <a:t> </a:t>
                </a:r>
              </a:p>
            </p:txBody>
          </p:sp>
        </mc:Fallback>
      </mc:AlternateContent>
      <p:sp>
        <p:nvSpPr>
          <p:cNvPr id="5" name="Rectangle 4">
            <a:extLst>
              <a:ext uri="{FF2B5EF4-FFF2-40B4-BE49-F238E27FC236}">
                <a16:creationId xmlns:a16="http://schemas.microsoft.com/office/drawing/2014/main" id="{4CFBF709-2F3F-447E-DF44-64CD66816F66}"/>
              </a:ext>
            </a:extLst>
          </p:cNvPr>
          <p:cNvSpPr/>
          <p:nvPr/>
        </p:nvSpPr>
        <p:spPr>
          <a:xfrm rot="5400000">
            <a:off x="5707366" y="595857"/>
            <a:ext cx="888541" cy="383310"/>
          </a:xfrm>
          <a:prstGeom prst="rect">
            <a:avLst/>
          </a:prstGeom>
          <a:solidFill>
            <a:schemeClr val="bg1">
              <a:lumMod val="85000"/>
            </a:schemeClr>
          </a:solidFill>
          <a:ln>
            <a:solidFill>
              <a:schemeClr val="accent5"/>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973E481F-02A3-25F9-DAC8-6C3D4946256C}"/>
                  </a:ext>
                </a:extLst>
              </p:cNvPr>
              <p:cNvSpPr txBox="1"/>
              <p:nvPr/>
            </p:nvSpPr>
            <p:spPr>
              <a:xfrm>
                <a:off x="5959981" y="583088"/>
                <a:ext cx="383310" cy="400110"/>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2600" b="0" i="1" smtClean="0">
                          <a:solidFill>
                            <a:schemeClr val="accent5"/>
                          </a:solidFill>
                          <a:latin typeface="Cambria Math" panose="02040503050406030204" pitchFamily="18" charset="0"/>
                        </a:rPr>
                        <m:t>𝑉</m:t>
                      </m:r>
                    </m:oMath>
                  </m:oMathPara>
                </a14:m>
                <a:endParaRPr lang="en-US" sz="2600" dirty="0">
                  <a:solidFill>
                    <a:schemeClr val="accent5"/>
                  </a:solidFill>
                </a:endParaRPr>
              </a:p>
            </p:txBody>
          </p:sp>
        </mc:Choice>
        <mc:Fallback xmlns="">
          <p:sp>
            <p:nvSpPr>
              <p:cNvPr id="7" name="TextBox 6">
                <a:extLst>
                  <a:ext uri="{FF2B5EF4-FFF2-40B4-BE49-F238E27FC236}">
                    <a16:creationId xmlns:a16="http://schemas.microsoft.com/office/drawing/2014/main" id="{973E481F-02A3-25F9-DAC8-6C3D4946256C}"/>
                  </a:ext>
                </a:extLst>
              </p:cNvPr>
              <p:cNvSpPr txBox="1">
                <a:spLocks noRot="1" noChangeAspect="1" noMove="1" noResize="1" noEditPoints="1" noAdjustHandles="1" noChangeArrowheads="1" noChangeShapeType="1" noTextEdit="1"/>
              </p:cNvSpPr>
              <p:nvPr/>
            </p:nvSpPr>
            <p:spPr>
              <a:xfrm>
                <a:off x="5959981" y="583088"/>
                <a:ext cx="383310" cy="400110"/>
              </a:xfrm>
              <a:prstGeom prst="rect">
                <a:avLst/>
              </a:prstGeom>
              <a:blipFill>
                <a:blip r:embed="rId3"/>
                <a:stretch>
                  <a:fillRect l="-6452" r="-3226" b="-6250"/>
                </a:stretch>
              </a:blipFill>
            </p:spPr>
            <p:txBody>
              <a:bodyPr/>
              <a:lstStyle/>
              <a:p>
                <a:r>
                  <a:rPr lang="en-US">
                    <a:noFill/>
                  </a:rPr>
                  <a:t> </a:t>
                </a:r>
              </a:p>
            </p:txBody>
          </p:sp>
        </mc:Fallback>
      </mc:AlternateContent>
      <p:sp>
        <p:nvSpPr>
          <p:cNvPr id="9" name="Rectangle 8">
            <a:extLst>
              <a:ext uri="{FF2B5EF4-FFF2-40B4-BE49-F238E27FC236}">
                <a16:creationId xmlns:a16="http://schemas.microsoft.com/office/drawing/2014/main" id="{D8412F94-6E1C-69ED-9744-BDE95EE5312A}"/>
              </a:ext>
            </a:extLst>
          </p:cNvPr>
          <p:cNvSpPr/>
          <p:nvPr/>
        </p:nvSpPr>
        <p:spPr>
          <a:xfrm rot="5400000">
            <a:off x="7938874" y="338357"/>
            <a:ext cx="888541" cy="898311"/>
          </a:xfrm>
          <a:prstGeom prst="rect">
            <a:avLst/>
          </a:prstGeom>
          <a:solidFill>
            <a:schemeClr val="bg1">
              <a:lumMod val="85000"/>
            </a:schemeClr>
          </a:solidFill>
          <a:ln>
            <a:solidFill>
              <a:schemeClr val="tx1">
                <a:lumMod val="65000"/>
                <a:lumOff val="35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DBFDF55B-C26B-DBE2-3E99-8D235145AAAD}"/>
                  </a:ext>
                </a:extLst>
              </p:cNvPr>
              <p:cNvSpPr txBox="1"/>
              <p:nvPr/>
            </p:nvSpPr>
            <p:spPr>
              <a:xfrm>
                <a:off x="7257540" y="413811"/>
                <a:ext cx="533699" cy="73866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4200" b="0" i="1" smtClean="0">
                          <a:solidFill>
                            <a:srgbClr val="C00000"/>
                          </a:solidFill>
                          <a:latin typeface="Cambria Math" panose="02040503050406030204" pitchFamily="18" charset="0"/>
                        </a:rPr>
                        <m:t>≈</m:t>
                      </m:r>
                    </m:oMath>
                  </m:oMathPara>
                </a14:m>
                <a:endParaRPr lang="en-US" sz="4200" dirty="0"/>
              </a:p>
            </p:txBody>
          </p:sp>
        </mc:Choice>
        <mc:Fallback xmlns="">
          <p:sp>
            <p:nvSpPr>
              <p:cNvPr id="10" name="TextBox 9">
                <a:extLst>
                  <a:ext uri="{FF2B5EF4-FFF2-40B4-BE49-F238E27FC236}">
                    <a16:creationId xmlns:a16="http://schemas.microsoft.com/office/drawing/2014/main" id="{DBFDF55B-C26B-DBE2-3E99-8D235145AAAD}"/>
                  </a:ext>
                </a:extLst>
              </p:cNvPr>
              <p:cNvSpPr txBox="1">
                <a:spLocks noRot="1" noChangeAspect="1" noMove="1" noResize="1" noEditPoints="1" noAdjustHandles="1" noChangeArrowheads="1" noChangeShapeType="1" noTextEdit="1"/>
              </p:cNvSpPr>
              <p:nvPr/>
            </p:nvSpPr>
            <p:spPr>
              <a:xfrm>
                <a:off x="7257540" y="413811"/>
                <a:ext cx="533699" cy="738664"/>
              </a:xfrm>
              <a:prstGeom prst="rect">
                <a:avLst/>
              </a:prstGeom>
              <a:blipFill>
                <a:blip r:embed="rId4"/>
                <a:stretch>
                  <a:fillRect l="-6977" r="-1395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6ECDEB1E-D566-D950-09EC-C865DBD839B2}"/>
                  </a:ext>
                </a:extLst>
              </p:cNvPr>
              <p:cNvSpPr txBox="1"/>
              <p:nvPr/>
            </p:nvSpPr>
            <p:spPr>
              <a:xfrm>
                <a:off x="8204852" y="582651"/>
                <a:ext cx="403957" cy="400110"/>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2600" b="0" i="1" smtClean="0">
                          <a:solidFill>
                            <a:schemeClr val="tx1">
                              <a:lumMod val="65000"/>
                              <a:lumOff val="35000"/>
                            </a:schemeClr>
                          </a:solidFill>
                          <a:latin typeface="Cambria Math" panose="02040503050406030204" pitchFamily="18" charset="0"/>
                        </a:rPr>
                        <m:t>𝑀</m:t>
                      </m:r>
                    </m:oMath>
                  </m:oMathPara>
                </a14:m>
                <a:endParaRPr lang="en-US" sz="2600" dirty="0">
                  <a:solidFill>
                    <a:schemeClr val="tx1">
                      <a:lumMod val="65000"/>
                      <a:lumOff val="35000"/>
                    </a:schemeClr>
                  </a:solidFill>
                </a:endParaRPr>
              </a:p>
            </p:txBody>
          </p:sp>
        </mc:Choice>
        <mc:Fallback xmlns="">
          <p:sp>
            <p:nvSpPr>
              <p:cNvPr id="11" name="TextBox 10">
                <a:extLst>
                  <a:ext uri="{FF2B5EF4-FFF2-40B4-BE49-F238E27FC236}">
                    <a16:creationId xmlns:a16="http://schemas.microsoft.com/office/drawing/2014/main" id="{6ECDEB1E-D566-D950-09EC-C865DBD839B2}"/>
                  </a:ext>
                </a:extLst>
              </p:cNvPr>
              <p:cNvSpPr txBox="1">
                <a:spLocks noRot="1" noChangeAspect="1" noMove="1" noResize="1" noEditPoints="1" noAdjustHandles="1" noChangeArrowheads="1" noChangeShapeType="1" noTextEdit="1"/>
              </p:cNvSpPr>
              <p:nvPr/>
            </p:nvSpPr>
            <p:spPr>
              <a:xfrm>
                <a:off x="8204852" y="582651"/>
                <a:ext cx="403957" cy="400110"/>
              </a:xfrm>
              <a:prstGeom prst="rect">
                <a:avLst/>
              </a:prstGeom>
              <a:blipFill>
                <a:blip r:embed="rId5"/>
                <a:stretch>
                  <a:fillRect l="-15625" r="-12500" b="-6250"/>
                </a:stretch>
              </a:blipFill>
            </p:spPr>
            <p:txBody>
              <a:bodyPr/>
              <a:lstStyle/>
              <a:p>
                <a:r>
                  <a:rPr lang="en-US">
                    <a:noFill/>
                  </a:rPr>
                  <a:t> </a:t>
                </a:r>
              </a:p>
            </p:txBody>
          </p:sp>
        </mc:Fallback>
      </mc:AlternateContent>
      <p:sp>
        <p:nvSpPr>
          <p:cNvPr id="12" name="Rectangle 11">
            <a:extLst>
              <a:ext uri="{FF2B5EF4-FFF2-40B4-BE49-F238E27FC236}">
                <a16:creationId xmlns:a16="http://schemas.microsoft.com/office/drawing/2014/main" id="{6226CA89-EBF9-B561-0BA9-5E30955532A8}"/>
              </a:ext>
            </a:extLst>
          </p:cNvPr>
          <p:cNvSpPr/>
          <p:nvPr/>
        </p:nvSpPr>
        <p:spPr>
          <a:xfrm>
            <a:off x="6414749" y="182541"/>
            <a:ext cx="888541" cy="383310"/>
          </a:xfrm>
          <a:prstGeom prst="rect">
            <a:avLst/>
          </a:prstGeom>
          <a:solidFill>
            <a:schemeClr val="bg1">
              <a:lumMod val="85000"/>
            </a:schemeClr>
          </a:solidFill>
          <a:ln>
            <a:solidFill>
              <a:schemeClr val="accent5"/>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EE49F7FF-42AB-1A15-DEDC-2F805203A0E9}"/>
                  </a:ext>
                </a:extLst>
              </p:cNvPr>
              <p:cNvSpPr txBox="1"/>
              <p:nvPr/>
            </p:nvSpPr>
            <p:spPr>
              <a:xfrm>
                <a:off x="6645990" y="182541"/>
                <a:ext cx="403957" cy="400110"/>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2600" b="0" i="1" smtClean="0">
                          <a:solidFill>
                            <a:schemeClr val="accent5"/>
                          </a:solidFill>
                          <a:latin typeface="Cambria Math" panose="02040503050406030204" pitchFamily="18" charset="0"/>
                        </a:rPr>
                        <m:t>𝑈</m:t>
                      </m:r>
                    </m:oMath>
                  </m:oMathPara>
                </a14:m>
                <a:endParaRPr lang="en-US" sz="2600" dirty="0">
                  <a:solidFill>
                    <a:schemeClr val="accent5"/>
                  </a:solidFill>
                </a:endParaRPr>
              </a:p>
            </p:txBody>
          </p:sp>
        </mc:Choice>
        <mc:Fallback xmlns="">
          <p:sp>
            <p:nvSpPr>
              <p:cNvPr id="8" name="TextBox 7">
                <a:extLst>
                  <a:ext uri="{FF2B5EF4-FFF2-40B4-BE49-F238E27FC236}">
                    <a16:creationId xmlns:a16="http://schemas.microsoft.com/office/drawing/2014/main" id="{EE49F7FF-42AB-1A15-DEDC-2F805203A0E9}"/>
                  </a:ext>
                </a:extLst>
              </p:cNvPr>
              <p:cNvSpPr txBox="1">
                <a:spLocks noRot="1" noChangeAspect="1" noMove="1" noResize="1" noEditPoints="1" noAdjustHandles="1" noChangeArrowheads="1" noChangeShapeType="1" noTextEdit="1"/>
              </p:cNvSpPr>
              <p:nvPr/>
            </p:nvSpPr>
            <p:spPr>
              <a:xfrm>
                <a:off x="6645990" y="182541"/>
                <a:ext cx="403957" cy="400110"/>
              </a:xfrm>
              <a:prstGeom prst="rect">
                <a:avLst/>
              </a:prstGeom>
              <a:blipFill>
                <a:blip r:embed="rId6"/>
                <a:stretch>
                  <a:fillRect l="-6250" r="-6250" b="-3030"/>
                </a:stretch>
              </a:blipFill>
            </p:spPr>
            <p:txBody>
              <a:bodyPr/>
              <a:lstStyle/>
              <a:p>
                <a:r>
                  <a:rPr lang="en-US">
                    <a:noFill/>
                  </a:rPr>
                  <a:t> </a:t>
                </a:r>
              </a:p>
            </p:txBody>
          </p:sp>
        </mc:Fallback>
      </mc:AlternateContent>
    </p:spTree>
    <p:extLst>
      <p:ext uri="{BB962C8B-B14F-4D97-AF65-F5344CB8AC3E}">
        <p14:creationId xmlns:p14="http://schemas.microsoft.com/office/powerpoint/2010/main" val="2321912202"/>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91ACFD-2A27-76E1-1018-D458B27BD699}"/>
              </a:ext>
            </a:extLst>
          </p:cNvPr>
          <p:cNvSpPr>
            <a:spLocks noGrp="1"/>
          </p:cNvSpPr>
          <p:nvPr>
            <p:ph type="title"/>
          </p:nvPr>
        </p:nvSpPr>
        <p:spPr/>
        <p:txBody>
          <a:bodyPr>
            <a:normAutofit fontScale="90000"/>
          </a:bodyPr>
          <a:lstStyle/>
          <a:p>
            <a:r>
              <a:rPr lang="en-US" dirty="0" err="1"/>
              <a:t>GloVe</a:t>
            </a:r>
            <a:r>
              <a:rPr lang="en-US" dirty="0"/>
              <a:t> Word Embeddings </a:t>
            </a:r>
            <a:r>
              <a:rPr lang="en-US" sz="2000" dirty="0">
                <a:solidFill>
                  <a:schemeClr val="accent1">
                    <a:lumMod val="50000"/>
                  </a:schemeClr>
                </a:solidFill>
              </a:rPr>
              <a:t>[Pennington, Socher, Manning 2014]</a:t>
            </a:r>
          </a:p>
        </p:txBody>
      </p:sp>
      <p:sp>
        <p:nvSpPr>
          <p:cNvPr id="3" name="Text Placeholder 2">
            <a:extLst>
              <a:ext uri="{FF2B5EF4-FFF2-40B4-BE49-F238E27FC236}">
                <a16:creationId xmlns:a16="http://schemas.microsoft.com/office/drawing/2014/main" id="{0D5C887A-9658-E941-750F-88040C0FDB76}"/>
              </a:ext>
            </a:extLst>
          </p:cNvPr>
          <p:cNvSpPr>
            <a:spLocks noGrp="1"/>
          </p:cNvSpPr>
          <p:nvPr>
            <p:ph type="body" idx="1"/>
          </p:nvPr>
        </p:nvSpPr>
        <p:spPr>
          <a:xfrm>
            <a:off x="311700" y="1152475"/>
            <a:ext cx="8520600" cy="3727096"/>
          </a:xfrm>
        </p:spPr>
        <p:txBody>
          <a:bodyPr>
            <a:normAutofit/>
          </a:bodyPr>
          <a:lstStyle/>
          <a:p>
            <a:r>
              <a:rPr lang="en-US" dirty="0"/>
              <a:t>Combines ideas from word2vec and matrix factorization</a:t>
            </a:r>
          </a:p>
          <a:p>
            <a:endParaRPr lang="en-US" dirty="0"/>
          </a:p>
        </p:txBody>
      </p:sp>
    </p:spTree>
    <p:extLst>
      <p:ext uri="{BB962C8B-B14F-4D97-AF65-F5344CB8AC3E}">
        <p14:creationId xmlns:p14="http://schemas.microsoft.com/office/powerpoint/2010/main" val="1103827397"/>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9DC847-AFBB-9772-0CE3-5C51CD19822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C3246B3-8451-F559-D92F-421727769C41}"/>
              </a:ext>
            </a:extLst>
          </p:cNvPr>
          <p:cNvSpPr>
            <a:spLocks noGrp="1"/>
          </p:cNvSpPr>
          <p:nvPr>
            <p:ph type="title"/>
          </p:nvPr>
        </p:nvSpPr>
        <p:spPr/>
        <p:txBody>
          <a:bodyPr>
            <a:normAutofit fontScale="90000"/>
          </a:bodyPr>
          <a:lstStyle/>
          <a:p>
            <a:r>
              <a:rPr lang="en-US" dirty="0" err="1"/>
              <a:t>GloVe</a:t>
            </a:r>
            <a:r>
              <a:rPr lang="en-US" dirty="0"/>
              <a:t> Word Embeddings </a:t>
            </a:r>
            <a:r>
              <a:rPr lang="en-US" sz="2000" dirty="0">
                <a:solidFill>
                  <a:schemeClr val="accent1">
                    <a:lumMod val="50000"/>
                  </a:schemeClr>
                </a:solidFill>
              </a:rPr>
              <a:t>[Pennington, Socher, Manning 2014]</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ED3E57EE-CB68-4E77-E456-24C9FA3BD8F4}"/>
                  </a:ext>
                </a:extLst>
              </p:cNvPr>
              <p:cNvSpPr>
                <a:spLocks noGrp="1"/>
              </p:cNvSpPr>
              <p:nvPr>
                <p:ph type="body" idx="1"/>
              </p:nvPr>
            </p:nvSpPr>
            <p:spPr>
              <a:xfrm>
                <a:off x="311700" y="1152475"/>
                <a:ext cx="8520600" cy="3727096"/>
              </a:xfrm>
            </p:spPr>
            <p:txBody>
              <a:bodyPr>
                <a:normAutofit/>
              </a:bodyPr>
              <a:lstStyle/>
              <a:p>
                <a:r>
                  <a:rPr lang="en-US" dirty="0"/>
                  <a:t>Combines ideas from word2vec and matrix factorization</a:t>
                </a:r>
              </a:p>
              <a:p>
                <a:r>
                  <a:rPr lang="en-US" dirty="0"/>
                  <a:t>Let </a:t>
                </a:r>
                <a14:m>
                  <m:oMath xmlns:m="http://schemas.openxmlformats.org/officeDocument/2006/math">
                    <m:r>
                      <a:rPr lang="en-US" b="0" i="1" smtClean="0">
                        <a:solidFill>
                          <a:srgbClr val="7030A0"/>
                        </a:solidFill>
                        <a:latin typeface="Cambria Math" panose="02040503050406030204" pitchFamily="18" charset="0"/>
                      </a:rPr>
                      <m:t>𝑀</m:t>
                    </m:r>
                  </m:oMath>
                </a14:m>
                <a:r>
                  <a:rPr lang="en-US" dirty="0"/>
                  <a:t> be the log-normalized-co-occurrence matrix: </a:t>
                </a:r>
                <a14:m>
                  <m:oMath xmlns:m="http://schemas.openxmlformats.org/officeDocument/2006/math">
                    <m:sSub>
                      <m:sSubPr>
                        <m:ctrlPr>
                          <a:rPr lang="en-US" b="0" i="1" smtClean="0">
                            <a:solidFill>
                              <a:srgbClr val="7030A0"/>
                            </a:solidFill>
                            <a:latin typeface="Cambria Math" panose="02040503050406030204" pitchFamily="18" charset="0"/>
                          </a:rPr>
                        </m:ctrlPr>
                      </m:sSubPr>
                      <m:e>
                        <m:r>
                          <a:rPr lang="en-US" b="0" i="1" smtClean="0">
                            <a:solidFill>
                              <a:srgbClr val="7030A0"/>
                            </a:solidFill>
                            <a:latin typeface="Cambria Math" panose="02040503050406030204" pitchFamily="18" charset="0"/>
                          </a:rPr>
                          <m:t>𝑀</m:t>
                        </m:r>
                      </m:e>
                      <m:sub>
                        <m:r>
                          <a:rPr lang="en-US" b="0" i="1" smtClean="0">
                            <a:solidFill>
                              <a:srgbClr val="7030A0"/>
                            </a:solidFill>
                            <a:latin typeface="Cambria Math" panose="02040503050406030204" pitchFamily="18" charset="0"/>
                          </a:rPr>
                          <m:t>𝑐</m:t>
                        </m:r>
                        <m:r>
                          <a:rPr lang="en-US" b="0" i="1" smtClean="0">
                            <a:solidFill>
                              <a:srgbClr val="7030A0"/>
                            </a:solidFill>
                            <a:latin typeface="Cambria Math" panose="02040503050406030204" pitchFamily="18" charset="0"/>
                          </a:rPr>
                          <m:t>,</m:t>
                        </m:r>
                        <m:r>
                          <a:rPr lang="en-US" b="0" i="1" smtClean="0">
                            <a:solidFill>
                              <a:srgbClr val="7030A0"/>
                            </a:solidFill>
                            <a:latin typeface="Cambria Math" panose="02040503050406030204" pitchFamily="18" charset="0"/>
                          </a:rPr>
                          <m:t>𝑜</m:t>
                        </m:r>
                      </m:sub>
                    </m:sSub>
                    <m:r>
                      <a:rPr lang="en-US" b="0" i="1" smtClean="0">
                        <a:solidFill>
                          <a:srgbClr val="7030A0"/>
                        </a:solidFill>
                        <a:latin typeface="Cambria Math" panose="02040503050406030204" pitchFamily="18" charset="0"/>
                      </a:rPr>
                      <m:t>=</m:t>
                    </m:r>
                    <m:func>
                      <m:funcPr>
                        <m:ctrlPr>
                          <a:rPr lang="en-US" b="0" i="1" smtClean="0">
                            <a:solidFill>
                              <a:srgbClr val="7030A0"/>
                            </a:solidFill>
                            <a:latin typeface="Cambria Math" panose="02040503050406030204" pitchFamily="18" charset="0"/>
                          </a:rPr>
                        </m:ctrlPr>
                      </m:funcPr>
                      <m:fName>
                        <m:r>
                          <m:rPr>
                            <m:sty m:val="p"/>
                          </m:rPr>
                          <a:rPr lang="en-US" b="0" i="0" smtClean="0">
                            <a:solidFill>
                              <a:srgbClr val="7030A0"/>
                            </a:solidFill>
                            <a:latin typeface="Cambria Math" panose="02040503050406030204" pitchFamily="18" charset="0"/>
                          </a:rPr>
                          <m:t>log</m:t>
                        </m:r>
                      </m:fName>
                      <m:e>
                        <m:d>
                          <m:dPr>
                            <m:ctrlPr>
                              <a:rPr lang="en-US" b="0" i="1" smtClean="0">
                                <a:solidFill>
                                  <a:srgbClr val="7030A0"/>
                                </a:solidFill>
                                <a:latin typeface="Cambria Math" panose="02040503050406030204" pitchFamily="18" charset="0"/>
                              </a:rPr>
                            </m:ctrlPr>
                          </m:dPr>
                          <m:e>
                            <m:f>
                              <m:fPr>
                                <m:ctrlPr>
                                  <a:rPr lang="en-US" i="1">
                                    <a:solidFill>
                                      <a:srgbClr val="7030A0"/>
                                    </a:solidFill>
                                    <a:latin typeface="Cambria Math" panose="02040503050406030204" pitchFamily="18" charset="0"/>
                                  </a:rPr>
                                </m:ctrlPr>
                              </m:fPr>
                              <m:num>
                                <m:r>
                                  <a:rPr lang="en-US" i="1">
                                    <a:solidFill>
                                      <a:srgbClr val="7030A0"/>
                                    </a:solidFill>
                                    <a:latin typeface="Cambria Math" panose="02040503050406030204" pitchFamily="18" charset="0"/>
                                  </a:rPr>
                                  <m:t>#(</m:t>
                                </m:r>
                                <m:r>
                                  <a:rPr lang="en-US" i="1">
                                    <a:solidFill>
                                      <a:srgbClr val="7030A0"/>
                                    </a:solidFill>
                                    <a:latin typeface="Cambria Math" panose="02040503050406030204" pitchFamily="18" charset="0"/>
                                  </a:rPr>
                                  <m:t>𝑐</m:t>
                                </m:r>
                                <m:r>
                                  <a:rPr lang="en-US" i="1">
                                    <a:solidFill>
                                      <a:srgbClr val="7030A0"/>
                                    </a:solidFill>
                                    <a:latin typeface="Cambria Math" panose="02040503050406030204" pitchFamily="18" charset="0"/>
                                  </a:rPr>
                                  <m:t>,</m:t>
                                </m:r>
                                <m:r>
                                  <a:rPr lang="en-US" i="1">
                                    <a:solidFill>
                                      <a:srgbClr val="7030A0"/>
                                    </a:solidFill>
                                    <a:latin typeface="Cambria Math" panose="02040503050406030204" pitchFamily="18" charset="0"/>
                                  </a:rPr>
                                  <m:t>𝑜</m:t>
                                </m:r>
                                <m:r>
                                  <a:rPr lang="en-US" i="1">
                                    <a:solidFill>
                                      <a:srgbClr val="7030A0"/>
                                    </a:solidFill>
                                    <a:latin typeface="Cambria Math" panose="02040503050406030204" pitchFamily="18" charset="0"/>
                                  </a:rPr>
                                  <m:t>)</m:t>
                                </m:r>
                              </m:num>
                              <m:den>
                                <m:nary>
                                  <m:naryPr>
                                    <m:chr m:val="∑"/>
                                    <m:supHide m:val="on"/>
                                    <m:ctrlPr>
                                      <a:rPr lang="en-US" i="1">
                                        <a:solidFill>
                                          <a:srgbClr val="7030A0"/>
                                        </a:solidFill>
                                        <a:latin typeface="Cambria Math" panose="02040503050406030204" pitchFamily="18" charset="0"/>
                                      </a:rPr>
                                    </m:ctrlPr>
                                  </m:naryPr>
                                  <m:sub>
                                    <m:r>
                                      <a:rPr lang="en-US" i="1">
                                        <a:solidFill>
                                          <a:srgbClr val="7030A0"/>
                                        </a:solidFill>
                                        <a:latin typeface="Cambria Math" panose="02040503050406030204" pitchFamily="18" charset="0"/>
                                      </a:rPr>
                                      <m:t>𝑜</m:t>
                                    </m:r>
                                    <m:r>
                                      <a:rPr lang="en-US" i="1">
                                        <a:solidFill>
                                          <a:srgbClr val="7030A0"/>
                                        </a:solidFill>
                                        <a:latin typeface="Cambria Math" panose="02040503050406030204" pitchFamily="18" charset="0"/>
                                      </a:rPr>
                                      <m:t>′</m:t>
                                    </m:r>
                                  </m:sub>
                                  <m:sup/>
                                  <m:e>
                                    <m:r>
                                      <a:rPr lang="en-US" i="1">
                                        <a:solidFill>
                                          <a:srgbClr val="7030A0"/>
                                        </a:solidFill>
                                        <a:latin typeface="Cambria Math" panose="02040503050406030204" pitchFamily="18" charset="0"/>
                                      </a:rPr>
                                      <m:t>#(</m:t>
                                    </m:r>
                                    <m:r>
                                      <a:rPr lang="en-US" i="1">
                                        <a:solidFill>
                                          <a:srgbClr val="7030A0"/>
                                        </a:solidFill>
                                        <a:latin typeface="Cambria Math" panose="02040503050406030204" pitchFamily="18" charset="0"/>
                                      </a:rPr>
                                      <m:t>𝑐</m:t>
                                    </m:r>
                                    <m:r>
                                      <a:rPr lang="en-US" i="1">
                                        <a:solidFill>
                                          <a:srgbClr val="7030A0"/>
                                        </a:solidFill>
                                        <a:latin typeface="Cambria Math" panose="02040503050406030204" pitchFamily="18" charset="0"/>
                                      </a:rPr>
                                      <m:t>,</m:t>
                                    </m:r>
                                    <m:sSup>
                                      <m:sSupPr>
                                        <m:ctrlPr>
                                          <a:rPr lang="en-US" i="1">
                                            <a:solidFill>
                                              <a:srgbClr val="7030A0"/>
                                            </a:solidFill>
                                            <a:latin typeface="Cambria Math" panose="02040503050406030204" pitchFamily="18" charset="0"/>
                                          </a:rPr>
                                        </m:ctrlPr>
                                      </m:sSupPr>
                                      <m:e>
                                        <m:r>
                                          <a:rPr lang="en-US" i="1">
                                            <a:solidFill>
                                              <a:srgbClr val="7030A0"/>
                                            </a:solidFill>
                                            <a:latin typeface="Cambria Math" panose="02040503050406030204" pitchFamily="18" charset="0"/>
                                          </a:rPr>
                                          <m:t>𝑜</m:t>
                                        </m:r>
                                      </m:e>
                                      <m:sup>
                                        <m:r>
                                          <a:rPr lang="en-US" i="1">
                                            <a:solidFill>
                                              <a:srgbClr val="7030A0"/>
                                            </a:solidFill>
                                            <a:latin typeface="Cambria Math" panose="02040503050406030204" pitchFamily="18" charset="0"/>
                                          </a:rPr>
                                          <m:t>′</m:t>
                                        </m:r>
                                      </m:sup>
                                    </m:sSup>
                                    <m:r>
                                      <a:rPr lang="en-US" i="1">
                                        <a:solidFill>
                                          <a:srgbClr val="7030A0"/>
                                        </a:solidFill>
                                        <a:latin typeface="Cambria Math" panose="02040503050406030204" pitchFamily="18" charset="0"/>
                                      </a:rPr>
                                      <m:t>)</m:t>
                                    </m:r>
                                  </m:e>
                                </m:nary>
                              </m:den>
                            </m:f>
                          </m:e>
                        </m:d>
                      </m:e>
                    </m:func>
                  </m:oMath>
                </a14:m>
                <a:endParaRPr lang="en-US" b="0" dirty="0"/>
              </a:p>
              <a:p>
                <a:endParaRPr lang="en-US" dirty="0"/>
              </a:p>
            </p:txBody>
          </p:sp>
        </mc:Choice>
        <mc:Fallback xmlns="">
          <p:sp>
            <p:nvSpPr>
              <p:cNvPr id="3" name="Text Placeholder 2">
                <a:extLst>
                  <a:ext uri="{FF2B5EF4-FFF2-40B4-BE49-F238E27FC236}">
                    <a16:creationId xmlns:a16="http://schemas.microsoft.com/office/drawing/2014/main" id="{ED3E57EE-CB68-4E77-E456-24C9FA3BD8F4}"/>
                  </a:ext>
                </a:extLst>
              </p:cNvPr>
              <p:cNvSpPr>
                <a:spLocks noGrp="1" noRot="1" noChangeAspect="1" noMove="1" noResize="1" noEditPoints="1" noAdjustHandles="1" noChangeArrowheads="1" noChangeShapeType="1" noTextEdit="1"/>
              </p:cNvSpPr>
              <p:nvPr>
                <p:ph type="body" idx="1"/>
              </p:nvPr>
            </p:nvSpPr>
            <p:spPr>
              <a:xfrm>
                <a:off x="311700" y="1152475"/>
                <a:ext cx="8520600" cy="3727096"/>
              </a:xfrm>
              <a:blipFill>
                <a:blip r:embed="rId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528200702"/>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5EA03B-EDEB-A33A-628C-05B86AE20FC6}"/>
            </a:ext>
          </a:extLst>
        </p:cNvPr>
        <p:cNvGrpSpPr/>
        <p:nvPr/>
      </p:nvGrpSpPr>
      <p:grpSpPr>
        <a:xfrm>
          <a:off x="0" y="0"/>
          <a:ext cx="0" cy="0"/>
          <a:chOff x="0" y="0"/>
          <a:chExt cx="0" cy="0"/>
        </a:xfrm>
      </p:grpSpPr>
      <p:sp>
        <p:nvSpPr>
          <p:cNvPr id="5" name="Cloud Callout 4">
            <a:extLst>
              <a:ext uri="{FF2B5EF4-FFF2-40B4-BE49-F238E27FC236}">
                <a16:creationId xmlns:a16="http://schemas.microsoft.com/office/drawing/2014/main" id="{3AB20E10-E3AA-9095-9318-2870ACF27892}"/>
              </a:ext>
            </a:extLst>
          </p:cNvPr>
          <p:cNvSpPr/>
          <p:nvPr/>
        </p:nvSpPr>
        <p:spPr>
          <a:xfrm>
            <a:off x="7589520" y="3532911"/>
            <a:ext cx="1525414" cy="814647"/>
          </a:xfrm>
          <a:prstGeom prst="cloudCallout">
            <a:avLst>
              <a:gd name="adj1" fmla="val -84592"/>
              <a:gd name="adj2" fmla="val -38521"/>
            </a:avLst>
          </a:prstGeom>
          <a:ln>
            <a:solidFill>
              <a:srgbClr val="92D05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2" name="Title 1">
            <a:extLst>
              <a:ext uri="{FF2B5EF4-FFF2-40B4-BE49-F238E27FC236}">
                <a16:creationId xmlns:a16="http://schemas.microsoft.com/office/drawing/2014/main" id="{1361BADE-AF2B-EF05-CD1A-28F4095E7D8C}"/>
              </a:ext>
            </a:extLst>
          </p:cNvPr>
          <p:cNvSpPr>
            <a:spLocks noGrp="1"/>
          </p:cNvSpPr>
          <p:nvPr>
            <p:ph type="title"/>
          </p:nvPr>
        </p:nvSpPr>
        <p:spPr/>
        <p:txBody>
          <a:bodyPr>
            <a:normAutofit fontScale="90000"/>
          </a:bodyPr>
          <a:lstStyle/>
          <a:p>
            <a:r>
              <a:rPr lang="en-US" dirty="0" err="1"/>
              <a:t>GloVe</a:t>
            </a:r>
            <a:r>
              <a:rPr lang="en-US" dirty="0"/>
              <a:t> Word Embeddings </a:t>
            </a:r>
            <a:r>
              <a:rPr lang="en-US" sz="2000" dirty="0">
                <a:solidFill>
                  <a:schemeClr val="accent1">
                    <a:lumMod val="50000"/>
                  </a:schemeClr>
                </a:solidFill>
              </a:rPr>
              <a:t>[Pennington, Socher, Manning 2014]</a:t>
            </a:r>
          </a:p>
        </p:txBody>
      </p:sp>
      <mc:AlternateContent xmlns:mc="http://schemas.openxmlformats.org/markup-compatibility/2006">
        <mc:Choice xmlns:a14="http://schemas.microsoft.com/office/drawing/2010/main" Requires="a14">
          <p:sp>
            <p:nvSpPr>
              <p:cNvPr id="3" name="Text Placeholder 2">
                <a:extLst>
                  <a:ext uri="{FF2B5EF4-FFF2-40B4-BE49-F238E27FC236}">
                    <a16:creationId xmlns:a16="http://schemas.microsoft.com/office/drawing/2014/main" id="{0BBE9C26-E370-A84F-CB33-264DE7B86FA6}"/>
                  </a:ext>
                </a:extLst>
              </p:cNvPr>
              <p:cNvSpPr>
                <a:spLocks noGrp="1"/>
              </p:cNvSpPr>
              <p:nvPr>
                <p:ph type="body" idx="1"/>
              </p:nvPr>
            </p:nvSpPr>
            <p:spPr>
              <a:xfrm>
                <a:off x="311700" y="1152475"/>
                <a:ext cx="8520600" cy="3727096"/>
              </a:xfrm>
            </p:spPr>
            <p:txBody>
              <a:bodyPr>
                <a:normAutofit/>
              </a:bodyPr>
              <a:lstStyle/>
              <a:p>
                <a:r>
                  <a:rPr lang="en-US" dirty="0"/>
                  <a:t>Combines ideas from word2vec and matrix factorization</a:t>
                </a:r>
              </a:p>
              <a:p>
                <a:r>
                  <a:rPr lang="en-US" dirty="0"/>
                  <a:t>Let </a:t>
                </a:r>
                <a14:m>
                  <m:oMath xmlns:m="http://schemas.openxmlformats.org/officeDocument/2006/math">
                    <m:r>
                      <a:rPr lang="en-US" b="0" i="1" smtClean="0">
                        <a:solidFill>
                          <a:srgbClr val="7030A0"/>
                        </a:solidFill>
                        <a:latin typeface="Cambria Math" panose="02040503050406030204" pitchFamily="18" charset="0"/>
                      </a:rPr>
                      <m:t>𝑀</m:t>
                    </m:r>
                  </m:oMath>
                </a14:m>
                <a:r>
                  <a:rPr lang="en-US" dirty="0"/>
                  <a:t> be the log-normalized-co-occurrence matrix: </a:t>
                </a:r>
                <a14:m>
                  <m:oMath xmlns:m="http://schemas.openxmlformats.org/officeDocument/2006/math">
                    <m:sSub>
                      <m:sSubPr>
                        <m:ctrlPr>
                          <a:rPr lang="en-US" b="0" i="1" smtClean="0">
                            <a:solidFill>
                              <a:srgbClr val="7030A0"/>
                            </a:solidFill>
                            <a:latin typeface="Cambria Math" panose="02040503050406030204" pitchFamily="18" charset="0"/>
                          </a:rPr>
                        </m:ctrlPr>
                      </m:sSubPr>
                      <m:e>
                        <m:r>
                          <a:rPr lang="en-US" b="0" i="1" smtClean="0">
                            <a:solidFill>
                              <a:srgbClr val="7030A0"/>
                            </a:solidFill>
                            <a:latin typeface="Cambria Math" panose="02040503050406030204" pitchFamily="18" charset="0"/>
                          </a:rPr>
                          <m:t>𝑀</m:t>
                        </m:r>
                      </m:e>
                      <m:sub>
                        <m:r>
                          <a:rPr lang="en-US" b="0" i="1" smtClean="0">
                            <a:solidFill>
                              <a:srgbClr val="7030A0"/>
                            </a:solidFill>
                            <a:latin typeface="Cambria Math" panose="02040503050406030204" pitchFamily="18" charset="0"/>
                          </a:rPr>
                          <m:t>𝑐</m:t>
                        </m:r>
                        <m:r>
                          <a:rPr lang="en-US" b="0" i="1" smtClean="0">
                            <a:solidFill>
                              <a:srgbClr val="7030A0"/>
                            </a:solidFill>
                            <a:latin typeface="Cambria Math" panose="02040503050406030204" pitchFamily="18" charset="0"/>
                          </a:rPr>
                          <m:t>,</m:t>
                        </m:r>
                        <m:r>
                          <a:rPr lang="en-US" b="0" i="1" smtClean="0">
                            <a:solidFill>
                              <a:srgbClr val="7030A0"/>
                            </a:solidFill>
                            <a:latin typeface="Cambria Math" panose="02040503050406030204" pitchFamily="18" charset="0"/>
                          </a:rPr>
                          <m:t>𝑜</m:t>
                        </m:r>
                      </m:sub>
                    </m:sSub>
                    <m:r>
                      <a:rPr lang="en-US" b="0" i="1" smtClean="0">
                        <a:solidFill>
                          <a:srgbClr val="7030A0"/>
                        </a:solidFill>
                        <a:latin typeface="Cambria Math" panose="02040503050406030204" pitchFamily="18" charset="0"/>
                      </a:rPr>
                      <m:t>=</m:t>
                    </m:r>
                    <m:func>
                      <m:funcPr>
                        <m:ctrlPr>
                          <a:rPr lang="en-US" b="0" i="1" smtClean="0">
                            <a:solidFill>
                              <a:srgbClr val="7030A0"/>
                            </a:solidFill>
                            <a:latin typeface="Cambria Math" panose="02040503050406030204" pitchFamily="18" charset="0"/>
                          </a:rPr>
                        </m:ctrlPr>
                      </m:funcPr>
                      <m:fName>
                        <m:r>
                          <m:rPr>
                            <m:sty m:val="p"/>
                          </m:rPr>
                          <a:rPr lang="en-US" b="0" i="0" smtClean="0">
                            <a:solidFill>
                              <a:srgbClr val="7030A0"/>
                            </a:solidFill>
                            <a:latin typeface="Cambria Math" panose="02040503050406030204" pitchFamily="18" charset="0"/>
                          </a:rPr>
                          <m:t>log</m:t>
                        </m:r>
                      </m:fName>
                      <m:e>
                        <m:d>
                          <m:dPr>
                            <m:ctrlPr>
                              <a:rPr lang="en-US" b="0" i="1" smtClean="0">
                                <a:solidFill>
                                  <a:srgbClr val="7030A0"/>
                                </a:solidFill>
                                <a:latin typeface="Cambria Math" panose="02040503050406030204" pitchFamily="18" charset="0"/>
                              </a:rPr>
                            </m:ctrlPr>
                          </m:dPr>
                          <m:e>
                            <m:f>
                              <m:fPr>
                                <m:ctrlPr>
                                  <a:rPr lang="en-US" i="1">
                                    <a:solidFill>
                                      <a:srgbClr val="7030A0"/>
                                    </a:solidFill>
                                    <a:latin typeface="Cambria Math" panose="02040503050406030204" pitchFamily="18" charset="0"/>
                                  </a:rPr>
                                </m:ctrlPr>
                              </m:fPr>
                              <m:num>
                                <m:r>
                                  <a:rPr lang="en-US" i="1">
                                    <a:solidFill>
                                      <a:srgbClr val="7030A0"/>
                                    </a:solidFill>
                                    <a:latin typeface="Cambria Math" panose="02040503050406030204" pitchFamily="18" charset="0"/>
                                  </a:rPr>
                                  <m:t>#(</m:t>
                                </m:r>
                                <m:r>
                                  <a:rPr lang="en-US" i="1">
                                    <a:solidFill>
                                      <a:srgbClr val="7030A0"/>
                                    </a:solidFill>
                                    <a:latin typeface="Cambria Math" panose="02040503050406030204" pitchFamily="18" charset="0"/>
                                  </a:rPr>
                                  <m:t>𝑐</m:t>
                                </m:r>
                                <m:r>
                                  <a:rPr lang="en-US" i="1">
                                    <a:solidFill>
                                      <a:srgbClr val="7030A0"/>
                                    </a:solidFill>
                                    <a:latin typeface="Cambria Math" panose="02040503050406030204" pitchFamily="18" charset="0"/>
                                  </a:rPr>
                                  <m:t>,</m:t>
                                </m:r>
                                <m:r>
                                  <a:rPr lang="en-US" i="1">
                                    <a:solidFill>
                                      <a:srgbClr val="7030A0"/>
                                    </a:solidFill>
                                    <a:latin typeface="Cambria Math" panose="02040503050406030204" pitchFamily="18" charset="0"/>
                                  </a:rPr>
                                  <m:t>𝑜</m:t>
                                </m:r>
                                <m:r>
                                  <a:rPr lang="en-US" i="1">
                                    <a:solidFill>
                                      <a:srgbClr val="7030A0"/>
                                    </a:solidFill>
                                    <a:latin typeface="Cambria Math" panose="02040503050406030204" pitchFamily="18" charset="0"/>
                                  </a:rPr>
                                  <m:t>)</m:t>
                                </m:r>
                              </m:num>
                              <m:den>
                                <m:nary>
                                  <m:naryPr>
                                    <m:chr m:val="∑"/>
                                    <m:supHide m:val="on"/>
                                    <m:ctrlPr>
                                      <a:rPr lang="en-US" i="1">
                                        <a:solidFill>
                                          <a:srgbClr val="7030A0"/>
                                        </a:solidFill>
                                        <a:latin typeface="Cambria Math" panose="02040503050406030204" pitchFamily="18" charset="0"/>
                                      </a:rPr>
                                    </m:ctrlPr>
                                  </m:naryPr>
                                  <m:sub>
                                    <m:r>
                                      <a:rPr lang="en-US" i="1">
                                        <a:solidFill>
                                          <a:srgbClr val="7030A0"/>
                                        </a:solidFill>
                                        <a:latin typeface="Cambria Math" panose="02040503050406030204" pitchFamily="18" charset="0"/>
                                      </a:rPr>
                                      <m:t>𝑜</m:t>
                                    </m:r>
                                    <m:r>
                                      <a:rPr lang="en-US" i="1">
                                        <a:solidFill>
                                          <a:srgbClr val="7030A0"/>
                                        </a:solidFill>
                                        <a:latin typeface="Cambria Math" panose="02040503050406030204" pitchFamily="18" charset="0"/>
                                      </a:rPr>
                                      <m:t>′</m:t>
                                    </m:r>
                                  </m:sub>
                                  <m:sup/>
                                  <m:e>
                                    <m:r>
                                      <a:rPr lang="en-US" i="1">
                                        <a:solidFill>
                                          <a:srgbClr val="7030A0"/>
                                        </a:solidFill>
                                        <a:latin typeface="Cambria Math" panose="02040503050406030204" pitchFamily="18" charset="0"/>
                                      </a:rPr>
                                      <m:t>#(</m:t>
                                    </m:r>
                                    <m:r>
                                      <a:rPr lang="en-US" i="1">
                                        <a:solidFill>
                                          <a:srgbClr val="7030A0"/>
                                        </a:solidFill>
                                        <a:latin typeface="Cambria Math" panose="02040503050406030204" pitchFamily="18" charset="0"/>
                                      </a:rPr>
                                      <m:t>𝑐</m:t>
                                    </m:r>
                                    <m:r>
                                      <a:rPr lang="en-US" i="1">
                                        <a:solidFill>
                                          <a:srgbClr val="7030A0"/>
                                        </a:solidFill>
                                        <a:latin typeface="Cambria Math" panose="02040503050406030204" pitchFamily="18" charset="0"/>
                                      </a:rPr>
                                      <m:t>,</m:t>
                                    </m:r>
                                    <m:sSup>
                                      <m:sSupPr>
                                        <m:ctrlPr>
                                          <a:rPr lang="en-US" i="1">
                                            <a:solidFill>
                                              <a:srgbClr val="7030A0"/>
                                            </a:solidFill>
                                            <a:latin typeface="Cambria Math" panose="02040503050406030204" pitchFamily="18" charset="0"/>
                                          </a:rPr>
                                        </m:ctrlPr>
                                      </m:sSupPr>
                                      <m:e>
                                        <m:r>
                                          <a:rPr lang="en-US" i="1">
                                            <a:solidFill>
                                              <a:srgbClr val="7030A0"/>
                                            </a:solidFill>
                                            <a:latin typeface="Cambria Math" panose="02040503050406030204" pitchFamily="18" charset="0"/>
                                          </a:rPr>
                                          <m:t>𝑜</m:t>
                                        </m:r>
                                      </m:e>
                                      <m:sup>
                                        <m:r>
                                          <a:rPr lang="en-US" i="1">
                                            <a:solidFill>
                                              <a:srgbClr val="7030A0"/>
                                            </a:solidFill>
                                            <a:latin typeface="Cambria Math" panose="02040503050406030204" pitchFamily="18" charset="0"/>
                                          </a:rPr>
                                          <m:t>′</m:t>
                                        </m:r>
                                      </m:sup>
                                    </m:sSup>
                                    <m:r>
                                      <a:rPr lang="en-US" i="1">
                                        <a:solidFill>
                                          <a:srgbClr val="7030A0"/>
                                        </a:solidFill>
                                        <a:latin typeface="Cambria Math" panose="02040503050406030204" pitchFamily="18" charset="0"/>
                                      </a:rPr>
                                      <m:t>)</m:t>
                                    </m:r>
                                  </m:e>
                                </m:nary>
                              </m:den>
                            </m:f>
                          </m:e>
                        </m:d>
                      </m:e>
                    </m:func>
                  </m:oMath>
                </a14:m>
                <a:endParaRPr lang="en-US" b="0" dirty="0"/>
              </a:p>
              <a:p>
                <a:r>
                  <a:rPr lang="en-US" dirty="0"/>
                  <a:t>Self-supervised learning task: </a:t>
                </a:r>
                <a:r>
                  <a:rPr lang="en-US" b="1" dirty="0"/>
                  <a:t>Factorize</a:t>
                </a:r>
                <a:r>
                  <a:rPr lang="en-US" dirty="0"/>
                  <a:t> </a:t>
                </a:r>
                <a14:m>
                  <m:oMath xmlns:m="http://schemas.openxmlformats.org/officeDocument/2006/math">
                    <m:r>
                      <a:rPr lang="en-US" i="1" smtClean="0">
                        <a:solidFill>
                          <a:srgbClr val="7030A0"/>
                        </a:solidFill>
                        <a:latin typeface="Cambria Math" panose="02040503050406030204" pitchFamily="18" charset="0"/>
                      </a:rPr>
                      <m:t>𝑀</m:t>
                    </m:r>
                  </m:oMath>
                </a14:m>
                <a:endParaRPr lang="en-US" b="0" dirty="0"/>
              </a:p>
              <a:p>
                <a:pPr lvl="1"/>
                <a:r>
                  <a:rPr lang="en-US" dirty="0"/>
                  <a:t>This is a </a:t>
                </a:r>
                <a:r>
                  <a:rPr lang="en-US" i="1" dirty="0"/>
                  <a:t>regression</a:t>
                </a:r>
                <a:r>
                  <a:rPr lang="en-US" dirty="0"/>
                  <a:t> task (</a:t>
                </a:r>
                <a:r>
                  <a:rPr lang="en-US" dirty="0" err="1"/>
                  <a:t>Skipgram</a:t>
                </a:r>
                <a:r>
                  <a:rPr lang="en-US" dirty="0"/>
                  <a:t> and SGNS were </a:t>
                </a:r>
                <a:r>
                  <a:rPr lang="en-US" i="1" dirty="0"/>
                  <a:t>classification</a:t>
                </a:r>
                <a:r>
                  <a:rPr lang="en-US" dirty="0"/>
                  <a:t>)</a:t>
                </a:r>
              </a:p>
              <a:p>
                <a:pPr lvl="1"/>
                <a:r>
                  <a:rPr lang="en-US" dirty="0"/>
                  <a:t>The goal is to find vectors </a:t>
                </a:r>
                <a14:m>
                  <m:oMath xmlns:m="http://schemas.openxmlformats.org/officeDocument/2006/math">
                    <m:sSub>
                      <m:sSubPr>
                        <m:ctrlPr>
                          <a:rPr lang="en-US" b="0" i="1" smtClean="0">
                            <a:solidFill>
                              <a:srgbClr val="7030A0"/>
                            </a:solidFill>
                            <a:latin typeface="Cambria Math" panose="02040503050406030204" pitchFamily="18" charset="0"/>
                          </a:rPr>
                        </m:ctrlPr>
                      </m:sSubPr>
                      <m:e>
                        <m:r>
                          <a:rPr lang="en-US" b="0" i="1" smtClean="0">
                            <a:solidFill>
                              <a:srgbClr val="7030A0"/>
                            </a:solidFill>
                            <a:latin typeface="Cambria Math" panose="02040503050406030204" pitchFamily="18" charset="0"/>
                          </a:rPr>
                          <m:t>𝑣</m:t>
                        </m:r>
                      </m:e>
                      <m:sub>
                        <m:r>
                          <a:rPr lang="en-US" b="0" i="1" smtClean="0">
                            <a:solidFill>
                              <a:srgbClr val="7030A0"/>
                            </a:solidFill>
                            <a:latin typeface="Cambria Math" panose="02040503050406030204" pitchFamily="18" charset="0"/>
                          </a:rPr>
                          <m:t>𝑐</m:t>
                        </m:r>
                      </m:sub>
                    </m:sSub>
                    <m:r>
                      <a:rPr lang="en-US" b="0" i="1" smtClean="0">
                        <a:solidFill>
                          <a:srgbClr val="7030A0"/>
                        </a:solidFill>
                        <a:latin typeface="Cambria Math" panose="02040503050406030204" pitchFamily="18" charset="0"/>
                      </a:rPr>
                      <m:t>,</m:t>
                    </m:r>
                    <m:sSub>
                      <m:sSubPr>
                        <m:ctrlPr>
                          <a:rPr lang="en-US" b="0" i="1" smtClean="0">
                            <a:solidFill>
                              <a:srgbClr val="7030A0"/>
                            </a:solidFill>
                            <a:latin typeface="Cambria Math" panose="02040503050406030204" pitchFamily="18" charset="0"/>
                          </a:rPr>
                        </m:ctrlPr>
                      </m:sSubPr>
                      <m:e>
                        <m:r>
                          <a:rPr lang="en-US" b="0" i="1" smtClean="0">
                            <a:solidFill>
                              <a:srgbClr val="7030A0"/>
                            </a:solidFill>
                            <a:latin typeface="Cambria Math" panose="02040503050406030204" pitchFamily="18" charset="0"/>
                          </a:rPr>
                          <m:t>𝑢</m:t>
                        </m:r>
                      </m:e>
                      <m:sub>
                        <m:r>
                          <a:rPr lang="en-US" b="0" i="1" smtClean="0">
                            <a:solidFill>
                              <a:srgbClr val="7030A0"/>
                            </a:solidFill>
                            <a:latin typeface="Cambria Math" panose="02040503050406030204" pitchFamily="18" charset="0"/>
                          </a:rPr>
                          <m:t>𝑜</m:t>
                        </m:r>
                      </m:sub>
                    </m:sSub>
                  </m:oMath>
                </a14:m>
                <a:r>
                  <a:rPr lang="en-US" b="0" dirty="0"/>
                  <a:t> such that </a:t>
                </a:r>
                <a14:m>
                  <m:oMath xmlns:m="http://schemas.openxmlformats.org/officeDocument/2006/math">
                    <m:r>
                      <a:rPr lang="en-US" b="0" i="1" smtClean="0">
                        <a:solidFill>
                          <a:srgbClr val="7030A0"/>
                        </a:solidFill>
                        <a:latin typeface="Cambria Math" panose="02040503050406030204" pitchFamily="18" charset="0"/>
                      </a:rPr>
                      <m:t>∀</m:t>
                    </m:r>
                    <m:r>
                      <a:rPr lang="en-US" b="0" i="1" smtClean="0">
                        <a:solidFill>
                          <a:srgbClr val="7030A0"/>
                        </a:solidFill>
                        <a:latin typeface="Cambria Math" panose="02040503050406030204" pitchFamily="18" charset="0"/>
                      </a:rPr>
                      <m:t>𝑐</m:t>
                    </m:r>
                    <m:r>
                      <a:rPr lang="en-US" b="0" i="1" smtClean="0">
                        <a:solidFill>
                          <a:srgbClr val="7030A0"/>
                        </a:solidFill>
                        <a:latin typeface="Cambria Math" panose="02040503050406030204" pitchFamily="18" charset="0"/>
                      </a:rPr>
                      <m:t>,</m:t>
                    </m:r>
                    <m:r>
                      <a:rPr lang="en-US" b="0" i="1" smtClean="0">
                        <a:solidFill>
                          <a:srgbClr val="7030A0"/>
                        </a:solidFill>
                        <a:latin typeface="Cambria Math" panose="02040503050406030204" pitchFamily="18" charset="0"/>
                      </a:rPr>
                      <m:t>𝑜</m:t>
                    </m:r>
                    <m:r>
                      <a:rPr lang="en-US" b="0" i="1" smtClean="0">
                        <a:solidFill>
                          <a:srgbClr val="7030A0"/>
                        </a:solidFill>
                        <a:latin typeface="Cambria Math" panose="02040503050406030204" pitchFamily="18" charset="0"/>
                      </a:rPr>
                      <m:t>:  </m:t>
                    </m:r>
                    <m:sSubSup>
                      <m:sSubSupPr>
                        <m:ctrlPr>
                          <a:rPr lang="en-US" b="0" i="1" smtClean="0">
                            <a:solidFill>
                              <a:srgbClr val="7030A0"/>
                            </a:solidFill>
                            <a:latin typeface="Cambria Math" panose="02040503050406030204" pitchFamily="18" charset="0"/>
                          </a:rPr>
                        </m:ctrlPr>
                      </m:sSubSupPr>
                      <m:e>
                        <m:r>
                          <a:rPr lang="en-US" b="0" i="1" smtClean="0">
                            <a:solidFill>
                              <a:srgbClr val="7030A0"/>
                            </a:solidFill>
                            <a:latin typeface="Cambria Math" panose="02040503050406030204" pitchFamily="18" charset="0"/>
                          </a:rPr>
                          <m:t>𝑣</m:t>
                        </m:r>
                      </m:e>
                      <m:sub>
                        <m:r>
                          <a:rPr lang="en-US" b="0" i="1" smtClean="0">
                            <a:solidFill>
                              <a:srgbClr val="7030A0"/>
                            </a:solidFill>
                            <a:latin typeface="Cambria Math" panose="02040503050406030204" pitchFamily="18" charset="0"/>
                          </a:rPr>
                          <m:t>𝑐</m:t>
                        </m:r>
                      </m:sub>
                      <m:sup>
                        <m:r>
                          <a:rPr lang="en-US" b="0" i="1" smtClean="0">
                            <a:solidFill>
                              <a:srgbClr val="7030A0"/>
                            </a:solidFill>
                            <a:latin typeface="Cambria Math" panose="02040503050406030204" pitchFamily="18" charset="0"/>
                          </a:rPr>
                          <m:t>𝑇</m:t>
                        </m:r>
                      </m:sup>
                    </m:sSubSup>
                    <m:sSub>
                      <m:sSubPr>
                        <m:ctrlPr>
                          <a:rPr lang="en-US" b="0" i="1" smtClean="0">
                            <a:solidFill>
                              <a:srgbClr val="7030A0"/>
                            </a:solidFill>
                            <a:latin typeface="Cambria Math" panose="02040503050406030204" pitchFamily="18" charset="0"/>
                          </a:rPr>
                        </m:ctrlPr>
                      </m:sSubPr>
                      <m:e>
                        <m:r>
                          <a:rPr lang="en-US" b="0" i="1" smtClean="0">
                            <a:solidFill>
                              <a:srgbClr val="7030A0"/>
                            </a:solidFill>
                            <a:latin typeface="Cambria Math" panose="02040503050406030204" pitchFamily="18" charset="0"/>
                          </a:rPr>
                          <m:t>𝑢</m:t>
                        </m:r>
                      </m:e>
                      <m:sub>
                        <m:r>
                          <a:rPr lang="en-US" b="0" i="1" smtClean="0">
                            <a:solidFill>
                              <a:srgbClr val="7030A0"/>
                            </a:solidFill>
                            <a:latin typeface="Cambria Math" panose="02040503050406030204" pitchFamily="18" charset="0"/>
                          </a:rPr>
                          <m:t>𝑜</m:t>
                        </m:r>
                      </m:sub>
                    </m:sSub>
                    <m:r>
                      <a:rPr lang="en-US" b="0" i="1" smtClean="0">
                        <a:solidFill>
                          <a:srgbClr val="7030A0"/>
                        </a:solidFill>
                        <a:latin typeface="Cambria Math" panose="02040503050406030204" pitchFamily="18" charset="0"/>
                      </a:rPr>
                      <m:t>≈</m:t>
                    </m:r>
                    <m:sSub>
                      <m:sSubPr>
                        <m:ctrlPr>
                          <a:rPr lang="en-US" b="0" i="1" smtClean="0">
                            <a:solidFill>
                              <a:srgbClr val="7030A0"/>
                            </a:solidFill>
                            <a:latin typeface="Cambria Math" panose="02040503050406030204" pitchFamily="18" charset="0"/>
                          </a:rPr>
                        </m:ctrlPr>
                      </m:sSubPr>
                      <m:e>
                        <m:r>
                          <a:rPr lang="en-US" b="0" i="1" smtClean="0">
                            <a:solidFill>
                              <a:srgbClr val="7030A0"/>
                            </a:solidFill>
                            <a:latin typeface="Cambria Math" panose="02040503050406030204" pitchFamily="18" charset="0"/>
                          </a:rPr>
                          <m:t>𝑀</m:t>
                        </m:r>
                      </m:e>
                      <m:sub>
                        <m:r>
                          <a:rPr lang="en-US" b="0" i="1" smtClean="0">
                            <a:solidFill>
                              <a:srgbClr val="7030A0"/>
                            </a:solidFill>
                            <a:latin typeface="Cambria Math" panose="02040503050406030204" pitchFamily="18" charset="0"/>
                          </a:rPr>
                          <m:t>𝑐</m:t>
                        </m:r>
                        <m:r>
                          <a:rPr lang="en-US" b="0" i="1" smtClean="0">
                            <a:solidFill>
                              <a:srgbClr val="7030A0"/>
                            </a:solidFill>
                            <a:latin typeface="Cambria Math" panose="02040503050406030204" pitchFamily="18" charset="0"/>
                          </a:rPr>
                          <m:t>,</m:t>
                        </m:r>
                        <m:r>
                          <a:rPr lang="en-US" b="0" i="1" smtClean="0">
                            <a:solidFill>
                              <a:srgbClr val="7030A0"/>
                            </a:solidFill>
                            <a:latin typeface="Cambria Math" panose="02040503050406030204" pitchFamily="18" charset="0"/>
                          </a:rPr>
                          <m:t>𝑜</m:t>
                        </m:r>
                      </m:sub>
                    </m:sSub>
                  </m:oMath>
                </a14:m>
                <a:endParaRPr lang="en-US" b="0" dirty="0"/>
              </a:p>
              <a:p>
                <a:endParaRPr lang="en-US" dirty="0"/>
              </a:p>
            </p:txBody>
          </p:sp>
        </mc:Choice>
        <mc:Fallback>
          <p:sp>
            <p:nvSpPr>
              <p:cNvPr id="3" name="Text Placeholder 2">
                <a:extLst>
                  <a:ext uri="{FF2B5EF4-FFF2-40B4-BE49-F238E27FC236}">
                    <a16:creationId xmlns:a16="http://schemas.microsoft.com/office/drawing/2014/main" id="{0BBE9C26-E370-A84F-CB33-264DE7B86FA6}"/>
                  </a:ext>
                </a:extLst>
              </p:cNvPr>
              <p:cNvSpPr>
                <a:spLocks noGrp="1" noRot="1" noChangeAspect="1" noMove="1" noResize="1" noEditPoints="1" noAdjustHandles="1" noChangeArrowheads="1" noChangeShapeType="1" noTextEdit="1"/>
              </p:cNvSpPr>
              <p:nvPr>
                <p:ph type="body" idx="1"/>
              </p:nvPr>
            </p:nvSpPr>
            <p:spPr>
              <a:xfrm>
                <a:off x="311700" y="1152475"/>
                <a:ext cx="8520600" cy="3727096"/>
              </a:xfrm>
              <a:blipFill>
                <a:blip r:embed="rId3"/>
                <a:stretch>
                  <a:fillRect/>
                </a:stretch>
              </a:blipFill>
            </p:spPr>
            <p:txBody>
              <a:bodyPr/>
              <a:lstStyle/>
              <a:p>
                <a:r>
                  <a:rPr lang="en-US">
                    <a:noFill/>
                  </a:rPr>
                  <a:t> </a:t>
                </a:r>
              </a:p>
            </p:txBody>
          </p:sp>
        </mc:Fallback>
      </mc:AlternateContent>
      <p:pic>
        <p:nvPicPr>
          <p:cNvPr id="4" name="Picture 3" descr="A close-up of symbols&#10;&#10;AI-generated content may be incorrect.">
            <a:extLst>
              <a:ext uri="{FF2B5EF4-FFF2-40B4-BE49-F238E27FC236}">
                <a16:creationId xmlns:a16="http://schemas.microsoft.com/office/drawing/2014/main" id="{FF7B0E78-0C0B-625E-F823-F2A7951EC607}"/>
              </a:ext>
            </a:extLst>
          </p:cNvPr>
          <p:cNvPicPr>
            <a:picLocks noChangeAspect="1"/>
          </p:cNvPicPr>
          <p:nvPr/>
        </p:nvPicPr>
        <p:blipFill>
          <a:blip r:embed="rId4"/>
          <a:stretch>
            <a:fillRect/>
          </a:stretch>
        </p:blipFill>
        <p:spPr>
          <a:xfrm>
            <a:off x="7886605" y="3730137"/>
            <a:ext cx="1037136" cy="392507"/>
          </a:xfrm>
          <a:prstGeom prst="rect">
            <a:avLst/>
          </a:prstGeom>
        </p:spPr>
      </p:pic>
    </p:spTree>
    <p:extLst>
      <p:ext uri="{BB962C8B-B14F-4D97-AF65-F5344CB8AC3E}">
        <p14:creationId xmlns:p14="http://schemas.microsoft.com/office/powerpoint/2010/main" val="922931274"/>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4743EF-A5E3-B2FE-5BC6-2EE64128151B}"/>
            </a:ext>
          </a:extLst>
        </p:cNvPr>
        <p:cNvGrpSpPr/>
        <p:nvPr/>
      </p:nvGrpSpPr>
      <p:grpSpPr>
        <a:xfrm>
          <a:off x="0" y="0"/>
          <a:ext cx="0" cy="0"/>
          <a:chOff x="0" y="0"/>
          <a:chExt cx="0" cy="0"/>
        </a:xfrm>
      </p:grpSpPr>
      <p:sp>
        <p:nvSpPr>
          <p:cNvPr id="5" name="Cloud Callout 4">
            <a:extLst>
              <a:ext uri="{FF2B5EF4-FFF2-40B4-BE49-F238E27FC236}">
                <a16:creationId xmlns:a16="http://schemas.microsoft.com/office/drawing/2014/main" id="{67CC687C-1B97-72D4-9E26-D93A2760FD37}"/>
              </a:ext>
            </a:extLst>
          </p:cNvPr>
          <p:cNvSpPr/>
          <p:nvPr/>
        </p:nvSpPr>
        <p:spPr>
          <a:xfrm>
            <a:off x="7589520" y="3532911"/>
            <a:ext cx="1525414" cy="814647"/>
          </a:xfrm>
          <a:prstGeom prst="cloudCallout">
            <a:avLst>
              <a:gd name="adj1" fmla="val -84592"/>
              <a:gd name="adj2" fmla="val -38521"/>
            </a:avLst>
          </a:prstGeom>
          <a:ln>
            <a:solidFill>
              <a:srgbClr val="92D05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2" name="Title 1">
            <a:extLst>
              <a:ext uri="{FF2B5EF4-FFF2-40B4-BE49-F238E27FC236}">
                <a16:creationId xmlns:a16="http://schemas.microsoft.com/office/drawing/2014/main" id="{13939BA2-BE6C-A1D2-77A0-7A67BA4BAF4D}"/>
              </a:ext>
            </a:extLst>
          </p:cNvPr>
          <p:cNvSpPr>
            <a:spLocks noGrp="1"/>
          </p:cNvSpPr>
          <p:nvPr>
            <p:ph type="title"/>
          </p:nvPr>
        </p:nvSpPr>
        <p:spPr/>
        <p:txBody>
          <a:bodyPr>
            <a:normAutofit fontScale="90000"/>
          </a:bodyPr>
          <a:lstStyle/>
          <a:p>
            <a:r>
              <a:rPr lang="en-US" dirty="0" err="1"/>
              <a:t>GloVe</a:t>
            </a:r>
            <a:r>
              <a:rPr lang="en-US" dirty="0"/>
              <a:t> Word Embeddings </a:t>
            </a:r>
            <a:r>
              <a:rPr lang="en-US" sz="2000" dirty="0">
                <a:solidFill>
                  <a:schemeClr val="accent1">
                    <a:lumMod val="50000"/>
                  </a:schemeClr>
                </a:solidFill>
              </a:rPr>
              <a:t>[Pennington, Socher, Manning 2014]</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B89CFCF7-194E-AC99-C2DB-7A3A38BC245A}"/>
                  </a:ext>
                </a:extLst>
              </p:cNvPr>
              <p:cNvSpPr>
                <a:spLocks noGrp="1"/>
              </p:cNvSpPr>
              <p:nvPr>
                <p:ph type="body" idx="1"/>
              </p:nvPr>
            </p:nvSpPr>
            <p:spPr>
              <a:xfrm>
                <a:off x="311700" y="1152475"/>
                <a:ext cx="8520600" cy="3727096"/>
              </a:xfrm>
            </p:spPr>
            <p:txBody>
              <a:bodyPr>
                <a:normAutofit/>
              </a:bodyPr>
              <a:lstStyle/>
              <a:p>
                <a:r>
                  <a:rPr lang="en-US" dirty="0"/>
                  <a:t>Combines ideas from word2vec and matrix factorization</a:t>
                </a:r>
              </a:p>
              <a:p>
                <a:r>
                  <a:rPr lang="en-US" dirty="0"/>
                  <a:t>Let </a:t>
                </a:r>
                <a14:m>
                  <m:oMath xmlns:m="http://schemas.openxmlformats.org/officeDocument/2006/math">
                    <m:r>
                      <a:rPr lang="en-US" b="0" i="1" smtClean="0">
                        <a:solidFill>
                          <a:srgbClr val="7030A0"/>
                        </a:solidFill>
                        <a:latin typeface="Cambria Math" panose="02040503050406030204" pitchFamily="18" charset="0"/>
                      </a:rPr>
                      <m:t>𝑀</m:t>
                    </m:r>
                  </m:oMath>
                </a14:m>
                <a:r>
                  <a:rPr lang="en-US" dirty="0"/>
                  <a:t> be the log-normalized-co-occurrence matrix: </a:t>
                </a:r>
                <a14:m>
                  <m:oMath xmlns:m="http://schemas.openxmlformats.org/officeDocument/2006/math">
                    <m:sSub>
                      <m:sSubPr>
                        <m:ctrlPr>
                          <a:rPr lang="en-US" b="0" i="1" smtClean="0">
                            <a:solidFill>
                              <a:srgbClr val="7030A0"/>
                            </a:solidFill>
                            <a:latin typeface="Cambria Math" panose="02040503050406030204" pitchFamily="18" charset="0"/>
                          </a:rPr>
                        </m:ctrlPr>
                      </m:sSubPr>
                      <m:e>
                        <m:r>
                          <a:rPr lang="en-US" b="0" i="1" smtClean="0">
                            <a:solidFill>
                              <a:srgbClr val="7030A0"/>
                            </a:solidFill>
                            <a:latin typeface="Cambria Math" panose="02040503050406030204" pitchFamily="18" charset="0"/>
                          </a:rPr>
                          <m:t>𝑀</m:t>
                        </m:r>
                      </m:e>
                      <m:sub>
                        <m:r>
                          <a:rPr lang="en-US" b="0" i="1" smtClean="0">
                            <a:solidFill>
                              <a:srgbClr val="7030A0"/>
                            </a:solidFill>
                            <a:latin typeface="Cambria Math" panose="02040503050406030204" pitchFamily="18" charset="0"/>
                          </a:rPr>
                          <m:t>𝑐</m:t>
                        </m:r>
                        <m:r>
                          <a:rPr lang="en-US" b="0" i="1" smtClean="0">
                            <a:solidFill>
                              <a:srgbClr val="7030A0"/>
                            </a:solidFill>
                            <a:latin typeface="Cambria Math" panose="02040503050406030204" pitchFamily="18" charset="0"/>
                          </a:rPr>
                          <m:t>,</m:t>
                        </m:r>
                        <m:r>
                          <a:rPr lang="en-US" b="0" i="1" smtClean="0">
                            <a:solidFill>
                              <a:srgbClr val="7030A0"/>
                            </a:solidFill>
                            <a:latin typeface="Cambria Math" panose="02040503050406030204" pitchFamily="18" charset="0"/>
                          </a:rPr>
                          <m:t>𝑜</m:t>
                        </m:r>
                      </m:sub>
                    </m:sSub>
                    <m:r>
                      <a:rPr lang="en-US" b="0" i="1" smtClean="0">
                        <a:solidFill>
                          <a:srgbClr val="7030A0"/>
                        </a:solidFill>
                        <a:latin typeface="Cambria Math" panose="02040503050406030204" pitchFamily="18" charset="0"/>
                      </a:rPr>
                      <m:t>=</m:t>
                    </m:r>
                    <m:func>
                      <m:funcPr>
                        <m:ctrlPr>
                          <a:rPr lang="en-US" b="0" i="1" smtClean="0">
                            <a:solidFill>
                              <a:srgbClr val="7030A0"/>
                            </a:solidFill>
                            <a:latin typeface="Cambria Math" panose="02040503050406030204" pitchFamily="18" charset="0"/>
                          </a:rPr>
                        </m:ctrlPr>
                      </m:funcPr>
                      <m:fName>
                        <m:r>
                          <m:rPr>
                            <m:sty m:val="p"/>
                          </m:rPr>
                          <a:rPr lang="en-US" b="0" i="0" smtClean="0">
                            <a:solidFill>
                              <a:srgbClr val="7030A0"/>
                            </a:solidFill>
                            <a:latin typeface="Cambria Math" panose="02040503050406030204" pitchFamily="18" charset="0"/>
                          </a:rPr>
                          <m:t>log</m:t>
                        </m:r>
                      </m:fName>
                      <m:e>
                        <m:d>
                          <m:dPr>
                            <m:ctrlPr>
                              <a:rPr lang="en-US" b="0" i="1" smtClean="0">
                                <a:solidFill>
                                  <a:srgbClr val="7030A0"/>
                                </a:solidFill>
                                <a:latin typeface="Cambria Math" panose="02040503050406030204" pitchFamily="18" charset="0"/>
                              </a:rPr>
                            </m:ctrlPr>
                          </m:dPr>
                          <m:e>
                            <m:f>
                              <m:fPr>
                                <m:ctrlPr>
                                  <a:rPr lang="en-US" i="1">
                                    <a:solidFill>
                                      <a:srgbClr val="7030A0"/>
                                    </a:solidFill>
                                    <a:latin typeface="Cambria Math" panose="02040503050406030204" pitchFamily="18" charset="0"/>
                                  </a:rPr>
                                </m:ctrlPr>
                              </m:fPr>
                              <m:num>
                                <m:r>
                                  <a:rPr lang="en-US" i="1">
                                    <a:solidFill>
                                      <a:srgbClr val="7030A0"/>
                                    </a:solidFill>
                                    <a:latin typeface="Cambria Math" panose="02040503050406030204" pitchFamily="18" charset="0"/>
                                  </a:rPr>
                                  <m:t>#(</m:t>
                                </m:r>
                                <m:r>
                                  <a:rPr lang="en-US" i="1">
                                    <a:solidFill>
                                      <a:srgbClr val="7030A0"/>
                                    </a:solidFill>
                                    <a:latin typeface="Cambria Math" panose="02040503050406030204" pitchFamily="18" charset="0"/>
                                  </a:rPr>
                                  <m:t>𝑐</m:t>
                                </m:r>
                                <m:r>
                                  <a:rPr lang="en-US" i="1">
                                    <a:solidFill>
                                      <a:srgbClr val="7030A0"/>
                                    </a:solidFill>
                                    <a:latin typeface="Cambria Math" panose="02040503050406030204" pitchFamily="18" charset="0"/>
                                  </a:rPr>
                                  <m:t>,</m:t>
                                </m:r>
                                <m:r>
                                  <a:rPr lang="en-US" i="1">
                                    <a:solidFill>
                                      <a:srgbClr val="7030A0"/>
                                    </a:solidFill>
                                    <a:latin typeface="Cambria Math" panose="02040503050406030204" pitchFamily="18" charset="0"/>
                                  </a:rPr>
                                  <m:t>𝑜</m:t>
                                </m:r>
                                <m:r>
                                  <a:rPr lang="en-US" i="1">
                                    <a:solidFill>
                                      <a:srgbClr val="7030A0"/>
                                    </a:solidFill>
                                    <a:latin typeface="Cambria Math" panose="02040503050406030204" pitchFamily="18" charset="0"/>
                                  </a:rPr>
                                  <m:t>)</m:t>
                                </m:r>
                              </m:num>
                              <m:den>
                                <m:nary>
                                  <m:naryPr>
                                    <m:chr m:val="∑"/>
                                    <m:supHide m:val="on"/>
                                    <m:ctrlPr>
                                      <a:rPr lang="en-US" i="1">
                                        <a:solidFill>
                                          <a:srgbClr val="7030A0"/>
                                        </a:solidFill>
                                        <a:latin typeface="Cambria Math" panose="02040503050406030204" pitchFamily="18" charset="0"/>
                                      </a:rPr>
                                    </m:ctrlPr>
                                  </m:naryPr>
                                  <m:sub>
                                    <m:r>
                                      <a:rPr lang="en-US" i="1">
                                        <a:solidFill>
                                          <a:srgbClr val="7030A0"/>
                                        </a:solidFill>
                                        <a:latin typeface="Cambria Math" panose="02040503050406030204" pitchFamily="18" charset="0"/>
                                      </a:rPr>
                                      <m:t>𝑜</m:t>
                                    </m:r>
                                    <m:r>
                                      <a:rPr lang="en-US" i="1">
                                        <a:solidFill>
                                          <a:srgbClr val="7030A0"/>
                                        </a:solidFill>
                                        <a:latin typeface="Cambria Math" panose="02040503050406030204" pitchFamily="18" charset="0"/>
                                      </a:rPr>
                                      <m:t>′</m:t>
                                    </m:r>
                                  </m:sub>
                                  <m:sup/>
                                  <m:e>
                                    <m:r>
                                      <a:rPr lang="en-US" i="1">
                                        <a:solidFill>
                                          <a:srgbClr val="7030A0"/>
                                        </a:solidFill>
                                        <a:latin typeface="Cambria Math" panose="02040503050406030204" pitchFamily="18" charset="0"/>
                                      </a:rPr>
                                      <m:t>#(</m:t>
                                    </m:r>
                                    <m:r>
                                      <a:rPr lang="en-US" i="1">
                                        <a:solidFill>
                                          <a:srgbClr val="7030A0"/>
                                        </a:solidFill>
                                        <a:latin typeface="Cambria Math" panose="02040503050406030204" pitchFamily="18" charset="0"/>
                                      </a:rPr>
                                      <m:t>𝑐</m:t>
                                    </m:r>
                                    <m:r>
                                      <a:rPr lang="en-US" i="1">
                                        <a:solidFill>
                                          <a:srgbClr val="7030A0"/>
                                        </a:solidFill>
                                        <a:latin typeface="Cambria Math" panose="02040503050406030204" pitchFamily="18" charset="0"/>
                                      </a:rPr>
                                      <m:t>,</m:t>
                                    </m:r>
                                    <m:sSup>
                                      <m:sSupPr>
                                        <m:ctrlPr>
                                          <a:rPr lang="en-US" i="1">
                                            <a:solidFill>
                                              <a:srgbClr val="7030A0"/>
                                            </a:solidFill>
                                            <a:latin typeface="Cambria Math" panose="02040503050406030204" pitchFamily="18" charset="0"/>
                                          </a:rPr>
                                        </m:ctrlPr>
                                      </m:sSupPr>
                                      <m:e>
                                        <m:r>
                                          <a:rPr lang="en-US" i="1">
                                            <a:solidFill>
                                              <a:srgbClr val="7030A0"/>
                                            </a:solidFill>
                                            <a:latin typeface="Cambria Math" panose="02040503050406030204" pitchFamily="18" charset="0"/>
                                          </a:rPr>
                                          <m:t>𝑜</m:t>
                                        </m:r>
                                      </m:e>
                                      <m:sup>
                                        <m:r>
                                          <a:rPr lang="en-US" i="1">
                                            <a:solidFill>
                                              <a:srgbClr val="7030A0"/>
                                            </a:solidFill>
                                            <a:latin typeface="Cambria Math" panose="02040503050406030204" pitchFamily="18" charset="0"/>
                                          </a:rPr>
                                          <m:t>′</m:t>
                                        </m:r>
                                      </m:sup>
                                    </m:sSup>
                                    <m:r>
                                      <a:rPr lang="en-US" i="1">
                                        <a:solidFill>
                                          <a:srgbClr val="7030A0"/>
                                        </a:solidFill>
                                        <a:latin typeface="Cambria Math" panose="02040503050406030204" pitchFamily="18" charset="0"/>
                                      </a:rPr>
                                      <m:t>)</m:t>
                                    </m:r>
                                  </m:e>
                                </m:nary>
                              </m:den>
                            </m:f>
                          </m:e>
                        </m:d>
                      </m:e>
                    </m:func>
                  </m:oMath>
                </a14:m>
                <a:endParaRPr lang="en-US" b="0" dirty="0"/>
              </a:p>
              <a:p>
                <a:r>
                  <a:rPr lang="en-US" dirty="0"/>
                  <a:t>Self-supervised learning task: </a:t>
                </a:r>
                <a:r>
                  <a:rPr lang="en-US" b="1" dirty="0"/>
                  <a:t>Factorize</a:t>
                </a:r>
                <a:r>
                  <a:rPr lang="en-US" dirty="0"/>
                  <a:t> </a:t>
                </a:r>
                <a14:m>
                  <m:oMath xmlns:m="http://schemas.openxmlformats.org/officeDocument/2006/math">
                    <m:r>
                      <a:rPr lang="en-US" i="1" smtClean="0">
                        <a:solidFill>
                          <a:srgbClr val="7030A0"/>
                        </a:solidFill>
                        <a:latin typeface="Cambria Math" panose="02040503050406030204" pitchFamily="18" charset="0"/>
                      </a:rPr>
                      <m:t>𝑀</m:t>
                    </m:r>
                  </m:oMath>
                </a14:m>
                <a:endParaRPr lang="en-US" b="0" dirty="0"/>
              </a:p>
              <a:p>
                <a:pPr lvl="1"/>
                <a:r>
                  <a:rPr lang="en-US" dirty="0"/>
                  <a:t>This is a </a:t>
                </a:r>
                <a:r>
                  <a:rPr lang="en-US" i="1" dirty="0"/>
                  <a:t>regression</a:t>
                </a:r>
                <a:r>
                  <a:rPr lang="en-US" dirty="0"/>
                  <a:t> task (</a:t>
                </a:r>
                <a:r>
                  <a:rPr lang="en-US" dirty="0" err="1"/>
                  <a:t>Skipgram</a:t>
                </a:r>
                <a:r>
                  <a:rPr lang="en-US" dirty="0"/>
                  <a:t> and SGNS were </a:t>
                </a:r>
                <a:r>
                  <a:rPr lang="en-US" i="1" dirty="0"/>
                  <a:t>classification</a:t>
                </a:r>
                <a:r>
                  <a:rPr lang="en-US" dirty="0"/>
                  <a:t>)</a:t>
                </a:r>
              </a:p>
              <a:p>
                <a:pPr lvl="1"/>
                <a:r>
                  <a:rPr lang="en-US" dirty="0"/>
                  <a:t>The goal is to find vectors </a:t>
                </a:r>
                <a14:m>
                  <m:oMath xmlns:m="http://schemas.openxmlformats.org/officeDocument/2006/math">
                    <m:sSub>
                      <m:sSubPr>
                        <m:ctrlPr>
                          <a:rPr lang="en-US" b="0" i="1" smtClean="0">
                            <a:solidFill>
                              <a:srgbClr val="7030A0"/>
                            </a:solidFill>
                            <a:latin typeface="Cambria Math" panose="02040503050406030204" pitchFamily="18" charset="0"/>
                          </a:rPr>
                        </m:ctrlPr>
                      </m:sSubPr>
                      <m:e>
                        <m:r>
                          <a:rPr lang="en-US" b="0" i="1" smtClean="0">
                            <a:solidFill>
                              <a:srgbClr val="7030A0"/>
                            </a:solidFill>
                            <a:latin typeface="Cambria Math" panose="02040503050406030204" pitchFamily="18" charset="0"/>
                          </a:rPr>
                          <m:t>𝑣</m:t>
                        </m:r>
                      </m:e>
                      <m:sub>
                        <m:r>
                          <a:rPr lang="en-US" b="0" i="1" smtClean="0">
                            <a:solidFill>
                              <a:srgbClr val="7030A0"/>
                            </a:solidFill>
                            <a:latin typeface="Cambria Math" panose="02040503050406030204" pitchFamily="18" charset="0"/>
                          </a:rPr>
                          <m:t>𝑐</m:t>
                        </m:r>
                      </m:sub>
                    </m:sSub>
                    <m:r>
                      <a:rPr lang="en-US" b="0" i="1" smtClean="0">
                        <a:solidFill>
                          <a:srgbClr val="7030A0"/>
                        </a:solidFill>
                        <a:latin typeface="Cambria Math" panose="02040503050406030204" pitchFamily="18" charset="0"/>
                      </a:rPr>
                      <m:t>,</m:t>
                    </m:r>
                    <m:sSub>
                      <m:sSubPr>
                        <m:ctrlPr>
                          <a:rPr lang="en-US" b="0" i="1" smtClean="0">
                            <a:solidFill>
                              <a:srgbClr val="7030A0"/>
                            </a:solidFill>
                            <a:latin typeface="Cambria Math" panose="02040503050406030204" pitchFamily="18" charset="0"/>
                          </a:rPr>
                        </m:ctrlPr>
                      </m:sSubPr>
                      <m:e>
                        <m:r>
                          <a:rPr lang="en-US" b="0" i="1" smtClean="0">
                            <a:solidFill>
                              <a:srgbClr val="7030A0"/>
                            </a:solidFill>
                            <a:latin typeface="Cambria Math" panose="02040503050406030204" pitchFamily="18" charset="0"/>
                          </a:rPr>
                          <m:t>𝑢</m:t>
                        </m:r>
                      </m:e>
                      <m:sub>
                        <m:r>
                          <a:rPr lang="en-US" b="0" i="1" smtClean="0">
                            <a:solidFill>
                              <a:srgbClr val="7030A0"/>
                            </a:solidFill>
                            <a:latin typeface="Cambria Math" panose="02040503050406030204" pitchFamily="18" charset="0"/>
                          </a:rPr>
                          <m:t>𝑜</m:t>
                        </m:r>
                      </m:sub>
                    </m:sSub>
                  </m:oMath>
                </a14:m>
                <a:r>
                  <a:rPr lang="en-US" b="0" dirty="0"/>
                  <a:t> such that </a:t>
                </a:r>
                <a14:m>
                  <m:oMath xmlns:m="http://schemas.openxmlformats.org/officeDocument/2006/math">
                    <m:r>
                      <a:rPr lang="en-US" b="0" i="1" smtClean="0">
                        <a:solidFill>
                          <a:srgbClr val="7030A0"/>
                        </a:solidFill>
                        <a:latin typeface="Cambria Math" panose="02040503050406030204" pitchFamily="18" charset="0"/>
                      </a:rPr>
                      <m:t>∀</m:t>
                    </m:r>
                    <m:r>
                      <a:rPr lang="en-US" b="0" i="1" smtClean="0">
                        <a:solidFill>
                          <a:srgbClr val="7030A0"/>
                        </a:solidFill>
                        <a:latin typeface="Cambria Math" panose="02040503050406030204" pitchFamily="18" charset="0"/>
                      </a:rPr>
                      <m:t>𝑐</m:t>
                    </m:r>
                    <m:r>
                      <a:rPr lang="en-US" b="0" i="1" smtClean="0">
                        <a:solidFill>
                          <a:srgbClr val="7030A0"/>
                        </a:solidFill>
                        <a:latin typeface="Cambria Math" panose="02040503050406030204" pitchFamily="18" charset="0"/>
                      </a:rPr>
                      <m:t>,</m:t>
                    </m:r>
                    <m:r>
                      <a:rPr lang="en-US" b="0" i="1" smtClean="0">
                        <a:solidFill>
                          <a:srgbClr val="7030A0"/>
                        </a:solidFill>
                        <a:latin typeface="Cambria Math" panose="02040503050406030204" pitchFamily="18" charset="0"/>
                      </a:rPr>
                      <m:t>𝑜</m:t>
                    </m:r>
                    <m:r>
                      <a:rPr lang="en-US" b="0" i="1" smtClean="0">
                        <a:solidFill>
                          <a:srgbClr val="7030A0"/>
                        </a:solidFill>
                        <a:latin typeface="Cambria Math" panose="02040503050406030204" pitchFamily="18" charset="0"/>
                      </a:rPr>
                      <m:t>:  </m:t>
                    </m:r>
                    <m:sSubSup>
                      <m:sSubSupPr>
                        <m:ctrlPr>
                          <a:rPr lang="en-US" b="0" i="1" smtClean="0">
                            <a:solidFill>
                              <a:srgbClr val="7030A0"/>
                            </a:solidFill>
                            <a:latin typeface="Cambria Math" panose="02040503050406030204" pitchFamily="18" charset="0"/>
                          </a:rPr>
                        </m:ctrlPr>
                      </m:sSubSupPr>
                      <m:e>
                        <m:r>
                          <a:rPr lang="en-US" b="0" i="1" smtClean="0">
                            <a:solidFill>
                              <a:srgbClr val="7030A0"/>
                            </a:solidFill>
                            <a:latin typeface="Cambria Math" panose="02040503050406030204" pitchFamily="18" charset="0"/>
                          </a:rPr>
                          <m:t>𝑣</m:t>
                        </m:r>
                      </m:e>
                      <m:sub>
                        <m:r>
                          <a:rPr lang="en-US" b="0" i="1" smtClean="0">
                            <a:solidFill>
                              <a:srgbClr val="7030A0"/>
                            </a:solidFill>
                            <a:latin typeface="Cambria Math" panose="02040503050406030204" pitchFamily="18" charset="0"/>
                          </a:rPr>
                          <m:t>𝑐</m:t>
                        </m:r>
                      </m:sub>
                      <m:sup>
                        <m:r>
                          <a:rPr lang="en-US" b="0" i="1" smtClean="0">
                            <a:solidFill>
                              <a:srgbClr val="7030A0"/>
                            </a:solidFill>
                            <a:latin typeface="Cambria Math" panose="02040503050406030204" pitchFamily="18" charset="0"/>
                          </a:rPr>
                          <m:t>𝑇</m:t>
                        </m:r>
                      </m:sup>
                    </m:sSubSup>
                    <m:sSub>
                      <m:sSubPr>
                        <m:ctrlPr>
                          <a:rPr lang="en-US" b="0" i="1" smtClean="0">
                            <a:solidFill>
                              <a:srgbClr val="7030A0"/>
                            </a:solidFill>
                            <a:latin typeface="Cambria Math" panose="02040503050406030204" pitchFamily="18" charset="0"/>
                          </a:rPr>
                        </m:ctrlPr>
                      </m:sSubPr>
                      <m:e>
                        <m:r>
                          <a:rPr lang="en-US" b="0" i="1" smtClean="0">
                            <a:solidFill>
                              <a:srgbClr val="7030A0"/>
                            </a:solidFill>
                            <a:latin typeface="Cambria Math" panose="02040503050406030204" pitchFamily="18" charset="0"/>
                          </a:rPr>
                          <m:t>𝑢</m:t>
                        </m:r>
                      </m:e>
                      <m:sub>
                        <m:r>
                          <a:rPr lang="en-US" b="0" i="1" smtClean="0">
                            <a:solidFill>
                              <a:srgbClr val="7030A0"/>
                            </a:solidFill>
                            <a:latin typeface="Cambria Math" panose="02040503050406030204" pitchFamily="18" charset="0"/>
                          </a:rPr>
                          <m:t>𝑜</m:t>
                        </m:r>
                      </m:sub>
                    </m:sSub>
                    <m:r>
                      <a:rPr lang="en-US" b="0" i="1" smtClean="0">
                        <a:solidFill>
                          <a:srgbClr val="7030A0"/>
                        </a:solidFill>
                        <a:latin typeface="Cambria Math" panose="02040503050406030204" pitchFamily="18" charset="0"/>
                      </a:rPr>
                      <m:t>≈</m:t>
                    </m:r>
                    <m:sSub>
                      <m:sSubPr>
                        <m:ctrlPr>
                          <a:rPr lang="en-US" b="0" i="1" smtClean="0">
                            <a:solidFill>
                              <a:srgbClr val="7030A0"/>
                            </a:solidFill>
                            <a:latin typeface="Cambria Math" panose="02040503050406030204" pitchFamily="18" charset="0"/>
                          </a:rPr>
                        </m:ctrlPr>
                      </m:sSubPr>
                      <m:e>
                        <m:r>
                          <a:rPr lang="en-US" b="0" i="1" smtClean="0">
                            <a:solidFill>
                              <a:srgbClr val="7030A0"/>
                            </a:solidFill>
                            <a:latin typeface="Cambria Math" panose="02040503050406030204" pitchFamily="18" charset="0"/>
                          </a:rPr>
                          <m:t>𝑀</m:t>
                        </m:r>
                      </m:e>
                      <m:sub>
                        <m:r>
                          <a:rPr lang="en-US" b="0" i="1" smtClean="0">
                            <a:solidFill>
                              <a:srgbClr val="7030A0"/>
                            </a:solidFill>
                            <a:latin typeface="Cambria Math" panose="02040503050406030204" pitchFamily="18" charset="0"/>
                          </a:rPr>
                          <m:t>𝑐</m:t>
                        </m:r>
                        <m:r>
                          <a:rPr lang="en-US" b="0" i="1" smtClean="0">
                            <a:solidFill>
                              <a:srgbClr val="7030A0"/>
                            </a:solidFill>
                            <a:latin typeface="Cambria Math" panose="02040503050406030204" pitchFamily="18" charset="0"/>
                          </a:rPr>
                          <m:t>,</m:t>
                        </m:r>
                        <m:r>
                          <a:rPr lang="en-US" b="0" i="1" smtClean="0">
                            <a:solidFill>
                              <a:srgbClr val="7030A0"/>
                            </a:solidFill>
                            <a:latin typeface="Cambria Math" panose="02040503050406030204" pitchFamily="18" charset="0"/>
                          </a:rPr>
                          <m:t>𝑜</m:t>
                        </m:r>
                      </m:sub>
                    </m:sSub>
                  </m:oMath>
                </a14:m>
                <a:endParaRPr lang="en-US" b="0" dirty="0"/>
              </a:p>
              <a:p>
                <a:pPr lvl="1"/>
                <a:r>
                  <a:rPr lang="en-US" dirty="0"/>
                  <a:t>Loss function: least squares</a:t>
                </a:r>
              </a:p>
              <a:p>
                <a:endParaRPr lang="en-US" dirty="0"/>
              </a:p>
            </p:txBody>
          </p:sp>
        </mc:Choice>
        <mc:Fallback xmlns="">
          <p:sp>
            <p:nvSpPr>
              <p:cNvPr id="3" name="Text Placeholder 2">
                <a:extLst>
                  <a:ext uri="{FF2B5EF4-FFF2-40B4-BE49-F238E27FC236}">
                    <a16:creationId xmlns:a16="http://schemas.microsoft.com/office/drawing/2014/main" id="{0BBE9C26-E370-A84F-CB33-264DE7B86FA6}"/>
                  </a:ext>
                </a:extLst>
              </p:cNvPr>
              <p:cNvSpPr>
                <a:spLocks noGrp="1" noRot="1" noChangeAspect="1" noMove="1" noResize="1" noEditPoints="1" noAdjustHandles="1" noChangeArrowheads="1" noChangeShapeType="1" noTextEdit="1"/>
              </p:cNvSpPr>
              <p:nvPr>
                <p:ph type="body" idx="1"/>
              </p:nvPr>
            </p:nvSpPr>
            <p:spPr>
              <a:xfrm>
                <a:off x="311700" y="1152475"/>
                <a:ext cx="8520600" cy="3727096"/>
              </a:xfr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CB18ED62-66E6-1475-B6E7-361A8FD00431}"/>
                  </a:ext>
                </a:extLst>
              </p:cNvPr>
              <p:cNvSpPr txBox="1"/>
              <p:nvPr/>
            </p:nvSpPr>
            <p:spPr>
              <a:xfrm>
                <a:off x="1446415" y="3991025"/>
                <a:ext cx="6533804" cy="939809"/>
              </a:xfrm>
              <a:prstGeom prst="rect">
                <a:avLst/>
              </a:prstGeom>
              <a:noFill/>
            </p:spPr>
            <p:txBody>
              <a:bodyPr wrap="square">
                <a:spAutoFit/>
              </a:bodyPr>
              <a:lstStyle/>
              <a:p>
                <a:pPr marL="546100" lvl="1" indent="0">
                  <a:buNone/>
                </a:pPr>
                <a14:m>
                  <m:oMathPara xmlns:m="http://schemas.openxmlformats.org/officeDocument/2006/math">
                    <m:oMathParaPr>
                      <m:jc m:val="centerGroup"/>
                    </m:oMathParaPr>
                    <m:oMath xmlns:m="http://schemas.openxmlformats.org/officeDocument/2006/math">
                      <m:r>
                        <a:rPr lang="en-US" sz="2200" b="0" i="1" smtClean="0">
                          <a:latin typeface="Cambria Math" panose="02040503050406030204" pitchFamily="18" charset="0"/>
                        </a:rPr>
                        <m:t>𝐿𝑜𝑠𝑠</m:t>
                      </m:r>
                      <m:r>
                        <a:rPr lang="en-US" sz="2200" b="0" i="1" smtClean="0">
                          <a:latin typeface="Cambria Math" panose="02040503050406030204" pitchFamily="18" charset="0"/>
                        </a:rPr>
                        <m:t>=</m:t>
                      </m:r>
                      <m:nary>
                        <m:naryPr>
                          <m:chr m:val="∑"/>
                          <m:supHide m:val="on"/>
                          <m:ctrlPr>
                            <a:rPr lang="en-US" sz="2200" i="1">
                              <a:latin typeface="Cambria Math" panose="02040503050406030204" pitchFamily="18" charset="0"/>
                            </a:rPr>
                          </m:ctrlPr>
                        </m:naryPr>
                        <m:sub>
                          <m:r>
                            <m:rPr>
                              <m:brk m:alnAt="7"/>
                            </m:rPr>
                            <a:rPr lang="en-US" sz="2200" i="1">
                              <a:latin typeface="Cambria Math" panose="02040503050406030204" pitchFamily="18" charset="0"/>
                            </a:rPr>
                            <m:t>𝑐</m:t>
                          </m:r>
                          <m:r>
                            <a:rPr lang="en-US" sz="2200" i="1">
                              <a:latin typeface="Cambria Math" panose="02040503050406030204" pitchFamily="18" charset="0"/>
                            </a:rPr>
                            <m:t>,</m:t>
                          </m:r>
                          <m:r>
                            <a:rPr lang="en-US" sz="2200" i="1">
                              <a:latin typeface="Cambria Math" panose="02040503050406030204" pitchFamily="18" charset="0"/>
                            </a:rPr>
                            <m:t>𝑜</m:t>
                          </m:r>
                        </m:sub>
                        <m:sup/>
                        <m:e>
                          <m:r>
                            <a:rPr lang="en-US" sz="2200" i="1">
                              <a:solidFill>
                                <a:schemeClr val="tx1">
                                  <a:lumMod val="50000"/>
                                  <a:lumOff val="50000"/>
                                </a:schemeClr>
                              </a:solidFill>
                              <a:latin typeface="Cambria Math" panose="02040503050406030204" pitchFamily="18" charset="0"/>
                            </a:rPr>
                            <m:t>𝑓</m:t>
                          </m:r>
                          <m:d>
                            <m:dPr>
                              <m:ctrlPr>
                                <a:rPr lang="en-US" sz="2200" i="1">
                                  <a:solidFill>
                                    <a:schemeClr val="tx1">
                                      <a:lumMod val="50000"/>
                                      <a:lumOff val="50000"/>
                                    </a:schemeClr>
                                  </a:solidFill>
                                  <a:latin typeface="Cambria Math" panose="02040503050406030204" pitchFamily="18" charset="0"/>
                                </a:rPr>
                              </m:ctrlPr>
                            </m:dPr>
                            <m:e>
                              <m:r>
                                <a:rPr lang="en-US" sz="2200" i="1">
                                  <a:solidFill>
                                    <a:schemeClr val="tx1">
                                      <a:lumMod val="50000"/>
                                      <a:lumOff val="50000"/>
                                    </a:schemeClr>
                                  </a:solidFill>
                                  <a:latin typeface="Cambria Math" panose="02040503050406030204" pitchFamily="18" charset="0"/>
                                </a:rPr>
                                <m:t>𝑐</m:t>
                              </m:r>
                              <m:r>
                                <a:rPr lang="en-US" sz="2200" i="1">
                                  <a:solidFill>
                                    <a:schemeClr val="tx1">
                                      <a:lumMod val="50000"/>
                                      <a:lumOff val="50000"/>
                                    </a:schemeClr>
                                  </a:solidFill>
                                  <a:latin typeface="Cambria Math" panose="02040503050406030204" pitchFamily="18" charset="0"/>
                                </a:rPr>
                                <m:t>,</m:t>
                              </m:r>
                              <m:r>
                                <a:rPr lang="en-US" sz="2200" i="1">
                                  <a:solidFill>
                                    <a:schemeClr val="tx1">
                                      <a:lumMod val="50000"/>
                                      <a:lumOff val="50000"/>
                                    </a:schemeClr>
                                  </a:solidFill>
                                  <a:latin typeface="Cambria Math" panose="02040503050406030204" pitchFamily="18" charset="0"/>
                                </a:rPr>
                                <m:t>𝑜</m:t>
                              </m:r>
                            </m:e>
                          </m:d>
                          <m:r>
                            <a:rPr lang="en-US" sz="2200" i="1">
                              <a:latin typeface="Cambria Math" panose="02040503050406030204" pitchFamily="18" charset="0"/>
                            </a:rPr>
                            <m:t>⋅</m:t>
                          </m:r>
                          <m:sSup>
                            <m:sSupPr>
                              <m:ctrlPr>
                                <a:rPr lang="en-US" sz="2200" i="1">
                                  <a:latin typeface="Cambria Math" panose="02040503050406030204" pitchFamily="18" charset="0"/>
                                </a:rPr>
                              </m:ctrlPr>
                            </m:sSupPr>
                            <m:e>
                              <m:d>
                                <m:dPr>
                                  <m:ctrlPr>
                                    <a:rPr lang="en-US" sz="2200" i="1">
                                      <a:latin typeface="Cambria Math" panose="02040503050406030204" pitchFamily="18" charset="0"/>
                                    </a:rPr>
                                  </m:ctrlPr>
                                </m:dPr>
                                <m:e>
                                  <m:sSubSup>
                                    <m:sSubSupPr>
                                      <m:ctrlPr>
                                        <a:rPr lang="en-US" sz="2200" i="1">
                                          <a:solidFill>
                                            <a:srgbClr val="7030A0"/>
                                          </a:solidFill>
                                          <a:latin typeface="Cambria Math" panose="02040503050406030204" pitchFamily="18" charset="0"/>
                                        </a:rPr>
                                      </m:ctrlPr>
                                    </m:sSubSupPr>
                                    <m:e>
                                      <m:r>
                                        <a:rPr lang="en-US" sz="2200" i="1">
                                          <a:solidFill>
                                            <a:srgbClr val="7030A0"/>
                                          </a:solidFill>
                                          <a:latin typeface="Cambria Math" panose="02040503050406030204" pitchFamily="18" charset="0"/>
                                        </a:rPr>
                                        <m:t>𝑣</m:t>
                                      </m:r>
                                    </m:e>
                                    <m:sub>
                                      <m:r>
                                        <a:rPr lang="en-US" sz="2200" i="1">
                                          <a:solidFill>
                                            <a:srgbClr val="7030A0"/>
                                          </a:solidFill>
                                          <a:latin typeface="Cambria Math" panose="02040503050406030204" pitchFamily="18" charset="0"/>
                                        </a:rPr>
                                        <m:t>𝑐</m:t>
                                      </m:r>
                                    </m:sub>
                                    <m:sup>
                                      <m:r>
                                        <a:rPr lang="en-US" sz="2200" i="1">
                                          <a:solidFill>
                                            <a:srgbClr val="7030A0"/>
                                          </a:solidFill>
                                          <a:latin typeface="Cambria Math" panose="02040503050406030204" pitchFamily="18" charset="0"/>
                                        </a:rPr>
                                        <m:t>𝑇</m:t>
                                      </m:r>
                                    </m:sup>
                                  </m:sSubSup>
                                  <m:sSub>
                                    <m:sSubPr>
                                      <m:ctrlPr>
                                        <a:rPr lang="en-US" sz="2200" i="1">
                                          <a:solidFill>
                                            <a:srgbClr val="7030A0"/>
                                          </a:solidFill>
                                          <a:latin typeface="Cambria Math" panose="02040503050406030204" pitchFamily="18" charset="0"/>
                                        </a:rPr>
                                      </m:ctrlPr>
                                    </m:sSubPr>
                                    <m:e>
                                      <m:r>
                                        <a:rPr lang="en-US" sz="2200" i="1">
                                          <a:solidFill>
                                            <a:srgbClr val="7030A0"/>
                                          </a:solidFill>
                                          <a:latin typeface="Cambria Math" panose="02040503050406030204" pitchFamily="18" charset="0"/>
                                        </a:rPr>
                                        <m:t>𝑢</m:t>
                                      </m:r>
                                    </m:e>
                                    <m:sub>
                                      <m:r>
                                        <a:rPr lang="en-US" sz="2200" i="1">
                                          <a:solidFill>
                                            <a:srgbClr val="7030A0"/>
                                          </a:solidFill>
                                          <a:latin typeface="Cambria Math" panose="02040503050406030204" pitchFamily="18" charset="0"/>
                                        </a:rPr>
                                        <m:t>𝑜</m:t>
                                      </m:r>
                                    </m:sub>
                                  </m:sSub>
                                  <m:r>
                                    <a:rPr lang="en-US" sz="2200" i="1">
                                      <a:solidFill>
                                        <a:schemeClr val="tx1">
                                          <a:lumMod val="50000"/>
                                          <a:lumOff val="50000"/>
                                        </a:schemeClr>
                                      </a:solidFill>
                                      <a:latin typeface="Cambria Math" panose="02040503050406030204" pitchFamily="18" charset="0"/>
                                    </a:rPr>
                                    <m:t>+</m:t>
                                  </m:r>
                                  <m:sSub>
                                    <m:sSubPr>
                                      <m:ctrlPr>
                                        <a:rPr lang="en-US" sz="2200" i="1">
                                          <a:solidFill>
                                            <a:schemeClr val="tx1">
                                              <a:lumMod val="50000"/>
                                              <a:lumOff val="50000"/>
                                            </a:schemeClr>
                                          </a:solidFill>
                                          <a:latin typeface="Cambria Math" panose="02040503050406030204" pitchFamily="18" charset="0"/>
                                        </a:rPr>
                                      </m:ctrlPr>
                                    </m:sSubPr>
                                    <m:e>
                                      <m:r>
                                        <a:rPr lang="en-US" sz="2200" i="1">
                                          <a:solidFill>
                                            <a:schemeClr val="tx1">
                                              <a:lumMod val="50000"/>
                                              <a:lumOff val="50000"/>
                                            </a:schemeClr>
                                          </a:solidFill>
                                          <a:latin typeface="Cambria Math" panose="02040503050406030204" pitchFamily="18" charset="0"/>
                                        </a:rPr>
                                        <m:t>𝑏</m:t>
                                      </m:r>
                                    </m:e>
                                    <m:sub>
                                      <m:r>
                                        <a:rPr lang="en-US" sz="2200" i="1">
                                          <a:solidFill>
                                            <a:schemeClr val="tx1">
                                              <a:lumMod val="50000"/>
                                              <a:lumOff val="50000"/>
                                            </a:schemeClr>
                                          </a:solidFill>
                                          <a:latin typeface="Cambria Math" panose="02040503050406030204" pitchFamily="18" charset="0"/>
                                        </a:rPr>
                                        <m:t>𝑐</m:t>
                                      </m:r>
                                    </m:sub>
                                  </m:sSub>
                                  <m:r>
                                    <a:rPr lang="en-US" sz="2200" i="1">
                                      <a:solidFill>
                                        <a:schemeClr val="tx1">
                                          <a:lumMod val="50000"/>
                                          <a:lumOff val="50000"/>
                                        </a:schemeClr>
                                      </a:solidFill>
                                      <a:latin typeface="Cambria Math" panose="02040503050406030204" pitchFamily="18" charset="0"/>
                                    </a:rPr>
                                    <m:t>+</m:t>
                                  </m:r>
                                  <m:sSubSup>
                                    <m:sSubSupPr>
                                      <m:ctrlPr>
                                        <a:rPr lang="en-US" sz="2200" i="1">
                                          <a:solidFill>
                                            <a:schemeClr val="tx1">
                                              <a:lumMod val="50000"/>
                                              <a:lumOff val="50000"/>
                                            </a:schemeClr>
                                          </a:solidFill>
                                          <a:latin typeface="Cambria Math" panose="02040503050406030204" pitchFamily="18" charset="0"/>
                                        </a:rPr>
                                      </m:ctrlPr>
                                    </m:sSubSupPr>
                                    <m:e>
                                      <m:r>
                                        <a:rPr lang="en-US" sz="2200" i="1">
                                          <a:solidFill>
                                            <a:schemeClr val="tx1">
                                              <a:lumMod val="50000"/>
                                              <a:lumOff val="50000"/>
                                            </a:schemeClr>
                                          </a:solidFill>
                                          <a:latin typeface="Cambria Math" panose="02040503050406030204" pitchFamily="18" charset="0"/>
                                        </a:rPr>
                                        <m:t>𝑏</m:t>
                                      </m:r>
                                    </m:e>
                                    <m:sub>
                                      <m:r>
                                        <a:rPr lang="en-US" sz="2200" i="1">
                                          <a:solidFill>
                                            <a:schemeClr val="tx1">
                                              <a:lumMod val="50000"/>
                                              <a:lumOff val="50000"/>
                                            </a:schemeClr>
                                          </a:solidFill>
                                          <a:latin typeface="Cambria Math" panose="02040503050406030204" pitchFamily="18" charset="0"/>
                                        </a:rPr>
                                        <m:t>𝑜</m:t>
                                      </m:r>
                                    </m:sub>
                                    <m:sup>
                                      <m:r>
                                        <a:rPr lang="en-US" sz="2200" i="1">
                                          <a:solidFill>
                                            <a:schemeClr val="tx1">
                                              <a:lumMod val="50000"/>
                                              <a:lumOff val="50000"/>
                                            </a:schemeClr>
                                          </a:solidFill>
                                          <a:latin typeface="Cambria Math" panose="02040503050406030204" pitchFamily="18" charset="0"/>
                                        </a:rPr>
                                        <m:t>′</m:t>
                                      </m:r>
                                    </m:sup>
                                  </m:sSubSup>
                                  <m:r>
                                    <a:rPr lang="en-US" sz="2200" i="1">
                                      <a:latin typeface="Cambria Math" panose="02040503050406030204" pitchFamily="18" charset="0"/>
                                    </a:rPr>
                                    <m:t>−</m:t>
                                  </m:r>
                                  <m:sSub>
                                    <m:sSubPr>
                                      <m:ctrlPr>
                                        <a:rPr lang="en-US" sz="2200" i="1">
                                          <a:solidFill>
                                            <a:srgbClr val="7030A0"/>
                                          </a:solidFill>
                                          <a:latin typeface="Cambria Math" panose="02040503050406030204" pitchFamily="18" charset="0"/>
                                        </a:rPr>
                                      </m:ctrlPr>
                                    </m:sSubPr>
                                    <m:e>
                                      <m:r>
                                        <a:rPr lang="en-US" sz="2200" i="1">
                                          <a:solidFill>
                                            <a:srgbClr val="7030A0"/>
                                          </a:solidFill>
                                          <a:latin typeface="Cambria Math" panose="02040503050406030204" pitchFamily="18" charset="0"/>
                                        </a:rPr>
                                        <m:t>𝑀</m:t>
                                      </m:r>
                                    </m:e>
                                    <m:sub>
                                      <m:r>
                                        <a:rPr lang="en-US" sz="2200" i="1">
                                          <a:solidFill>
                                            <a:srgbClr val="7030A0"/>
                                          </a:solidFill>
                                          <a:latin typeface="Cambria Math" panose="02040503050406030204" pitchFamily="18" charset="0"/>
                                        </a:rPr>
                                        <m:t>𝑐</m:t>
                                      </m:r>
                                      <m:r>
                                        <a:rPr lang="en-US" sz="2200" i="1">
                                          <a:solidFill>
                                            <a:srgbClr val="7030A0"/>
                                          </a:solidFill>
                                          <a:latin typeface="Cambria Math" panose="02040503050406030204" pitchFamily="18" charset="0"/>
                                        </a:rPr>
                                        <m:t>,</m:t>
                                      </m:r>
                                      <m:r>
                                        <a:rPr lang="en-US" sz="2200" i="1">
                                          <a:solidFill>
                                            <a:srgbClr val="7030A0"/>
                                          </a:solidFill>
                                          <a:latin typeface="Cambria Math" panose="02040503050406030204" pitchFamily="18" charset="0"/>
                                        </a:rPr>
                                        <m:t>𝑜</m:t>
                                      </m:r>
                                    </m:sub>
                                  </m:sSub>
                                </m:e>
                              </m:d>
                            </m:e>
                            <m:sup>
                              <m:r>
                                <a:rPr lang="en-US" sz="2200" i="1">
                                  <a:latin typeface="Cambria Math" panose="02040503050406030204" pitchFamily="18" charset="0"/>
                                </a:rPr>
                                <m:t>2</m:t>
                              </m:r>
                            </m:sup>
                          </m:sSup>
                        </m:e>
                      </m:nary>
                    </m:oMath>
                  </m:oMathPara>
                </a14:m>
                <a:endParaRPr lang="en-US" sz="2200" b="0" dirty="0"/>
              </a:p>
            </p:txBody>
          </p:sp>
        </mc:Choice>
        <mc:Fallback xmlns="">
          <p:sp>
            <p:nvSpPr>
              <p:cNvPr id="6" name="TextBox 5">
                <a:extLst>
                  <a:ext uri="{FF2B5EF4-FFF2-40B4-BE49-F238E27FC236}">
                    <a16:creationId xmlns:a16="http://schemas.microsoft.com/office/drawing/2014/main" id="{3145B512-2BC1-44BA-3592-DE9B03D508D6}"/>
                  </a:ext>
                </a:extLst>
              </p:cNvPr>
              <p:cNvSpPr txBox="1">
                <a:spLocks noRot="1" noChangeAspect="1" noMove="1" noResize="1" noEditPoints="1" noAdjustHandles="1" noChangeArrowheads="1" noChangeShapeType="1" noTextEdit="1"/>
              </p:cNvSpPr>
              <p:nvPr/>
            </p:nvSpPr>
            <p:spPr>
              <a:xfrm>
                <a:off x="1446415" y="3991025"/>
                <a:ext cx="6533804" cy="939809"/>
              </a:xfrm>
              <a:prstGeom prst="rect">
                <a:avLst/>
              </a:prstGeom>
              <a:blipFill>
                <a:blip r:embed="rId4"/>
                <a:stretch>
                  <a:fillRect t="-124000" b="-169333"/>
                </a:stretch>
              </a:blipFill>
            </p:spPr>
            <p:txBody>
              <a:bodyPr/>
              <a:lstStyle/>
              <a:p>
                <a:r>
                  <a:rPr lang="en-US">
                    <a:noFill/>
                  </a:rPr>
                  <a:t> </a:t>
                </a:r>
              </a:p>
            </p:txBody>
          </p:sp>
        </mc:Fallback>
      </mc:AlternateContent>
      <p:sp>
        <p:nvSpPr>
          <p:cNvPr id="7" name="TextBox 6">
            <a:extLst>
              <a:ext uri="{FF2B5EF4-FFF2-40B4-BE49-F238E27FC236}">
                <a16:creationId xmlns:a16="http://schemas.microsoft.com/office/drawing/2014/main" id="{4367092C-3E2F-4BAE-9BA6-5893E296BD5C}"/>
              </a:ext>
            </a:extLst>
          </p:cNvPr>
          <p:cNvSpPr txBox="1"/>
          <p:nvPr/>
        </p:nvSpPr>
        <p:spPr>
          <a:xfrm>
            <a:off x="3408218" y="4563481"/>
            <a:ext cx="831273" cy="307777"/>
          </a:xfrm>
          <a:prstGeom prst="rect">
            <a:avLst/>
          </a:prstGeom>
          <a:noFill/>
        </p:spPr>
        <p:txBody>
          <a:bodyPr wrap="square" rtlCol="0">
            <a:spAutoFit/>
          </a:bodyPr>
          <a:lstStyle/>
          <a:p>
            <a:r>
              <a:rPr lang="en-US" dirty="0">
                <a:solidFill>
                  <a:schemeClr val="bg1">
                    <a:lumMod val="50000"/>
                  </a:schemeClr>
                </a:solidFill>
              </a:rPr>
              <a:t>(weight)</a:t>
            </a:r>
          </a:p>
        </p:txBody>
      </p:sp>
      <p:sp>
        <p:nvSpPr>
          <p:cNvPr id="8" name="TextBox 7">
            <a:extLst>
              <a:ext uri="{FF2B5EF4-FFF2-40B4-BE49-F238E27FC236}">
                <a16:creationId xmlns:a16="http://schemas.microsoft.com/office/drawing/2014/main" id="{E3641755-654F-721E-1F7D-E4443D77A9FB}"/>
              </a:ext>
            </a:extLst>
          </p:cNvPr>
          <p:cNvSpPr txBox="1"/>
          <p:nvPr/>
        </p:nvSpPr>
        <p:spPr>
          <a:xfrm>
            <a:off x="5299391" y="4568325"/>
            <a:ext cx="1267663" cy="523220"/>
          </a:xfrm>
          <a:prstGeom prst="rect">
            <a:avLst/>
          </a:prstGeom>
          <a:noFill/>
        </p:spPr>
        <p:txBody>
          <a:bodyPr wrap="square" rtlCol="0">
            <a:spAutoFit/>
          </a:bodyPr>
          <a:lstStyle/>
          <a:p>
            <a:pPr algn="ctr"/>
            <a:r>
              <a:rPr lang="en-US" dirty="0">
                <a:solidFill>
                  <a:schemeClr val="bg1">
                    <a:lumMod val="50000"/>
                  </a:schemeClr>
                </a:solidFill>
              </a:rPr>
              <a:t>(auxiliary parameters)</a:t>
            </a:r>
          </a:p>
        </p:txBody>
      </p:sp>
      <p:pic>
        <p:nvPicPr>
          <p:cNvPr id="4" name="Picture 3" descr="A close-up of symbols&#10;&#10;AI-generated content may be incorrect.">
            <a:extLst>
              <a:ext uri="{FF2B5EF4-FFF2-40B4-BE49-F238E27FC236}">
                <a16:creationId xmlns:a16="http://schemas.microsoft.com/office/drawing/2014/main" id="{77B1BB7A-44BD-52A6-2404-D8AFF9C801F9}"/>
              </a:ext>
            </a:extLst>
          </p:cNvPr>
          <p:cNvPicPr>
            <a:picLocks noChangeAspect="1"/>
          </p:cNvPicPr>
          <p:nvPr/>
        </p:nvPicPr>
        <p:blipFill>
          <a:blip r:embed="rId5"/>
          <a:stretch>
            <a:fillRect/>
          </a:stretch>
        </p:blipFill>
        <p:spPr>
          <a:xfrm>
            <a:off x="7886605" y="3730137"/>
            <a:ext cx="1037136" cy="392507"/>
          </a:xfrm>
          <a:prstGeom prst="rect">
            <a:avLst/>
          </a:prstGeom>
        </p:spPr>
      </p:pic>
    </p:spTree>
    <p:extLst>
      <p:ext uri="{BB962C8B-B14F-4D97-AF65-F5344CB8AC3E}">
        <p14:creationId xmlns:p14="http://schemas.microsoft.com/office/powerpoint/2010/main" val="917479342"/>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Shape 765"/>
        <p:cNvGrpSpPr/>
        <p:nvPr/>
      </p:nvGrpSpPr>
      <p:grpSpPr>
        <a:xfrm>
          <a:off x="0" y="0"/>
          <a:ext cx="0" cy="0"/>
          <a:chOff x="0" y="0"/>
          <a:chExt cx="0" cy="0"/>
        </a:xfrm>
      </p:grpSpPr>
      <p:sp>
        <p:nvSpPr>
          <p:cNvPr id="766" name="Google Shape;766;p71"/>
          <p:cNvSpPr txBox="1">
            <a:spLocks noGrp="1"/>
          </p:cNvSpPr>
          <p:nvPr>
            <p:ph type="title"/>
          </p:nvPr>
        </p:nvSpPr>
        <p:spPr>
          <a:xfrm>
            <a:off x="467929" y="1314625"/>
            <a:ext cx="8184900" cy="1604700"/>
          </a:xfrm>
          <a:prstGeom prst="rect">
            <a:avLst/>
          </a:prstGeom>
          <a:noFill/>
          <a:ln>
            <a:noFill/>
          </a:ln>
        </p:spPr>
        <p:txBody>
          <a:bodyPr spcFirstLastPara="1" wrap="square" lIns="68575" tIns="34275" rIns="68575" bIns="34275" anchor="b" anchorCtr="0">
            <a:normAutofit/>
          </a:bodyPr>
          <a:lstStyle/>
          <a:p>
            <a:pPr marL="0" lvl="0" indent="0" algn="l" rtl="0">
              <a:lnSpc>
                <a:spcPct val="90000"/>
              </a:lnSpc>
              <a:spcBef>
                <a:spcPts val="0"/>
              </a:spcBef>
              <a:spcAft>
                <a:spcPts val="0"/>
              </a:spcAft>
              <a:buClr>
                <a:schemeClr val="dk1"/>
              </a:buClr>
              <a:buSzPts val="4500"/>
              <a:buFont typeface="Century Gothic"/>
              <a:buNone/>
            </a:pPr>
            <a:r>
              <a:rPr lang="en-GB"/>
              <a:t>Evaluating word embeddings</a:t>
            </a:r>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Shape 772"/>
        <p:cNvGrpSpPr/>
        <p:nvPr/>
      </p:nvGrpSpPr>
      <p:grpSpPr>
        <a:xfrm>
          <a:off x="0" y="0"/>
          <a:ext cx="0" cy="0"/>
          <a:chOff x="0" y="0"/>
          <a:chExt cx="0" cy="0"/>
        </a:xfrm>
      </p:grpSpPr>
      <p:sp>
        <p:nvSpPr>
          <p:cNvPr id="773" name="Google Shape;773;p72"/>
          <p:cNvSpPr txBox="1">
            <a:spLocks noGrp="1"/>
          </p:cNvSpPr>
          <p:nvPr>
            <p:ph type="title"/>
          </p:nvPr>
        </p:nvSpPr>
        <p:spPr>
          <a:xfrm>
            <a:off x="471488" y="205383"/>
            <a:ext cx="5915100" cy="7458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chemeClr val="dk1"/>
              </a:buClr>
              <a:buSzPts val="3300"/>
              <a:buFont typeface="Century Gothic"/>
              <a:buNone/>
            </a:pPr>
            <a:r>
              <a:rPr lang="en-GB"/>
              <a:t>Evaluation</a:t>
            </a:r>
            <a:endParaRPr/>
          </a:p>
        </p:txBody>
      </p:sp>
      <p:sp>
        <p:nvSpPr>
          <p:cNvPr id="774" name="Google Shape;774;p72"/>
          <p:cNvSpPr txBox="1">
            <a:spLocks noGrp="1"/>
          </p:cNvSpPr>
          <p:nvPr>
            <p:ph type="body" idx="1"/>
          </p:nvPr>
        </p:nvSpPr>
        <p:spPr>
          <a:xfrm>
            <a:off x="471488" y="1256910"/>
            <a:ext cx="8363700" cy="3273526"/>
          </a:xfrm>
          <a:prstGeom prst="rect">
            <a:avLst/>
          </a:prstGeom>
          <a:noFill/>
          <a:ln>
            <a:noFill/>
          </a:ln>
        </p:spPr>
        <p:txBody>
          <a:bodyPr spcFirstLastPara="1" wrap="square" lIns="68575" tIns="34275" rIns="68575" bIns="34275" anchor="t" anchorCtr="0">
            <a:normAutofit/>
          </a:bodyPr>
          <a:lstStyle/>
          <a:p>
            <a:pPr marL="95250" lvl="0" indent="0" algn="l" rtl="0">
              <a:lnSpc>
                <a:spcPct val="150000"/>
              </a:lnSpc>
              <a:spcBef>
                <a:spcPts val="0"/>
              </a:spcBef>
              <a:spcAft>
                <a:spcPts val="0"/>
              </a:spcAft>
              <a:buSzPts val="2100"/>
              <a:buNone/>
            </a:pPr>
            <a:r>
              <a:rPr lang="en-GB" sz="2100" dirty="0">
                <a:solidFill>
                  <a:srgbClr val="00B0F0"/>
                </a:solidFill>
              </a:rPr>
              <a:t>How do we evaluate if our word representations are any good?</a:t>
            </a:r>
          </a:p>
          <a:p>
            <a:pPr marL="95250" lvl="0" indent="0" algn="l" rtl="0">
              <a:lnSpc>
                <a:spcPct val="150000"/>
              </a:lnSpc>
              <a:spcBef>
                <a:spcPts val="0"/>
              </a:spcBef>
              <a:spcAft>
                <a:spcPts val="0"/>
              </a:spcAft>
              <a:buSzPts val="2100"/>
              <a:buNone/>
            </a:pPr>
            <a:r>
              <a:rPr lang="en-GB" sz="2100" dirty="0">
                <a:solidFill>
                  <a:srgbClr val="00B0F0"/>
                </a:solidFill>
              </a:rPr>
              <a:t>Which are better than others:</a:t>
            </a:r>
          </a:p>
          <a:p>
            <a:pPr marL="95250" lvl="0" indent="0" algn="l" rtl="0">
              <a:lnSpc>
                <a:spcPct val="150000"/>
              </a:lnSpc>
              <a:spcBef>
                <a:spcPts val="0"/>
              </a:spcBef>
              <a:spcAft>
                <a:spcPts val="0"/>
              </a:spcAft>
              <a:buSzPts val="2100"/>
              <a:buNone/>
            </a:pPr>
            <a:endParaRPr lang="en-GB" sz="200" dirty="0">
              <a:solidFill>
                <a:srgbClr val="00B0F0"/>
              </a:solidFill>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Shape 772">
          <a:extLst>
            <a:ext uri="{FF2B5EF4-FFF2-40B4-BE49-F238E27FC236}">
              <a16:creationId xmlns:a16="http://schemas.microsoft.com/office/drawing/2014/main" id="{513F082B-CCE2-401B-5F6F-1E46259F5F15}"/>
            </a:ext>
          </a:extLst>
        </p:cNvPr>
        <p:cNvGrpSpPr/>
        <p:nvPr/>
      </p:nvGrpSpPr>
      <p:grpSpPr>
        <a:xfrm>
          <a:off x="0" y="0"/>
          <a:ext cx="0" cy="0"/>
          <a:chOff x="0" y="0"/>
          <a:chExt cx="0" cy="0"/>
        </a:xfrm>
      </p:grpSpPr>
      <p:sp>
        <p:nvSpPr>
          <p:cNvPr id="773" name="Google Shape;773;p72">
            <a:extLst>
              <a:ext uri="{FF2B5EF4-FFF2-40B4-BE49-F238E27FC236}">
                <a16:creationId xmlns:a16="http://schemas.microsoft.com/office/drawing/2014/main" id="{07FAC738-4F96-A95D-30F6-9855A3D20A3C}"/>
              </a:ext>
            </a:extLst>
          </p:cNvPr>
          <p:cNvSpPr txBox="1">
            <a:spLocks noGrp="1"/>
          </p:cNvSpPr>
          <p:nvPr>
            <p:ph type="title"/>
          </p:nvPr>
        </p:nvSpPr>
        <p:spPr>
          <a:xfrm>
            <a:off x="471488" y="205383"/>
            <a:ext cx="5915100" cy="7458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chemeClr val="dk1"/>
              </a:buClr>
              <a:buSzPts val="3300"/>
              <a:buFont typeface="Century Gothic"/>
              <a:buNone/>
            </a:pPr>
            <a:r>
              <a:rPr lang="en-GB"/>
              <a:t>Evaluation</a:t>
            </a:r>
            <a:endParaRPr/>
          </a:p>
        </p:txBody>
      </p:sp>
      <p:sp>
        <p:nvSpPr>
          <p:cNvPr id="774" name="Google Shape;774;p72">
            <a:extLst>
              <a:ext uri="{FF2B5EF4-FFF2-40B4-BE49-F238E27FC236}">
                <a16:creationId xmlns:a16="http://schemas.microsoft.com/office/drawing/2014/main" id="{4E184429-448F-FD97-1CC2-2B6458D31B14}"/>
              </a:ext>
            </a:extLst>
          </p:cNvPr>
          <p:cNvSpPr txBox="1">
            <a:spLocks noGrp="1"/>
          </p:cNvSpPr>
          <p:nvPr>
            <p:ph type="body" idx="1"/>
          </p:nvPr>
        </p:nvSpPr>
        <p:spPr>
          <a:xfrm>
            <a:off x="471488" y="1256910"/>
            <a:ext cx="8363700" cy="3273526"/>
          </a:xfrm>
          <a:prstGeom prst="rect">
            <a:avLst/>
          </a:prstGeom>
          <a:noFill/>
          <a:ln>
            <a:noFill/>
          </a:ln>
        </p:spPr>
        <p:txBody>
          <a:bodyPr spcFirstLastPara="1" wrap="square" lIns="68575" tIns="34275" rIns="68575" bIns="34275" anchor="t" anchorCtr="0">
            <a:normAutofit/>
          </a:bodyPr>
          <a:lstStyle/>
          <a:p>
            <a:pPr marL="95250" lvl="0" indent="0" algn="l" rtl="0">
              <a:lnSpc>
                <a:spcPct val="150000"/>
              </a:lnSpc>
              <a:spcBef>
                <a:spcPts val="0"/>
              </a:spcBef>
              <a:spcAft>
                <a:spcPts val="0"/>
              </a:spcAft>
              <a:buSzPts val="2100"/>
              <a:buNone/>
            </a:pPr>
            <a:r>
              <a:rPr lang="en-GB" sz="2100" dirty="0">
                <a:solidFill>
                  <a:srgbClr val="00B0F0"/>
                </a:solidFill>
              </a:rPr>
              <a:t>How do we evaluate if our word representations are any good?</a:t>
            </a:r>
          </a:p>
          <a:p>
            <a:pPr marL="95250" lvl="0" indent="0" algn="l" rtl="0">
              <a:lnSpc>
                <a:spcPct val="150000"/>
              </a:lnSpc>
              <a:spcBef>
                <a:spcPts val="0"/>
              </a:spcBef>
              <a:spcAft>
                <a:spcPts val="0"/>
              </a:spcAft>
              <a:buSzPts val="2100"/>
              <a:buNone/>
            </a:pPr>
            <a:r>
              <a:rPr lang="en-GB" sz="2100" dirty="0">
                <a:solidFill>
                  <a:srgbClr val="00B0F0"/>
                </a:solidFill>
              </a:rPr>
              <a:t>Which are better than others:</a:t>
            </a:r>
          </a:p>
          <a:p>
            <a:pPr marL="95250" lvl="0" indent="0" algn="l" rtl="0">
              <a:lnSpc>
                <a:spcPct val="150000"/>
              </a:lnSpc>
              <a:spcBef>
                <a:spcPts val="0"/>
              </a:spcBef>
              <a:spcAft>
                <a:spcPts val="0"/>
              </a:spcAft>
              <a:buSzPts val="2100"/>
              <a:buNone/>
            </a:pPr>
            <a:endParaRPr lang="en-GB" sz="200" dirty="0">
              <a:solidFill>
                <a:srgbClr val="00B0F0"/>
              </a:solidFill>
            </a:endParaRPr>
          </a:p>
          <a:p>
            <a:pPr marL="457200" lvl="0" indent="-361950" algn="l" rtl="0">
              <a:lnSpc>
                <a:spcPct val="150000"/>
              </a:lnSpc>
              <a:spcBef>
                <a:spcPts val="0"/>
              </a:spcBef>
              <a:spcAft>
                <a:spcPts val="0"/>
              </a:spcAft>
              <a:buSzPts val="2100"/>
              <a:buChar char="●"/>
            </a:pPr>
            <a:r>
              <a:rPr lang="en-GB" sz="2100" dirty="0">
                <a:solidFill>
                  <a:srgbClr val="00B0F0"/>
                </a:solidFill>
              </a:rPr>
              <a:t>Intrinsic</a:t>
            </a:r>
            <a:r>
              <a:rPr lang="en-GB" sz="2100" dirty="0"/>
              <a:t>: deﬁne some artiﬁcial task that tries to directly measure the quality of your learning algorithm.</a:t>
            </a:r>
            <a:endParaRPr sz="2100" dirty="0"/>
          </a:p>
          <a:p>
            <a:pPr marL="457200" lvl="0" indent="-361950" algn="l" rtl="0">
              <a:lnSpc>
                <a:spcPct val="150000"/>
              </a:lnSpc>
              <a:spcBef>
                <a:spcPts val="0"/>
              </a:spcBef>
              <a:spcAft>
                <a:spcPts val="0"/>
              </a:spcAft>
              <a:buSzPts val="2100"/>
              <a:buChar char="●"/>
            </a:pPr>
            <a:r>
              <a:rPr lang="en-GB" sz="2100" dirty="0">
                <a:solidFill>
                  <a:srgbClr val="00B0F0"/>
                </a:solidFill>
              </a:rPr>
              <a:t>Extrinsic</a:t>
            </a:r>
            <a:r>
              <a:rPr lang="en-GB" sz="2100" dirty="0"/>
              <a:t>: check whether your output is useful in a real NLP task.</a:t>
            </a:r>
            <a:endParaRPr sz="2100" dirty="0"/>
          </a:p>
        </p:txBody>
      </p:sp>
    </p:spTree>
    <p:extLst>
      <p:ext uri="{BB962C8B-B14F-4D97-AF65-F5344CB8AC3E}">
        <p14:creationId xmlns:p14="http://schemas.microsoft.com/office/powerpoint/2010/main" val="354412238"/>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Shape 780"/>
        <p:cNvGrpSpPr/>
        <p:nvPr/>
      </p:nvGrpSpPr>
      <p:grpSpPr>
        <a:xfrm>
          <a:off x="0" y="0"/>
          <a:ext cx="0" cy="0"/>
          <a:chOff x="0" y="0"/>
          <a:chExt cx="0" cy="0"/>
        </a:xfrm>
      </p:grpSpPr>
      <p:sp>
        <p:nvSpPr>
          <p:cNvPr id="781" name="Google Shape;781;p73"/>
          <p:cNvSpPr txBox="1">
            <a:spLocks noGrp="1"/>
          </p:cNvSpPr>
          <p:nvPr>
            <p:ph type="title"/>
          </p:nvPr>
        </p:nvSpPr>
        <p:spPr>
          <a:xfrm>
            <a:off x="471488" y="205383"/>
            <a:ext cx="5915100" cy="7458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chemeClr val="dk1"/>
              </a:buClr>
              <a:buSzPts val="3300"/>
              <a:buFont typeface="Century Gothic"/>
              <a:buNone/>
            </a:pPr>
            <a:r>
              <a:rPr lang="en-GB"/>
              <a:t>Intrinsic evaluation – word analogies</a:t>
            </a:r>
            <a:endParaRPr/>
          </a:p>
        </p:txBody>
      </p:sp>
      <p:sp>
        <p:nvSpPr>
          <p:cNvPr id="782" name="Google Shape;782;p73"/>
          <p:cNvSpPr txBox="1">
            <a:spLocks noGrp="1"/>
          </p:cNvSpPr>
          <p:nvPr>
            <p:ph type="body" idx="1"/>
          </p:nvPr>
        </p:nvSpPr>
        <p:spPr>
          <a:xfrm>
            <a:off x="583753" y="1407925"/>
            <a:ext cx="7394700" cy="3060000"/>
          </a:xfrm>
          <a:prstGeom prst="rect">
            <a:avLst/>
          </a:prstGeom>
          <a:blipFill rotWithShape="1">
            <a:blip r:embed="rId3">
              <a:alphaModFix/>
            </a:blip>
            <a:stretch>
              <a:fillRect l="-1209" t="-2329"/>
            </a:stretch>
          </a:blipFill>
          <a:ln>
            <a:noFill/>
          </a:ln>
        </p:spPr>
        <p:txBody>
          <a:bodyPr spcFirstLastPara="1" wrap="square" lIns="68575" tIns="34275" rIns="68575" bIns="34275" anchor="t" anchorCtr="0">
            <a:normAutofit/>
          </a:bodyPr>
          <a:lstStyle/>
          <a:p>
            <a:pPr marL="0" lvl="0" indent="0" algn="l" rtl="0">
              <a:lnSpc>
                <a:spcPct val="90000"/>
              </a:lnSpc>
              <a:spcBef>
                <a:spcPts val="0"/>
              </a:spcBef>
              <a:spcAft>
                <a:spcPts val="1200"/>
              </a:spcAft>
              <a:buNone/>
            </a:pPr>
            <a:r>
              <a:rPr lang="en-GB"/>
              <a:t> </a:t>
            </a:r>
            <a:endParaRPr/>
          </a:p>
        </p:txBody>
      </p:sp>
      <p:sp>
        <p:nvSpPr>
          <p:cNvPr id="783" name="Google Shape;783;p73"/>
          <p:cNvSpPr txBox="1"/>
          <p:nvPr/>
        </p:nvSpPr>
        <p:spPr>
          <a:xfrm>
            <a:off x="585618" y="3597925"/>
            <a:ext cx="5055300" cy="3771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GB" sz="2000" dirty="0">
                <a:solidFill>
                  <a:schemeClr val="dk2"/>
                </a:solidFill>
              </a:rPr>
              <a:t>Normalize all word vectors to 1. </a:t>
            </a:r>
            <a:r>
              <a:rPr lang="en-GB" sz="2000" dirty="0">
                <a:solidFill>
                  <a:srgbClr val="C55A11"/>
                </a:solidFill>
              </a:rPr>
              <a:t>Why?</a:t>
            </a:r>
            <a:endParaRPr sz="2000" dirty="0"/>
          </a:p>
        </p:txBody>
      </p:sp>
      <p:sp>
        <p:nvSpPr>
          <p:cNvPr id="3" name="Rectangle 2">
            <a:extLst>
              <a:ext uri="{FF2B5EF4-FFF2-40B4-BE49-F238E27FC236}">
                <a16:creationId xmlns:a16="http://schemas.microsoft.com/office/drawing/2014/main" id="{52D4F863-1ADD-6EFC-324B-0051EA7BD4F0}"/>
              </a:ext>
            </a:extLst>
          </p:cNvPr>
          <p:cNvSpPr/>
          <p:nvPr/>
        </p:nvSpPr>
        <p:spPr>
          <a:xfrm>
            <a:off x="3429038" y="2238703"/>
            <a:ext cx="344176" cy="420414"/>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2" name="Google Shape;782;p73">
            <a:extLst>
              <a:ext uri="{FF2B5EF4-FFF2-40B4-BE49-F238E27FC236}">
                <a16:creationId xmlns:a16="http://schemas.microsoft.com/office/drawing/2014/main" id="{C912F3F6-A0E3-804F-EC8A-FDD334F4E5AF}"/>
              </a:ext>
            </a:extLst>
          </p:cNvPr>
          <p:cNvSpPr txBox="1">
            <a:spLocks/>
          </p:cNvSpPr>
          <p:nvPr/>
        </p:nvSpPr>
        <p:spPr>
          <a:xfrm>
            <a:off x="3429038" y="2298907"/>
            <a:ext cx="315312" cy="300006"/>
          </a:xfrm>
          <a:prstGeom prst="rect">
            <a:avLst/>
          </a:prstGeom>
          <a:blipFill rotWithShape="1">
            <a:blip r:embed="rId3">
              <a:alphaModFix/>
            </a:blip>
            <a:stretch>
              <a:fillRect l="-876907" t="-23756" r="-1396643" b="-919970"/>
            </a:stretch>
          </a:blipFill>
          <a:ln>
            <a:noFill/>
          </a:ln>
        </p:spPr>
        <p:txBody>
          <a:bodyPr spcFirstLastPara="1" wrap="square" lIns="68575" tIns="34275" rIns="68575" bIns="34275" anchor="t" anchorCtr="0">
            <a:normAutofit fontScale="40000" lnSpcReduction="20000"/>
          </a:bodyPr>
          <a:lstStyle>
            <a:defPPr marR="0" lvl="0" algn="l" rtl="0">
              <a:lnSpc>
                <a:spcPct val="100000"/>
              </a:lnSpc>
              <a:spcBef>
                <a:spcPts val="0"/>
              </a:spcBef>
              <a:spcAft>
                <a:spcPts val="0"/>
              </a:spcAft>
            </a:defPPr>
            <a:lvl1pPr marL="457200" marR="0" lvl="0" indent="-342900" algn="l" rtl="0">
              <a:lnSpc>
                <a:spcPct val="150000"/>
              </a:lnSpc>
              <a:spcBef>
                <a:spcPts val="800"/>
              </a:spcBef>
              <a:spcAft>
                <a:spcPts val="0"/>
              </a:spcAft>
              <a:buClr>
                <a:schemeClr val="dk1"/>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42900" algn="l" rtl="0">
              <a:lnSpc>
                <a:spcPct val="90000"/>
              </a:lnSpc>
              <a:spcBef>
                <a:spcPts val="1200"/>
              </a:spcBef>
              <a:spcAft>
                <a:spcPts val="0"/>
              </a:spcAft>
              <a:buClr>
                <a:schemeClr val="dk1"/>
              </a:buClr>
              <a:buSzPts val="1800"/>
              <a:buFont typeface="Arial"/>
              <a:buChar char="○"/>
              <a:defRPr sz="1800" b="0" i="0" u="none" strike="noStrike" cap="none">
                <a:solidFill>
                  <a:schemeClr val="dk2"/>
                </a:solidFill>
                <a:latin typeface="Arial"/>
                <a:ea typeface="Arial"/>
                <a:cs typeface="Arial"/>
                <a:sym typeface="Arial"/>
              </a:defRPr>
            </a:lvl2pPr>
            <a:lvl3pPr marL="1371600" marR="0" lvl="2" indent="-342900" algn="l" rtl="0">
              <a:lnSpc>
                <a:spcPct val="90000"/>
              </a:lnSpc>
              <a:spcBef>
                <a:spcPts val="1200"/>
              </a:spcBef>
              <a:spcAft>
                <a:spcPts val="0"/>
              </a:spcAft>
              <a:buClr>
                <a:schemeClr val="dk1"/>
              </a:buClr>
              <a:buSzPts val="1800"/>
              <a:buFont typeface="Arial"/>
              <a:buChar char="■"/>
              <a:defRPr sz="1800" b="0" i="0" u="none" strike="noStrike" cap="none">
                <a:solidFill>
                  <a:schemeClr val="dk2"/>
                </a:solidFill>
                <a:latin typeface="Arial"/>
                <a:ea typeface="Arial"/>
                <a:cs typeface="Arial"/>
                <a:sym typeface="Arial"/>
              </a:defRPr>
            </a:lvl3pPr>
            <a:lvl4pPr marL="1828800" marR="0" lvl="3" indent="-342900" algn="l" rtl="0">
              <a:lnSpc>
                <a:spcPct val="90000"/>
              </a:lnSpc>
              <a:spcBef>
                <a:spcPts val="1200"/>
              </a:spcBef>
              <a:spcAft>
                <a:spcPts val="0"/>
              </a:spcAft>
              <a:buClr>
                <a:schemeClr val="dk1"/>
              </a:buClr>
              <a:buSzPts val="1800"/>
              <a:buFont typeface="Arial"/>
              <a:buChar char="●"/>
              <a:defRPr sz="1800" b="0" i="0" u="none" strike="noStrike" cap="none">
                <a:solidFill>
                  <a:schemeClr val="dk2"/>
                </a:solidFill>
                <a:latin typeface="Arial"/>
                <a:ea typeface="Arial"/>
                <a:cs typeface="Arial"/>
                <a:sym typeface="Arial"/>
              </a:defRPr>
            </a:lvl4pPr>
            <a:lvl5pPr marL="2286000" marR="0" lvl="4" indent="-342900" algn="l" rtl="0">
              <a:lnSpc>
                <a:spcPct val="90000"/>
              </a:lnSpc>
              <a:spcBef>
                <a:spcPts val="1200"/>
              </a:spcBef>
              <a:spcAft>
                <a:spcPts val="0"/>
              </a:spcAft>
              <a:buClr>
                <a:schemeClr val="dk1"/>
              </a:buClr>
              <a:buSzPts val="1800"/>
              <a:buFont typeface="Arial"/>
              <a:buChar char="○"/>
              <a:defRPr sz="1800" b="0" i="0" u="none" strike="noStrike" cap="none">
                <a:solidFill>
                  <a:schemeClr val="dk2"/>
                </a:solidFill>
                <a:latin typeface="Arial"/>
                <a:ea typeface="Arial"/>
                <a:cs typeface="Arial"/>
                <a:sym typeface="Arial"/>
              </a:defRPr>
            </a:lvl5pPr>
            <a:lvl6pPr marL="2743200" marR="0" lvl="5" indent="-342900" algn="l" rtl="0">
              <a:lnSpc>
                <a:spcPct val="90000"/>
              </a:lnSpc>
              <a:spcBef>
                <a:spcPts val="1200"/>
              </a:spcBef>
              <a:spcAft>
                <a:spcPts val="0"/>
              </a:spcAft>
              <a:buClr>
                <a:schemeClr val="dk1"/>
              </a:buClr>
              <a:buSzPts val="1800"/>
              <a:buFont typeface="Arial"/>
              <a:buChar char="■"/>
              <a:defRPr sz="1800" b="0" i="0" u="none" strike="noStrike" cap="none">
                <a:solidFill>
                  <a:schemeClr val="dk2"/>
                </a:solidFill>
                <a:latin typeface="Arial"/>
                <a:ea typeface="Arial"/>
                <a:cs typeface="Arial"/>
                <a:sym typeface="Arial"/>
              </a:defRPr>
            </a:lvl6pPr>
            <a:lvl7pPr marL="3200400" marR="0" lvl="6" indent="-342900" algn="l" rtl="0">
              <a:lnSpc>
                <a:spcPct val="90000"/>
              </a:lnSpc>
              <a:spcBef>
                <a:spcPts val="1200"/>
              </a:spcBef>
              <a:spcAft>
                <a:spcPts val="0"/>
              </a:spcAft>
              <a:buClr>
                <a:schemeClr val="dk1"/>
              </a:buClr>
              <a:buSzPts val="1800"/>
              <a:buFont typeface="Arial"/>
              <a:buChar char="●"/>
              <a:defRPr sz="1800" b="0" i="0" u="none" strike="noStrike" cap="none">
                <a:solidFill>
                  <a:schemeClr val="dk2"/>
                </a:solidFill>
                <a:latin typeface="Arial"/>
                <a:ea typeface="Arial"/>
                <a:cs typeface="Arial"/>
                <a:sym typeface="Arial"/>
              </a:defRPr>
            </a:lvl7pPr>
            <a:lvl8pPr marL="3657600" marR="0" lvl="7" indent="-342900" algn="l" rtl="0">
              <a:lnSpc>
                <a:spcPct val="90000"/>
              </a:lnSpc>
              <a:spcBef>
                <a:spcPts val="1200"/>
              </a:spcBef>
              <a:spcAft>
                <a:spcPts val="0"/>
              </a:spcAft>
              <a:buClr>
                <a:schemeClr val="dk1"/>
              </a:buClr>
              <a:buSzPts val="1800"/>
              <a:buFont typeface="Arial"/>
              <a:buChar char="○"/>
              <a:defRPr sz="1800" b="0" i="0" u="none" strike="noStrike" cap="none">
                <a:solidFill>
                  <a:schemeClr val="dk2"/>
                </a:solidFill>
                <a:latin typeface="Arial"/>
                <a:ea typeface="Arial"/>
                <a:cs typeface="Arial"/>
                <a:sym typeface="Arial"/>
              </a:defRPr>
            </a:lvl8pPr>
            <a:lvl9pPr marL="4114800" marR="0" lvl="8" indent="-342900" algn="l" rtl="0">
              <a:lnSpc>
                <a:spcPct val="90000"/>
              </a:lnSpc>
              <a:spcBef>
                <a:spcPts val="1200"/>
              </a:spcBef>
              <a:spcAft>
                <a:spcPts val="1200"/>
              </a:spcAft>
              <a:buClr>
                <a:schemeClr val="dk1"/>
              </a:buClr>
              <a:buSzPts val="1800"/>
              <a:buFont typeface="Arial"/>
              <a:buChar char="■"/>
              <a:defRPr sz="1800" b="0" i="0" u="none" strike="noStrike" cap="none">
                <a:solidFill>
                  <a:schemeClr val="dk2"/>
                </a:solidFill>
                <a:latin typeface="Arial"/>
                <a:ea typeface="Arial"/>
                <a:cs typeface="Arial"/>
                <a:sym typeface="Arial"/>
              </a:defRPr>
            </a:lvl9pPr>
          </a:lstStyle>
          <a:p>
            <a:pPr marL="0" indent="0">
              <a:lnSpc>
                <a:spcPct val="90000"/>
              </a:lnSpc>
              <a:spcBef>
                <a:spcPts val="0"/>
              </a:spcBef>
              <a:spcAft>
                <a:spcPts val="1200"/>
              </a:spcAft>
              <a:buFont typeface="Arial"/>
              <a:buNone/>
            </a:pPr>
            <a:r>
              <a:rPr lang="en-GB"/>
              <a:t> </a:t>
            </a: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Shape 790"/>
        <p:cNvGrpSpPr/>
        <p:nvPr/>
      </p:nvGrpSpPr>
      <p:grpSpPr>
        <a:xfrm>
          <a:off x="0" y="0"/>
          <a:ext cx="0" cy="0"/>
          <a:chOff x="0" y="0"/>
          <a:chExt cx="0" cy="0"/>
        </a:xfrm>
      </p:grpSpPr>
      <p:pic>
        <p:nvPicPr>
          <p:cNvPr id="792" name="Google Shape;792;p74"/>
          <p:cNvPicPr preferRelativeResize="0"/>
          <p:nvPr/>
        </p:nvPicPr>
        <p:blipFill rotWithShape="1">
          <a:blip r:embed="rId3">
            <a:alphaModFix/>
          </a:blip>
          <a:srcRect/>
          <a:stretch/>
        </p:blipFill>
        <p:spPr>
          <a:xfrm>
            <a:off x="1323975" y="0"/>
            <a:ext cx="6496050" cy="5143500"/>
          </a:xfrm>
          <a:prstGeom prst="rect">
            <a:avLst/>
          </a:prstGeom>
          <a:noFill/>
          <a:ln>
            <a:noFill/>
          </a:ln>
        </p:spPr>
      </p:pic>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Shape 790">
          <a:extLst>
            <a:ext uri="{FF2B5EF4-FFF2-40B4-BE49-F238E27FC236}">
              <a16:creationId xmlns:a16="http://schemas.microsoft.com/office/drawing/2014/main" id="{D40BF326-4EC6-F210-EC3A-5492129998DE}"/>
            </a:ext>
          </a:extLst>
        </p:cNvPr>
        <p:cNvGrpSpPr/>
        <p:nvPr/>
      </p:nvGrpSpPr>
      <p:grpSpPr>
        <a:xfrm>
          <a:off x="0" y="0"/>
          <a:ext cx="0" cy="0"/>
          <a:chOff x="0" y="0"/>
          <a:chExt cx="0" cy="0"/>
        </a:xfrm>
      </p:grpSpPr>
      <p:pic>
        <p:nvPicPr>
          <p:cNvPr id="792" name="Google Shape;792;p74">
            <a:extLst>
              <a:ext uri="{FF2B5EF4-FFF2-40B4-BE49-F238E27FC236}">
                <a16:creationId xmlns:a16="http://schemas.microsoft.com/office/drawing/2014/main" id="{937BC055-B014-550E-195C-02576364A369}"/>
              </a:ext>
            </a:extLst>
          </p:cNvPr>
          <p:cNvPicPr preferRelativeResize="0"/>
          <p:nvPr/>
        </p:nvPicPr>
        <p:blipFill rotWithShape="1">
          <a:blip r:embed="rId3">
            <a:alphaModFix/>
          </a:blip>
          <a:srcRect/>
          <a:stretch/>
        </p:blipFill>
        <p:spPr>
          <a:xfrm>
            <a:off x="1323975" y="0"/>
            <a:ext cx="6496050" cy="5143500"/>
          </a:xfrm>
          <a:prstGeom prst="rect">
            <a:avLst/>
          </a:prstGeom>
          <a:noFill/>
          <a:ln>
            <a:noFill/>
          </a:ln>
        </p:spPr>
      </p:pic>
      <p:sp>
        <p:nvSpPr>
          <p:cNvPr id="2" name="Oval 1">
            <a:extLst>
              <a:ext uri="{FF2B5EF4-FFF2-40B4-BE49-F238E27FC236}">
                <a16:creationId xmlns:a16="http://schemas.microsoft.com/office/drawing/2014/main" id="{98471D61-20C9-1DE8-DA0D-F10BD5FE22E4}"/>
              </a:ext>
            </a:extLst>
          </p:cNvPr>
          <p:cNvSpPr/>
          <p:nvPr/>
        </p:nvSpPr>
        <p:spPr>
          <a:xfrm>
            <a:off x="4771697" y="2469931"/>
            <a:ext cx="94593" cy="101819"/>
          </a:xfrm>
          <a:prstGeom prst="ellipse">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 name="Straight Arrow Connector 3">
            <a:extLst>
              <a:ext uri="{FF2B5EF4-FFF2-40B4-BE49-F238E27FC236}">
                <a16:creationId xmlns:a16="http://schemas.microsoft.com/office/drawing/2014/main" id="{B7A0789A-3E9A-CAD0-BDC3-2C6CB70F9880}"/>
              </a:ext>
            </a:extLst>
          </p:cNvPr>
          <p:cNvCxnSpPr>
            <a:stCxn id="2" idx="3"/>
          </p:cNvCxnSpPr>
          <p:nvPr/>
        </p:nvCxnSpPr>
        <p:spPr>
          <a:xfrm flipH="1">
            <a:off x="3184634" y="2556839"/>
            <a:ext cx="1600916" cy="1889037"/>
          </a:xfrm>
          <a:prstGeom prst="straightConnector1">
            <a:avLst/>
          </a:prstGeom>
          <a:ln w="285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F6988DC1-4147-ECFC-BE52-69A414F277AD}"/>
              </a:ext>
            </a:extLst>
          </p:cNvPr>
          <p:cNvCxnSpPr>
            <a:cxnSpLocks/>
          </p:cNvCxnSpPr>
          <p:nvPr/>
        </p:nvCxnSpPr>
        <p:spPr>
          <a:xfrm flipH="1">
            <a:off x="3444766" y="2520840"/>
            <a:ext cx="1326931" cy="254448"/>
          </a:xfrm>
          <a:prstGeom prst="straightConnector1">
            <a:avLst/>
          </a:prstGeom>
          <a:ln w="28575">
            <a:solidFill>
              <a:schemeClr val="accent4">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52C0C053-C4D4-9A31-B00A-9EC5C0EE5B82}"/>
              </a:ext>
            </a:extLst>
          </p:cNvPr>
          <p:cNvCxnSpPr>
            <a:cxnSpLocks/>
          </p:cNvCxnSpPr>
          <p:nvPr/>
        </p:nvCxnSpPr>
        <p:spPr>
          <a:xfrm flipH="1">
            <a:off x="2669629" y="2556839"/>
            <a:ext cx="2102068" cy="389670"/>
          </a:xfrm>
          <a:prstGeom prst="straightConnector1">
            <a:avLst/>
          </a:prstGeom>
          <a:ln w="28575">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58740104"/>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Shape 790">
          <a:extLst>
            <a:ext uri="{FF2B5EF4-FFF2-40B4-BE49-F238E27FC236}">
              <a16:creationId xmlns:a16="http://schemas.microsoft.com/office/drawing/2014/main" id="{FDEA4BF2-24EA-FF52-048B-53DAB6C2041E}"/>
            </a:ext>
          </a:extLst>
        </p:cNvPr>
        <p:cNvGrpSpPr/>
        <p:nvPr/>
      </p:nvGrpSpPr>
      <p:grpSpPr>
        <a:xfrm>
          <a:off x="0" y="0"/>
          <a:ext cx="0" cy="0"/>
          <a:chOff x="0" y="0"/>
          <a:chExt cx="0" cy="0"/>
        </a:xfrm>
      </p:grpSpPr>
      <p:pic>
        <p:nvPicPr>
          <p:cNvPr id="792" name="Google Shape;792;p74">
            <a:extLst>
              <a:ext uri="{FF2B5EF4-FFF2-40B4-BE49-F238E27FC236}">
                <a16:creationId xmlns:a16="http://schemas.microsoft.com/office/drawing/2014/main" id="{E118BAE4-0135-96B4-1AF4-B3B949EE5184}"/>
              </a:ext>
            </a:extLst>
          </p:cNvPr>
          <p:cNvPicPr preferRelativeResize="0"/>
          <p:nvPr/>
        </p:nvPicPr>
        <p:blipFill rotWithShape="1">
          <a:blip r:embed="rId3">
            <a:alphaModFix/>
          </a:blip>
          <a:srcRect/>
          <a:stretch/>
        </p:blipFill>
        <p:spPr>
          <a:xfrm>
            <a:off x="1323975" y="0"/>
            <a:ext cx="6496050" cy="5143500"/>
          </a:xfrm>
          <a:prstGeom prst="rect">
            <a:avLst/>
          </a:prstGeom>
          <a:noFill/>
          <a:ln>
            <a:noFill/>
          </a:ln>
        </p:spPr>
      </p:pic>
      <p:sp>
        <p:nvSpPr>
          <p:cNvPr id="2" name="Oval 1">
            <a:extLst>
              <a:ext uri="{FF2B5EF4-FFF2-40B4-BE49-F238E27FC236}">
                <a16:creationId xmlns:a16="http://schemas.microsoft.com/office/drawing/2014/main" id="{83BC2F7B-9D01-C311-E932-B4519B322446}"/>
              </a:ext>
            </a:extLst>
          </p:cNvPr>
          <p:cNvSpPr/>
          <p:nvPr/>
        </p:nvSpPr>
        <p:spPr>
          <a:xfrm>
            <a:off x="4771697" y="2469931"/>
            <a:ext cx="94593" cy="101819"/>
          </a:xfrm>
          <a:prstGeom prst="ellipse">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 name="Straight Arrow Connector 3">
            <a:extLst>
              <a:ext uri="{FF2B5EF4-FFF2-40B4-BE49-F238E27FC236}">
                <a16:creationId xmlns:a16="http://schemas.microsoft.com/office/drawing/2014/main" id="{F485D869-9867-A8E4-3306-9C8BB634E10E}"/>
              </a:ext>
            </a:extLst>
          </p:cNvPr>
          <p:cNvCxnSpPr>
            <a:stCxn id="2" idx="3"/>
          </p:cNvCxnSpPr>
          <p:nvPr/>
        </p:nvCxnSpPr>
        <p:spPr>
          <a:xfrm flipH="1">
            <a:off x="3184634" y="2556839"/>
            <a:ext cx="1600916" cy="1889037"/>
          </a:xfrm>
          <a:prstGeom prst="straightConnector1">
            <a:avLst/>
          </a:prstGeom>
          <a:ln w="285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5" name="Straight Arrow Connector 4">
            <a:extLst>
              <a:ext uri="{FF2B5EF4-FFF2-40B4-BE49-F238E27FC236}">
                <a16:creationId xmlns:a16="http://schemas.microsoft.com/office/drawing/2014/main" id="{1719E68B-5A3F-2456-7A1C-E3199AF1DE37}"/>
              </a:ext>
            </a:extLst>
          </p:cNvPr>
          <p:cNvCxnSpPr>
            <a:cxnSpLocks/>
          </p:cNvCxnSpPr>
          <p:nvPr/>
        </p:nvCxnSpPr>
        <p:spPr>
          <a:xfrm flipV="1">
            <a:off x="4818994" y="595805"/>
            <a:ext cx="1550275" cy="1925035"/>
          </a:xfrm>
          <a:prstGeom prst="straightConnector1">
            <a:avLst/>
          </a:prstGeom>
          <a:ln w="28575">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110C56B5-D175-CD82-4640-13152A1F7B9F}"/>
              </a:ext>
            </a:extLst>
          </p:cNvPr>
          <p:cNvCxnSpPr>
            <a:cxnSpLocks/>
          </p:cNvCxnSpPr>
          <p:nvPr/>
        </p:nvCxnSpPr>
        <p:spPr>
          <a:xfrm flipH="1">
            <a:off x="3444766" y="2520840"/>
            <a:ext cx="1326931" cy="254448"/>
          </a:xfrm>
          <a:prstGeom prst="straightConnector1">
            <a:avLst/>
          </a:prstGeom>
          <a:ln w="28575">
            <a:solidFill>
              <a:schemeClr val="accent4">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039C71BA-97BB-BDB0-CDB5-CD7B3B62F73A}"/>
              </a:ext>
            </a:extLst>
          </p:cNvPr>
          <p:cNvSpPr txBox="1"/>
          <p:nvPr/>
        </p:nvSpPr>
        <p:spPr>
          <a:xfrm>
            <a:off x="6073354" y="340282"/>
            <a:ext cx="691215" cy="307777"/>
          </a:xfrm>
          <a:prstGeom prst="rect">
            <a:avLst/>
          </a:prstGeom>
          <a:noFill/>
        </p:spPr>
        <p:txBody>
          <a:bodyPr wrap="none" rtlCol="0">
            <a:spAutoFit/>
          </a:bodyPr>
          <a:lstStyle/>
          <a:p>
            <a:r>
              <a:rPr lang="en-US" dirty="0">
                <a:solidFill>
                  <a:srgbClr val="7030A0"/>
                </a:solidFill>
              </a:rPr>
              <a:t> - man</a:t>
            </a:r>
          </a:p>
        </p:txBody>
      </p:sp>
      <p:cxnSp>
        <p:nvCxnSpPr>
          <p:cNvPr id="3" name="Straight Arrow Connector 2">
            <a:extLst>
              <a:ext uri="{FF2B5EF4-FFF2-40B4-BE49-F238E27FC236}">
                <a16:creationId xmlns:a16="http://schemas.microsoft.com/office/drawing/2014/main" id="{BC5DC08E-AEDA-A04E-C978-81BB209AFD83}"/>
              </a:ext>
            </a:extLst>
          </p:cNvPr>
          <p:cNvCxnSpPr>
            <a:cxnSpLocks/>
          </p:cNvCxnSpPr>
          <p:nvPr/>
        </p:nvCxnSpPr>
        <p:spPr>
          <a:xfrm flipH="1">
            <a:off x="2669629" y="2556839"/>
            <a:ext cx="2102068" cy="389670"/>
          </a:xfrm>
          <a:prstGeom prst="straightConnector1">
            <a:avLst/>
          </a:prstGeom>
          <a:ln w="28575">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94141317"/>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Shape 790">
          <a:extLst>
            <a:ext uri="{FF2B5EF4-FFF2-40B4-BE49-F238E27FC236}">
              <a16:creationId xmlns:a16="http://schemas.microsoft.com/office/drawing/2014/main" id="{8B602F03-DD75-889C-3727-609AC214DFBE}"/>
            </a:ext>
          </a:extLst>
        </p:cNvPr>
        <p:cNvGrpSpPr/>
        <p:nvPr/>
      </p:nvGrpSpPr>
      <p:grpSpPr>
        <a:xfrm>
          <a:off x="0" y="0"/>
          <a:ext cx="0" cy="0"/>
          <a:chOff x="0" y="0"/>
          <a:chExt cx="0" cy="0"/>
        </a:xfrm>
      </p:grpSpPr>
      <p:pic>
        <p:nvPicPr>
          <p:cNvPr id="792" name="Google Shape;792;p74">
            <a:extLst>
              <a:ext uri="{FF2B5EF4-FFF2-40B4-BE49-F238E27FC236}">
                <a16:creationId xmlns:a16="http://schemas.microsoft.com/office/drawing/2014/main" id="{3CEF6F90-649B-6E90-D366-E8D12901EBE9}"/>
              </a:ext>
            </a:extLst>
          </p:cNvPr>
          <p:cNvPicPr preferRelativeResize="0"/>
          <p:nvPr/>
        </p:nvPicPr>
        <p:blipFill rotWithShape="1">
          <a:blip r:embed="rId3">
            <a:alphaModFix/>
          </a:blip>
          <a:srcRect/>
          <a:stretch/>
        </p:blipFill>
        <p:spPr>
          <a:xfrm>
            <a:off x="1323975" y="0"/>
            <a:ext cx="6496050" cy="5143500"/>
          </a:xfrm>
          <a:prstGeom prst="rect">
            <a:avLst/>
          </a:prstGeom>
          <a:noFill/>
          <a:ln>
            <a:noFill/>
          </a:ln>
        </p:spPr>
      </p:pic>
      <p:sp>
        <p:nvSpPr>
          <p:cNvPr id="2" name="Oval 1">
            <a:extLst>
              <a:ext uri="{FF2B5EF4-FFF2-40B4-BE49-F238E27FC236}">
                <a16:creationId xmlns:a16="http://schemas.microsoft.com/office/drawing/2014/main" id="{E4AE6696-639E-B629-5797-8CBBDB932645}"/>
              </a:ext>
            </a:extLst>
          </p:cNvPr>
          <p:cNvSpPr/>
          <p:nvPr/>
        </p:nvSpPr>
        <p:spPr>
          <a:xfrm>
            <a:off x="4771697" y="2469931"/>
            <a:ext cx="94593" cy="101819"/>
          </a:xfrm>
          <a:prstGeom prst="ellipse">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 name="Straight Arrow Connector 3">
            <a:extLst>
              <a:ext uri="{FF2B5EF4-FFF2-40B4-BE49-F238E27FC236}">
                <a16:creationId xmlns:a16="http://schemas.microsoft.com/office/drawing/2014/main" id="{DCE90CCC-3DF2-FA18-0822-C4EB8AB87F48}"/>
              </a:ext>
            </a:extLst>
          </p:cNvPr>
          <p:cNvCxnSpPr>
            <a:stCxn id="2" idx="3"/>
          </p:cNvCxnSpPr>
          <p:nvPr/>
        </p:nvCxnSpPr>
        <p:spPr>
          <a:xfrm flipH="1">
            <a:off x="3184634" y="2556839"/>
            <a:ext cx="1600916" cy="1889037"/>
          </a:xfrm>
          <a:prstGeom prst="straightConnector1">
            <a:avLst/>
          </a:prstGeom>
          <a:ln w="285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5" name="Straight Arrow Connector 4">
            <a:extLst>
              <a:ext uri="{FF2B5EF4-FFF2-40B4-BE49-F238E27FC236}">
                <a16:creationId xmlns:a16="http://schemas.microsoft.com/office/drawing/2014/main" id="{CE800AE9-355F-CA8A-F1BF-AF8DE9C09020}"/>
              </a:ext>
            </a:extLst>
          </p:cNvPr>
          <p:cNvCxnSpPr>
            <a:cxnSpLocks/>
          </p:cNvCxnSpPr>
          <p:nvPr/>
        </p:nvCxnSpPr>
        <p:spPr>
          <a:xfrm flipV="1">
            <a:off x="4818994" y="595805"/>
            <a:ext cx="1550275" cy="1925035"/>
          </a:xfrm>
          <a:prstGeom prst="straightConnector1">
            <a:avLst/>
          </a:prstGeom>
          <a:ln w="28575">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467778DE-86D6-4071-4DC0-BE670125EFBE}"/>
              </a:ext>
            </a:extLst>
          </p:cNvPr>
          <p:cNvCxnSpPr>
            <a:cxnSpLocks/>
          </p:cNvCxnSpPr>
          <p:nvPr/>
        </p:nvCxnSpPr>
        <p:spPr>
          <a:xfrm flipV="1">
            <a:off x="2669629" y="1021474"/>
            <a:ext cx="1550275" cy="1925035"/>
          </a:xfrm>
          <a:prstGeom prst="straightConnector1">
            <a:avLst/>
          </a:prstGeom>
          <a:ln w="28575">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D01CAB5D-D50B-F6CE-DDFA-8F41E0F107A4}"/>
              </a:ext>
            </a:extLst>
          </p:cNvPr>
          <p:cNvCxnSpPr>
            <a:cxnSpLocks/>
          </p:cNvCxnSpPr>
          <p:nvPr/>
        </p:nvCxnSpPr>
        <p:spPr>
          <a:xfrm flipH="1">
            <a:off x="3444766" y="2520840"/>
            <a:ext cx="1326931" cy="254448"/>
          </a:xfrm>
          <a:prstGeom prst="straightConnector1">
            <a:avLst/>
          </a:prstGeom>
          <a:ln w="28575">
            <a:solidFill>
              <a:schemeClr val="accent4">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A9B98893-DB97-0A8D-87F3-3B980150E9ED}"/>
              </a:ext>
            </a:extLst>
          </p:cNvPr>
          <p:cNvSpPr txBox="1"/>
          <p:nvPr/>
        </p:nvSpPr>
        <p:spPr>
          <a:xfrm>
            <a:off x="6073354" y="340282"/>
            <a:ext cx="691215" cy="307777"/>
          </a:xfrm>
          <a:prstGeom prst="rect">
            <a:avLst/>
          </a:prstGeom>
          <a:noFill/>
        </p:spPr>
        <p:txBody>
          <a:bodyPr wrap="none" rtlCol="0">
            <a:spAutoFit/>
          </a:bodyPr>
          <a:lstStyle/>
          <a:p>
            <a:r>
              <a:rPr lang="en-US" dirty="0">
                <a:solidFill>
                  <a:srgbClr val="7030A0"/>
                </a:solidFill>
              </a:rPr>
              <a:t> - man</a:t>
            </a:r>
          </a:p>
        </p:txBody>
      </p:sp>
      <p:sp>
        <p:nvSpPr>
          <p:cNvPr id="7" name="TextBox 6">
            <a:extLst>
              <a:ext uri="{FF2B5EF4-FFF2-40B4-BE49-F238E27FC236}">
                <a16:creationId xmlns:a16="http://schemas.microsoft.com/office/drawing/2014/main" id="{4A29FBA9-C86A-1F57-7BED-FFC5CC6DDDD8}"/>
              </a:ext>
            </a:extLst>
          </p:cNvPr>
          <p:cNvSpPr txBox="1"/>
          <p:nvPr/>
        </p:nvSpPr>
        <p:spPr>
          <a:xfrm>
            <a:off x="3598847" y="713697"/>
            <a:ext cx="1168910" cy="307777"/>
          </a:xfrm>
          <a:prstGeom prst="rect">
            <a:avLst/>
          </a:prstGeom>
          <a:noFill/>
        </p:spPr>
        <p:txBody>
          <a:bodyPr wrap="none" rtlCol="0">
            <a:spAutoFit/>
          </a:bodyPr>
          <a:lstStyle/>
          <a:p>
            <a:r>
              <a:rPr lang="en-US" dirty="0">
                <a:solidFill>
                  <a:srgbClr val="7030A0"/>
                </a:solidFill>
              </a:rPr>
              <a:t> </a:t>
            </a:r>
            <a:r>
              <a:rPr lang="en-US" dirty="0">
                <a:solidFill>
                  <a:schemeClr val="tx1">
                    <a:lumMod val="50000"/>
                    <a:lumOff val="50000"/>
                  </a:schemeClr>
                </a:solidFill>
              </a:rPr>
              <a:t>uncle</a:t>
            </a:r>
            <a:r>
              <a:rPr lang="en-US" dirty="0">
                <a:solidFill>
                  <a:srgbClr val="7030A0"/>
                </a:solidFill>
              </a:rPr>
              <a:t> - man</a:t>
            </a:r>
          </a:p>
        </p:txBody>
      </p:sp>
      <p:cxnSp>
        <p:nvCxnSpPr>
          <p:cNvPr id="3" name="Straight Arrow Connector 2">
            <a:extLst>
              <a:ext uri="{FF2B5EF4-FFF2-40B4-BE49-F238E27FC236}">
                <a16:creationId xmlns:a16="http://schemas.microsoft.com/office/drawing/2014/main" id="{2993BE7B-BA41-714A-629C-2B08637F8D61}"/>
              </a:ext>
            </a:extLst>
          </p:cNvPr>
          <p:cNvCxnSpPr>
            <a:cxnSpLocks/>
          </p:cNvCxnSpPr>
          <p:nvPr/>
        </p:nvCxnSpPr>
        <p:spPr>
          <a:xfrm flipH="1">
            <a:off x="2669629" y="2556839"/>
            <a:ext cx="2102068" cy="389670"/>
          </a:xfrm>
          <a:prstGeom prst="straightConnector1">
            <a:avLst/>
          </a:prstGeom>
          <a:ln w="28575">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36924220"/>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Shape 790">
          <a:extLst>
            <a:ext uri="{FF2B5EF4-FFF2-40B4-BE49-F238E27FC236}">
              <a16:creationId xmlns:a16="http://schemas.microsoft.com/office/drawing/2014/main" id="{F8DA0719-F846-54E9-7402-5C1A53567D29}"/>
            </a:ext>
          </a:extLst>
        </p:cNvPr>
        <p:cNvGrpSpPr/>
        <p:nvPr/>
      </p:nvGrpSpPr>
      <p:grpSpPr>
        <a:xfrm>
          <a:off x="0" y="0"/>
          <a:ext cx="0" cy="0"/>
          <a:chOff x="0" y="0"/>
          <a:chExt cx="0" cy="0"/>
        </a:xfrm>
      </p:grpSpPr>
      <p:pic>
        <p:nvPicPr>
          <p:cNvPr id="792" name="Google Shape;792;p74">
            <a:extLst>
              <a:ext uri="{FF2B5EF4-FFF2-40B4-BE49-F238E27FC236}">
                <a16:creationId xmlns:a16="http://schemas.microsoft.com/office/drawing/2014/main" id="{2A7CF6C0-FBAE-F5B4-084A-9D154975D6F0}"/>
              </a:ext>
            </a:extLst>
          </p:cNvPr>
          <p:cNvPicPr preferRelativeResize="0"/>
          <p:nvPr/>
        </p:nvPicPr>
        <p:blipFill rotWithShape="1">
          <a:blip r:embed="rId3">
            <a:alphaModFix/>
          </a:blip>
          <a:srcRect/>
          <a:stretch/>
        </p:blipFill>
        <p:spPr>
          <a:xfrm>
            <a:off x="1323975" y="0"/>
            <a:ext cx="6496050" cy="5143500"/>
          </a:xfrm>
          <a:prstGeom prst="rect">
            <a:avLst/>
          </a:prstGeom>
          <a:noFill/>
          <a:ln>
            <a:noFill/>
          </a:ln>
        </p:spPr>
      </p:pic>
      <p:sp>
        <p:nvSpPr>
          <p:cNvPr id="2" name="Oval 1">
            <a:extLst>
              <a:ext uri="{FF2B5EF4-FFF2-40B4-BE49-F238E27FC236}">
                <a16:creationId xmlns:a16="http://schemas.microsoft.com/office/drawing/2014/main" id="{B72E3564-3600-FFFA-3600-190AC81ED30A}"/>
              </a:ext>
            </a:extLst>
          </p:cNvPr>
          <p:cNvSpPr/>
          <p:nvPr/>
        </p:nvSpPr>
        <p:spPr>
          <a:xfrm>
            <a:off x="4771697" y="2469931"/>
            <a:ext cx="94593" cy="101819"/>
          </a:xfrm>
          <a:prstGeom prst="ellipse">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 name="Straight Arrow Connector 3">
            <a:extLst>
              <a:ext uri="{FF2B5EF4-FFF2-40B4-BE49-F238E27FC236}">
                <a16:creationId xmlns:a16="http://schemas.microsoft.com/office/drawing/2014/main" id="{99A49495-B0F8-15C4-6B83-237D939B85C9}"/>
              </a:ext>
            </a:extLst>
          </p:cNvPr>
          <p:cNvCxnSpPr>
            <a:stCxn id="2" idx="3"/>
          </p:cNvCxnSpPr>
          <p:nvPr/>
        </p:nvCxnSpPr>
        <p:spPr>
          <a:xfrm flipH="1">
            <a:off x="3184634" y="2556839"/>
            <a:ext cx="1600916" cy="1889037"/>
          </a:xfrm>
          <a:prstGeom prst="straightConnector1">
            <a:avLst/>
          </a:prstGeom>
          <a:ln w="285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5" name="Straight Arrow Connector 4">
            <a:extLst>
              <a:ext uri="{FF2B5EF4-FFF2-40B4-BE49-F238E27FC236}">
                <a16:creationId xmlns:a16="http://schemas.microsoft.com/office/drawing/2014/main" id="{8DE03055-AC85-0C65-B03F-E25DC0C11778}"/>
              </a:ext>
            </a:extLst>
          </p:cNvPr>
          <p:cNvCxnSpPr>
            <a:cxnSpLocks/>
          </p:cNvCxnSpPr>
          <p:nvPr/>
        </p:nvCxnSpPr>
        <p:spPr>
          <a:xfrm flipV="1">
            <a:off x="4818994" y="595805"/>
            <a:ext cx="1550275" cy="1925035"/>
          </a:xfrm>
          <a:prstGeom prst="straightConnector1">
            <a:avLst/>
          </a:prstGeom>
          <a:ln w="28575">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640846A3-F2E9-CE31-5E14-B66A28BDDA2C}"/>
              </a:ext>
            </a:extLst>
          </p:cNvPr>
          <p:cNvCxnSpPr>
            <a:cxnSpLocks/>
          </p:cNvCxnSpPr>
          <p:nvPr/>
        </p:nvCxnSpPr>
        <p:spPr>
          <a:xfrm flipV="1">
            <a:off x="2669629" y="1021474"/>
            <a:ext cx="1550275" cy="1925035"/>
          </a:xfrm>
          <a:prstGeom prst="straightConnector1">
            <a:avLst/>
          </a:prstGeom>
          <a:ln w="28575">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C47E6787-8424-6B9B-0860-CEBEE68A73D4}"/>
              </a:ext>
            </a:extLst>
          </p:cNvPr>
          <p:cNvCxnSpPr>
            <a:cxnSpLocks/>
          </p:cNvCxnSpPr>
          <p:nvPr/>
        </p:nvCxnSpPr>
        <p:spPr>
          <a:xfrm flipH="1">
            <a:off x="3444766" y="2520840"/>
            <a:ext cx="1326931" cy="254448"/>
          </a:xfrm>
          <a:prstGeom prst="straightConnector1">
            <a:avLst/>
          </a:prstGeom>
          <a:ln w="28575">
            <a:solidFill>
              <a:schemeClr val="accent4">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A6EB099D-6F6F-91B6-EB96-6BB27AA820EA}"/>
              </a:ext>
            </a:extLst>
          </p:cNvPr>
          <p:cNvCxnSpPr>
            <a:cxnSpLocks/>
          </p:cNvCxnSpPr>
          <p:nvPr/>
        </p:nvCxnSpPr>
        <p:spPr>
          <a:xfrm flipH="1">
            <a:off x="2827883" y="1021474"/>
            <a:ext cx="1340784" cy="218449"/>
          </a:xfrm>
          <a:prstGeom prst="straightConnector1">
            <a:avLst/>
          </a:prstGeom>
          <a:ln w="28575">
            <a:solidFill>
              <a:schemeClr val="accent4">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225EB429-CD6F-97C9-5BF9-5A35C6363EBE}"/>
              </a:ext>
            </a:extLst>
          </p:cNvPr>
          <p:cNvSpPr txBox="1"/>
          <p:nvPr/>
        </p:nvSpPr>
        <p:spPr>
          <a:xfrm>
            <a:off x="6073354" y="340282"/>
            <a:ext cx="691215" cy="307777"/>
          </a:xfrm>
          <a:prstGeom prst="rect">
            <a:avLst/>
          </a:prstGeom>
          <a:noFill/>
        </p:spPr>
        <p:txBody>
          <a:bodyPr wrap="none" rtlCol="0">
            <a:spAutoFit/>
          </a:bodyPr>
          <a:lstStyle/>
          <a:p>
            <a:r>
              <a:rPr lang="en-US" dirty="0">
                <a:solidFill>
                  <a:srgbClr val="7030A0"/>
                </a:solidFill>
              </a:rPr>
              <a:t> - man</a:t>
            </a:r>
          </a:p>
        </p:txBody>
      </p:sp>
      <p:sp>
        <p:nvSpPr>
          <p:cNvPr id="7" name="TextBox 6">
            <a:extLst>
              <a:ext uri="{FF2B5EF4-FFF2-40B4-BE49-F238E27FC236}">
                <a16:creationId xmlns:a16="http://schemas.microsoft.com/office/drawing/2014/main" id="{1E0CA895-2CA7-1F54-7761-39574D2E11EE}"/>
              </a:ext>
            </a:extLst>
          </p:cNvPr>
          <p:cNvSpPr txBox="1"/>
          <p:nvPr/>
        </p:nvSpPr>
        <p:spPr>
          <a:xfrm>
            <a:off x="3598847" y="713697"/>
            <a:ext cx="1168910" cy="307777"/>
          </a:xfrm>
          <a:prstGeom prst="rect">
            <a:avLst/>
          </a:prstGeom>
          <a:noFill/>
        </p:spPr>
        <p:txBody>
          <a:bodyPr wrap="none" rtlCol="0">
            <a:spAutoFit/>
          </a:bodyPr>
          <a:lstStyle/>
          <a:p>
            <a:r>
              <a:rPr lang="en-US" dirty="0">
                <a:solidFill>
                  <a:srgbClr val="7030A0"/>
                </a:solidFill>
              </a:rPr>
              <a:t> </a:t>
            </a:r>
            <a:r>
              <a:rPr lang="en-US" dirty="0">
                <a:solidFill>
                  <a:schemeClr val="tx1">
                    <a:lumMod val="50000"/>
                    <a:lumOff val="50000"/>
                  </a:schemeClr>
                </a:solidFill>
              </a:rPr>
              <a:t>uncle</a:t>
            </a:r>
            <a:r>
              <a:rPr lang="en-US" dirty="0">
                <a:solidFill>
                  <a:srgbClr val="7030A0"/>
                </a:solidFill>
              </a:rPr>
              <a:t> - man</a:t>
            </a:r>
          </a:p>
        </p:txBody>
      </p:sp>
      <p:sp>
        <p:nvSpPr>
          <p:cNvPr id="8" name="TextBox 7">
            <a:extLst>
              <a:ext uri="{FF2B5EF4-FFF2-40B4-BE49-F238E27FC236}">
                <a16:creationId xmlns:a16="http://schemas.microsoft.com/office/drawing/2014/main" id="{82143BC4-EA7F-2500-9E68-436ACD5FE57B}"/>
              </a:ext>
            </a:extLst>
          </p:cNvPr>
          <p:cNvSpPr txBox="1"/>
          <p:nvPr/>
        </p:nvSpPr>
        <p:spPr>
          <a:xfrm>
            <a:off x="2274329" y="588642"/>
            <a:ext cx="1298900" cy="523220"/>
          </a:xfrm>
          <a:prstGeom prst="rect">
            <a:avLst/>
          </a:prstGeom>
          <a:noFill/>
        </p:spPr>
        <p:txBody>
          <a:bodyPr wrap="square" rtlCol="0">
            <a:spAutoFit/>
          </a:bodyPr>
          <a:lstStyle/>
          <a:p>
            <a:pPr algn="ctr"/>
            <a:r>
              <a:rPr lang="en-US" dirty="0">
                <a:solidFill>
                  <a:srgbClr val="7030A0"/>
                </a:solidFill>
              </a:rPr>
              <a:t> </a:t>
            </a:r>
            <a:r>
              <a:rPr lang="en-US" dirty="0">
                <a:solidFill>
                  <a:schemeClr val="tx1">
                    <a:lumMod val="50000"/>
                    <a:lumOff val="50000"/>
                  </a:schemeClr>
                </a:solidFill>
              </a:rPr>
              <a:t>uncle</a:t>
            </a:r>
            <a:r>
              <a:rPr lang="en-US" dirty="0">
                <a:solidFill>
                  <a:srgbClr val="7030A0"/>
                </a:solidFill>
              </a:rPr>
              <a:t> – man </a:t>
            </a:r>
            <a:r>
              <a:rPr lang="en-US" dirty="0">
                <a:solidFill>
                  <a:schemeClr val="accent4">
                    <a:lumMod val="75000"/>
                  </a:schemeClr>
                </a:solidFill>
              </a:rPr>
              <a:t>+ woman</a:t>
            </a:r>
          </a:p>
        </p:txBody>
      </p:sp>
      <p:cxnSp>
        <p:nvCxnSpPr>
          <p:cNvPr id="11" name="Straight Arrow Connector 10">
            <a:extLst>
              <a:ext uri="{FF2B5EF4-FFF2-40B4-BE49-F238E27FC236}">
                <a16:creationId xmlns:a16="http://schemas.microsoft.com/office/drawing/2014/main" id="{306AB3A7-575F-A28E-15C5-0BCC7A673D9D}"/>
              </a:ext>
            </a:extLst>
          </p:cNvPr>
          <p:cNvCxnSpPr>
            <a:cxnSpLocks/>
          </p:cNvCxnSpPr>
          <p:nvPr/>
        </p:nvCxnSpPr>
        <p:spPr>
          <a:xfrm flipH="1">
            <a:off x="2669629" y="2556839"/>
            <a:ext cx="2102068" cy="389670"/>
          </a:xfrm>
          <a:prstGeom prst="straightConnector1">
            <a:avLst/>
          </a:prstGeom>
          <a:ln w="28575">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95555463"/>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Shape 806"/>
        <p:cNvGrpSpPr/>
        <p:nvPr/>
      </p:nvGrpSpPr>
      <p:grpSpPr>
        <a:xfrm>
          <a:off x="0" y="0"/>
          <a:ext cx="0" cy="0"/>
          <a:chOff x="0" y="0"/>
          <a:chExt cx="0" cy="0"/>
        </a:xfrm>
      </p:grpSpPr>
      <p:pic>
        <p:nvPicPr>
          <p:cNvPr id="808" name="Google Shape;808;p76"/>
          <p:cNvPicPr preferRelativeResize="0"/>
          <p:nvPr/>
        </p:nvPicPr>
        <p:blipFill rotWithShape="1">
          <a:blip r:embed="rId3">
            <a:alphaModFix/>
          </a:blip>
          <a:srcRect/>
          <a:stretch/>
        </p:blipFill>
        <p:spPr>
          <a:xfrm>
            <a:off x="1288256" y="0"/>
            <a:ext cx="6567487" cy="5143501"/>
          </a:xfrm>
          <a:prstGeom prst="rect">
            <a:avLst/>
          </a:prstGeom>
          <a:noFill/>
          <a:ln>
            <a:noFill/>
          </a:ln>
        </p:spPr>
      </p:pic>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Shape 814"/>
        <p:cNvGrpSpPr/>
        <p:nvPr/>
      </p:nvGrpSpPr>
      <p:grpSpPr>
        <a:xfrm>
          <a:off x="0" y="0"/>
          <a:ext cx="0" cy="0"/>
          <a:chOff x="0" y="0"/>
          <a:chExt cx="0" cy="0"/>
        </a:xfrm>
      </p:grpSpPr>
      <p:sp>
        <p:nvSpPr>
          <p:cNvPr id="815" name="Google Shape;815;p77"/>
          <p:cNvSpPr txBox="1">
            <a:spLocks noGrp="1"/>
          </p:cNvSpPr>
          <p:nvPr>
            <p:ph type="title"/>
          </p:nvPr>
        </p:nvSpPr>
        <p:spPr>
          <a:xfrm>
            <a:off x="471488" y="205383"/>
            <a:ext cx="5915100" cy="7458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chemeClr val="dk1"/>
              </a:buClr>
              <a:buSzPts val="3300"/>
              <a:buFont typeface="Century Gothic"/>
              <a:buNone/>
            </a:pPr>
            <a:r>
              <a:rPr lang="en-GB"/>
              <a:t>Word analogies evaluation</a:t>
            </a:r>
            <a:endParaRPr/>
          </a:p>
        </p:txBody>
      </p:sp>
      <p:pic>
        <p:nvPicPr>
          <p:cNvPr id="816" name="Google Shape;816;p77"/>
          <p:cNvPicPr preferRelativeResize="0">
            <a:picLocks noGrp="1"/>
          </p:cNvPicPr>
          <p:nvPr>
            <p:ph type="body" idx="1"/>
          </p:nvPr>
        </p:nvPicPr>
        <p:blipFill rotWithShape="1">
          <a:blip r:embed="rId3">
            <a:alphaModFix/>
          </a:blip>
          <a:srcRect/>
          <a:stretch/>
        </p:blipFill>
        <p:spPr>
          <a:xfrm>
            <a:off x="5025725" y="297500"/>
            <a:ext cx="3869700" cy="4687800"/>
          </a:xfrm>
          <a:prstGeom prst="rect">
            <a:avLst/>
          </a:prstGeom>
          <a:noFill/>
          <a:ln>
            <a:noFill/>
          </a:ln>
        </p:spPr>
      </p:pic>
      <p:sp>
        <p:nvSpPr>
          <p:cNvPr id="817" name="Google Shape;817;p77"/>
          <p:cNvSpPr txBox="1"/>
          <p:nvPr/>
        </p:nvSpPr>
        <p:spPr>
          <a:xfrm>
            <a:off x="1" y="4870133"/>
            <a:ext cx="2689800" cy="2847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GB" sz="1400" u="sng">
                <a:solidFill>
                  <a:schemeClr val="dk1"/>
                </a:solidFill>
                <a:hlinkClick r:id="rId4">
                  <a:extLst>
                    <a:ext uri="{A12FA001-AC4F-418D-AE19-62706E023703}">
                      <ahyp:hlinkClr xmlns:ahyp="http://schemas.microsoft.com/office/drawing/2018/hyperlinkcolor" val="tx"/>
                    </a:ext>
                  </a:extLst>
                </a:hlinkClick>
              </a:rPr>
              <a:t>Pennington et al., 2014</a:t>
            </a:r>
            <a:endParaRPr sz="1400">
              <a:solidFill>
                <a:schemeClr val="dk1"/>
              </a:solidFill>
            </a:endParaRP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Shape 823"/>
        <p:cNvGrpSpPr/>
        <p:nvPr/>
      </p:nvGrpSpPr>
      <p:grpSpPr>
        <a:xfrm>
          <a:off x="0" y="0"/>
          <a:ext cx="0" cy="0"/>
          <a:chOff x="0" y="0"/>
          <a:chExt cx="0" cy="0"/>
        </a:xfrm>
      </p:grpSpPr>
      <p:sp>
        <p:nvSpPr>
          <p:cNvPr id="824" name="Google Shape;824;p78"/>
          <p:cNvSpPr txBox="1">
            <a:spLocks noGrp="1"/>
          </p:cNvSpPr>
          <p:nvPr>
            <p:ph type="title"/>
          </p:nvPr>
        </p:nvSpPr>
        <p:spPr>
          <a:xfrm>
            <a:off x="471488" y="205383"/>
            <a:ext cx="5915100" cy="745800"/>
          </a:xfrm>
          <a:prstGeom prst="rect">
            <a:avLst/>
          </a:prstGeom>
          <a:noFill/>
          <a:ln>
            <a:noFill/>
          </a:ln>
        </p:spPr>
        <p:txBody>
          <a:bodyPr spcFirstLastPara="1" wrap="square" lIns="68575" tIns="34275" rIns="68575" bIns="34275" anchor="ctr" anchorCtr="0">
            <a:normAutofit fontScale="90000"/>
          </a:bodyPr>
          <a:lstStyle/>
          <a:p>
            <a:pPr marL="0" lvl="0" indent="0" algn="l" rtl="0">
              <a:lnSpc>
                <a:spcPct val="90000"/>
              </a:lnSpc>
              <a:spcBef>
                <a:spcPts val="0"/>
              </a:spcBef>
              <a:spcAft>
                <a:spcPts val="0"/>
              </a:spcAft>
              <a:buClr>
                <a:schemeClr val="dk1"/>
              </a:buClr>
              <a:buSzPct val="117857"/>
              <a:buFont typeface="Century Gothic"/>
              <a:buNone/>
            </a:pPr>
            <a:r>
              <a:rPr lang="en-GB"/>
              <a:t>Human correlation intrinsic evaluation</a:t>
            </a:r>
            <a:endParaRPr/>
          </a:p>
        </p:txBody>
      </p:sp>
      <p:graphicFrame>
        <p:nvGraphicFramePr>
          <p:cNvPr id="825" name="Google Shape;825;p78"/>
          <p:cNvGraphicFramePr/>
          <p:nvPr/>
        </p:nvGraphicFramePr>
        <p:xfrm>
          <a:off x="628650" y="1537931"/>
          <a:ext cx="7886700" cy="2987200"/>
        </p:xfrm>
        <a:graphic>
          <a:graphicData uri="http://schemas.openxmlformats.org/drawingml/2006/table">
            <a:tbl>
              <a:tblPr firstRow="1">
                <a:noFill/>
                <a:tableStyleId>{70C8A295-06F7-4B48-B4BD-E40A91A62E32}</a:tableStyleId>
              </a:tblPr>
              <a:tblGrid>
                <a:gridCol w="2628900">
                  <a:extLst>
                    <a:ext uri="{9D8B030D-6E8A-4147-A177-3AD203B41FA5}">
                      <a16:colId xmlns:a16="http://schemas.microsoft.com/office/drawing/2014/main" val="20000"/>
                    </a:ext>
                  </a:extLst>
                </a:gridCol>
                <a:gridCol w="2628900">
                  <a:extLst>
                    <a:ext uri="{9D8B030D-6E8A-4147-A177-3AD203B41FA5}">
                      <a16:colId xmlns:a16="http://schemas.microsoft.com/office/drawing/2014/main" val="20001"/>
                    </a:ext>
                  </a:extLst>
                </a:gridCol>
                <a:gridCol w="2628900">
                  <a:extLst>
                    <a:ext uri="{9D8B030D-6E8A-4147-A177-3AD203B41FA5}">
                      <a16:colId xmlns:a16="http://schemas.microsoft.com/office/drawing/2014/main" val="20002"/>
                    </a:ext>
                  </a:extLst>
                </a:gridCol>
              </a:tblGrid>
              <a:tr h="247650">
                <a:tc>
                  <a:txBody>
                    <a:bodyPr/>
                    <a:lstStyle/>
                    <a:p>
                      <a:pPr marL="0" marR="0" lvl="0" indent="0" algn="ctr" rtl="0">
                        <a:spcBef>
                          <a:spcPts val="0"/>
                        </a:spcBef>
                        <a:spcAft>
                          <a:spcPts val="0"/>
                        </a:spcAft>
                        <a:buNone/>
                      </a:pPr>
                      <a:r>
                        <a:rPr lang="en-GB" sz="2000" b="1" u="none" strike="noStrike" cap="none">
                          <a:solidFill>
                            <a:srgbClr val="000000"/>
                          </a:solidFill>
                          <a:latin typeface="Arial"/>
                          <a:ea typeface="Arial"/>
                          <a:cs typeface="Arial"/>
                          <a:sym typeface="Arial"/>
                        </a:rPr>
                        <a:t>word</a:t>
                      </a:r>
                      <a:r>
                        <a:rPr lang="en-GB" sz="2000" u="none" strike="noStrike" cap="none">
                          <a:solidFill>
                            <a:srgbClr val="000000"/>
                          </a:solidFill>
                          <a:latin typeface="Arial"/>
                          <a:ea typeface="Arial"/>
                          <a:cs typeface="Arial"/>
                          <a:sym typeface="Arial"/>
                        </a:rPr>
                        <a:t> </a:t>
                      </a:r>
                      <a:r>
                        <a:rPr lang="en-GB" sz="2000" b="1" u="none" strike="noStrike" cap="none">
                          <a:solidFill>
                            <a:srgbClr val="000000"/>
                          </a:solidFill>
                          <a:latin typeface="Arial"/>
                          <a:ea typeface="Arial"/>
                          <a:cs typeface="Arial"/>
                          <a:sym typeface="Arial"/>
                        </a:rPr>
                        <a:t>1</a:t>
                      </a:r>
                      <a:endParaRPr sz="1400" u="none" strike="noStrike" cap="none">
                        <a:latin typeface="Arial"/>
                        <a:ea typeface="Arial"/>
                        <a:cs typeface="Arial"/>
                        <a:sym typeface="Arial"/>
                      </a:endParaRPr>
                    </a:p>
                  </a:txBody>
                  <a:tcPr marL="68600" marR="68600" marT="34300" marB="34300" anchor="ctr">
                    <a:lnL w="9525" cap="flat" cmpd="sng">
                      <a:solidFill>
                        <a:srgbClr val="000000">
                          <a:alpha val="0"/>
                        </a:srgbClr>
                      </a:solidFill>
                      <a:prstDash val="solid"/>
                      <a:round/>
                      <a:headEnd type="none" w="sm" len="sm"/>
                      <a:tailEnd type="none" w="sm" len="sm"/>
                    </a:lnL>
                    <a:lnR w="12700" cap="flat" cmpd="sng">
                      <a:solidFill>
                        <a:schemeClr val="dk1"/>
                      </a:solidFill>
                      <a:prstDash val="dash"/>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dk1"/>
                      </a:solidFill>
                      <a:prstDash val="dash"/>
                      <a:round/>
                      <a:headEnd type="none" w="sm" len="sm"/>
                      <a:tailEnd type="none" w="sm" len="sm"/>
                    </a:lnB>
                  </a:tcPr>
                </a:tc>
                <a:tc>
                  <a:txBody>
                    <a:bodyPr/>
                    <a:lstStyle/>
                    <a:p>
                      <a:pPr marL="0" marR="0" lvl="0" indent="0" algn="ctr" rtl="0">
                        <a:spcBef>
                          <a:spcPts val="0"/>
                        </a:spcBef>
                        <a:spcAft>
                          <a:spcPts val="0"/>
                        </a:spcAft>
                        <a:buNone/>
                      </a:pPr>
                      <a:r>
                        <a:rPr lang="en-GB" sz="2000" b="1" u="none" strike="noStrike" cap="none">
                          <a:solidFill>
                            <a:srgbClr val="000000"/>
                          </a:solidFill>
                          <a:latin typeface="Arial"/>
                          <a:ea typeface="Arial"/>
                          <a:cs typeface="Arial"/>
                          <a:sym typeface="Arial"/>
                        </a:rPr>
                        <a:t>word</a:t>
                      </a:r>
                      <a:r>
                        <a:rPr lang="en-GB" sz="2000" u="none" strike="noStrike" cap="none">
                          <a:solidFill>
                            <a:srgbClr val="000000"/>
                          </a:solidFill>
                          <a:latin typeface="Arial"/>
                          <a:ea typeface="Arial"/>
                          <a:cs typeface="Arial"/>
                          <a:sym typeface="Arial"/>
                        </a:rPr>
                        <a:t> </a:t>
                      </a:r>
                      <a:r>
                        <a:rPr lang="en-GB" sz="2000" b="1" u="none" strike="noStrike" cap="none">
                          <a:solidFill>
                            <a:srgbClr val="000000"/>
                          </a:solidFill>
                          <a:latin typeface="Arial"/>
                          <a:ea typeface="Arial"/>
                          <a:cs typeface="Arial"/>
                          <a:sym typeface="Arial"/>
                        </a:rPr>
                        <a:t>2</a:t>
                      </a:r>
                      <a:endParaRPr sz="1400" u="none" strike="noStrike" cap="none">
                        <a:latin typeface="Arial"/>
                        <a:ea typeface="Arial"/>
                        <a:cs typeface="Arial"/>
                        <a:sym typeface="Arial"/>
                      </a:endParaRPr>
                    </a:p>
                  </a:txBody>
                  <a:tcPr marL="68600" marR="68600" marT="34300" marB="34300" anchor="ctr">
                    <a:lnL w="12700" cap="flat" cmpd="sng">
                      <a:solidFill>
                        <a:schemeClr val="dk1"/>
                      </a:solidFill>
                      <a:prstDash val="dash"/>
                      <a:round/>
                      <a:headEnd type="none" w="sm" len="sm"/>
                      <a:tailEnd type="none" w="sm" len="sm"/>
                    </a:lnL>
                    <a:lnR w="12700" cap="flat" cmpd="sng">
                      <a:solidFill>
                        <a:schemeClr val="dk1"/>
                      </a:solidFill>
                      <a:prstDash val="dash"/>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dk1"/>
                      </a:solidFill>
                      <a:prstDash val="dash"/>
                      <a:round/>
                      <a:headEnd type="none" w="sm" len="sm"/>
                      <a:tailEnd type="none" w="sm" len="sm"/>
                    </a:lnB>
                  </a:tcPr>
                </a:tc>
                <a:tc>
                  <a:txBody>
                    <a:bodyPr/>
                    <a:lstStyle/>
                    <a:p>
                      <a:pPr marL="0" marR="0" lvl="0" indent="0" algn="ctr" rtl="0">
                        <a:spcBef>
                          <a:spcPts val="0"/>
                        </a:spcBef>
                        <a:spcAft>
                          <a:spcPts val="0"/>
                        </a:spcAft>
                        <a:buNone/>
                      </a:pPr>
                      <a:r>
                        <a:rPr lang="en-GB" sz="2000" b="1" u="none" strike="noStrike" cap="none">
                          <a:solidFill>
                            <a:srgbClr val="000000"/>
                          </a:solidFill>
                          <a:latin typeface="Arial"/>
                          <a:ea typeface="Arial"/>
                          <a:cs typeface="Arial"/>
                          <a:sym typeface="Arial"/>
                        </a:rPr>
                        <a:t>human</a:t>
                      </a:r>
                      <a:r>
                        <a:rPr lang="en-GB" sz="2000" u="none" strike="noStrike" cap="none">
                          <a:solidFill>
                            <a:srgbClr val="000000"/>
                          </a:solidFill>
                          <a:latin typeface="Arial"/>
                          <a:ea typeface="Arial"/>
                          <a:cs typeface="Arial"/>
                          <a:sym typeface="Arial"/>
                        </a:rPr>
                        <a:t> </a:t>
                      </a:r>
                      <a:r>
                        <a:rPr lang="en-GB" sz="2000" b="1" u="none" strike="noStrike" cap="none">
                          <a:solidFill>
                            <a:srgbClr val="000000"/>
                          </a:solidFill>
                          <a:latin typeface="Arial"/>
                          <a:ea typeface="Arial"/>
                          <a:cs typeface="Arial"/>
                          <a:sym typeface="Arial"/>
                        </a:rPr>
                        <a:t>judgement</a:t>
                      </a:r>
                      <a:endParaRPr sz="1400" u="none" strike="noStrike" cap="none">
                        <a:latin typeface="Arial"/>
                        <a:ea typeface="Arial"/>
                        <a:cs typeface="Arial"/>
                        <a:sym typeface="Arial"/>
                      </a:endParaRPr>
                    </a:p>
                  </a:txBody>
                  <a:tcPr marL="68600" marR="68600" marT="34300" marB="34300" anchor="ctr">
                    <a:lnL w="12700" cap="flat" cmpd="sng">
                      <a:solidFill>
                        <a:schemeClr val="dk1"/>
                      </a:solidFill>
                      <a:prstDash val="dash"/>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dk1"/>
                      </a:solidFill>
                      <a:prstDash val="dash"/>
                      <a:round/>
                      <a:headEnd type="none" w="sm" len="sm"/>
                      <a:tailEnd type="none" w="sm" len="sm"/>
                    </a:lnB>
                  </a:tcPr>
                </a:tc>
                <a:extLst>
                  <a:ext uri="{0D108BD9-81ED-4DB2-BD59-A6C34878D82A}">
                    <a16:rowId xmlns:a16="http://schemas.microsoft.com/office/drawing/2014/main" val="10000"/>
                  </a:ext>
                </a:extLst>
              </a:tr>
              <a:tr h="247650">
                <a:tc>
                  <a:txBody>
                    <a:bodyPr/>
                    <a:lstStyle/>
                    <a:p>
                      <a:pPr marL="0" marR="0" lvl="0" indent="0" algn="ctr" rtl="0">
                        <a:spcBef>
                          <a:spcPts val="0"/>
                        </a:spcBef>
                        <a:spcAft>
                          <a:spcPts val="0"/>
                        </a:spcAft>
                        <a:buNone/>
                      </a:pPr>
                      <a:r>
                        <a:rPr lang="en-GB" sz="2000" u="none" strike="noStrike" cap="none">
                          <a:solidFill>
                            <a:srgbClr val="000000"/>
                          </a:solidFill>
                          <a:latin typeface="Arial"/>
                          <a:ea typeface="Arial"/>
                          <a:cs typeface="Arial"/>
                          <a:sym typeface="Arial"/>
                        </a:rPr>
                        <a:t>tiger</a:t>
                      </a:r>
                      <a:endParaRPr sz="1400" u="none" strike="noStrike" cap="none">
                        <a:latin typeface="Arial"/>
                        <a:ea typeface="Arial"/>
                        <a:cs typeface="Arial"/>
                        <a:sym typeface="Arial"/>
                      </a:endParaRPr>
                    </a:p>
                  </a:txBody>
                  <a:tcPr marL="68600" marR="68600" marT="34300" marB="34300" anchor="ctr">
                    <a:lnL w="9525" cap="flat" cmpd="sng">
                      <a:solidFill>
                        <a:srgbClr val="000000">
                          <a:alpha val="0"/>
                        </a:srgbClr>
                      </a:solidFill>
                      <a:prstDash val="solid"/>
                      <a:round/>
                      <a:headEnd type="none" w="sm" len="sm"/>
                      <a:tailEnd type="none" w="sm" len="sm"/>
                    </a:lnL>
                    <a:lnR w="12700" cap="flat" cmpd="sng">
                      <a:solidFill>
                        <a:schemeClr val="dk1"/>
                      </a:solidFill>
                      <a:prstDash val="dash"/>
                      <a:round/>
                      <a:headEnd type="none" w="sm" len="sm"/>
                      <a:tailEnd type="none" w="sm" len="sm"/>
                    </a:lnR>
                    <a:lnT w="12700" cap="flat" cmpd="sng">
                      <a:solidFill>
                        <a:schemeClr val="dk1"/>
                      </a:solidFill>
                      <a:prstDash val="dash"/>
                      <a:round/>
                      <a:headEnd type="none" w="sm" len="sm"/>
                      <a:tailEnd type="none" w="sm" len="sm"/>
                    </a:lnT>
                    <a:lnB w="12700" cap="flat" cmpd="sng">
                      <a:solidFill>
                        <a:schemeClr val="dk1"/>
                      </a:solidFill>
                      <a:prstDash val="dash"/>
                      <a:round/>
                      <a:headEnd type="none" w="sm" len="sm"/>
                      <a:tailEnd type="none" w="sm" len="sm"/>
                    </a:lnB>
                  </a:tcPr>
                </a:tc>
                <a:tc>
                  <a:txBody>
                    <a:bodyPr/>
                    <a:lstStyle/>
                    <a:p>
                      <a:pPr marL="0" marR="0" lvl="0" indent="0" algn="ctr" rtl="0">
                        <a:spcBef>
                          <a:spcPts val="0"/>
                        </a:spcBef>
                        <a:spcAft>
                          <a:spcPts val="0"/>
                        </a:spcAft>
                        <a:buNone/>
                      </a:pPr>
                      <a:r>
                        <a:rPr lang="en-GB" sz="2000" u="none" strike="noStrike" cap="none">
                          <a:solidFill>
                            <a:srgbClr val="000000"/>
                          </a:solidFill>
                          <a:latin typeface="Arial"/>
                          <a:ea typeface="Arial"/>
                          <a:cs typeface="Arial"/>
                          <a:sym typeface="Arial"/>
                        </a:rPr>
                        <a:t>cat</a:t>
                      </a:r>
                      <a:endParaRPr sz="1400" u="none" strike="noStrike" cap="none">
                        <a:latin typeface="Arial"/>
                        <a:ea typeface="Arial"/>
                        <a:cs typeface="Arial"/>
                        <a:sym typeface="Arial"/>
                      </a:endParaRPr>
                    </a:p>
                  </a:txBody>
                  <a:tcPr marL="68600" marR="68600" marT="34300" marB="34300" anchor="ctr">
                    <a:lnL w="12700" cap="flat" cmpd="sng">
                      <a:solidFill>
                        <a:schemeClr val="dk1"/>
                      </a:solidFill>
                      <a:prstDash val="dash"/>
                      <a:round/>
                      <a:headEnd type="none" w="sm" len="sm"/>
                      <a:tailEnd type="none" w="sm" len="sm"/>
                    </a:lnL>
                    <a:lnR w="12700" cap="flat" cmpd="sng">
                      <a:solidFill>
                        <a:schemeClr val="dk1"/>
                      </a:solidFill>
                      <a:prstDash val="dash"/>
                      <a:round/>
                      <a:headEnd type="none" w="sm" len="sm"/>
                      <a:tailEnd type="none" w="sm" len="sm"/>
                    </a:lnR>
                    <a:lnT w="12700" cap="flat" cmpd="sng">
                      <a:solidFill>
                        <a:schemeClr val="dk1"/>
                      </a:solidFill>
                      <a:prstDash val="dash"/>
                      <a:round/>
                      <a:headEnd type="none" w="sm" len="sm"/>
                      <a:tailEnd type="none" w="sm" len="sm"/>
                    </a:lnT>
                    <a:lnB w="12700" cap="flat" cmpd="sng">
                      <a:solidFill>
                        <a:schemeClr val="dk1"/>
                      </a:solidFill>
                      <a:prstDash val="dash"/>
                      <a:round/>
                      <a:headEnd type="none" w="sm" len="sm"/>
                      <a:tailEnd type="none" w="sm" len="sm"/>
                    </a:lnB>
                  </a:tcPr>
                </a:tc>
                <a:tc>
                  <a:txBody>
                    <a:bodyPr/>
                    <a:lstStyle/>
                    <a:p>
                      <a:pPr marL="0" marR="0" lvl="0" indent="0" algn="ctr" rtl="0">
                        <a:spcBef>
                          <a:spcPts val="0"/>
                        </a:spcBef>
                        <a:spcAft>
                          <a:spcPts val="0"/>
                        </a:spcAft>
                        <a:buNone/>
                      </a:pPr>
                      <a:r>
                        <a:rPr lang="en-GB" sz="2000" u="none" strike="noStrike" cap="none">
                          <a:solidFill>
                            <a:srgbClr val="000000"/>
                          </a:solidFill>
                          <a:latin typeface="Arial"/>
                          <a:ea typeface="Arial"/>
                          <a:cs typeface="Arial"/>
                          <a:sym typeface="Arial"/>
                        </a:rPr>
                        <a:t>7.35</a:t>
                      </a:r>
                      <a:endParaRPr sz="1400" u="none" strike="noStrike" cap="none">
                        <a:latin typeface="Arial"/>
                        <a:ea typeface="Arial"/>
                        <a:cs typeface="Arial"/>
                        <a:sym typeface="Arial"/>
                      </a:endParaRPr>
                    </a:p>
                  </a:txBody>
                  <a:tcPr marL="68600" marR="68600" marT="34300" marB="34300" anchor="ctr">
                    <a:lnL w="12700" cap="flat" cmpd="sng">
                      <a:solidFill>
                        <a:schemeClr val="dk1"/>
                      </a:solidFill>
                      <a:prstDash val="dash"/>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dk1"/>
                      </a:solidFill>
                      <a:prstDash val="dash"/>
                      <a:round/>
                      <a:headEnd type="none" w="sm" len="sm"/>
                      <a:tailEnd type="none" w="sm" len="sm"/>
                    </a:lnT>
                    <a:lnB w="12700" cap="flat" cmpd="sng">
                      <a:solidFill>
                        <a:schemeClr val="dk1"/>
                      </a:solidFill>
                      <a:prstDash val="dash"/>
                      <a:round/>
                      <a:headEnd type="none" w="sm" len="sm"/>
                      <a:tailEnd type="none" w="sm" len="sm"/>
                    </a:lnB>
                  </a:tcPr>
                </a:tc>
                <a:extLst>
                  <a:ext uri="{0D108BD9-81ED-4DB2-BD59-A6C34878D82A}">
                    <a16:rowId xmlns:a16="http://schemas.microsoft.com/office/drawing/2014/main" val="10001"/>
                  </a:ext>
                </a:extLst>
              </a:tr>
              <a:tr h="247650">
                <a:tc>
                  <a:txBody>
                    <a:bodyPr/>
                    <a:lstStyle/>
                    <a:p>
                      <a:pPr marL="0" marR="0" lvl="0" indent="0" algn="ctr" rtl="0">
                        <a:spcBef>
                          <a:spcPts val="0"/>
                        </a:spcBef>
                        <a:spcAft>
                          <a:spcPts val="0"/>
                        </a:spcAft>
                        <a:buNone/>
                      </a:pPr>
                      <a:r>
                        <a:rPr lang="en-GB" sz="2000" u="none" strike="noStrike" cap="none">
                          <a:solidFill>
                            <a:srgbClr val="000000"/>
                          </a:solidFill>
                          <a:latin typeface="Arial"/>
                          <a:ea typeface="Arial"/>
                          <a:cs typeface="Arial"/>
                          <a:sym typeface="Arial"/>
                        </a:rPr>
                        <a:t>book</a:t>
                      </a:r>
                      <a:endParaRPr sz="1400" u="none" strike="noStrike" cap="none">
                        <a:latin typeface="Arial"/>
                        <a:ea typeface="Arial"/>
                        <a:cs typeface="Arial"/>
                        <a:sym typeface="Arial"/>
                      </a:endParaRPr>
                    </a:p>
                  </a:txBody>
                  <a:tcPr marL="68600" marR="68600" marT="34300" marB="34300" anchor="ctr">
                    <a:lnL w="9525" cap="flat" cmpd="sng">
                      <a:solidFill>
                        <a:srgbClr val="000000">
                          <a:alpha val="0"/>
                        </a:srgbClr>
                      </a:solidFill>
                      <a:prstDash val="solid"/>
                      <a:round/>
                      <a:headEnd type="none" w="sm" len="sm"/>
                      <a:tailEnd type="none" w="sm" len="sm"/>
                    </a:lnL>
                    <a:lnR w="12700" cap="flat" cmpd="sng">
                      <a:solidFill>
                        <a:schemeClr val="dk1"/>
                      </a:solidFill>
                      <a:prstDash val="dash"/>
                      <a:round/>
                      <a:headEnd type="none" w="sm" len="sm"/>
                      <a:tailEnd type="none" w="sm" len="sm"/>
                    </a:lnR>
                    <a:lnT w="12700" cap="flat" cmpd="sng">
                      <a:solidFill>
                        <a:schemeClr val="dk1"/>
                      </a:solidFill>
                      <a:prstDash val="dash"/>
                      <a:round/>
                      <a:headEnd type="none" w="sm" len="sm"/>
                      <a:tailEnd type="none" w="sm" len="sm"/>
                    </a:lnT>
                    <a:lnB w="12700" cap="flat" cmpd="sng">
                      <a:solidFill>
                        <a:schemeClr val="dk1"/>
                      </a:solidFill>
                      <a:prstDash val="dash"/>
                      <a:round/>
                      <a:headEnd type="none" w="sm" len="sm"/>
                      <a:tailEnd type="none" w="sm" len="sm"/>
                    </a:lnB>
                  </a:tcPr>
                </a:tc>
                <a:tc>
                  <a:txBody>
                    <a:bodyPr/>
                    <a:lstStyle/>
                    <a:p>
                      <a:pPr marL="0" marR="0" lvl="0" indent="0" algn="ctr" rtl="0">
                        <a:spcBef>
                          <a:spcPts val="0"/>
                        </a:spcBef>
                        <a:spcAft>
                          <a:spcPts val="0"/>
                        </a:spcAft>
                        <a:buNone/>
                      </a:pPr>
                      <a:r>
                        <a:rPr lang="en-GB" sz="2000" u="none" strike="noStrike" cap="none">
                          <a:solidFill>
                            <a:srgbClr val="000000"/>
                          </a:solidFill>
                          <a:latin typeface="Arial"/>
                          <a:ea typeface="Arial"/>
                          <a:cs typeface="Arial"/>
                          <a:sym typeface="Arial"/>
                        </a:rPr>
                        <a:t>paper</a:t>
                      </a:r>
                      <a:endParaRPr sz="1400" u="none" strike="noStrike" cap="none">
                        <a:latin typeface="Arial"/>
                        <a:ea typeface="Arial"/>
                        <a:cs typeface="Arial"/>
                        <a:sym typeface="Arial"/>
                      </a:endParaRPr>
                    </a:p>
                  </a:txBody>
                  <a:tcPr marL="68600" marR="68600" marT="34300" marB="34300" anchor="ctr">
                    <a:lnL w="12700" cap="flat" cmpd="sng">
                      <a:solidFill>
                        <a:schemeClr val="dk1"/>
                      </a:solidFill>
                      <a:prstDash val="dash"/>
                      <a:round/>
                      <a:headEnd type="none" w="sm" len="sm"/>
                      <a:tailEnd type="none" w="sm" len="sm"/>
                    </a:lnL>
                    <a:lnR w="12700" cap="flat" cmpd="sng">
                      <a:solidFill>
                        <a:schemeClr val="dk1"/>
                      </a:solidFill>
                      <a:prstDash val="dash"/>
                      <a:round/>
                      <a:headEnd type="none" w="sm" len="sm"/>
                      <a:tailEnd type="none" w="sm" len="sm"/>
                    </a:lnR>
                    <a:lnT w="12700" cap="flat" cmpd="sng">
                      <a:solidFill>
                        <a:schemeClr val="dk1"/>
                      </a:solidFill>
                      <a:prstDash val="dash"/>
                      <a:round/>
                      <a:headEnd type="none" w="sm" len="sm"/>
                      <a:tailEnd type="none" w="sm" len="sm"/>
                    </a:lnT>
                    <a:lnB w="12700" cap="flat" cmpd="sng">
                      <a:solidFill>
                        <a:schemeClr val="dk1"/>
                      </a:solidFill>
                      <a:prstDash val="dash"/>
                      <a:round/>
                      <a:headEnd type="none" w="sm" len="sm"/>
                      <a:tailEnd type="none" w="sm" len="sm"/>
                    </a:lnB>
                  </a:tcPr>
                </a:tc>
                <a:tc>
                  <a:txBody>
                    <a:bodyPr/>
                    <a:lstStyle/>
                    <a:p>
                      <a:pPr marL="0" marR="0" lvl="0" indent="0" algn="ctr" rtl="0">
                        <a:spcBef>
                          <a:spcPts val="0"/>
                        </a:spcBef>
                        <a:spcAft>
                          <a:spcPts val="0"/>
                        </a:spcAft>
                        <a:buNone/>
                      </a:pPr>
                      <a:r>
                        <a:rPr lang="en-GB" sz="2000" u="none" strike="noStrike" cap="none">
                          <a:solidFill>
                            <a:srgbClr val="000000"/>
                          </a:solidFill>
                          <a:latin typeface="Arial"/>
                          <a:ea typeface="Arial"/>
                          <a:cs typeface="Arial"/>
                          <a:sym typeface="Arial"/>
                        </a:rPr>
                        <a:t>7.46</a:t>
                      </a:r>
                      <a:endParaRPr sz="1400" u="none" strike="noStrike" cap="none">
                        <a:latin typeface="Arial"/>
                        <a:ea typeface="Arial"/>
                        <a:cs typeface="Arial"/>
                        <a:sym typeface="Arial"/>
                      </a:endParaRPr>
                    </a:p>
                  </a:txBody>
                  <a:tcPr marL="68600" marR="68600" marT="34300" marB="34300" anchor="ctr">
                    <a:lnL w="12700" cap="flat" cmpd="sng">
                      <a:solidFill>
                        <a:schemeClr val="dk1"/>
                      </a:solidFill>
                      <a:prstDash val="dash"/>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dk1"/>
                      </a:solidFill>
                      <a:prstDash val="dash"/>
                      <a:round/>
                      <a:headEnd type="none" w="sm" len="sm"/>
                      <a:tailEnd type="none" w="sm" len="sm"/>
                    </a:lnT>
                    <a:lnB w="12700" cap="flat" cmpd="sng">
                      <a:solidFill>
                        <a:schemeClr val="dk1"/>
                      </a:solidFill>
                      <a:prstDash val="dash"/>
                      <a:round/>
                      <a:headEnd type="none" w="sm" len="sm"/>
                      <a:tailEnd type="none" w="sm" len="sm"/>
                    </a:lnB>
                  </a:tcPr>
                </a:tc>
                <a:extLst>
                  <a:ext uri="{0D108BD9-81ED-4DB2-BD59-A6C34878D82A}">
                    <a16:rowId xmlns:a16="http://schemas.microsoft.com/office/drawing/2014/main" val="10002"/>
                  </a:ext>
                </a:extLst>
              </a:tr>
              <a:tr h="247650">
                <a:tc>
                  <a:txBody>
                    <a:bodyPr/>
                    <a:lstStyle/>
                    <a:p>
                      <a:pPr marL="0" marR="0" lvl="0" indent="0" algn="ctr" rtl="0">
                        <a:spcBef>
                          <a:spcPts val="0"/>
                        </a:spcBef>
                        <a:spcAft>
                          <a:spcPts val="0"/>
                        </a:spcAft>
                        <a:buNone/>
                      </a:pPr>
                      <a:r>
                        <a:rPr lang="en-GB" sz="2000" u="none" strike="noStrike" cap="none">
                          <a:solidFill>
                            <a:srgbClr val="000000"/>
                          </a:solidFill>
                          <a:latin typeface="Arial"/>
                          <a:ea typeface="Arial"/>
                          <a:cs typeface="Arial"/>
                          <a:sym typeface="Arial"/>
                        </a:rPr>
                        <a:t>computer</a:t>
                      </a:r>
                      <a:endParaRPr sz="1400" u="none" strike="noStrike" cap="none">
                        <a:latin typeface="Arial"/>
                        <a:ea typeface="Arial"/>
                        <a:cs typeface="Arial"/>
                        <a:sym typeface="Arial"/>
                      </a:endParaRPr>
                    </a:p>
                  </a:txBody>
                  <a:tcPr marL="68600" marR="68600" marT="34300" marB="34300" anchor="ctr">
                    <a:lnL w="9525" cap="flat" cmpd="sng">
                      <a:solidFill>
                        <a:srgbClr val="000000">
                          <a:alpha val="0"/>
                        </a:srgbClr>
                      </a:solidFill>
                      <a:prstDash val="solid"/>
                      <a:round/>
                      <a:headEnd type="none" w="sm" len="sm"/>
                      <a:tailEnd type="none" w="sm" len="sm"/>
                    </a:lnL>
                    <a:lnR w="12700" cap="flat" cmpd="sng">
                      <a:solidFill>
                        <a:schemeClr val="dk1"/>
                      </a:solidFill>
                      <a:prstDash val="dash"/>
                      <a:round/>
                      <a:headEnd type="none" w="sm" len="sm"/>
                      <a:tailEnd type="none" w="sm" len="sm"/>
                    </a:lnR>
                    <a:lnT w="12700" cap="flat" cmpd="sng">
                      <a:solidFill>
                        <a:schemeClr val="dk1"/>
                      </a:solidFill>
                      <a:prstDash val="dash"/>
                      <a:round/>
                      <a:headEnd type="none" w="sm" len="sm"/>
                      <a:tailEnd type="none" w="sm" len="sm"/>
                    </a:lnT>
                    <a:lnB w="12700" cap="flat" cmpd="sng">
                      <a:solidFill>
                        <a:schemeClr val="dk1"/>
                      </a:solidFill>
                      <a:prstDash val="dash"/>
                      <a:round/>
                      <a:headEnd type="none" w="sm" len="sm"/>
                      <a:tailEnd type="none" w="sm" len="sm"/>
                    </a:lnB>
                  </a:tcPr>
                </a:tc>
                <a:tc>
                  <a:txBody>
                    <a:bodyPr/>
                    <a:lstStyle/>
                    <a:p>
                      <a:pPr marL="0" marR="0" lvl="0" indent="0" algn="ctr" rtl="0">
                        <a:spcBef>
                          <a:spcPts val="0"/>
                        </a:spcBef>
                        <a:spcAft>
                          <a:spcPts val="0"/>
                        </a:spcAft>
                        <a:buNone/>
                      </a:pPr>
                      <a:r>
                        <a:rPr lang="en-GB" sz="2000" u="none" strike="noStrike" cap="none">
                          <a:solidFill>
                            <a:srgbClr val="000000"/>
                          </a:solidFill>
                          <a:latin typeface="Arial"/>
                          <a:ea typeface="Arial"/>
                          <a:cs typeface="Arial"/>
                          <a:sym typeface="Arial"/>
                        </a:rPr>
                        <a:t>internet</a:t>
                      </a:r>
                      <a:endParaRPr sz="1400" u="none" strike="noStrike" cap="none">
                        <a:latin typeface="Arial"/>
                        <a:ea typeface="Arial"/>
                        <a:cs typeface="Arial"/>
                        <a:sym typeface="Arial"/>
                      </a:endParaRPr>
                    </a:p>
                  </a:txBody>
                  <a:tcPr marL="68600" marR="68600" marT="34300" marB="34300" anchor="ctr">
                    <a:lnL w="12700" cap="flat" cmpd="sng">
                      <a:solidFill>
                        <a:schemeClr val="dk1"/>
                      </a:solidFill>
                      <a:prstDash val="dash"/>
                      <a:round/>
                      <a:headEnd type="none" w="sm" len="sm"/>
                      <a:tailEnd type="none" w="sm" len="sm"/>
                    </a:lnL>
                    <a:lnR w="12700" cap="flat" cmpd="sng">
                      <a:solidFill>
                        <a:schemeClr val="dk1"/>
                      </a:solidFill>
                      <a:prstDash val="dash"/>
                      <a:round/>
                      <a:headEnd type="none" w="sm" len="sm"/>
                      <a:tailEnd type="none" w="sm" len="sm"/>
                    </a:lnR>
                    <a:lnT w="12700" cap="flat" cmpd="sng">
                      <a:solidFill>
                        <a:schemeClr val="dk1"/>
                      </a:solidFill>
                      <a:prstDash val="dash"/>
                      <a:round/>
                      <a:headEnd type="none" w="sm" len="sm"/>
                      <a:tailEnd type="none" w="sm" len="sm"/>
                    </a:lnT>
                    <a:lnB w="12700" cap="flat" cmpd="sng">
                      <a:solidFill>
                        <a:schemeClr val="dk1"/>
                      </a:solidFill>
                      <a:prstDash val="dash"/>
                      <a:round/>
                      <a:headEnd type="none" w="sm" len="sm"/>
                      <a:tailEnd type="none" w="sm" len="sm"/>
                    </a:lnB>
                  </a:tcPr>
                </a:tc>
                <a:tc>
                  <a:txBody>
                    <a:bodyPr/>
                    <a:lstStyle/>
                    <a:p>
                      <a:pPr marL="0" marR="0" lvl="0" indent="0" algn="ctr" rtl="0">
                        <a:spcBef>
                          <a:spcPts val="0"/>
                        </a:spcBef>
                        <a:spcAft>
                          <a:spcPts val="0"/>
                        </a:spcAft>
                        <a:buNone/>
                      </a:pPr>
                      <a:r>
                        <a:rPr lang="en-GB" sz="2000" u="none" strike="noStrike" cap="none">
                          <a:solidFill>
                            <a:srgbClr val="000000"/>
                          </a:solidFill>
                          <a:latin typeface="Arial"/>
                          <a:ea typeface="Arial"/>
                          <a:cs typeface="Arial"/>
                          <a:sym typeface="Arial"/>
                        </a:rPr>
                        <a:t>7.58</a:t>
                      </a:r>
                      <a:endParaRPr sz="1400" u="none" strike="noStrike" cap="none">
                        <a:latin typeface="Arial"/>
                        <a:ea typeface="Arial"/>
                        <a:cs typeface="Arial"/>
                        <a:sym typeface="Arial"/>
                      </a:endParaRPr>
                    </a:p>
                  </a:txBody>
                  <a:tcPr marL="68600" marR="68600" marT="34300" marB="34300" anchor="ctr">
                    <a:lnL w="12700" cap="flat" cmpd="sng">
                      <a:solidFill>
                        <a:schemeClr val="dk1"/>
                      </a:solidFill>
                      <a:prstDash val="dash"/>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dk1"/>
                      </a:solidFill>
                      <a:prstDash val="dash"/>
                      <a:round/>
                      <a:headEnd type="none" w="sm" len="sm"/>
                      <a:tailEnd type="none" w="sm" len="sm"/>
                    </a:lnT>
                    <a:lnB w="12700" cap="flat" cmpd="sng">
                      <a:solidFill>
                        <a:schemeClr val="dk1"/>
                      </a:solidFill>
                      <a:prstDash val="dash"/>
                      <a:round/>
                      <a:headEnd type="none" w="sm" len="sm"/>
                      <a:tailEnd type="none" w="sm" len="sm"/>
                    </a:lnB>
                  </a:tcPr>
                </a:tc>
                <a:extLst>
                  <a:ext uri="{0D108BD9-81ED-4DB2-BD59-A6C34878D82A}">
                    <a16:rowId xmlns:a16="http://schemas.microsoft.com/office/drawing/2014/main" val="10003"/>
                  </a:ext>
                </a:extLst>
              </a:tr>
              <a:tr h="247650">
                <a:tc>
                  <a:txBody>
                    <a:bodyPr/>
                    <a:lstStyle/>
                    <a:p>
                      <a:pPr marL="0" marR="0" lvl="0" indent="0" algn="ctr" rtl="0">
                        <a:spcBef>
                          <a:spcPts val="0"/>
                        </a:spcBef>
                        <a:spcAft>
                          <a:spcPts val="0"/>
                        </a:spcAft>
                        <a:buNone/>
                      </a:pPr>
                      <a:r>
                        <a:rPr lang="en-GB" sz="2000" u="none" strike="noStrike" cap="none">
                          <a:solidFill>
                            <a:srgbClr val="000000"/>
                          </a:solidFill>
                          <a:latin typeface="Arial"/>
                          <a:ea typeface="Arial"/>
                          <a:cs typeface="Arial"/>
                          <a:sym typeface="Arial"/>
                        </a:rPr>
                        <a:t>plane</a:t>
                      </a:r>
                      <a:endParaRPr sz="1400" u="none" strike="noStrike" cap="none">
                        <a:latin typeface="Arial"/>
                        <a:ea typeface="Arial"/>
                        <a:cs typeface="Arial"/>
                        <a:sym typeface="Arial"/>
                      </a:endParaRPr>
                    </a:p>
                  </a:txBody>
                  <a:tcPr marL="68600" marR="68600" marT="34300" marB="34300" anchor="ctr">
                    <a:lnL w="9525" cap="flat" cmpd="sng">
                      <a:solidFill>
                        <a:srgbClr val="000000">
                          <a:alpha val="0"/>
                        </a:srgbClr>
                      </a:solidFill>
                      <a:prstDash val="solid"/>
                      <a:round/>
                      <a:headEnd type="none" w="sm" len="sm"/>
                      <a:tailEnd type="none" w="sm" len="sm"/>
                    </a:lnL>
                    <a:lnR w="12700" cap="flat" cmpd="sng">
                      <a:solidFill>
                        <a:schemeClr val="dk1"/>
                      </a:solidFill>
                      <a:prstDash val="dash"/>
                      <a:round/>
                      <a:headEnd type="none" w="sm" len="sm"/>
                      <a:tailEnd type="none" w="sm" len="sm"/>
                    </a:lnR>
                    <a:lnT w="12700" cap="flat" cmpd="sng">
                      <a:solidFill>
                        <a:schemeClr val="dk1"/>
                      </a:solidFill>
                      <a:prstDash val="dash"/>
                      <a:round/>
                      <a:headEnd type="none" w="sm" len="sm"/>
                      <a:tailEnd type="none" w="sm" len="sm"/>
                    </a:lnT>
                    <a:lnB w="12700" cap="flat" cmpd="sng">
                      <a:solidFill>
                        <a:schemeClr val="dk1"/>
                      </a:solidFill>
                      <a:prstDash val="dash"/>
                      <a:round/>
                      <a:headEnd type="none" w="sm" len="sm"/>
                      <a:tailEnd type="none" w="sm" len="sm"/>
                    </a:lnB>
                  </a:tcPr>
                </a:tc>
                <a:tc>
                  <a:txBody>
                    <a:bodyPr/>
                    <a:lstStyle/>
                    <a:p>
                      <a:pPr marL="0" marR="0" lvl="0" indent="0" algn="ctr" rtl="0">
                        <a:spcBef>
                          <a:spcPts val="0"/>
                        </a:spcBef>
                        <a:spcAft>
                          <a:spcPts val="0"/>
                        </a:spcAft>
                        <a:buNone/>
                      </a:pPr>
                      <a:r>
                        <a:rPr lang="en-GB" sz="2000" u="none" strike="noStrike" cap="none">
                          <a:solidFill>
                            <a:srgbClr val="000000"/>
                          </a:solidFill>
                          <a:latin typeface="Arial"/>
                          <a:ea typeface="Arial"/>
                          <a:cs typeface="Arial"/>
                          <a:sym typeface="Arial"/>
                        </a:rPr>
                        <a:t>car</a:t>
                      </a:r>
                      <a:endParaRPr sz="1400" u="none" strike="noStrike" cap="none">
                        <a:latin typeface="Arial"/>
                        <a:ea typeface="Arial"/>
                        <a:cs typeface="Arial"/>
                        <a:sym typeface="Arial"/>
                      </a:endParaRPr>
                    </a:p>
                  </a:txBody>
                  <a:tcPr marL="68600" marR="68600" marT="34300" marB="34300" anchor="ctr">
                    <a:lnL w="12700" cap="flat" cmpd="sng">
                      <a:solidFill>
                        <a:schemeClr val="dk1"/>
                      </a:solidFill>
                      <a:prstDash val="dash"/>
                      <a:round/>
                      <a:headEnd type="none" w="sm" len="sm"/>
                      <a:tailEnd type="none" w="sm" len="sm"/>
                    </a:lnL>
                    <a:lnR w="12700" cap="flat" cmpd="sng">
                      <a:solidFill>
                        <a:schemeClr val="dk1"/>
                      </a:solidFill>
                      <a:prstDash val="dash"/>
                      <a:round/>
                      <a:headEnd type="none" w="sm" len="sm"/>
                      <a:tailEnd type="none" w="sm" len="sm"/>
                    </a:lnR>
                    <a:lnT w="12700" cap="flat" cmpd="sng">
                      <a:solidFill>
                        <a:schemeClr val="dk1"/>
                      </a:solidFill>
                      <a:prstDash val="dash"/>
                      <a:round/>
                      <a:headEnd type="none" w="sm" len="sm"/>
                      <a:tailEnd type="none" w="sm" len="sm"/>
                    </a:lnT>
                    <a:lnB w="12700" cap="flat" cmpd="sng">
                      <a:solidFill>
                        <a:schemeClr val="dk1"/>
                      </a:solidFill>
                      <a:prstDash val="dash"/>
                      <a:round/>
                      <a:headEnd type="none" w="sm" len="sm"/>
                      <a:tailEnd type="none" w="sm" len="sm"/>
                    </a:lnB>
                  </a:tcPr>
                </a:tc>
                <a:tc>
                  <a:txBody>
                    <a:bodyPr/>
                    <a:lstStyle/>
                    <a:p>
                      <a:pPr marL="0" marR="0" lvl="0" indent="0" algn="ctr" rtl="0">
                        <a:spcBef>
                          <a:spcPts val="0"/>
                        </a:spcBef>
                        <a:spcAft>
                          <a:spcPts val="0"/>
                        </a:spcAft>
                        <a:buNone/>
                      </a:pPr>
                      <a:r>
                        <a:rPr lang="en-GB" sz="2000" u="none" strike="noStrike" cap="none">
                          <a:solidFill>
                            <a:srgbClr val="000000"/>
                          </a:solidFill>
                          <a:latin typeface="Arial"/>
                          <a:ea typeface="Arial"/>
                          <a:cs typeface="Arial"/>
                          <a:sym typeface="Arial"/>
                        </a:rPr>
                        <a:t>5.77</a:t>
                      </a:r>
                      <a:endParaRPr sz="1400" u="none" strike="noStrike" cap="none">
                        <a:latin typeface="Arial"/>
                        <a:ea typeface="Arial"/>
                        <a:cs typeface="Arial"/>
                        <a:sym typeface="Arial"/>
                      </a:endParaRPr>
                    </a:p>
                  </a:txBody>
                  <a:tcPr marL="68600" marR="68600" marT="34300" marB="34300" anchor="ctr">
                    <a:lnL w="12700" cap="flat" cmpd="sng">
                      <a:solidFill>
                        <a:schemeClr val="dk1"/>
                      </a:solidFill>
                      <a:prstDash val="dash"/>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dk1"/>
                      </a:solidFill>
                      <a:prstDash val="dash"/>
                      <a:round/>
                      <a:headEnd type="none" w="sm" len="sm"/>
                      <a:tailEnd type="none" w="sm" len="sm"/>
                    </a:lnT>
                    <a:lnB w="12700" cap="flat" cmpd="sng">
                      <a:solidFill>
                        <a:schemeClr val="dk1"/>
                      </a:solidFill>
                      <a:prstDash val="dash"/>
                      <a:round/>
                      <a:headEnd type="none" w="sm" len="sm"/>
                      <a:tailEnd type="none" w="sm" len="sm"/>
                    </a:lnB>
                  </a:tcPr>
                </a:tc>
                <a:extLst>
                  <a:ext uri="{0D108BD9-81ED-4DB2-BD59-A6C34878D82A}">
                    <a16:rowId xmlns:a16="http://schemas.microsoft.com/office/drawing/2014/main" val="10004"/>
                  </a:ext>
                </a:extLst>
              </a:tr>
              <a:tr h="247650">
                <a:tc>
                  <a:txBody>
                    <a:bodyPr/>
                    <a:lstStyle/>
                    <a:p>
                      <a:pPr marL="0" marR="0" lvl="0" indent="0" algn="ctr" rtl="0">
                        <a:spcBef>
                          <a:spcPts val="0"/>
                        </a:spcBef>
                        <a:spcAft>
                          <a:spcPts val="0"/>
                        </a:spcAft>
                        <a:buNone/>
                      </a:pPr>
                      <a:r>
                        <a:rPr lang="en-GB" sz="2000" u="none" strike="noStrike" cap="none">
                          <a:solidFill>
                            <a:srgbClr val="000000"/>
                          </a:solidFill>
                          <a:latin typeface="Arial"/>
                          <a:ea typeface="Arial"/>
                          <a:cs typeface="Arial"/>
                          <a:sym typeface="Arial"/>
                        </a:rPr>
                        <a:t>stock</a:t>
                      </a:r>
                      <a:endParaRPr sz="1400" u="none" strike="noStrike" cap="none">
                        <a:latin typeface="Arial"/>
                        <a:ea typeface="Arial"/>
                        <a:cs typeface="Arial"/>
                        <a:sym typeface="Arial"/>
                      </a:endParaRPr>
                    </a:p>
                  </a:txBody>
                  <a:tcPr marL="68600" marR="68600" marT="34300" marB="34300" anchor="ctr">
                    <a:lnL w="9525" cap="flat" cmpd="sng">
                      <a:solidFill>
                        <a:srgbClr val="000000">
                          <a:alpha val="0"/>
                        </a:srgbClr>
                      </a:solidFill>
                      <a:prstDash val="solid"/>
                      <a:round/>
                      <a:headEnd type="none" w="sm" len="sm"/>
                      <a:tailEnd type="none" w="sm" len="sm"/>
                    </a:lnL>
                    <a:lnR w="12700" cap="flat" cmpd="sng">
                      <a:solidFill>
                        <a:schemeClr val="dk1"/>
                      </a:solidFill>
                      <a:prstDash val="dash"/>
                      <a:round/>
                      <a:headEnd type="none" w="sm" len="sm"/>
                      <a:tailEnd type="none" w="sm" len="sm"/>
                    </a:lnR>
                    <a:lnT w="12700" cap="flat" cmpd="sng">
                      <a:solidFill>
                        <a:schemeClr val="dk1"/>
                      </a:solidFill>
                      <a:prstDash val="dash"/>
                      <a:round/>
                      <a:headEnd type="none" w="sm" len="sm"/>
                      <a:tailEnd type="none" w="sm" len="sm"/>
                    </a:lnT>
                    <a:lnB w="12700" cap="flat" cmpd="sng">
                      <a:solidFill>
                        <a:schemeClr val="dk1"/>
                      </a:solidFill>
                      <a:prstDash val="dash"/>
                      <a:round/>
                      <a:headEnd type="none" w="sm" len="sm"/>
                      <a:tailEnd type="none" w="sm" len="sm"/>
                    </a:lnB>
                  </a:tcPr>
                </a:tc>
                <a:tc>
                  <a:txBody>
                    <a:bodyPr/>
                    <a:lstStyle/>
                    <a:p>
                      <a:pPr marL="0" marR="0" lvl="0" indent="0" algn="ctr" rtl="0">
                        <a:spcBef>
                          <a:spcPts val="0"/>
                        </a:spcBef>
                        <a:spcAft>
                          <a:spcPts val="0"/>
                        </a:spcAft>
                        <a:buNone/>
                      </a:pPr>
                      <a:r>
                        <a:rPr lang="en-GB" sz="2000" u="none" strike="noStrike" cap="none">
                          <a:solidFill>
                            <a:srgbClr val="000000"/>
                          </a:solidFill>
                          <a:latin typeface="Arial"/>
                          <a:ea typeface="Arial"/>
                          <a:cs typeface="Arial"/>
                          <a:sym typeface="Arial"/>
                        </a:rPr>
                        <a:t>phone</a:t>
                      </a:r>
                      <a:endParaRPr sz="1400" u="none" strike="noStrike" cap="none">
                        <a:latin typeface="Arial"/>
                        <a:ea typeface="Arial"/>
                        <a:cs typeface="Arial"/>
                        <a:sym typeface="Arial"/>
                      </a:endParaRPr>
                    </a:p>
                  </a:txBody>
                  <a:tcPr marL="68600" marR="68600" marT="34300" marB="34300" anchor="ctr">
                    <a:lnL w="12700" cap="flat" cmpd="sng">
                      <a:solidFill>
                        <a:schemeClr val="dk1"/>
                      </a:solidFill>
                      <a:prstDash val="dash"/>
                      <a:round/>
                      <a:headEnd type="none" w="sm" len="sm"/>
                      <a:tailEnd type="none" w="sm" len="sm"/>
                    </a:lnL>
                    <a:lnR w="12700" cap="flat" cmpd="sng">
                      <a:solidFill>
                        <a:schemeClr val="dk1"/>
                      </a:solidFill>
                      <a:prstDash val="dash"/>
                      <a:round/>
                      <a:headEnd type="none" w="sm" len="sm"/>
                      <a:tailEnd type="none" w="sm" len="sm"/>
                    </a:lnR>
                    <a:lnT w="12700" cap="flat" cmpd="sng">
                      <a:solidFill>
                        <a:schemeClr val="dk1"/>
                      </a:solidFill>
                      <a:prstDash val="dash"/>
                      <a:round/>
                      <a:headEnd type="none" w="sm" len="sm"/>
                      <a:tailEnd type="none" w="sm" len="sm"/>
                    </a:lnT>
                    <a:lnB w="12700" cap="flat" cmpd="sng">
                      <a:solidFill>
                        <a:schemeClr val="dk1"/>
                      </a:solidFill>
                      <a:prstDash val="dash"/>
                      <a:round/>
                      <a:headEnd type="none" w="sm" len="sm"/>
                      <a:tailEnd type="none" w="sm" len="sm"/>
                    </a:lnB>
                  </a:tcPr>
                </a:tc>
                <a:tc>
                  <a:txBody>
                    <a:bodyPr/>
                    <a:lstStyle/>
                    <a:p>
                      <a:pPr marL="0" marR="0" lvl="0" indent="0" algn="ctr" rtl="0">
                        <a:spcBef>
                          <a:spcPts val="0"/>
                        </a:spcBef>
                        <a:spcAft>
                          <a:spcPts val="0"/>
                        </a:spcAft>
                        <a:buNone/>
                      </a:pPr>
                      <a:r>
                        <a:rPr lang="en-GB" sz="2000" u="none" strike="noStrike" cap="none">
                          <a:solidFill>
                            <a:srgbClr val="000000"/>
                          </a:solidFill>
                          <a:latin typeface="Arial"/>
                          <a:ea typeface="Arial"/>
                          <a:cs typeface="Arial"/>
                          <a:sym typeface="Arial"/>
                        </a:rPr>
                        <a:t>1.62</a:t>
                      </a:r>
                      <a:endParaRPr sz="1400" u="none" strike="noStrike" cap="none">
                        <a:latin typeface="Arial"/>
                        <a:ea typeface="Arial"/>
                        <a:cs typeface="Arial"/>
                        <a:sym typeface="Arial"/>
                      </a:endParaRPr>
                    </a:p>
                  </a:txBody>
                  <a:tcPr marL="68600" marR="68600" marT="34300" marB="34300" anchor="ctr">
                    <a:lnL w="12700" cap="flat" cmpd="sng">
                      <a:solidFill>
                        <a:schemeClr val="dk1"/>
                      </a:solidFill>
                      <a:prstDash val="dash"/>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dk1"/>
                      </a:solidFill>
                      <a:prstDash val="dash"/>
                      <a:round/>
                      <a:headEnd type="none" w="sm" len="sm"/>
                      <a:tailEnd type="none" w="sm" len="sm"/>
                    </a:lnT>
                    <a:lnB w="12700" cap="flat" cmpd="sng">
                      <a:solidFill>
                        <a:schemeClr val="dk1"/>
                      </a:solidFill>
                      <a:prstDash val="dash"/>
                      <a:round/>
                      <a:headEnd type="none" w="sm" len="sm"/>
                      <a:tailEnd type="none" w="sm" len="sm"/>
                    </a:lnB>
                  </a:tcPr>
                </a:tc>
                <a:extLst>
                  <a:ext uri="{0D108BD9-81ED-4DB2-BD59-A6C34878D82A}">
                    <a16:rowId xmlns:a16="http://schemas.microsoft.com/office/drawing/2014/main" val="10005"/>
                  </a:ext>
                </a:extLst>
              </a:tr>
              <a:tr h="247650">
                <a:tc>
                  <a:txBody>
                    <a:bodyPr/>
                    <a:lstStyle/>
                    <a:p>
                      <a:pPr marL="0" marR="0" lvl="0" indent="0" algn="ctr" rtl="0">
                        <a:spcBef>
                          <a:spcPts val="0"/>
                        </a:spcBef>
                        <a:spcAft>
                          <a:spcPts val="0"/>
                        </a:spcAft>
                        <a:buNone/>
                      </a:pPr>
                      <a:r>
                        <a:rPr lang="en-GB" sz="2000" u="none" strike="noStrike" cap="none">
                          <a:solidFill>
                            <a:srgbClr val="000000"/>
                          </a:solidFill>
                          <a:latin typeface="Arial"/>
                          <a:ea typeface="Arial"/>
                          <a:cs typeface="Arial"/>
                          <a:sym typeface="Arial"/>
                        </a:rPr>
                        <a:t>stock</a:t>
                      </a:r>
                      <a:endParaRPr sz="1400" u="none" strike="noStrike" cap="none">
                        <a:latin typeface="Arial"/>
                        <a:ea typeface="Arial"/>
                        <a:cs typeface="Arial"/>
                        <a:sym typeface="Arial"/>
                      </a:endParaRPr>
                    </a:p>
                  </a:txBody>
                  <a:tcPr marL="68600" marR="68600" marT="34300" marB="34300" anchor="ctr">
                    <a:lnL w="9525" cap="flat" cmpd="sng">
                      <a:solidFill>
                        <a:srgbClr val="000000">
                          <a:alpha val="0"/>
                        </a:srgbClr>
                      </a:solidFill>
                      <a:prstDash val="solid"/>
                      <a:round/>
                      <a:headEnd type="none" w="sm" len="sm"/>
                      <a:tailEnd type="none" w="sm" len="sm"/>
                    </a:lnL>
                    <a:lnR w="12700" cap="flat" cmpd="sng">
                      <a:solidFill>
                        <a:schemeClr val="dk1"/>
                      </a:solidFill>
                      <a:prstDash val="dash"/>
                      <a:round/>
                      <a:headEnd type="none" w="sm" len="sm"/>
                      <a:tailEnd type="none" w="sm" len="sm"/>
                    </a:lnR>
                    <a:lnT w="12700" cap="flat" cmpd="sng">
                      <a:solidFill>
                        <a:schemeClr val="dk1"/>
                      </a:solidFill>
                      <a:prstDash val="dash"/>
                      <a:round/>
                      <a:headEnd type="none" w="sm" len="sm"/>
                      <a:tailEnd type="none" w="sm" len="sm"/>
                    </a:lnT>
                    <a:lnB w="12700" cap="flat" cmpd="sng">
                      <a:solidFill>
                        <a:schemeClr val="dk1"/>
                      </a:solidFill>
                      <a:prstDash val="dash"/>
                      <a:round/>
                      <a:headEnd type="none" w="sm" len="sm"/>
                      <a:tailEnd type="none" w="sm" len="sm"/>
                    </a:lnB>
                  </a:tcPr>
                </a:tc>
                <a:tc>
                  <a:txBody>
                    <a:bodyPr/>
                    <a:lstStyle/>
                    <a:p>
                      <a:pPr marL="0" marR="0" lvl="0" indent="0" algn="ctr" rtl="0">
                        <a:spcBef>
                          <a:spcPts val="0"/>
                        </a:spcBef>
                        <a:spcAft>
                          <a:spcPts val="0"/>
                        </a:spcAft>
                        <a:buNone/>
                      </a:pPr>
                      <a:r>
                        <a:rPr lang="en-GB" sz="2000" u="none" strike="noStrike" cap="none">
                          <a:solidFill>
                            <a:srgbClr val="000000"/>
                          </a:solidFill>
                          <a:latin typeface="Arial"/>
                          <a:ea typeface="Arial"/>
                          <a:cs typeface="Arial"/>
                          <a:sym typeface="Arial"/>
                        </a:rPr>
                        <a:t>CD</a:t>
                      </a:r>
                      <a:endParaRPr sz="1400" u="none" strike="noStrike" cap="none">
                        <a:latin typeface="Arial"/>
                        <a:ea typeface="Arial"/>
                        <a:cs typeface="Arial"/>
                        <a:sym typeface="Arial"/>
                      </a:endParaRPr>
                    </a:p>
                  </a:txBody>
                  <a:tcPr marL="68600" marR="68600" marT="34300" marB="34300" anchor="ctr">
                    <a:lnL w="12700" cap="flat" cmpd="sng">
                      <a:solidFill>
                        <a:schemeClr val="dk1"/>
                      </a:solidFill>
                      <a:prstDash val="dash"/>
                      <a:round/>
                      <a:headEnd type="none" w="sm" len="sm"/>
                      <a:tailEnd type="none" w="sm" len="sm"/>
                    </a:lnL>
                    <a:lnR w="12700" cap="flat" cmpd="sng">
                      <a:solidFill>
                        <a:schemeClr val="dk1"/>
                      </a:solidFill>
                      <a:prstDash val="dash"/>
                      <a:round/>
                      <a:headEnd type="none" w="sm" len="sm"/>
                      <a:tailEnd type="none" w="sm" len="sm"/>
                    </a:lnR>
                    <a:lnT w="12700" cap="flat" cmpd="sng">
                      <a:solidFill>
                        <a:schemeClr val="dk1"/>
                      </a:solidFill>
                      <a:prstDash val="dash"/>
                      <a:round/>
                      <a:headEnd type="none" w="sm" len="sm"/>
                      <a:tailEnd type="none" w="sm" len="sm"/>
                    </a:lnT>
                    <a:lnB w="12700" cap="flat" cmpd="sng">
                      <a:solidFill>
                        <a:schemeClr val="dk1"/>
                      </a:solidFill>
                      <a:prstDash val="dash"/>
                      <a:round/>
                      <a:headEnd type="none" w="sm" len="sm"/>
                      <a:tailEnd type="none" w="sm" len="sm"/>
                    </a:lnB>
                  </a:tcPr>
                </a:tc>
                <a:tc>
                  <a:txBody>
                    <a:bodyPr/>
                    <a:lstStyle/>
                    <a:p>
                      <a:pPr marL="0" marR="0" lvl="0" indent="0" algn="ctr" rtl="0">
                        <a:spcBef>
                          <a:spcPts val="0"/>
                        </a:spcBef>
                        <a:spcAft>
                          <a:spcPts val="0"/>
                        </a:spcAft>
                        <a:buNone/>
                      </a:pPr>
                      <a:r>
                        <a:rPr lang="en-GB" sz="2000" u="none" strike="noStrike" cap="none">
                          <a:solidFill>
                            <a:srgbClr val="000000"/>
                          </a:solidFill>
                          <a:latin typeface="Arial"/>
                          <a:ea typeface="Arial"/>
                          <a:cs typeface="Arial"/>
                          <a:sym typeface="Arial"/>
                        </a:rPr>
                        <a:t>1.31</a:t>
                      </a:r>
                      <a:endParaRPr sz="1400" u="none" strike="noStrike" cap="none">
                        <a:latin typeface="Arial"/>
                        <a:ea typeface="Arial"/>
                        <a:cs typeface="Arial"/>
                        <a:sym typeface="Arial"/>
                      </a:endParaRPr>
                    </a:p>
                  </a:txBody>
                  <a:tcPr marL="68600" marR="68600" marT="34300" marB="34300" anchor="ctr">
                    <a:lnL w="12700" cap="flat" cmpd="sng">
                      <a:solidFill>
                        <a:schemeClr val="dk1"/>
                      </a:solidFill>
                      <a:prstDash val="dash"/>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dk1"/>
                      </a:solidFill>
                      <a:prstDash val="dash"/>
                      <a:round/>
                      <a:headEnd type="none" w="sm" len="sm"/>
                      <a:tailEnd type="none" w="sm" len="sm"/>
                    </a:lnT>
                    <a:lnB w="12700" cap="flat" cmpd="sng">
                      <a:solidFill>
                        <a:schemeClr val="dk1"/>
                      </a:solidFill>
                      <a:prstDash val="dash"/>
                      <a:round/>
                      <a:headEnd type="none" w="sm" len="sm"/>
                      <a:tailEnd type="none" w="sm" len="sm"/>
                    </a:lnB>
                  </a:tcPr>
                </a:tc>
                <a:extLst>
                  <a:ext uri="{0D108BD9-81ED-4DB2-BD59-A6C34878D82A}">
                    <a16:rowId xmlns:a16="http://schemas.microsoft.com/office/drawing/2014/main" val="10006"/>
                  </a:ext>
                </a:extLst>
              </a:tr>
              <a:tr h="247650">
                <a:tc>
                  <a:txBody>
                    <a:bodyPr/>
                    <a:lstStyle/>
                    <a:p>
                      <a:pPr marL="0" marR="0" lvl="0" indent="0" algn="ctr" rtl="0">
                        <a:spcBef>
                          <a:spcPts val="0"/>
                        </a:spcBef>
                        <a:spcAft>
                          <a:spcPts val="0"/>
                        </a:spcAft>
                        <a:buNone/>
                      </a:pPr>
                      <a:r>
                        <a:rPr lang="en-GB" sz="2000" u="none" strike="noStrike" cap="none">
                          <a:solidFill>
                            <a:srgbClr val="000000"/>
                          </a:solidFill>
                          <a:latin typeface="Arial"/>
                          <a:ea typeface="Arial"/>
                          <a:cs typeface="Arial"/>
                          <a:sym typeface="Arial"/>
                        </a:rPr>
                        <a:t>stock</a:t>
                      </a:r>
                      <a:endParaRPr sz="1400" u="none" strike="noStrike" cap="none">
                        <a:latin typeface="Arial"/>
                        <a:ea typeface="Arial"/>
                        <a:cs typeface="Arial"/>
                        <a:sym typeface="Arial"/>
                      </a:endParaRPr>
                    </a:p>
                  </a:txBody>
                  <a:tcPr marL="68600" marR="68600" marT="34300" marB="34300" anchor="ctr">
                    <a:lnL w="9525" cap="flat" cmpd="sng">
                      <a:solidFill>
                        <a:srgbClr val="000000">
                          <a:alpha val="0"/>
                        </a:srgbClr>
                      </a:solidFill>
                      <a:prstDash val="solid"/>
                      <a:round/>
                      <a:headEnd type="none" w="sm" len="sm"/>
                      <a:tailEnd type="none" w="sm" len="sm"/>
                    </a:lnL>
                    <a:lnR w="12700" cap="flat" cmpd="sng">
                      <a:solidFill>
                        <a:schemeClr val="dk1"/>
                      </a:solidFill>
                      <a:prstDash val="dash"/>
                      <a:round/>
                      <a:headEnd type="none" w="sm" len="sm"/>
                      <a:tailEnd type="none" w="sm" len="sm"/>
                    </a:lnR>
                    <a:lnT w="12700" cap="flat" cmpd="sng">
                      <a:solidFill>
                        <a:schemeClr val="dk1"/>
                      </a:solidFill>
                      <a:prstDash val="dash"/>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GB" sz="2000" u="none" strike="noStrike" cap="none">
                          <a:solidFill>
                            <a:srgbClr val="000000"/>
                          </a:solidFill>
                          <a:latin typeface="Arial"/>
                          <a:ea typeface="Arial"/>
                          <a:cs typeface="Arial"/>
                          <a:sym typeface="Arial"/>
                        </a:rPr>
                        <a:t>jaguar</a:t>
                      </a:r>
                      <a:endParaRPr sz="1400" u="none" strike="noStrike" cap="none">
                        <a:latin typeface="Arial"/>
                        <a:ea typeface="Arial"/>
                        <a:cs typeface="Arial"/>
                        <a:sym typeface="Arial"/>
                      </a:endParaRPr>
                    </a:p>
                  </a:txBody>
                  <a:tcPr marL="68600" marR="68600" marT="34300" marB="34300" anchor="ctr">
                    <a:lnL w="12700" cap="flat" cmpd="sng">
                      <a:solidFill>
                        <a:schemeClr val="dk1"/>
                      </a:solidFill>
                      <a:prstDash val="dash"/>
                      <a:round/>
                      <a:headEnd type="none" w="sm" len="sm"/>
                      <a:tailEnd type="none" w="sm" len="sm"/>
                    </a:lnL>
                    <a:lnR w="12700" cap="flat" cmpd="sng">
                      <a:solidFill>
                        <a:schemeClr val="dk1"/>
                      </a:solidFill>
                      <a:prstDash val="dash"/>
                      <a:round/>
                      <a:headEnd type="none" w="sm" len="sm"/>
                      <a:tailEnd type="none" w="sm" len="sm"/>
                    </a:lnR>
                    <a:lnT w="12700" cap="flat" cmpd="sng">
                      <a:solidFill>
                        <a:schemeClr val="dk1"/>
                      </a:solidFill>
                      <a:prstDash val="dash"/>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GB" sz="2000" u="none" strike="noStrike" cap="none">
                          <a:solidFill>
                            <a:srgbClr val="000000"/>
                          </a:solidFill>
                          <a:latin typeface="Arial"/>
                          <a:ea typeface="Arial"/>
                          <a:cs typeface="Arial"/>
                          <a:sym typeface="Arial"/>
                        </a:rPr>
                        <a:t>0.92</a:t>
                      </a:r>
                      <a:endParaRPr sz="1400" u="none" strike="noStrike" cap="none">
                        <a:latin typeface="Arial"/>
                        <a:ea typeface="Arial"/>
                        <a:cs typeface="Arial"/>
                        <a:sym typeface="Arial"/>
                      </a:endParaRPr>
                    </a:p>
                  </a:txBody>
                  <a:tcPr marL="68600" marR="68600" marT="34300" marB="34300" anchor="ctr">
                    <a:lnL w="12700" cap="flat" cmpd="sng">
                      <a:solidFill>
                        <a:schemeClr val="dk1"/>
                      </a:solidFill>
                      <a:prstDash val="dash"/>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dk1"/>
                      </a:solidFill>
                      <a:prstDash val="dash"/>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7"/>
                  </a:ext>
                </a:extLst>
              </a:tr>
            </a:tbl>
          </a:graphicData>
        </a:graphic>
      </p:graphicFrame>
      <p:sp>
        <p:nvSpPr>
          <p:cNvPr id="827" name="Google Shape;827;p78"/>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rmAutofit/>
          </a:bodyPr>
          <a:lstStyle/>
          <a:p>
            <a:pPr marL="0" lvl="0" indent="0" algn="r" rtl="0">
              <a:spcBef>
                <a:spcPts val="0"/>
              </a:spcBef>
              <a:spcAft>
                <a:spcPts val="0"/>
              </a:spcAft>
              <a:buNone/>
            </a:pPr>
            <a:fld id="{00000000-1234-1234-1234-123412341234}" type="slidenum">
              <a:rPr lang="en-GB"/>
              <a:t>85</a:t>
            </a:fld>
            <a:endParaRP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Shape 832"/>
        <p:cNvGrpSpPr/>
        <p:nvPr/>
      </p:nvGrpSpPr>
      <p:grpSpPr>
        <a:xfrm>
          <a:off x="0" y="0"/>
          <a:ext cx="0" cy="0"/>
          <a:chOff x="0" y="0"/>
          <a:chExt cx="0" cy="0"/>
        </a:xfrm>
      </p:grpSpPr>
      <p:sp>
        <p:nvSpPr>
          <p:cNvPr id="833" name="Google Shape;833;p79"/>
          <p:cNvSpPr txBox="1">
            <a:spLocks noGrp="1"/>
          </p:cNvSpPr>
          <p:nvPr>
            <p:ph type="title"/>
          </p:nvPr>
        </p:nvSpPr>
        <p:spPr>
          <a:xfrm>
            <a:off x="471488" y="205383"/>
            <a:ext cx="5915100" cy="745800"/>
          </a:xfrm>
          <a:prstGeom prst="rect">
            <a:avLst/>
          </a:prstGeom>
          <a:noFill/>
          <a:ln>
            <a:noFill/>
          </a:ln>
        </p:spPr>
        <p:txBody>
          <a:bodyPr spcFirstLastPara="1" wrap="square" lIns="68575" tIns="34275" rIns="68575" bIns="34275" anchor="ctr" anchorCtr="0">
            <a:normAutofit fontScale="90000"/>
          </a:bodyPr>
          <a:lstStyle/>
          <a:p>
            <a:pPr marL="0" lvl="0" indent="0" algn="l" rtl="0">
              <a:lnSpc>
                <a:spcPct val="90000"/>
              </a:lnSpc>
              <a:spcBef>
                <a:spcPts val="0"/>
              </a:spcBef>
              <a:spcAft>
                <a:spcPts val="0"/>
              </a:spcAft>
              <a:buClr>
                <a:schemeClr val="dk1"/>
              </a:buClr>
              <a:buSzPct val="117857"/>
              <a:buFont typeface="Century Gothic"/>
              <a:buNone/>
            </a:pPr>
            <a:r>
              <a:rPr lang="en-GB"/>
              <a:t>Human correlation intrinsic evaluation</a:t>
            </a:r>
            <a:endParaRPr/>
          </a:p>
        </p:txBody>
      </p:sp>
      <p:sp>
        <p:nvSpPr>
          <p:cNvPr id="834" name="Google Shape;834;p79"/>
          <p:cNvSpPr txBox="1"/>
          <p:nvPr/>
        </p:nvSpPr>
        <p:spPr>
          <a:xfrm>
            <a:off x="1" y="4870133"/>
            <a:ext cx="2689800" cy="2847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GB" sz="1400" u="sng">
                <a:solidFill>
                  <a:schemeClr val="dk1"/>
                </a:solidFill>
                <a:hlinkClick r:id="rId3">
                  <a:extLst>
                    <a:ext uri="{A12FA001-AC4F-418D-AE19-62706E023703}">
                      <ahyp:hlinkClr xmlns:ahyp="http://schemas.microsoft.com/office/drawing/2018/hyperlinkcolor" val="tx"/>
                    </a:ext>
                  </a:extLst>
                </a:hlinkClick>
              </a:rPr>
              <a:t>Pennington et al., 2014</a:t>
            </a:r>
            <a:endParaRPr sz="1400">
              <a:solidFill>
                <a:schemeClr val="dk1"/>
              </a:solidFill>
            </a:endParaRPr>
          </a:p>
        </p:txBody>
      </p:sp>
      <p:pic>
        <p:nvPicPr>
          <p:cNvPr id="835" name="Google Shape;835;p79"/>
          <p:cNvPicPr preferRelativeResize="0">
            <a:picLocks noGrp="1"/>
          </p:cNvPicPr>
          <p:nvPr>
            <p:ph type="body" idx="1"/>
          </p:nvPr>
        </p:nvPicPr>
        <p:blipFill rotWithShape="1">
          <a:blip r:embed="rId4">
            <a:alphaModFix/>
          </a:blip>
          <a:srcRect/>
          <a:stretch/>
        </p:blipFill>
        <p:spPr>
          <a:xfrm>
            <a:off x="2343150" y="1558096"/>
            <a:ext cx="4457700" cy="2705100"/>
          </a:xfrm>
          <a:prstGeom prst="rect">
            <a:avLst/>
          </a:prstGeom>
          <a:noFill/>
          <a:ln>
            <a:noFill/>
          </a:ln>
        </p:spPr>
      </p:pic>
      <p:sp>
        <p:nvSpPr>
          <p:cNvPr id="836" name="Google Shape;836;p79"/>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rmAutofit/>
          </a:bodyPr>
          <a:lstStyle/>
          <a:p>
            <a:pPr marL="0" lvl="0" indent="0" algn="r" rtl="0">
              <a:spcBef>
                <a:spcPts val="0"/>
              </a:spcBef>
              <a:spcAft>
                <a:spcPts val="0"/>
              </a:spcAft>
              <a:buNone/>
            </a:pPr>
            <a:fld id="{00000000-1234-1234-1234-123412341234}" type="slidenum">
              <a:rPr lang="en-GB"/>
              <a:t>86</a:t>
            </a:fld>
            <a:endParaRP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Shape 840"/>
        <p:cNvGrpSpPr/>
        <p:nvPr/>
      </p:nvGrpSpPr>
      <p:grpSpPr>
        <a:xfrm>
          <a:off x="0" y="0"/>
          <a:ext cx="0" cy="0"/>
          <a:chOff x="0" y="0"/>
          <a:chExt cx="0" cy="0"/>
        </a:xfrm>
      </p:grpSpPr>
      <p:sp>
        <p:nvSpPr>
          <p:cNvPr id="841" name="Google Shape;841;p80"/>
          <p:cNvSpPr txBox="1">
            <a:spLocks noGrp="1"/>
          </p:cNvSpPr>
          <p:nvPr>
            <p:ph type="title"/>
          </p:nvPr>
        </p:nvSpPr>
        <p:spPr>
          <a:xfrm>
            <a:off x="471488" y="205383"/>
            <a:ext cx="5915100" cy="7458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chemeClr val="dk1"/>
              </a:buClr>
              <a:buSzPts val="3300"/>
              <a:buFont typeface="Century Gothic"/>
              <a:buNone/>
            </a:pPr>
            <a:r>
              <a:rPr lang="en-GB"/>
              <a:t>Extrinsic evaluation</a:t>
            </a:r>
            <a:endParaRPr/>
          </a:p>
        </p:txBody>
      </p:sp>
      <p:sp>
        <p:nvSpPr>
          <p:cNvPr id="842" name="Google Shape;842;p80"/>
          <p:cNvSpPr txBox="1">
            <a:spLocks noGrp="1"/>
          </p:cNvSpPr>
          <p:nvPr>
            <p:ph type="body" idx="1"/>
          </p:nvPr>
        </p:nvSpPr>
        <p:spPr>
          <a:xfrm>
            <a:off x="471500" y="1179325"/>
            <a:ext cx="8075400" cy="745800"/>
          </a:xfrm>
          <a:prstGeom prst="rect">
            <a:avLst/>
          </a:prstGeom>
          <a:noFill/>
          <a:ln>
            <a:noFill/>
          </a:ln>
        </p:spPr>
        <p:txBody>
          <a:bodyPr spcFirstLastPara="1" wrap="square" lIns="68575" tIns="34275" rIns="68575" bIns="34275" anchor="t" anchorCtr="0">
            <a:normAutofit lnSpcReduction="10000"/>
          </a:bodyPr>
          <a:lstStyle/>
          <a:p>
            <a:pPr marL="0" lvl="0" indent="0" algn="l" rtl="0">
              <a:lnSpc>
                <a:spcPct val="90000"/>
              </a:lnSpc>
              <a:spcBef>
                <a:spcPts val="0"/>
              </a:spcBef>
              <a:spcAft>
                <a:spcPts val="1200"/>
              </a:spcAft>
              <a:buClr>
                <a:srgbClr val="00B0F0"/>
              </a:buClr>
              <a:buSzPts val="2100"/>
              <a:buNone/>
            </a:pPr>
            <a:r>
              <a:rPr lang="en-GB" sz="2000">
                <a:solidFill>
                  <a:srgbClr val="00B0F0"/>
                </a:solidFill>
              </a:rPr>
              <a:t>Named entity recognition</a:t>
            </a:r>
            <a:r>
              <a:rPr lang="en-GB" sz="2000"/>
              <a:t>: find mentions of person, location, organization in text.</a:t>
            </a:r>
            <a:endParaRPr sz="2000"/>
          </a:p>
        </p:txBody>
      </p:sp>
      <p:pic>
        <p:nvPicPr>
          <p:cNvPr id="844" name="Google Shape;844;p80"/>
          <p:cNvPicPr preferRelativeResize="0"/>
          <p:nvPr/>
        </p:nvPicPr>
        <p:blipFill rotWithShape="1">
          <a:blip r:embed="rId3">
            <a:alphaModFix/>
          </a:blip>
          <a:srcRect/>
          <a:stretch/>
        </p:blipFill>
        <p:spPr>
          <a:xfrm>
            <a:off x="778675" y="2264100"/>
            <a:ext cx="7586651" cy="2204775"/>
          </a:xfrm>
          <a:prstGeom prst="rect">
            <a:avLst/>
          </a:prstGeom>
          <a:noFill/>
          <a:ln>
            <a:noFill/>
          </a:ln>
        </p:spPr>
      </p:pic>
      <p:sp>
        <p:nvSpPr>
          <p:cNvPr id="845" name="Google Shape;845;p80"/>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rmAutofit/>
          </a:bodyPr>
          <a:lstStyle/>
          <a:p>
            <a:pPr marL="0" lvl="0" indent="0" algn="r" rtl="0">
              <a:spcBef>
                <a:spcPts val="0"/>
              </a:spcBef>
              <a:spcAft>
                <a:spcPts val="0"/>
              </a:spcAft>
              <a:buNone/>
            </a:pPr>
            <a:fld id="{00000000-1234-1234-1234-123412341234}" type="slidenum">
              <a:rPr lang="en-GB"/>
              <a:t>87</a:t>
            </a:fld>
            <a:endParaRP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Shape 850"/>
        <p:cNvGrpSpPr/>
        <p:nvPr/>
      </p:nvGrpSpPr>
      <p:grpSpPr>
        <a:xfrm>
          <a:off x="0" y="0"/>
          <a:ext cx="0" cy="0"/>
          <a:chOff x="0" y="0"/>
          <a:chExt cx="0" cy="0"/>
        </a:xfrm>
      </p:grpSpPr>
      <p:sp>
        <p:nvSpPr>
          <p:cNvPr id="851" name="Google Shape;851;p81"/>
          <p:cNvSpPr txBox="1">
            <a:spLocks noGrp="1"/>
          </p:cNvSpPr>
          <p:nvPr>
            <p:ph type="title"/>
          </p:nvPr>
        </p:nvSpPr>
        <p:spPr>
          <a:xfrm>
            <a:off x="471488" y="205383"/>
            <a:ext cx="5915100" cy="7458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chemeClr val="dk1"/>
              </a:buClr>
              <a:buSzPts val="3300"/>
              <a:buFont typeface="Century Gothic"/>
              <a:buNone/>
            </a:pPr>
            <a:r>
              <a:rPr lang="en-GB"/>
              <a:t>Extrinsic evaluation</a:t>
            </a:r>
            <a:endParaRPr/>
          </a:p>
        </p:txBody>
      </p:sp>
      <p:pic>
        <p:nvPicPr>
          <p:cNvPr id="853" name="Google Shape;853;p81"/>
          <p:cNvPicPr preferRelativeResize="0">
            <a:picLocks noGrp="1"/>
          </p:cNvPicPr>
          <p:nvPr>
            <p:ph type="body" idx="1"/>
          </p:nvPr>
        </p:nvPicPr>
        <p:blipFill rotWithShape="1">
          <a:blip r:embed="rId3">
            <a:alphaModFix/>
          </a:blip>
          <a:srcRect/>
          <a:stretch/>
        </p:blipFill>
        <p:spPr>
          <a:xfrm>
            <a:off x="2525400" y="1302701"/>
            <a:ext cx="4093200" cy="3031800"/>
          </a:xfrm>
          <a:prstGeom prst="rect">
            <a:avLst/>
          </a:prstGeom>
          <a:noFill/>
          <a:ln>
            <a:noFill/>
          </a:ln>
        </p:spPr>
      </p:pic>
      <p:sp>
        <p:nvSpPr>
          <p:cNvPr id="854" name="Google Shape;854;p81"/>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rmAutofit/>
          </a:bodyPr>
          <a:lstStyle/>
          <a:p>
            <a:pPr marL="0" lvl="0" indent="0" algn="r" rtl="0">
              <a:spcBef>
                <a:spcPts val="0"/>
              </a:spcBef>
              <a:spcAft>
                <a:spcPts val="0"/>
              </a:spcAft>
              <a:buNone/>
            </a:pPr>
            <a:fld id="{00000000-1234-1234-1234-123412341234}" type="slidenum">
              <a:rPr lang="en-GB"/>
              <a:t>88</a:t>
            </a:fld>
            <a:endParaRP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687820-45AC-68CC-2394-259196B40A6E}"/>
              </a:ext>
            </a:extLst>
          </p:cNvPr>
          <p:cNvSpPr>
            <a:spLocks noGrp="1"/>
          </p:cNvSpPr>
          <p:nvPr>
            <p:ph type="title"/>
          </p:nvPr>
        </p:nvSpPr>
        <p:spPr/>
        <p:txBody>
          <a:bodyPr/>
          <a:lstStyle/>
          <a:p>
            <a:r>
              <a:rPr lang="en-US" dirty="0"/>
              <a:t>Word Representations: Summary</a:t>
            </a:r>
          </a:p>
        </p:txBody>
      </p:sp>
      <p:sp>
        <p:nvSpPr>
          <p:cNvPr id="3" name="Text Placeholder 2">
            <a:extLst>
              <a:ext uri="{FF2B5EF4-FFF2-40B4-BE49-F238E27FC236}">
                <a16:creationId xmlns:a16="http://schemas.microsoft.com/office/drawing/2014/main" id="{86130DD1-6126-C9F8-BA76-2DACEA97EF50}"/>
              </a:ext>
            </a:extLst>
          </p:cNvPr>
          <p:cNvSpPr>
            <a:spLocks noGrp="1"/>
          </p:cNvSpPr>
          <p:nvPr>
            <p:ph type="body" idx="1"/>
          </p:nvPr>
        </p:nvSpPr>
        <p:spPr>
          <a:xfrm>
            <a:off x="374073" y="1172094"/>
            <a:ext cx="8387542" cy="3697561"/>
          </a:xfrm>
        </p:spPr>
        <p:txBody>
          <a:bodyPr>
            <a:normAutofit fontScale="92500" lnSpcReduction="20000"/>
          </a:bodyPr>
          <a:lstStyle/>
          <a:p>
            <a:r>
              <a:rPr lang="en-US" dirty="0">
                <a:solidFill>
                  <a:schemeClr val="accent5"/>
                </a:solidFill>
              </a:rPr>
              <a:t>Vector representations</a:t>
            </a:r>
            <a:r>
              <a:rPr lang="en-US" dirty="0"/>
              <a:t> </a:t>
            </a:r>
            <a:r>
              <a:rPr lang="en-US" dirty="0">
                <a:solidFill>
                  <a:schemeClr val="tx1"/>
                </a:solidFill>
              </a:rPr>
              <a:t>for words are useful and efficient</a:t>
            </a:r>
          </a:p>
          <a:p>
            <a:pPr lvl="1"/>
            <a:r>
              <a:rPr lang="en-US" dirty="0">
                <a:solidFill>
                  <a:schemeClr val="tx1"/>
                </a:solidFill>
              </a:rPr>
              <a:t>Encode semantic similarity as inner product similarity</a:t>
            </a:r>
          </a:p>
          <a:p>
            <a:r>
              <a:rPr lang="en-US" dirty="0">
                <a:solidFill>
                  <a:schemeClr val="accent5"/>
                </a:solidFill>
              </a:rPr>
              <a:t>One-hot vectors</a:t>
            </a:r>
            <a:r>
              <a:rPr lang="en-US" dirty="0"/>
              <a:t>: </a:t>
            </a:r>
            <a:r>
              <a:rPr lang="en-US" dirty="0">
                <a:solidFill>
                  <a:schemeClr val="tx1"/>
                </a:solidFill>
              </a:rPr>
              <a:t>useful in some contexts but not all</a:t>
            </a:r>
          </a:p>
          <a:p>
            <a:r>
              <a:rPr lang="en-US" dirty="0">
                <a:solidFill>
                  <a:schemeClr val="accent5"/>
                </a:solidFill>
              </a:rPr>
              <a:t>Word2vec</a:t>
            </a:r>
            <a:r>
              <a:rPr lang="en-US" dirty="0"/>
              <a:t>: </a:t>
            </a:r>
            <a:r>
              <a:rPr lang="en-US" dirty="0">
                <a:solidFill>
                  <a:schemeClr val="tx1"/>
                </a:solidFill>
              </a:rPr>
              <a:t>learn representations from data with machine learning</a:t>
            </a:r>
          </a:p>
          <a:p>
            <a:pPr lvl="1"/>
            <a:r>
              <a:rPr lang="en-US" dirty="0">
                <a:solidFill>
                  <a:schemeClr val="tx1"/>
                </a:solidFill>
              </a:rPr>
              <a:t>Idea: </a:t>
            </a:r>
            <a:r>
              <a:rPr lang="en-US" dirty="0">
                <a:solidFill>
                  <a:schemeClr val="accent5"/>
                </a:solidFill>
              </a:rPr>
              <a:t>self-supervised learning </a:t>
            </a:r>
            <a:r>
              <a:rPr lang="en-US" dirty="0">
                <a:solidFill>
                  <a:schemeClr val="tx1"/>
                </a:solidFill>
              </a:rPr>
              <a:t>for learning from a lot of raw data</a:t>
            </a:r>
          </a:p>
          <a:p>
            <a:pPr lvl="1"/>
            <a:r>
              <a:rPr lang="en-US" dirty="0">
                <a:solidFill>
                  <a:schemeClr val="tx1"/>
                </a:solidFill>
              </a:rPr>
              <a:t>Idea: </a:t>
            </a:r>
            <a:r>
              <a:rPr lang="en-US" dirty="0">
                <a:solidFill>
                  <a:schemeClr val="accent5"/>
                </a:solidFill>
              </a:rPr>
              <a:t>contrastive learning </a:t>
            </a:r>
            <a:r>
              <a:rPr lang="en-US" dirty="0">
                <a:solidFill>
                  <a:schemeClr val="tx1"/>
                </a:solidFill>
              </a:rPr>
              <a:t>for improved efficiency with negative sampling</a:t>
            </a:r>
          </a:p>
          <a:p>
            <a:pPr lvl="1"/>
            <a:r>
              <a:rPr lang="en-US" dirty="0">
                <a:solidFill>
                  <a:schemeClr val="tx1"/>
                </a:solidFill>
              </a:rPr>
              <a:t>Idea: can be viewed as </a:t>
            </a:r>
            <a:r>
              <a:rPr lang="en-US" dirty="0">
                <a:solidFill>
                  <a:schemeClr val="accent5"/>
                </a:solidFill>
              </a:rPr>
              <a:t>implicit matrix factorization </a:t>
            </a:r>
          </a:p>
          <a:p>
            <a:r>
              <a:rPr lang="en-US" dirty="0" err="1">
                <a:solidFill>
                  <a:schemeClr val="accent5"/>
                </a:solidFill>
              </a:rPr>
              <a:t>GloVe</a:t>
            </a:r>
            <a:r>
              <a:rPr lang="en-US" dirty="0">
                <a:solidFill>
                  <a:schemeClr val="tx1"/>
                </a:solidFill>
              </a:rPr>
              <a:t>: combine self-supervised learning view with matrix factorization view</a:t>
            </a:r>
          </a:p>
          <a:p>
            <a:r>
              <a:rPr lang="en-US" dirty="0">
                <a:solidFill>
                  <a:schemeClr val="tx1"/>
                </a:solidFill>
              </a:rPr>
              <a:t>Evaluating word representations: intrinsic, extrinsic; challenging and open-ended</a:t>
            </a:r>
            <a:endParaRPr lang="en-US" dirty="0">
              <a:solidFill>
                <a:schemeClr val="accent5"/>
              </a:solidFill>
            </a:endParaRPr>
          </a:p>
        </p:txBody>
      </p:sp>
    </p:spTree>
    <p:extLst>
      <p:ext uri="{BB962C8B-B14F-4D97-AF65-F5344CB8AC3E}">
        <p14:creationId xmlns:p14="http://schemas.microsoft.com/office/powerpoint/2010/main" val="3782366978"/>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DC090B-62F1-372B-7C48-6A56DC7BCD36}"/>
              </a:ext>
            </a:extLst>
          </p:cNvPr>
          <p:cNvSpPr>
            <a:spLocks noGrp="1"/>
          </p:cNvSpPr>
          <p:nvPr>
            <p:ph type="title"/>
          </p:nvPr>
        </p:nvSpPr>
        <p:spPr/>
        <p:txBody>
          <a:bodyPr/>
          <a:lstStyle/>
          <a:p>
            <a:r>
              <a:rPr lang="en-US" dirty="0"/>
              <a:t>Language Modeling</a:t>
            </a:r>
          </a:p>
        </p:txBody>
      </p:sp>
    </p:spTree>
    <p:extLst>
      <p:ext uri="{BB962C8B-B14F-4D97-AF65-F5344CB8AC3E}">
        <p14:creationId xmlns:p14="http://schemas.microsoft.com/office/powerpoint/2010/main" val="2200897848"/>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pic>
        <p:nvPicPr>
          <p:cNvPr id="1032" name="Picture 8" descr="‪Google Gemini‬‏">
            <a:extLst>
              <a:ext uri="{FF2B5EF4-FFF2-40B4-BE49-F238E27FC236}">
                <a16:creationId xmlns:a16="http://schemas.microsoft.com/office/drawing/2014/main" id="{EA355C73-F395-115F-9E5D-1E538E861AD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76053" y="1746018"/>
            <a:ext cx="4972173" cy="2784417"/>
          </a:xfrm>
          <a:prstGeom prst="rect">
            <a:avLst/>
          </a:prstGeom>
          <a:noFill/>
          <a:extLst>
            <a:ext uri="{909E8E84-426E-40DD-AFC4-6F175D3DCCD1}">
              <a14:hiddenFill xmlns:a14="http://schemas.microsoft.com/office/drawing/2010/main">
                <a:solidFill>
                  <a:srgbClr val="FFFFFF"/>
                </a:solidFill>
              </a14:hiddenFill>
            </a:ext>
          </a:extLst>
        </p:spPr>
      </p:pic>
      <p:sp>
        <p:nvSpPr>
          <p:cNvPr id="7" name="Title 6">
            <a:extLst>
              <a:ext uri="{FF2B5EF4-FFF2-40B4-BE49-F238E27FC236}">
                <a16:creationId xmlns:a16="http://schemas.microsoft.com/office/drawing/2014/main" id="{AE5D44F8-21D9-7929-CF7F-6CB51B056619}"/>
              </a:ext>
            </a:extLst>
          </p:cNvPr>
          <p:cNvSpPr>
            <a:spLocks noGrp="1"/>
          </p:cNvSpPr>
          <p:nvPr>
            <p:ph type="title"/>
          </p:nvPr>
        </p:nvSpPr>
        <p:spPr/>
        <p:txBody>
          <a:bodyPr>
            <a:normAutofit/>
          </a:bodyPr>
          <a:lstStyle/>
          <a:p>
            <a:r>
              <a:rPr lang="en-US" dirty="0"/>
              <a:t>Motivation: </a:t>
            </a:r>
            <a:br>
              <a:rPr lang="en-US" dirty="0"/>
            </a:br>
            <a:r>
              <a:rPr lang="en-US" dirty="0"/>
              <a:t>You Might Have Heard about Language Models</a:t>
            </a:r>
          </a:p>
        </p:txBody>
      </p:sp>
      <p:pic>
        <p:nvPicPr>
          <p:cNvPr id="1030" name="Picture 6" descr="‪Webinar: Refine your prompts and conquer Chat GPT - World YMCA‬‏">
            <a:extLst>
              <a:ext uri="{FF2B5EF4-FFF2-40B4-BE49-F238E27FC236}">
                <a16:creationId xmlns:a16="http://schemas.microsoft.com/office/drawing/2014/main" id="{7D132540-9CB6-5854-0C7F-67D9B2B28E8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2880" y="1268044"/>
            <a:ext cx="3528636" cy="2144136"/>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What is Claude Ai? And Benefits of using it - The TechBlink‬‏">
            <a:extLst>
              <a:ext uri="{FF2B5EF4-FFF2-40B4-BE49-F238E27FC236}">
                <a16:creationId xmlns:a16="http://schemas.microsoft.com/office/drawing/2014/main" id="{12025D3D-CF9E-B485-99A0-A665556E703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098173" y="1636976"/>
            <a:ext cx="2261063" cy="484847"/>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a:extLst>
              <a:ext uri="{FF2B5EF4-FFF2-40B4-BE49-F238E27FC236}">
                <a16:creationId xmlns:a16="http://schemas.microsoft.com/office/drawing/2014/main" id="{45651A7B-6792-F50E-4634-2133249EB20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359236" y="2340112"/>
            <a:ext cx="2330450" cy="869950"/>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2" descr="‪Meta's Llama 4 is Coming Soon‬‏">
            <a:extLst>
              <a:ext uri="{FF2B5EF4-FFF2-40B4-BE49-F238E27FC236}">
                <a16:creationId xmlns:a16="http://schemas.microsoft.com/office/drawing/2014/main" id="{43C31D75-E0DF-2585-1BE7-4FC269ABCD51}"/>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143240" y="3412180"/>
            <a:ext cx="2646795" cy="148716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sp>
        <p:nvSpPr>
          <p:cNvPr id="132" name="Google Shape;132;p24"/>
          <p:cNvSpPr txBox="1">
            <a:spLocks noGrp="1"/>
          </p:cNvSpPr>
          <p:nvPr>
            <p:ph type="body" idx="1"/>
          </p:nvPr>
        </p:nvSpPr>
        <p:spPr>
          <a:xfrm>
            <a:off x="511800" y="1298342"/>
            <a:ext cx="8120400" cy="568200"/>
          </a:xfrm>
          <a:prstGeom prst="rect">
            <a:avLst/>
          </a:prstGeom>
          <a:noFill/>
          <a:ln>
            <a:noFill/>
          </a:ln>
        </p:spPr>
        <p:txBody>
          <a:bodyPr spcFirstLastPara="1" wrap="square" lIns="0" tIns="34275" rIns="0" bIns="34275" anchor="t" anchorCtr="0">
            <a:noAutofit/>
          </a:bodyPr>
          <a:lstStyle/>
          <a:p>
            <a:pPr marL="88900" lvl="0" indent="0" algn="l" rtl="0">
              <a:lnSpc>
                <a:spcPct val="90000"/>
              </a:lnSpc>
              <a:spcBef>
                <a:spcPts val="900"/>
              </a:spcBef>
              <a:spcAft>
                <a:spcPts val="0"/>
              </a:spcAft>
              <a:buClr>
                <a:schemeClr val="dk1"/>
              </a:buClr>
              <a:buSzPts val="1400"/>
              <a:buNone/>
            </a:pPr>
            <a:r>
              <a:rPr lang="en-GB" sz="2000" dirty="0"/>
              <a:t>A </a:t>
            </a:r>
            <a:r>
              <a:rPr lang="en-GB" sz="2000" b="1" dirty="0"/>
              <a:t>language model </a:t>
            </a:r>
            <a:r>
              <a:rPr lang="en-GB" sz="2000" dirty="0"/>
              <a:t>is a </a:t>
            </a:r>
            <a:r>
              <a:rPr lang="en-GB" sz="2000" dirty="0">
                <a:solidFill>
                  <a:srgbClr val="00B0F0"/>
                </a:solidFill>
              </a:rPr>
              <a:t>probability</a:t>
            </a:r>
            <a:r>
              <a:rPr lang="en-GB" sz="2000" dirty="0"/>
              <a:t> distribution over </a:t>
            </a:r>
            <a:r>
              <a:rPr lang="en-GB" sz="2000" dirty="0">
                <a:solidFill>
                  <a:srgbClr val="00B0F0"/>
                </a:solidFill>
              </a:rPr>
              <a:t>sentences</a:t>
            </a:r>
            <a:endParaRPr sz="2000" dirty="0"/>
          </a:p>
        </p:txBody>
      </p:sp>
      <p:sp>
        <p:nvSpPr>
          <p:cNvPr id="135" name="Google Shape;135;p24"/>
          <p:cNvSpPr txBox="1">
            <a:spLocks noGrp="1"/>
          </p:cNvSpPr>
          <p:nvPr>
            <p:ph type="title"/>
          </p:nvPr>
        </p:nvSpPr>
        <p:spPr>
          <a:xfrm>
            <a:off x="471488" y="205383"/>
            <a:ext cx="5915100" cy="7458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chemeClr val="dk1"/>
              </a:buClr>
              <a:buSzPts val="3300"/>
              <a:buFont typeface="Century Gothic"/>
              <a:buNone/>
            </a:pPr>
            <a:r>
              <a:rPr lang="en-GB"/>
              <a:t>Language modeling</a:t>
            </a:r>
            <a:endParaRPr/>
          </a:p>
        </p:txBody>
      </p:sp>
      <p:sp>
        <p:nvSpPr>
          <p:cNvPr id="2" name="Rectangle 1">
            <a:extLst>
              <a:ext uri="{FF2B5EF4-FFF2-40B4-BE49-F238E27FC236}">
                <a16:creationId xmlns:a16="http://schemas.microsoft.com/office/drawing/2014/main" id="{2FF61354-C04A-B0A8-8151-47BD5D09E237}"/>
              </a:ext>
            </a:extLst>
          </p:cNvPr>
          <p:cNvSpPr/>
          <p:nvPr/>
        </p:nvSpPr>
        <p:spPr>
          <a:xfrm>
            <a:off x="3565133" y="2126751"/>
            <a:ext cx="1263721" cy="111988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dirty="0"/>
              <a:t>LM</a:t>
            </a:r>
          </a:p>
        </p:txBody>
      </p:sp>
      <p:sp>
        <p:nvSpPr>
          <p:cNvPr id="3" name="TextBox 2">
            <a:extLst>
              <a:ext uri="{FF2B5EF4-FFF2-40B4-BE49-F238E27FC236}">
                <a16:creationId xmlns:a16="http://schemas.microsoft.com/office/drawing/2014/main" id="{BF1D2ED6-6A25-2681-6A87-8A2255E2E0BF}"/>
              </a:ext>
            </a:extLst>
          </p:cNvPr>
          <p:cNvSpPr txBox="1"/>
          <p:nvPr/>
        </p:nvSpPr>
        <p:spPr>
          <a:xfrm>
            <a:off x="1183497" y="2334309"/>
            <a:ext cx="1532819" cy="646331"/>
          </a:xfrm>
          <a:prstGeom prst="rect">
            <a:avLst/>
          </a:prstGeom>
          <a:noFill/>
        </p:spPr>
        <p:txBody>
          <a:bodyPr wrap="square" rtlCol="0">
            <a:spAutoFit/>
          </a:bodyPr>
          <a:lstStyle/>
          <a:p>
            <a:r>
              <a:rPr lang="en-US" sz="1800" dirty="0"/>
              <a:t>Some sentence </a:t>
            </a:r>
            <a:r>
              <a:rPr lang="en-US" sz="1800" b="1" i="1" dirty="0"/>
              <a:t>S</a:t>
            </a:r>
          </a:p>
        </p:txBody>
      </p:sp>
      <p:sp>
        <p:nvSpPr>
          <p:cNvPr id="4" name="TextBox 3">
            <a:extLst>
              <a:ext uri="{FF2B5EF4-FFF2-40B4-BE49-F238E27FC236}">
                <a16:creationId xmlns:a16="http://schemas.microsoft.com/office/drawing/2014/main" id="{7DD2BD32-8EA9-2CA6-9C5A-B210B9B82F70}"/>
              </a:ext>
            </a:extLst>
          </p:cNvPr>
          <p:cNvSpPr txBox="1"/>
          <p:nvPr/>
        </p:nvSpPr>
        <p:spPr>
          <a:xfrm>
            <a:off x="5770139" y="2502026"/>
            <a:ext cx="1642304" cy="369332"/>
          </a:xfrm>
          <a:prstGeom prst="rect">
            <a:avLst/>
          </a:prstGeom>
          <a:noFill/>
        </p:spPr>
        <p:txBody>
          <a:bodyPr wrap="square" rtlCol="0">
            <a:spAutoFit/>
          </a:bodyPr>
          <a:lstStyle/>
          <a:p>
            <a:r>
              <a:rPr lang="en-US" sz="1800" dirty="0" err="1"/>
              <a:t>Pr</a:t>
            </a:r>
            <a:r>
              <a:rPr lang="en-US" sz="1800" dirty="0"/>
              <a:t>[</a:t>
            </a:r>
            <a:r>
              <a:rPr lang="en-US" sz="1800" b="1" i="1" dirty="0"/>
              <a:t>S</a:t>
            </a:r>
            <a:r>
              <a:rPr lang="en-US" sz="1800" dirty="0"/>
              <a:t>]</a:t>
            </a:r>
          </a:p>
        </p:txBody>
      </p:sp>
      <p:sp>
        <p:nvSpPr>
          <p:cNvPr id="5" name="Right Arrow 4">
            <a:extLst>
              <a:ext uri="{FF2B5EF4-FFF2-40B4-BE49-F238E27FC236}">
                <a16:creationId xmlns:a16="http://schemas.microsoft.com/office/drawing/2014/main" id="{91F30F7F-1BC5-E8F9-0D09-7346E4FBB6E5}"/>
              </a:ext>
            </a:extLst>
          </p:cNvPr>
          <p:cNvSpPr/>
          <p:nvPr/>
        </p:nvSpPr>
        <p:spPr>
          <a:xfrm>
            <a:off x="2716316" y="2571750"/>
            <a:ext cx="756349" cy="17145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ight Arrow 5">
            <a:extLst>
              <a:ext uri="{FF2B5EF4-FFF2-40B4-BE49-F238E27FC236}">
                <a16:creationId xmlns:a16="http://schemas.microsoft.com/office/drawing/2014/main" id="{D4BFB226-9343-EE68-FBB9-8787559DCA46}"/>
              </a:ext>
            </a:extLst>
          </p:cNvPr>
          <p:cNvSpPr/>
          <p:nvPr/>
        </p:nvSpPr>
        <p:spPr>
          <a:xfrm>
            <a:off x="4921322" y="2571750"/>
            <a:ext cx="756349" cy="17145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48C8D957-7368-F8B4-B938-8AE3DD049D70}"/>
            </a:ext>
          </a:extLst>
        </p:cNvPr>
        <p:cNvGrpSpPr/>
        <p:nvPr/>
      </p:nvGrpSpPr>
      <p:grpSpPr>
        <a:xfrm>
          <a:off x="0" y="0"/>
          <a:ext cx="0" cy="0"/>
          <a:chOff x="0" y="0"/>
          <a:chExt cx="0" cy="0"/>
        </a:xfrm>
      </p:grpSpPr>
      <p:sp>
        <p:nvSpPr>
          <p:cNvPr id="132" name="Google Shape;132;p24">
            <a:extLst>
              <a:ext uri="{FF2B5EF4-FFF2-40B4-BE49-F238E27FC236}">
                <a16:creationId xmlns:a16="http://schemas.microsoft.com/office/drawing/2014/main" id="{929099FF-82FA-CD5E-5E0C-BDCB8246804D}"/>
              </a:ext>
            </a:extLst>
          </p:cNvPr>
          <p:cNvSpPr txBox="1">
            <a:spLocks noGrp="1"/>
          </p:cNvSpPr>
          <p:nvPr>
            <p:ph type="body" idx="1"/>
          </p:nvPr>
        </p:nvSpPr>
        <p:spPr>
          <a:xfrm>
            <a:off x="511800" y="1298342"/>
            <a:ext cx="8120400" cy="568200"/>
          </a:xfrm>
          <a:prstGeom prst="rect">
            <a:avLst/>
          </a:prstGeom>
          <a:noFill/>
          <a:ln>
            <a:noFill/>
          </a:ln>
        </p:spPr>
        <p:txBody>
          <a:bodyPr spcFirstLastPara="1" wrap="square" lIns="0" tIns="34275" rIns="0" bIns="34275" anchor="t" anchorCtr="0">
            <a:noAutofit/>
          </a:bodyPr>
          <a:lstStyle/>
          <a:p>
            <a:pPr marL="88900" lvl="0" indent="0" algn="l" rtl="0">
              <a:lnSpc>
                <a:spcPct val="90000"/>
              </a:lnSpc>
              <a:spcBef>
                <a:spcPts val="900"/>
              </a:spcBef>
              <a:spcAft>
                <a:spcPts val="0"/>
              </a:spcAft>
              <a:buClr>
                <a:schemeClr val="dk1"/>
              </a:buClr>
              <a:buSzPts val="1400"/>
              <a:buNone/>
            </a:pPr>
            <a:r>
              <a:rPr lang="en-GB" sz="2000" dirty="0"/>
              <a:t>A </a:t>
            </a:r>
            <a:r>
              <a:rPr lang="en-GB" sz="2000" b="1" dirty="0"/>
              <a:t>language model </a:t>
            </a:r>
            <a:r>
              <a:rPr lang="en-GB" sz="2000" dirty="0"/>
              <a:t>is a </a:t>
            </a:r>
            <a:r>
              <a:rPr lang="en-GB" sz="2000" dirty="0">
                <a:solidFill>
                  <a:srgbClr val="00B0F0"/>
                </a:solidFill>
              </a:rPr>
              <a:t>probability</a:t>
            </a:r>
            <a:r>
              <a:rPr lang="en-GB" sz="2000" dirty="0"/>
              <a:t> distribution over </a:t>
            </a:r>
            <a:r>
              <a:rPr lang="en-GB" sz="2000" dirty="0">
                <a:solidFill>
                  <a:srgbClr val="00B0F0"/>
                </a:solidFill>
              </a:rPr>
              <a:t>sentences</a:t>
            </a:r>
            <a:endParaRPr sz="2000" dirty="0"/>
          </a:p>
        </p:txBody>
      </p:sp>
      <p:sp>
        <p:nvSpPr>
          <p:cNvPr id="135" name="Google Shape;135;p24">
            <a:extLst>
              <a:ext uri="{FF2B5EF4-FFF2-40B4-BE49-F238E27FC236}">
                <a16:creationId xmlns:a16="http://schemas.microsoft.com/office/drawing/2014/main" id="{389A80E6-E414-D686-1162-FA101C28B9E2}"/>
              </a:ext>
            </a:extLst>
          </p:cNvPr>
          <p:cNvSpPr txBox="1">
            <a:spLocks noGrp="1"/>
          </p:cNvSpPr>
          <p:nvPr>
            <p:ph type="title"/>
          </p:nvPr>
        </p:nvSpPr>
        <p:spPr>
          <a:xfrm>
            <a:off x="471488" y="205383"/>
            <a:ext cx="5915100" cy="7458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chemeClr val="dk1"/>
              </a:buClr>
              <a:buSzPts val="3300"/>
              <a:buFont typeface="Century Gothic"/>
              <a:buNone/>
            </a:pPr>
            <a:r>
              <a:rPr lang="en-GB"/>
              <a:t>Language modeling</a:t>
            </a:r>
            <a:endParaRPr/>
          </a:p>
        </p:txBody>
      </p:sp>
      <p:sp>
        <p:nvSpPr>
          <p:cNvPr id="2" name="Rectangle 1">
            <a:extLst>
              <a:ext uri="{FF2B5EF4-FFF2-40B4-BE49-F238E27FC236}">
                <a16:creationId xmlns:a16="http://schemas.microsoft.com/office/drawing/2014/main" id="{54FEDDC4-8750-A277-D1D4-B4820628E4C0}"/>
              </a:ext>
            </a:extLst>
          </p:cNvPr>
          <p:cNvSpPr/>
          <p:nvPr/>
        </p:nvSpPr>
        <p:spPr>
          <a:xfrm>
            <a:off x="3565133" y="2126751"/>
            <a:ext cx="1263721" cy="111988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dirty="0"/>
              <a:t>LM</a:t>
            </a:r>
          </a:p>
        </p:txBody>
      </p:sp>
      <p:sp>
        <p:nvSpPr>
          <p:cNvPr id="3" name="TextBox 2">
            <a:extLst>
              <a:ext uri="{FF2B5EF4-FFF2-40B4-BE49-F238E27FC236}">
                <a16:creationId xmlns:a16="http://schemas.microsoft.com/office/drawing/2014/main" id="{10FA532A-ECDF-6898-E178-7D846A0305D9}"/>
              </a:ext>
            </a:extLst>
          </p:cNvPr>
          <p:cNvSpPr txBox="1"/>
          <p:nvPr/>
        </p:nvSpPr>
        <p:spPr>
          <a:xfrm>
            <a:off x="1183497" y="2334309"/>
            <a:ext cx="1532819" cy="646331"/>
          </a:xfrm>
          <a:prstGeom prst="rect">
            <a:avLst/>
          </a:prstGeom>
          <a:noFill/>
        </p:spPr>
        <p:txBody>
          <a:bodyPr wrap="square" rtlCol="0">
            <a:spAutoFit/>
          </a:bodyPr>
          <a:lstStyle/>
          <a:p>
            <a:r>
              <a:rPr lang="en-US" sz="1800" dirty="0"/>
              <a:t>Some sentence </a:t>
            </a:r>
            <a:r>
              <a:rPr lang="en-US" sz="1800" b="1" i="1" dirty="0"/>
              <a:t>S</a:t>
            </a:r>
          </a:p>
        </p:txBody>
      </p:sp>
      <p:sp>
        <p:nvSpPr>
          <p:cNvPr id="4" name="TextBox 3">
            <a:extLst>
              <a:ext uri="{FF2B5EF4-FFF2-40B4-BE49-F238E27FC236}">
                <a16:creationId xmlns:a16="http://schemas.microsoft.com/office/drawing/2014/main" id="{94309119-B6B8-B343-9395-139A92980FB8}"/>
              </a:ext>
            </a:extLst>
          </p:cNvPr>
          <p:cNvSpPr txBox="1"/>
          <p:nvPr/>
        </p:nvSpPr>
        <p:spPr>
          <a:xfrm>
            <a:off x="5770139" y="2502026"/>
            <a:ext cx="1642304" cy="369332"/>
          </a:xfrm>
          <a:prstGeom prst="rect">
            <a:avLst/>
          </a:prstGeom>
          <a:noFill/>
        </p:spPr>
        <p:txBody>
          <a:bodyPr wrap="square" rtlCol="0">
            <a:spAutoFit/>
          </a:bodyPr>
          <a:lstStyle/>
          <a:p>
            <a:r>
              <a:rPr lang="en-US" sz="1800" dirty="0" err="1"/>
              <a:t>Pr</a:t>
            </a:r>
            <a:r>
              <a:rPr lang="en-US" sz="1800" dirty="0"/>
              <a:t>[</a:t>
            </a:r>
            <a:r>
              <a:rPr lang="en-US" sz="1800" b="1" i="1" dirty="0"/>
              <a:t>S</a:t>
            </a:r>
            <a:r>
              <a:rPr lang="en-US" sz="1800" dirty="0"/>
              <a:t>]</a:t>
            </a:r>
          </a:p>
        </p:txBody>
      </p:sp>
      <p:sp>
        <p:nvSpPr>
          <p:cNvPr id="5" name="Right Arrow 4">
            <a:extLst>
              <a:ext uri="{FF2B5EF4-FFF2-40B4-BE49-F238E27FC236}">
                <a16:creationId xmlns:a16="http://schemas.microsoft.com/office/drawing/2014/main" id="{0D2F714B-76E1-51DE-77AB-6142CEF17701}"/>
              </a:ext>
            </a:extLst>
          </p:cNvPr>
          <p:cNvSpPr/>
          <p:nvPr/>
        </p:nvSpPr>
        <p:spPr>
          <a:xfrm>
            <a:off x="2716316" y="2571750"/>
            <a:ext cx="756349" cy="17145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ight Arrow 5">
            <a:extLst>
              <a:ext uri="{FF2B5EF4-FFF2-40B4-BE49-F238E27FC236}">
                <a16:creationId xmlns:a16="http://schemas.microsoft.com/office/drawing/2014/main" id="{EFD75DDE-2318-F87D-9F24-F00CFC19A95C}"/>
              </a:ext>
            </a:extLst>
          </p:cNvPr>
          <p:cNvSpPr/>
          <p:nvPr/>
        </p:nvSpPr>
        <p:spPr>
          <a:xfrm>
            <a:off x="4921322" y="2571750"/>
            <a:ext cx="756349" cy="17145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Google Shape;134;p24">
            <a:extLst>
              <a:ext uri="{FF2B5EF4-FFF2-40B4-BE49-F238E27FC236}">
                <a16:creationId xmlns:a16="http://schemas.microsoft.com/office/drawing/2014/main" id="{684B472D-4993-5AAC-F8EF-43E36F9E04C7}"/>
              </a:ext>
            </a:extLst>
          </p:cNvPr>
          <p:cNvSpPr txBox="1"/>
          <p:nvPr/>
        </p:nvSpPr>
        <p:spPr>
          <a:xfrm>
            <a:off x="1848424" y="3448407"/>
            <a:ext cx="5262217" cy="1205197"/>
          </a:xfrm>
          <a:prstGeom prst="rect">
            <a:avLst/>
          </a:prstGeom>
          <a:blipFill rotWithShape="1">
            <a:blip r:embed="rId3">
              <a:alphaModFix/>
            </a:blip>
            <a:stretch>
              <a:fillRect t="-9469" b="-20109"/>
            </a:stretch>
          </a:blipFill>
          <a:ln w="9525" cap="flat" cmpd="sng">
            <a:solidFill>
              <a:schemeClr val="dk1"/>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r>
              <a:rPr lang="en-GB" sz="1400">
                <a:latin typeface="Century Gothic"/>
                <a:ea typeface="Century Gothic"/>
                <a:cs typeface="Century Gothic"/>
                <a:sym typeface="Century Gothic"/>
              </a:rPr>
              <a:t> </a:t>
            </a:r>
            <a:endParaRPr sz="1100"/>
          </a:p>
        </p:txBody>
      </p:sp>
    </p:spTree>
    <p:extLst>
      <p:ext uri="{BB962C8B-B14F-4D97-AF65-F5344CB8AC3E}">
        <p14:creationId xmlns:p14="http://schemas.microsoft.com/office/powerpoint/2010/main" val="3953765044"/>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pic>
        <p:nvPicPr>
          <p:cNvPr id="140" name="Google Shape;140;p25"/>
          <p:cNvPicPr preferRelativeResize="0"/>
          <p:nvPr/>
        </p:nvPicPr>
        <p:blipFill rotWithShape="1">
          <a:blip r:embed="rId3">
            <a:alphaModFix/>
          </a:blip>
          <a:srcRect/>
          <a:stretch/>
        </p:blipFill>
        <p:spPr>
          <a:xfrm>
            <a:off x="449956" y="2948922"/>
            <a:ext cx="3878743" cy="1529173"/>
          </a:xfrm>
          <a:prstGeom prst="rect">
            <a:avLst/>
          </a:prstGeom>
          <a:noFill/>
          <a:ln>
            <a:noFill/>
          </a:ln>
        </p:spPr>
      </p:pic>
      <p:pic>
        <p:nvPicPr>
          <p:cNvPr id="141" name="Google Shape;141;p25"/>
          <p:cNvPicPr preferRelativeResize="0"/>
          <p:nvPr/>
        </p:nvPicPr>
        <p:blipFill rotWithShape="1">
          <a:blip r:embed="rId4">
            <a:alphaModFix/>
          </a:blip>
          <a:srcRect t="4287"/>
          <a:stretch/>
        </p:blipFill>
        <p:spPr>
          <a:xfrm>
            <a:off x="4572000" y="2527479"/>
            <a:ext cx="4464793" cy="2372059"/>
          </a:xfrm>
          <a:prstGeom prst="rect">
            <a:avLst/>
          </a:prstGeom>
          <a:noFill/>
          <a:ln w="9525" cap="flat" cmpd="sng">
            <a:solidFill>
              <a:schemeClr val="dk1"/>
            </a:solidFill>
            <a:prstDash val="solid"/>
            <a:round/>
            <a:headEnd type="none" w="sm" len="sm"/>
            <a:tailEnd type="none" w="sm" len="sm"/>
          </a:ln>
        </p:spPr>
      </p:pic>
      <p:sp>
        <p:nvSpPr>
          <p:cNvPr id="142" name="Google Shape;142;p25"/>
          <p:cNvSpPr txBox="1">
            <a:spLocks noGrp="1"/>
          </p:cNvSpPr>
          <p:nvPr>
            <p:ph type="title"/>
          </p:nvPr>
        </p:nvSpPr>
        <p:spPr>
          <a:xfrm>
            <a:off x="330225" y="214950"/>
            <a:ext cx="3577800" cy="619200"/>
          </a:xfrm>
          <a:prstGeom prst="rect">
            <a:avLst/>
          </a:prstGeom>
          <a:noFill/>
          <a:ln>
            <a:noFill/>
          </a:ln>
        </p:spPr>
        <p:txBody>
          <a:bodyPr spcFirstLastPara="1" wrap="square" lIns="68575" tIns="34275" rIns="68575" bIns="34275" anchor="b" anchorCtr="0">
            <a:normAutofit/>
          </a:bodyPr>
          <a:lstStyle/>
          <a:p>
            <a:pPr marL="0" lvl="0" indent="0" algn="l" rtl="0">
              <a:lnSpc>
                <a:spcPct val="85000"/>
              </a:lnSpc>
              <a:spcBef>
                <a:spcPts val="0"/>
              </a:spcBef>
              <a:spcAft>
                <a:spcPts val="0"/>
              </a:spcAft>
              <a:buClr>
                <a:srgbClr val="3F3F3F"/>
              </a:buClr>
              <a:buSzPts val="1400"/>
              <a:buFont typeface="Century Gothic"/>
              <a:buNone/>
            </a:pPr>
            <a:r>
              <a:rPr lang="en-GB"/>
              <a:t>Applications</a:t>
            </a:r>
            <a:endParaRPr/>
          </a:p>
        </p:txBody>
      </p:sp>
      <p:sp>
        <p:nvSpPr>
          <p:cNvPr id="143" name="Google Shape;143;p25"/>
          <p:cNvSpPr txBox="1">
            <a:spLocks noGrp="1"/>
          </p:cNvSpPr>
          <p:nvPr>
            <p:ph type="body" idx="1"/>
          </p:nvPr>
        </p:nvSpPr>
        <p:spPr>
          <a:xfrm>
            <a:off x="446325" y="1180000"/>
            <a:ext cx="8120400" cy="568200"/>
          </a:xfrm>
          <a:prstGeom prst="rect">
            <a:avLst/>
          </a:prstGeom>
          <a:noFill/>
          <a:ln>
            <a:noFill/>
          </a:ln>
        </p:spPr>
        <p:txBody>
          <a:bodyPr spcFirstLastPara="1" wrap="square" lIns="0" tIns="34275" rIns="0" bIns="34275" anchor="t" anchorCtr="0">
            <a:noAutofit/>
          </a:bodyPr>
          <a:lstStyle/>
          <a:p>
            <a:pPr marL="88900" lvl="0" indent="0" algn="l" rtl="0">
              <a:lnSpc>
                <a:spcPct val="90000"/>
              </a:lnSpc>
              <a:spcBef>
                <a:spcPts val="900"/>
              </a:spcBef>
              <a:spcAft>
                <a:spcPts val="0"/>
              </a:spcAft>
              <a:buClr>
                <a:schemeClr val="dk1"/>
              </a:buClr>
              <a:buSzPts val="1400"/>
              <a:buNone/>
            </a:pPr>
            <a:r>
              <a:rPr lang="en-GB" sz="2000"/>
              <a:t>A language model defines a </a:t>
            </a:r>
            <a:r>
              <a:rPr lang="en-GB" sz="2000">
                <a:solidFill>
                  <a:srgbClr val="00B0F0"/>
                </a:solidFill>
              </a:rPr>
              <a:t>probability</a:t>
            </a:r>
            <a:r>
              <a:rPr lang="en-GB" sz="2000"/>
              <a:t> distribution over </a:t>
            </a:r>
            <a:r>
              <a:rPr lang="en-GB" sz="2000">
                <a:solidFill>
                  <a:srgbClr val="00B0F0"/>
                </a:solidFill>
              </a:rPr>
              <a:t>sentences</a:t>
            </a:r>
            <a:endParaRPr sz="2000"/>
          </a:p>
        </p:txBody>
      </p:sp>
      <p:sp>
        <p:nvSpPr>
          <p:cNvPr id="144" name="Google Shape;144;p25"/>
          <p:cNvSpPr txBox="1">
            <a:spLocks noGrp="1"/>
          </p:cNvSpPr>
          <p:nvPr>
            <p:ph type="body" idx="1"/>
          </p:nvPr>
        </p:nvSpPr>
        <p:spPr>
          <a:xfrm>
            <a:off x="471500" y="1636525"/>
            <a:ext cx="7543800" cy="3204000"/>
          </a:xfrm>
          <a:prstGeom prst="rect">
            <a:avLst/>
          </a:prstGeom>
          <a:noFill/>
          <a:ln>
            <a:noFill/>
          </a:ln>
        </p:spPr>
        <p:txBody>
          <a:bodyPr spcFirstLastPara="1" wrap="square" lIns="68575" tIns="34275" rIns="68575" bIns="34275" anchor="t" anchorCtr="0">
            <a:normAutofit/>
          </a:bodyPr>
          <a:lstStyle/>
          <a:p>
            <a:pPr marL="457200" lvl="0" indent="-355600" algn="l" rtl="0">
              <a:lnSpc>
                <a:spcPct val="150000"/>
              </a:lnSpc>
              <a:spcBef>
                <a:spcPts val="0"/>
              </a:spcBef>
              <a:spcAft>
                <a:spcPts val="0"/>
              </a:spcAft>
              <a:buSzPts val="2000"/>
              <a:buChar char="●"/>
            </a:pPr>
            <a:r>
              <a:rPr lang="en-GB" sz="2000"/>
              <a:t>Comparing </a:t>
            </a:r>
            <a:r>
              <a:rPr lang="en-GB" sz="2000">
                <a:solidFill>
                  <a:srgbClr val="00B0F0"/>
                </a:solidFill>
              </a:rPr>
              <a:t>likelihood</a:t>
            </a:r>
            <a:r>
              <a:rPr lang="en-GB" sz="2000"/>
              <a:t>: Pr(“high winds”) &gt; Pr(“large winds”)</a:t>
            </a:r>
            <a:endParaRPr sz="200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Shape 148"/>
        <p:cNvGrpSpPr/>
        <p:nvPr/>
      </p:nvGrpSpPr>
      <p:grpSpPr>
        <a:xfrm>
          <a:off x="0" y="0"/>
          <a:ext cx="0" cy="0"/>
          <a:chOff x="0" y="0"/>
          <a:chExt cx="0" cy="0"/>
        </a:xfrm>
      </p:grpSpPr>
      <p:sp>
        <p:nvSpPr>
          <p:cNvPr id="149" name="Google Shape;149;p26"/>
          <p:cNvSpPr txBox="1">
            <a:spLocks noGrp="1"/>
          </p:cNvSpPr>
          <p:nvPr>
            <p:ph type="title"/>
          </p:nvPr>
        </p:nvSpPr>
        <p:spPr>
          <a:xfrm>
            <a:off x="330225" y="214950"/>
            <a:ext cx="3577800" cy="619200"/>
          </a:xfrm>
          <a:prstGeom prst="rect">
            <a:avLst/>
          </a:prstGeom>
          <a:noFill/>
          <a:ln>
            <a:noFill/>
          </a:ln>
        </p:spPr>
        <p:txBody>
          <a:bodyPr spcFirstLastPara="1" wrap="square" lIns="68575" tIns="34275" rIns="68575" bIns="34275" anchor="b" anchorCtr="0">
            <a:normAutofit/>
          </a:bodyPr>
          <a:lstStyle/>
          <a:p>
            <a:pPr marL="0" lvl="0" indent="0" algn="l" rtl="0">
              <a:lnSpc>
                <a:spcPct val="85000"/>
              </a:lnSpc>
              <a:spcBef>
                <a:spcPts val="0"/>
              </a:spcBef>
              <a:spcAft>
                <a:spcPts val="0"/>
              </a:spcAft>
              <a:buClr>
                <a:srgbClr val="3F3F3F"/>
              </a:buClr>
              <a:buSzPts val="1400"/>
              <a:buFont typeface="Century Gothic"/>
              <a:buNone/>
            </a:pPr>
            <a:r>
              <a:rPr lang="en-GB"/>
              <a:t>Applications</a:t>
            </a:r>
            <a:endParaRPr/>
          </a:p>
        </p:txBody>
      </p:sp>
      <p:sp>
        <p:nvSpPr>
          <p:cNvPr id="150" name="Google Shape;150;p26"/>
          <p:cNvSpPr txBox="1">
            <a:spLocks noGrp="1"/>
          </p:cNvSpPr>
          <p:nvPr>
            <p:ph type="body" idx="1"/>
          </p:nvPr>
        </p:nvSpPr>
        <p:spPr>
          <a:xfrm>
            <a:off x="446325" y="1180000"/>
            <a:ext cx="8120400" cy="568200"/>
          </a:xfrm>
          <a:prstGeom prst="rect">
            <a:avLst/>
          </a:prstGeom>
          <a:noFill/>
          <a:ln>
            <a:noFill/>
          </a:ln>
        </p:spPr>
        <p:txBody>
          <a:bodyPr spcFirstLastPara="1" wrap="square" lIns="0" tIns="34275" rIns="0" bIns="34275" anchor="t" anchorCtr="0">
            <a:noAutofit/>
          </a:bodyPr>
          <a:lstStyle/>
          <a:p>
            <a:pPr marL="88900" lvl="0" indent="0" algn="l" rtl="0">
              <a:lnSpc>
                <a:spcPct val="90000"/>
              </a:lnSpc>
              <a:spcBef>
                <a:spcPts val="900"/>
              </a:spcBef>
              <a:spcAft>
                <a:spcPts val="0"/>
              </a:spcAft>
              <a:buClr>
                <a:schemeClr val="dk1"/>
              </a:buClr>
              <a:buSzPts val="1400"/>
              <a:buNone/>
            </a:pPr>
            <a:r>
              <a:rPr lang="en-GB" sz="2000"/>
              <a:t>A language model defines a </a:t>
            </a:r>
            <a:r>
              <a:rPr lang="en-GB" sz="2000">
                <a:solidFill>
                  <a:srgbClr val="00B0F0"/>
                </a:solidFill>
              </a:rPr>
              <a:t>probability</a:t>
            </a:r>
            <a:r>
              <a:rPr lang="en-GB" sz="2000"/>
              <a:t> distribution over </a:t>
            </a:r>
            <a:r>
              <a:rPr lang="en-GB" sz="2000">
                <a:solidFill>
                  <a:srgbClr val="00B0F0"/>
                </a:solidFill>
              </a:rPr>
              <a:t>sentences</a:t>
            </a:r>
            <a:endParaRPr sz="2000"/>
          </a:p>
        </p:txBody>
      </p:sp>
      <p:sp>
        <p:nvSpPr>
          <p:cNvPr id="151" name="Google Shape;151;p26"/>
          <p:cNvSpPr txBox="1">
            <a:spLocks noGrp="1"/>
          </p:cNvSpPr>
          <p:nvPr>
            <p:ph type="body" idx="1"/>
          </p:nvPr>
        </p:nvSpPr>
        <p:spPr>
          <a:xfrm>
            <a:off x="471500" y="1636525"/>
            <a:ext cx="7543800" cy="935100"/>
          </a:xfrm>
          <a:prstGeom prst="rect">
            <a:avLst/>
          </a:prstGeom>
          <a:noFill/>
          <a:ln>
            <a:noFill/>
          </a:ln>
        </p:spPr>
        <p:txBody>
          <a:bodyPr spcFirstLastPara="1" wrap="square" lIns="68575" tIns="34275" rIns="68575" bIns="34275" anchor="t" anchorCtr="0">
            <a:normAutofit lnSpcReduction="10000"/>
          </a:bodyPr>
          <a:lstStyle/>
          <a:p>
            <a:pPr marL="457200" lvl="0" indent="-355600" algn="l" rtl="0">
              <a:lnSpc>
                <a:spcPct val="150000"/>
              </a:lnSpc>
              <a:spcBef>
                <a:spcPts val="0"/>
              </a:spcBef>
              <a:spcAft>
                <a:spcPts val="0"/>
              </a:spcAft>
              <a:buSzPts val="2000"/>
              <a:buChar char="●"/>
            </a:pPr>
            <a:r>
              <a:rPr lang="en-GB" sz="2000"/>
              <a:t>Comparing </a:t>
            </a:r>
            <a:r>
              <a:rPr lang="en-GB" sz="2000">
                <a:solidFill>
                  <a:srgbClr val="00B0F0"/>
                </a:solidFill>
              </a:rPr>
              <a:t>likelihood</a:t>
            </a:r>
            <a:r>
              <a:rPr lang="en-GB" sz="2000"/>
              <a:t>: Pr(“high winds”) &gt; Pr(“large winds”)</a:t>
            </a:r>
            <a:endParaRPr sz="2000"/>
          </a:p>
          <a:p>
            <a:pPr marL="457200" lvl="0" indent="-355600" algn="l" rtl="0">
              <a:lnSpc>
                <a:spcPct val="150000"/>
              </a:lnSpc>
              <a:spcBef>
                <a:spcPts val="0"/>
              </a:spcBef>
              <a:spcAft>
                <a:spcPts val="0"/>
              </a:spcAft>
              <a:buSzPts val="2000"/>
              <a:buChar char="●"/>
            </a:pPr>
            <a:r>
              <a:rPr lang="en-GB" sz="2000"/>
              <a:t>Next word </a:t>
            </a:r>
            <a:r>
              <a:rPr lang="en-GB" sz="2000">
                <a:solidFill>
                  <a:srgbClr val="00B0F0"/>
                </a:solidFill>
              </a:rPr>
              <a:t>prediction</a:t>
            </a:r>
            <a:endParaRPr sz="2000">
              <a:solidFill>
                <a:srgbClr val="00B0F0"/>
              </a:solidFill>
            </a:endParaRPr>
          </a:p>
        </p:txBody>
      </p:sp>
      <p:pic>
        <p:nvPicPr>
          <p:cNvPr id="152" name="Google Shape;152;p26" descr="page4image2466201792"/>
          <p:cNvPicPr preferRelativeResize="0"/>
          <p:nvPr/>
        </p:nvPicPr>
        <p:blipFill rotWithShape="1">
          <a:blip r:embed="rId3">
            <a:alphaModFix/>
          </a:blip>
          <a:srcRect t="2200"/>
          <a:stretch/>
        </p:blipFill>
        <p:spPr>
          <a:xfrm>
            <a:off x="777240" y="2606598"/>
            <a:ext cx="3188473" cy="2153002"/>
          </a:xfrm>
          <a:prstGeom prst="rect">
            <a:avLst/>
          </a:prstGeom>
          <a:noFill/>
          <a:ln>
            <a:noFill/>
          </a:ln>
        </p:spPr>
      </p:pic>
      <p:pic>
        <p:nvPicPr>
          <p:cNvPr id="153" name="Google Shape;153;p26" descr="page5image268464112"/>
          <p:cNvPicPr preferRelativeResize="0"/>
          <p:nvPr/>
        </p:nvPicPr>
        <p:blipFill rotWithShape="1">
          <a:blip r:embed="rId4">
            <a:alphaModFix/>
          </a:blip>
          <a:srcRect b="4342"/>
          <a:stretch/>
        </p:blipFill>
        <p:spPr>
          <a:xfrm>
            <a:off x="4390622" y="2638838"/>
            <a:ext cx="3930419" cy="2105854"/>
          </a:xfrm>
          <a:prstGeom prst="rect">
            <a:avLst/>
          </a:prstGeom>
          <a:noFill/>
          <a:ln>
            <a:noFill/>
          </a:ln>
        </p:spPr>
      </p:pic>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158" name="Google Shape;158;p27"/>
          <p:cNvSpPr txBox="1">
            <a:spLocks noGrp="1"/>
          </p:cNvSpPr>
          <p:nvPr>
            <p:ph type="title"/>
          </p:nvPr>
        </p:nvSpPr>
        <p:spPr>
          <a:xfrm>
            <a:off x="330225" y="214950"/>
            <a:ext cx="3577800" cy="619200"/>
          </a:xfrm>
          <a:prstGeom prst="rect">
            <a:avLst/>
          </a:prstGeom>
          <a:noFill/>
          <a:ln>
            <a:noFill/>
          </a:ln>
        </p:spPr>
        <p:txBody>
          <a:bodyPr spcFirstLastPara="1" wrap="square" lIns="68575" tIns="34275" rIns="68575" bIns="34275" anchor="b" anchorCtr="0">
            <a:normAutofit/>
          </a:bodyPr>
          <a:lstStyle/>
          <a:p>
            <a:pPr marL="0" lvl="0" indent="0" algn="l" rtl="0">
              <a:lnSpc>
                <a:spcPct val="85000"/>
              </a:lnSpc>
              <a:spcBef>
                <a:spcPts val="0"/>
              </a:spcBef>
              <a:spcAft>
                <a:spcPts val="0"/>
              </a:spcAft>
              <a:buClr>
                <a:srgbClr val="3F3F3F"/>
              </a:buClr>
              <a:buSzPts val="1400"/>
              <a:buFont typeface="Century Gothic"/>
              <a:buNone/>
            </a:pPr>
            <a:r>
              <a:rPr lang="en-GB"/>
              <a:t>Applications</a:t>
            </a:r>
            <a:endParaRPr/>
          </a:p>
        </p:txBody>
      </p:sp>
      <p:sp>
        <p:nvSpPr>
          <p:cNvPr id="159" name="Google Shape;159;p27"/>
          <p:cNvSpPr txBox="1">
            <a:spLocks noGrp="1"/>
          </p:cNvSpPr>
          <p:nvPr>
            <p:ph type="body" idx="1"/>
          </p:nvPr>
        </p:nvSpPr>
        <p:spPr>
          <a:xfrm>
            <a:off x="446325" y="1180000"/>
            <a:ext cx="8120400" cy="568200"/>
          </a:xfrm>
          <a:prstGeom prst="rect">
            <a:avLst/>
          </a:prstGeom>
          <a:noFill/>
          <a:ln>
            <a:noFill/>
          </a:ln>
        </p:spPr>
        <p:txBody>
          <a:bodyPr spcFirstLastPara="1" wrap="square" lIns="0" tIns="34275" rIns="0" bIns="34275" anchor="t" anchorCtr="0">
            <a:noAutofit/>
          </a:bodyPr>
          <a:lstStyle/>
          <a:p>
            <a:pPr marL="88900" lvl="0" indent="0" algn="l" rtl="0">
              <a:lnSpc>
                <a:spcPct val="90000"/>
              </a:lnSpc>
              <a:spcBef>
                <a:spcPts val="900"/>
              </a:spcBef>
              <a:spcAft>
                <a:spcPts val="0"/>
              </a:spcAft>
              <a:buClr>
                <a:schemeClr val="dk1"/>
              </a:buClr>
              <a:buSzPts val="1400"/>
              <a:buNone/>
            </a:pPr>
            <a:r>
              <a:rPr lang="en-GB" sz="2000"/>
              <a:t>A language model defines a </a:t>
            </a:r>
            <a:r>
              <a:rPr lang="en-GB" sz="2000">
                <a:solidFill>
                  <a:srgbClr val="00B0F0"/>
                </a:solidFill>
              </a:rPr>
              <a:t>probability</a:t>
            </a:r>
            <a:r>
              <a:rPr lang="en-GB" sz="2000"/>
              <a:t> distribution over </a:t>
            </a:r>
            <a:r>
              <a:rPr lang="en-GB" sz="2000">
                <a:solidFill>
                  <a:srgbClr val="00B0F0"/>
                </a:solidFill>
              </a:rPr>
              <a:t>sentences</a:t>
            </a:r>
            <a:endParaRPr sz="2000"/>
          </a:p>
        </p:txBody>
      </p:sp>
      <p:sp>
        <p:nvSpPr>
          <p:cNvPr id="160" name="Google Shape;160;p27"/>
          <p:cNvSpPr txBox="1">
            <a:spLocks noGrp="1"/>
          </p:cNvSpPr>
          <p:nvPr>
            <p:ph type="body" idx="1"/>
          </p:nvPr>
        </p:nvSpPr>
        <p:spPr>
          <a:xfrm>
            <a:off x="471500" y="1712725"/>
            <a:ext cx="7799100" cy="3088800"/>
          </a:xfrm>
          <a:prstGeom prst="rect">
            <a:avLst/>
          </a:prstGeom>
          <a:noFill/>
          <a:ln>
            <a:noFill/>
          </a:ln>
        </p:spPr>
        <p:txBody>
          <a:bodyPr spcFirstLastPara="1" wrap="square" lIns="68575" tIns="34275" rIns="68575" bIns="34275" anchor="t" anchorCtr="0">
            <a:normAutofit/>
          </a:bodyPr>
          <a:lstStyle/>
          <a:p>
            <a:pPr marL="457200" lvl="0" indent="-355600" algn="l" rtl="0">
              <a:lnSpc>
                <a:spcPct val="150000"/>
              </a:lnSpc>
              <a:spcBef>
                <a:spcPts val="0"/>
              </a:spcBef>
              <a:spcAft>
                <a:spcPts val="0"/>
              </a:spcAft>
              <a:buSzPts val="2000"/>
              <a:buChar char="●"/>
            </a:pPr>
            <a:r>
              <a:rPr lang="en-GB" sz="2000"/>
              <a:t>Comparing </a:t>
            </a:r>
            <a:r>
              <a:rPr lang="en-GB" sz="2000">
                <a:solidFill>
                  <a:srgbClr val="00B0F0"/>
                </a:solidFill>
              </a:rPr>
              <a:t>likelihood</a:t>
            </a:r>
            <a:r>
              <a:rPr lang="en-GB" sz="2000"/>
              <a:t>: Pr(“high winds”) &gt; Pr(“large winds”)</a:t>
            </a:r>
            <a:endParaRPr sz="2000"/>
          </a:p>
          <a:p>
            <a:pPr marL="457200" lvl="0" indent="-355600" algn="l" rtl="0">
              <a:lnSpc>
                <a:spcPct val="150000"/>
              </a:lnSpc>
              <a:spcBef>
                <a:spcPts val="0"/>
              </a:spcBef>
              <a:spcAft>
                <a:spcPts val="0"/>
              </a:spcAft>
              <a:buSzPts val="2000"/>
              <a:buChar char="●"/>
            </a:pPr>
            <a:r>
              <a:rPr lang="en-GB" sz="2000"/>
              <a:t>Next word </a:t>
            </a:r>
            <a:r>
              <a:rPr lang="en-GB" sz="2000">
                <a:solidFill>
                  <a:srgbClr val="00B0F0"/>
                </a:solidFill>
              </a:rPr>
              <a:t>prediction</a:t>
            </a:r>
            <a:endParaRPr sz="2000"/>
          </a:p>
        </p:txBody>
      </p:sp>
      <p:sp>
        <p:nvSpPr>
          <p:cNvPr id="161" name="Google Shape;161;p27"/>
          <p:cNvSpPr txBox="1">
            <a:spLocks noGrp="1"/>
          </p:cNvSpPr>
          <p:nvPr>
            <p:ph type="body" idx="1"/>
          </p:nvPr>
        </p:nvSpPr>
        <p:spPr>
          <a:xfrm>
            <a:off x="471500" y="2600727"/>
            <a:ext cx="7799100" cy="2374800"/>
          </a:xfrm>
          <a:prstGeom prst="rect">
            <a:avLst/>
          </a:prstGeom>
          <a:noFill/>
          <a:ln>
            <a:noFill/>
          </a:ln>
        </p:spPr>
        <p:txBody>
          <a:bodyPr spcFirstLastPara="1" wrap="square" lIns="68575" tIns="34275" rIns="68575" bIns="34275" anchor="t" anchorCtr="0">
            <a:normAutofit/>
          </a:bodyPr>
          <a:lstStyle/>
          <a:p>
            <a:pPr marL="457200" lvl="0" indent="-355600" algn="l" rtl="0">
              <a:lnSpc>
                <a:spcPct val="150000"/>
              </a:lnSpc>
              <a:spcBef>
                <a:spcPts val="0"/>
              </a:spcBef>
              <a:spcAft>
                <a:spcPts val="0"/>
              </a:spcAft>
              <a:buSzPts val="2000"/>
              <a:buChar char="●"/>
            </a:pPr>
            <a:r>
              <a:rPr lang="en-GB" sz="2000" dirty="0"/>
              <a:t>Classification/question answering as language </a:t>
            </a:r>
            <a:r>
              <a:rPr lang="en-GB" sz="2000" dirty="0" err="1"/>
              <a:t>modeling</a:t>
            </a:r>
            <a:endParaRPr sz="2000" dirty="0"/>
          </a:p>
          <a:p>
            <a:pPr marL="457200" lvl="0" indent="-355600" algn="l" rtl="0">
              <a:lnSpc>
                <a:spcPct val="150000"/>
              </a:lnSpc>
              <a:spcBef>
                <a:spcPts val="0"/>
              </a:spcBef>
              <a:spcAft>
                <a:spcPts val="0"/>
              </a:spcAft>
              <a:buSzPts val="2000"/>
              <a:buChar char="●"/>
            </a:pPr>
            <a:r>
              <a:rPr lang="en-GB" sz="2000" dirty="0"/>
              <a:t>General good representations for any NLP task (</a:t>
            </a:r>
            <a:r>
              <a:rPr lang="en-GB" sz="2000" u="sng" dirty="0">
                <a:solidFill>
                  <a:schemeClr val="hlink"/>
                </a:solidFill>
                <a:hlinkClick r:id="rId3"/>
              </a:rPr>
              <a:t>ELMo</a:t>
            </a:r>
            <a:r>
              <a:rPr lang="en-GB" sz="2000" dirty="0"/>
              <a:t>, </a:t>
            </a:r>
            <a:r>
              <a:rPr lang="en-GB" sz="2000" u="sng" dirty="0">
                <a:solidFill>
                  <a:schemeClr val="hlink"/>
                </a:solidFill>
                <a:hlinkClick r:id="rId4"/>
              </a:rPr>
              <a:t>BERT</a:t>
            </a:r>
            <a:r>
              <a:rPr lang="en-GB" sz="2000" dirty="0"/>
              <a:t>)</a:t>
            </a:r>
            <a:endParaRPr sz="2000" dirty="0"/>
          </a:p>
          <a:p>
            <a:pPr marL="457200" lvl="0" indent="-355600" algn="l" rtl="0">
              <a:lnSpc>
                <a:spcPct val="150000"/>
              </a:lnSpc>
              <a:spcBef>
                <a:spcPts val="0"/>
              </a:spcBef>
              <a:spcAft>
                <a:spcPts val="0"/>
              </a:spcAft>
              <a:buSzPts val="2000"/>
              <a:buChar char="●"/>
            </a:pPr>
            <a:r>
              <a:rPr lang="en-GB" sz="2000" dirty="0"/>
              <a:t>Many more…</a:t>
            </a:r>
            <a:endParaRPr sz="2000" dirty="0"/>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sp>
        <p:nvSpPr>
          <p:cNvPr id="167" name="Google Shape;167;p28"/>
          <p:cNvSpPr txBox="1">
            <a:spLocks noGrp="1"/>
          </p:cNvSpPr>
          <p:nvPr>
            <p:ph type="title"/>
          </p:nvPr>
        </p:nvSpPr>
        <p:spPr>
          <a:xfrm>
            <a:off x="330225" y="214950"/>
            <a:ext cx="3577800" cy="619200"/>
          </a:xfrm>
          <a:prstGeom prst="rect">
            <a:avLst/>
          </a:prstGeom>
          <a:noFill/>
          <a:ln>
            <a:noFill/>
          </a:ln>
        </p:spPr>
        <p:txBody>
          <a:bodyPr spcFirstLastPara="1" wrap="square" lIns="68575" tIns="34275" rIns="68575" bIns="34275" anchor="b" anchorCtr="0">
            <a:normAutofit/>
          </a:bodyPr>
          <a:lstStyle/>
          <a:p>
            <a:pPr marL="0" lvl="0" indent="0" algn="l" rtl="0">
              <a:spcBef>
                <a:spcPts val="0"/>
              </a:spcBef>
              <a:spcAft>
                <a:spcPts val="0"/>
              </a:spcAft>
              <a:buClr>
                <a:srgbClr val="3F3F3F"/>
              </a:buClr>
              <a:buSzPts val="3600"/>
              <a:buFont typeface="Calibri"/>
              <a:buNone/>
            </a:pPr>
            <a:r>
              <a:rPr lang="en-GB"/>
              <a:t>Philosophical</a:t>
            </a:r>
            <a:endParaRPr/>
          </a:p>
        </p:txBody>
      </p:sp>
      <p:sp>
        <p:nvSpPr>
          <p:cNvPr id="168" name="Google Shape;168;p28"/>
          <p:cNvSpPr txBox="1">
            <a:spLocks noGrp="1"/>
          </p:cNvSpPr>
          <p:nvPr>
            <p:ph type="body" idx="1"/>
          </p:nvPr>
        </p:nvSpPr>
        <p:spPr>
          <a:xfrm>
            <a:off x="330225" y="1147900"/>
            <a:ext cx="8564400" cy="3088800"/>
          </a:xfrm>
          <a:prstGeom prst="rect">
            <a:avLst/>
          </a:prstGeom>
          <a:noFill/>
          <a:ln>
            <a:noFill/>
          </a:ln>
        </p:spPr>
        <p:txBody>
          <a:bodyPr spcFirstLastPara="1" wrap="square" lIns="68575" tIns="34275" rIns="68575" bIns="34275" anchor="t" anchorCtr="0">
            <a:normAutofit/>
          </a:bodyPr>
          <a:lstStyle/>
          <a:p>
            <a:pPr marL="457200" lvl="0" indent="-349250" algn="l" rtl="0">
              <a:lnSpc>
                <a:spcPct val="150000"/>
              </a:lnSpc>
              <a:spcBef>
                <a:spcPts val="0"/>
              </a:spcBef>
              <a:spcAft>
                <a:spcPts val="0"/>
              </a:spcAft>
              <a:buSzPts val="1900"/>
              <a:buChar char="●"/>
            </a:pPr>
            <a:r>
              <a:rPr lang="en-GB" sz="1900"/>
              <a:t>Does defining a probability distribution over sentences == </a:t>
            </a:r>
            <a:r>
              <a:rPr lang="en-GB" sz="1900">
                <a:solidFill>
                  <a:srgbClr val="00B0F0"/>
                </a:solidFill>
              </a:rPr>
              <a:t>understanding</a:t>
            </a:r>
            <a:r>
              <a:rPr lang="en-GB" sz="1900"/>
              <a:t>?</a:t>
            </a:r>
            <a:endParaRPr sz="1900"/>
          </a:p>
          <a:p>
            <a:pPr marL="457200" lvl="0" indent="-349250" algn="l" rtl="0">
              <a:lnSpc>
                <a:spcPct val="150000"/>
              </a:lnSpc>
              <a:spcBef>
                <a:spcPts val="0"/>
              </a:spcBef>
              <a:spcAft>
                <a:spcPts val="0"/>
              </a:spcAft>
              <a:buSzPts val="1900"/>
              <a:buChar char="●"/>
            </a:pPr>
            <a:r>
              <a:rPr lang="en-GB" sz="1900"/>
              <a:t>A model that is good at predicting the next word, must know something about </a:t>
            </a:r>
            <a:r>
              <a:rPr lang="en-GB" sz="1900">
                <a:solidFill>
                  <a:srgbClr val="00B0F0"/>
                </a:solidFill>
              </a:rPr>
              <a:t>language</a:t>
            </a:r>
            <a:r>
              <a:rPr lang="en-GB" sz="1900"/>
              <a:t> and the </a:t>
            </a:r>
            <a:r>
              <a:rPr lang="en-GB" sz="1900">
                <a:solidFill>
                  <a:srgbClr val="00B0F0"/>
                </a:solidFill>
              </a:rPr>
              <a:t>world</a:t>
            </a:r>
            <a:r>
              <a:rPr lang="en-GB" sz="1900"/>
              <a:t> (</a:t>
            </a:r>
            <a:r>
              <a:rPr lang="en-GB" sz="1900">
                <a:solidFill>
                  <a:srgbClr val="C55A11"/>
                </a:solidFill>
              </a:rPr>
              <a:t>what?</a:t>
            </a:r>
            <a:r>
              <a:rPr lang="en-GB" sz="1900"/>
              <a:t>)</a:t>
            </a:r>
            <a:endParaRPr sz="1900"/>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Shape 172"/>
        <p:cNvGrpSpPr/>
        <p:nvPr/>
      </p:nvGrpSpPr>
      <p:grpSpPr>
        <a:xfrm>
          <a:off x="0" y="0"/>
          <a:ext cx="0" cy="0"/>
          <a:chOff x="0" y="0"/>
          <a:chExt cx="0" cy="0"/>
        </a:xfrm>
      </p:grpSpPr>
      <p:pic>
        <p:nvPicPr>
          <p:cNvPr id="8" name="sutskevernextword.mp4">
            <a:hlinkClick r:id="" action="ppaction://media"/>
            <a:extLst>
              <a:ext uri="{FF2B5EF4-FFF2-40B4-BE49-F238E27FC236}">
                <a16:creationId xmlns:a16="http://schemas.microsoft.com/office/drawing/2014/main" id="{BAEA97C5-A815-D632-775B-1D515F20FFE0}"/>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2020799" y="228600"/>
            <a:ext cx="4020406" cy="4020406"/>
          </a:xfrm>
          <a:prstGeom prst="rect">
            <a:avLst/>
          </a:prstGeom>
        </p:spPr>
      </p:pic>
    </p:spTree>
  </p:cSld>
  <p:clrMapOvr>
    <a:masterClrMapping/>
  </p:clrMapOvr>
  <p:timing>
    <p:tnLst>
      <p:par>
        <p:cTn id="1" dur="indefinite" restart="never" nodeType="tmRoot">
          <p:childTnLst>
            <p:video>
              <p:cMediaNode vol="80000">
                <p:cTn id="2" fill="hold" display="0">
                  <p:stCondLst>
                    <p:cond delay="indefinite"/>
                  </p:stCondLst>
                </p:cTn>
                <p:tgtEl>
                  <p:spTgt spid="8"/>
                </p:tgtEl>
              </p:cMediaNode>
            </p:video>
          </p:childTnLst>
        </p:cTn>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Shape 178"/>
        <p:cNvGrpSpPr/>
        <p:nvPr/>
      </p:nvGrpSpPr>
      <p:grpSpPr>
        <a:xfrm>
          <a:off x="0" y="0"/>
          <a:ext cx="0" cy="0"/>
          <a:chOff x="0" y="0"/>
          <a:chExt cx="0" cy="0"/>
        </a:xfrm>
      </p:grpSpPr>
      <p:pic>
        <p:nvPicPr>
          <p:cNvPr id="179" name="Google Shape;179;p30" descr="Turing Test Cartoons and Comics - funny pictures from CartoonStock"/>
          <p:cNvPicPr preferRelativeResize="0"/>
          <p:nvPr/>
        </p:nvPicPr>
        <p:blipFill rotWithShape="1">
          <a:blip r:embed="rId3">
            <a:alphaModFix/>
          </a:blip>
          <a:srcRect/>
          <a:stretch/>
        </p:blipFill>
        <p:spPr>
          <a:xfrm>
            <a:off x="4048017" y="2320419"/>
            <a:ext cx="5095983" cy="2823081"/>
          </a:xfrm>
          <a:prstGeom prst="rect">
            <a:avLst/>
          </a:prstGeom>
          <a:noFill/>
          <a:ln>
            <a:noFill/>
          </a:ln>
        </p:spPr>
      </p:pic>
      <p:sp>
        <p:nvSpPr>
          <p:cNvPr id="180" name="Google Shape;180;p30"/>
          <p:cNvSpPr txBox="1">
            <a:spLocks noGrp="1"/>
          </p:cNvSpPr>
          <p:nvPr>
            <p:ph type="title"/>
          </p:nvPr>
        </p:nvSpPr>
        <p:spPr>
          <a:xfrm>
            <a:off x="330225" y="214950"/>
            <a:ext cx="3577800" cy="619200"/>
          </a:xfrm>
          <a:prstGeom prst="rect">
            <a:avLst/>
          </a:prstGeom>
          <a:noFill/>
          <a:ln>
            <a:noFill/>
          </a:ln>
        </p:spPr>
        <p:txBody>
          <a:bodyPr spcFirstLastPara="1" wrap="square" lIns="68575" tIns="34275" rIns="68575" bIns="34275" anchor="b" anchorCtr="0">
            <a:normAutofit/>
          </a:bodyPr>
          <a:lstStyle/>
          <a:p>
            <a:pPr marL="0" lvl="0" indent="0" algn="l" rtl="0">
              <a:spcBef>
                <a:spcPts val="0"/>
              </a:spcBef>
              <a:spcAft>
                <a:spcPts val="0"/>
              </a:spcAft>
              <a:buClr>
                <a:srgbClr val="3F3F3F"/>
              </a:buClr>
              <a:buSzPts val="3600"/>
              <a:buFont typeface="Calibri"/>
              <a:buNone/>
            </a:pPr>
            <a:r>
              <a:rPr lang="en-GB"/>
              <a:t>Philosophical</a:t>
            </a:r>
            <a:endParaRPr/>
          </a:p>
        </p:txBody>
      </p:sp>
      <p:sp>
        <p:nvSpPr>
          <p:cNvPr id="181" name="Google Shape;181;p30"/>
          <p:cNvSpPr txBox="1">
            <a:spLocks noGrp="1"/>
          </p:cNvSpPr>
          <p:nvPr>
            <p:ph type="body" idx="1"/>
          </p:nvPr>
        </p:nvSpPr>
        <p:spPr>
          <a:xfrm>
            <a:off x="330225" y="1147900"/>
            <a:ext cx="7799100" cy="3088800"/>
          </a:xfrm>
          <a:prstGeom prst="rect">
            <a:avLst/>
          </a:prstGeom>
          <a:noFill/>
          <a:ln>
            <a:noFill/>
          </a:ln>
        </p:spPr>
        <p:txBody>
          <a:bodyPr spcFirstLastPara="1" wrap="square" lIns="68575" tIns="34275" rIns="68575" bIns="34275" anchor="t" anchorCtr="0">
            <a:normAutofit lnSpcReduction="10000"/>
          </a:bodyPr>
          <a:lstStyle/>
          <a:p>
            <a:pPr marL="457200" lvl="0" indent="-355600" algn="l" rtl="0">
              <a:lnSpc>
                <a:spcPct val="150000"/>
              </a:lnSpc>
              <a:spcBef>
                <a:spcPts val="0"/>
              </a:spcBef>
              <a:spcAft>
                <a:spcPts val="0"/>
              </a:spcAft>
              <a:buSzPts val="2000"/>
              <a:buChar char="●"/>
            </a:pPr>
            <a:r>
              <a:rPr lang="en-GB" sz="2000" dirty="0"/>
              <a:t>Does defining a probability distribution over sentences == </a:t>
            </a:r>
            <a:r>
              <a:rPr lang="en-GB" sz="2000" dirty="0">
                <a:solidFill>
                  <a:srgbClr val="00B0F0"/>
                </a:solidFill>
              </a:rPr>
              <a:t>understanding</a:t>
            </a:r>
            <a:r>
              <a:rPr lang="en-GB" sz="2000" dirty="0"/>
              <a:t>?</a:t>
            </a:r>
            <a:endParaRPr sz="2000" dirty="0"/>
          </a:p>
          <a:p>
            <a:pPr marL="457200" lvl="0" indent="-355600" algn="l" rtl="0">
              <a:lnSpc>
                <a:spcPct val="150000"/>
              </a:lnSpc>
              <a:spcBef>
                <a:spcPts val="0"/>
              </a:spcBef>
              <a:spcAft>
                <a:spcPts val="0"/>
              </a:spcAft>
              <a:buSzPts val="2000"/>
              <a:buChar char="●"/>
            </a:pPr>
            <a:r>
              <a:rPr lang="en-GB" sz="2000" dirty="0"/>
              <a:t>A model that is good at predicting the next word, must know something about </a:t>
            </a:r>
            <a:r>
              <a:rPr lang="en-GB" sz="2000" dirty="0">
                <a:solidFill>
                  <a:srgbClr val="00B0F0"/>
                </a:solidFill>
              </a:rPr>
              <a:t>language</a:t>
            </a:r>
            <a:r>
              <a:rPr lang="en-GB" sz="2000" dirty="0"/>
              <a:t> and the </a:t>
            </a:r>
            <a:r>
              <a:rPr lang="en-GB" sz="2000" dirty="0">
                <a:solidFill>
                  <a:srgbClr val="00B0F0"/>
                </a:solidFill>
              </a:rPr>
              <a:t>world</a:t>
            </a:r>
            <a:r>
              <a:rPr lang="en-GB" sz="2000" dirty="0"/>
              <a:t> (</a:t>
            </a:r>
            <a:r>
              <a:rPr lang="en-GB" sz="2000" dirty="0">
                <a:solidFill>
                  <a:srgbClr val="C55A11"/>
                </a:solidFill>
              </a:rPr>
              <a:t>what?</a:t>
            </a:r>
            <a:r>
              <a:rPr lang="en-GB" sz="2000" dirty="0"/>
              <a:t>)</a:t>
            </a:r>
            <a:endParaRPr sz="2000" dirty="0"/>
          </a:p>
          <a:p>
            <a:pPr marL="457200" lvl="0" indent="-355600" algn="l" rtl="0">
              <a:lnSpc>
                <a:spcPct val="150000"/>
              </a:lnSpc>
              <a:spcBef>
                <a:spcPts val="0"/>
              </a:spcBef>
              <a:spcAft>
                <a:spcPts val="0"/>
              </a:spcAft>
              <a:buSzPts val="2000"/>
              <a:buChar char="●"/>
            </a:pPr>
            <a:r>
              <a:rPr lang="en-GB" sz="2000" dirty="0"/>
              <a:t>An old debate</a:t>
            </a:r>
            <a:endParaRPr sz="2000" dirty="0"/>
          </a:p>
          <a:p>
            <a:pPr marL="914400" lvl="1" indent="-355600" algn="l" rtl="0">
              <a:lnSpc>
                <a:spcPct val="150000"/>
              </a:lnSpc>
              <a:spcBef>
                <a:spcPts val="0"/>
              </a:spcBef>
              <a:spcAft>
                <a:spcPts val="0"/>
              </a:spcAft>
              <a:buSzPts val="2000"/>
              <a:buChar char="○"/>
            </a:pPr>
            <a:r>
              <a:rPr lang="en-GB" sz="2000" dirty="0"/>
              <a:t>Turing test</a:t>
            </a:r>
            <a:endParaRPr sz="2000" dirty="0"/>
          </a:p>
          <a:p>
            <a:pPr marL="914400" lvl="1" indent="-355600" algn="l" rtl="0">
              <a:lnSpc>
                <a:spcPct val="150000"/>
              </a:lnSpc>
              <a:spcBef>
                <a:spcPts val="0"/>
              </a:spcBef>
              <a:spcAft>
                <a:spcPts val="0"/>
              </a:spcAft>
              <a:buSzPts val="2000"/>
              <a:buChar char="○"/>
            </a:pPr>
            <a:r>
              <a:rPr lang="en-GB" sz="2000" dirty="0"/>
              <a:t>The Chinese room argument</a:t>
            </a:r>
            <a:endParaRPr sz="2000" dirty="0"/>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Shape 185"/>
        <p:cNvGrpSpPr/>
        <p:nvPr/>
      </p:nvGrpSpPr>
      <p:grpSpPr>
        <a:xfrm>
          <a:off x="0" y="0"/>
          <a:ext cx="0" cy="0"/>
          <a:chOff x="0" y="0"/>
          <a:chExt cx="0" cy="0"/>
        </a:xfrm>
      </p:grpSpPr>
      <p:sp>
        <p:nvSpPr>
          <p:cNvPr id="186" name="Google Shape;186;p31"/>
          <p:cNvSpPr txBox="1"/>
          <p:nvPr/>
        </p:nvSpPr>
        <p:spPr>
          <a:xfrm>
            <a:off x="-954" y="4774796"/>
            <a:ext cx="64266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1200" dirty="0">
                <a:solidFill>
                  <a:srgbClr val="9E9E9E"/>
                </a:solidFill>
                <a:latin typeface="Roboto Light"/>
                <a:ea typeface="Roboto Light"/>
                <a:cs typeface="Roboto Light"/>
                <a:sym typeface="Roboto Light"/>
              </a:rPr>
              <a:t>https://www.ai21.com/blog/human-or-not-results</a:t>
            </a:r>
            <a:endParaRPr sz="1200" dirty="0">
              <a:solidFill>
                <a:srgbClr val="9E9E9E"/>
              </a:solidFill>
              <a:latin typeface="Roboto Light"/>
              <a:ea typeface="Roboto Light"/>
              <a:cs typeface="Roboto Light"/>
              <a:sym typeface="Roboto Light"/>
            </a:endParaRPr>
          </a:p>
        </p:txBody>
      </p:sp>
      <p:sp>
        <p:nvSpPr>
          <p:cNvPr id="187" name="Google Shape;187;p31"/>
          <p:cNvSpPr txBox="1"/>
          <p:nvPr/>
        </p:nvSpPr>
        <p:spPr>
          <a:xfrm>
            <a:off x="343225" y="206825"/>
            <a:ext cx="8087400" cy="554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2400" dirty="0">
                <a:solidFill>
                  <a:schemeClr val="dk1"/>
                </a:solidFill>
              </a:rPr>
              <a:t>“Social Turing Test”: 2M Conversation (AI21Labs, 2023) </a:t>
            </a:r>
            <a:endParaRPr sz="2400" dirty="0">
              <a:solidFill>
                <a:schemeClr val="dk1"/>
              </a:solidFill>
            </a:endParaRPr>
          </a:p>
        </p:txBody>
      </p:sp>
      <p:pic>
        <p:nvPicPr>
          <p:cNvPr id="2050" name="Picture 2" descr="Graph: Talking to humans vs talking to bots">
            <a:extLst>
              <a:ext uri="{FF2B5EF4-FFF2-40B4-BE49-F238E27FC236}">
                <a16:creationId xmlns:a16="http://schemas.microsoft.com/office/drawing/2014/main" id="{E58C2F03-37C4-13DB-4744-4C0688E59D2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47166" y="1008537"/>
            <a:ext cx="6573517" cy="376626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AAB96EB1-8621-9D4B-33F5-275A2BED6644}"/>
              </a:ext>
            </a:extLst>
          </p:cNvPr>
          <p:cNvSpPr txBox="1"/>
          <p:nvPr/>
        </p:nvSpPr>
        <p:spPr>
          <a:xfrm>
            <a:off x="3076348" y="854648"/>
            <a:ext cx="2315151" cy="307777"/>
          </a:xfrm>
          <a:prstGeom prst="rect">
            <a:avLst/>
          </a:prstGeom>
          <a:noFill/>
        </p:spPr>
        <p:txBody>
          <a:bodyPr wrap="square" rtlCol="0">
            <a:spAutoFit/>
          </a:bodyPr>
          <a:lstStyle/>
          <a:p>
            <a:r>
              <a:rPr lang="en-US" b="1" dirty="0"/>
              <a:t>68% guessed correctly</a:t>
            </a: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086C38-6EB2-18D2-6DBB-5715BB2392AA}"/>
              </a:ext>
            </a:extLst>
          </p:cNvPr>
          <p:cNvSpPr>
            <a:spLocks noGrp="1"/>
          </p:cNvSpPr>
          <p:nvPr>
            <p:ph type="title"/>
          </p:nvPr>
        </p:nvSpPr>
        <p:spPr/>
        <p:txBody>
          <a:bodyPr>
            <a:normAutofit fontScale="90000"/>
          </a:bodyPr>
          <a:lstStyle/>
          <a:p>
            <a:r>
              <a:rPr lang="en-US" dirty="0"/>
              <a:t>The Chinese Room Argument (Searle, 1980)</a:t>
            </a:r>
          </a:p>
        </p:txBody>
      </p:sp>
      <p:pic>
        <p:nvPicPr>
          <p:cNvPr id="3074" name="Picture 2" descr="On &quot;seeing&quot; what we mean: Questioning the grounding capabilities of  large-scale Vision-Language models - Newspoint - University of Malta">
            <a:extLst>
              <a:ext uri="{FF2B5EF4-FFF2-40B4-BE49-F238E27FC236}">
                <a16:creationId xmlns:a16="http://schemas.microsoft.com/office/drawing/2014/main" id="{8E9672DC-1054-2A0F-CF43-7A85CD4A33B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274834"/>
            <a:ext cx="9144000" cy="3292475"/>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a:extLst>
              <a:ext uri="{FF2B5EF4-FFF2-40B4-BE49-F238E27FC236}">
                <a16:creationId xmlns:a16="http://schemas.microsoft.com/office/drawing/2014/main" id="{0A92F9C8-E6DF-37C6-5ACA-80D3753D0F7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85045" y="50653"/>
            <a:ext cx="1545940" cy="1030627"/>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D9E2914D-58AD-3647-4AA9-71DD47AAA90B}"/>
              </a:ext>
            </a:extLst>
          </p:cNvPr>
          <p:cNvSpPr txBox="1"/>
          <p:nvPr/>
        </p:nvSpPr>
        <p:spPr>
          <a:xfrm>
            <a:off x="7485045" y="1065058"/>
            <a:ext cx="1545940" cy="184666"/>
          </a:xfrm>
          <a:prstGeom prst="rect">
            <a:avLst/>
          </a:prstGeom>
          <a:noFill/>
        </p:spPr>
        <p:txBody>
          <a:bodyPr wrap="square">
            <a:spAutoFit/>
          </a:bodyPr>
          <a:lstStyle/>
          <a:p>
            <a:pPr algn="ctr"/>
            <a:r>
              <a:rPr lang="en-US" sz="600" dirty="0">
                <a:solidFill>
                  <a:schemeClr val="tx1">
                    <a:lumMod val="65000"/>
                    <a:lumOff val="35000"/>
                  </a:schemeClr>
                </a:solidFill>
                <a:latin typeface="Arial" panose="020B0604020202020204" pitchFamily="34" charset="0"/>
              </a:rPr>
              <a:t>B</a:t>
            </a:r>
            <a:r>
              <a:rPr lang="en-US" sz="600" b="0" i="0" strike="noStrike" dirty="0">
                <a:solidFill>
                  <a:schemeClr val="tx1">
                    <a:lumMod val="65000"/>
                    <a:lumOff val="35000"/>
                  </a:schemeClr>
                </a:solidFill>
                <a:effectLst/>
                <a:latin typeface="Arial" panose="020B0604020202020204" pitchFamily="34" charset="0"/>
              </a:rPr>
              <a:t>y </a:t>
            </a:r>
            <a:r>
              <a:rPr lang="en-US" sz="600" b="0" i="0" strike="noStrike" dirty="0" err="1">
                <a:solidFill>
                  <a:schemeClr val="tx1">
                    <a:lumMod val="65000"/>
                    <a:lumOff val="35000"/>
                  </a:schemeClr>
                </a:solidFill>
                <a:effectLst/>
                <a:latin typeface="Arial" panose="020B0604020202020204" pitchFamily="34" charset="0"/>
              </a:rPr>
              <a:t>FranksValli</a:t>
            </a:r>
            <a:r>
              <a:rPr lang="en-US" sz="600" b="0" i="0" strike="noStrike" dirty="0">
                <a:solidFill>
                  <a:schemeClr val="tx1">
                    <a:lumMod val="65000"/>
                    <a:lumOff val="35000"/>
                  </a:schemeClr>
                </a:solidFill>
                <a:effectLst/>
                <a:latin typeface="Arial" panose="020B0604020202020204" pitchFamily="34" charset="0"/>
              </a:rPr>
              <a:t>, </a:t>
            </a:r>
            <a:r>
              <a:rPr lang="en-US" sz="600" dirty="0">
                <a:solidFill>
                  <a:schemeClr val="tx1">
                    <a:lumMod val="65000"/>
                    <a:lumOff val="35000"/>
                  </a:schemeClr>
                </a:solidFill>
                <a:latin typeface="Arial" panose="020B0604020202020204" pitchFamily="34" charset="0"/>
              </a:rPr>
              <a:t>Wikimedia Commons</a:t>
            </a:r>
            <a:endParaRPr lang="en-US" sz="600" dirty="0">
              <a:solidFill>
                <a:schemeClr val="tx1">
                  <a:lumMod val="65000"/>
                  <a:lumOff val="35000"/>
                </a:schemeClr>
              </a:solidFill>
            </a:endParaRPr>
          </a:p>
        </p:txBody>
      </p:sp>
    </p:spTree>
    <p:extLst>
      <p:ext uri="{BB962C8B-B14F-4D97-AF65-F5344CB8AC3E}">
        <p14:creationId xmlns:p14="http://schemas.microsoft.com/office/powerpoint/2010/main" val="829433943"/>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Shape 193"/>
        <p:cNvGrpSpPr/>
        <p:nvPr/>
      </p:nvGrpSpPr>
      <p:grpSpPr>
        <a:xfrm>
          <a:off x="0" y="0"/>
          <a:ext cx="0" cy="0"/>
          <a:chOff x="0" y="0"/>
          <a:chExt cx="0" cy="0"/>
        </a:xfrm>
      </p:grpSpPr>
      <p:sp>
        <p:nvSpPr>
          <p:cNvPr id="194" name="Google Shape;194;p32"/>
          <p:cNvSpPr txBox="1">
            <a:spLocks noGrp="1"/>
          </p:cNvSpPr>
          <p:nvPr>
            <p:ph type="title"/>
          </p:nvPr>
        </p:nvSpPr>
        <p:spPr>
          <a:xfrm>
            <a:off x="471488" y="205383"/>
            <a:ext cx="5915100" cy="7458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chemeClr val="dk1"/>
              </a:buClr>
              <a:buSzPts val="3300"/>
              <a:buFont typeface="Century Gothic"/>
              <a:buNone/>
            </a:pPr>
            <a:r>
              <a:rPr lang="en-GB"/>
              <a:t>Plan</a:t>
            </a:r>
            <a:endParaRPr/>
          </a:p>
        </p:txBody>
      </p:sp>
      <p:sp>
        <p:nvSpPr>
          <p:cNvPr id="195" name="Google Shape;195;p32"/>
          <p:cNvSpPr txBox="1">
            <a:spLocks noGrp="1"/>
          </p:cNvSpPr>
          <p:nvPr>
            <p:ph type="body" idx="1"/>
          </p:nvPr>
        </p:nvSpPr>
        <p:spPr>
          <a:xfrm>
            <a:off x="471500" y="1103125"/>
            <a:ext cx="5915100" cy="3204000"/>
          </a:xfrm>
          <a:prstGeom prst="rect">
            <a:avLst/>
          </a:prstGeom>
          <a:noFill/>
          <a:ln>
            <a:noFill/>
          </a:ln>
        </p:spPr>
        <p:txBody>
          <a:bodyPr spcFirstLastPara="1" wrap="square" lIns="68575" tIns="34275" rIns="68575" bIns="34275" anchor="t" anchorCtr="0">
            <a:normAutofit/>
          </a:bodyPr>
          <a:lstStyle/>
          <a:p>
            <a:pPr marL="457200" lvl="0" indent="-342900" algn="l" rtl="0">
              <a:lnSpc>
                <a:spcPct val="150000"/>
              </a:lnSpc>
              <a:spcBef>
                <a:spcPts val="0"/>
              </a:spcBef>
              <a:spcAft>
                <a:spcPts val="0"/>
              </a:spcAft>
              <a:buSzPts val="1800"/>
              <a:buChar char="●"/>
            </a:pPr>
            <a:r>
              <a:rPr lang="en-GB"/>
              <a:t>Motivation</a:t>
            </a:r>
            <a:endParaRPr/>
          </a:p>
          <a:p>
            <a:pPr marL="457200" lvl="0" indent="-342900" algn="l" rtl="0">
              <a:lnSpc>
                <a:spcPct val="150000"/>
              </a:lnSpc>
              <a:spcBef>
                <a:spcPts val="0"/>
              </a:spcBef>
              <a:spcAft>
                <a:spcPts val="0"/>
              </a:spcAft>
              <a:buSzPts val="1800"/>
              <a:buChar char="●"/>
            </a:pPr>
            <a:r>
              <a:rPr lang="en-GB" b="1"/>
              <a:t>Problem deﬁnition</a:t>
            </a:r>
            <a:endParaRPr b="1"/>
          </a:p>
          <a:p>
            <a:pPr marL="457200" lvl="0" indent="-342900" algn="l" rtl="0">
              <a:lnSpc>
                <a:spcPct val="150000"/>
              </a:lnSpc>
              <a:spcBef>
                <a:spcPts val="0"/>
              </a:spcBef>
              <a:spcAft>
                <a:spcPts val="0"/>
              </a:spcAft>
              <a:buSzPts val="1800"/>
              <a:buChar char="●"/>
            </a:pPr>
            <a:r>
              <a:rPr lang="en-GB"/>
              <a:t>N-gram models</a:t>
            </a:r>
            <a:endParaRPr/>
          </a:p>
          <a:p>
            <a:pPr marL="457200" lvl="0" indent="-342900" algn="l" rtl="0">
              <a:lnSpc>
                <a:spcPct val="150000"/>
              </a:lnSpc>
              <a:spcBef>
                <a:spcPts val="0"/>
              </a:spcBef>
              <a:spcAft>
                <a:spcPts val="0"/>
              </a:spcAft>
              <a:buSzPts val="1800"/>
              <a:buChar char="●"/>
            </a:pPr>
            <a:r>
              <a:rPr lang="en-GB"/>
              <a:t>Evaluation</a:t>
            </a:r>
            <a:endParaRPr/>
          </a:p>
          <a:p>
            <a:pPr marL="457200" lvl="0" indent="-342900" algn="l" rtl="0">
              <a:lnSpc>
                <a:spcPct val="150000"/>
              </a:lnSpc>
              <a:spcBef>
                <a:spcPts val="0"/>
              </a:spcBef>
              <a:spcAft>
                <a:spcPts val="0"/>
              </a:spcAft>
              <a:buSzPts val="1800"/>
              <a:buChar char="●"/>
            </a:pPr>
            <a:r>
              <a:rPr lang="en-GB"/>
              <a:t>Estimation</a:t>
            </a:r>
            <a:endParaRPr/>
          </a:p>
          <a:p>
            <a:pPr marL="914400" lvl="1" indent="-342900" algn="l" rtl="0">
              <a:lnSpc>
                <a:spcPct val="150000"/>
              </a:lnSpc>
              <a:spcBef>
                <a:spcPts val="0"/>
              </a:spcBef>
              <a:spcAft>
                <a:spcPts val="0"/>
              </a:spcAft>
              <a:buSzPts val="1800"/>
              <a:buChar char="○"/>
            </a:pPr>
            <a:r>
              <a:rPr lang="en-GB"/>
              <a:t>Interpolation</a:t>
            </a:r>
            <a:endParaRPr/>
          </a:p>
          <a:p>
            <a:pPr marL="457200" lvl="0" indent="-342900" algn="l" rtl="0">
              <a:lnSpc>
                <a:spcPct val="150000"/>
              </a:lnSpc>
              <a:spcBef>
                <a:spcPts val="0"/>
              </a:spcBef>
              <a:spcAft>
                <a:spcPts val="0"/>
              </a:spcAft>
              <a:buSzPts val="1800"/>
              <a:buChar char="●"/>
            </a:pPr>
            <a:r>
              <a:rPr lang="en-GB"/>
              <a:t>Neural language models</a:t>
            </a:r>
            <a:endParaRP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Shape 199"/>
        <p:cNvGrpSpPr/>
        <p:nvPr/>
      </p:nvGrpSpPr>
      <p:grpSpPr>
        <a:xfrm>
          <a:off x="0" y="0"/>
          <a:ext cx="0" cy="0"/>
          <a:chOff x="0" y="0"/>
          <a:chExt cx="0" cy="0"/>
        </a:xfrm>
      </p:grpSpPr>
      <p:sp>
        <p:nvSpPr>
          <p:cNvPr id="200" name="Google Shape;200;p33"/>
          <p:cNvSpPr txBox="1">
            <a:spLocks noGrp="1"/>
          </p:cNvSpPr>
          <p:nvPr>
            <p:ph type="title"/>
          </p:nvPr>
        </p:nvSpPr>
        <p:spPr>
          <a:xfrm>
            <a:off x="471488" y="205383"/>
            <a:ext cx="5915100" cy="7458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chemeClr val="dk1"/>
              </a:buClr>
              <a:buSzPts val="3300"/>
              <a:buFont typeface="Century Gothic"/>
              <a:buNone/>
            </a:pPr>
            <a:r>
              <a:rPr lang="en-GB"/>
              <a:t>Problem definition</a:t>
            </a:r>
            <a:endParaRPr/>
          </a:p>
        </p:txBody>
      </p:sp>
      <p:sp>
        <p:nvSpPr>
          <p:cNvPr id="201" name="Google Shape;201;p33"/>
          <p:cNvSpPr txBox="1">
            <a:spLocks noGrp="1"/>
          </p:cNvSpPr>
          <p:nvPr>
            <p:ph type="body" idx="1"/>
          </p:nvPr>
        </p:nvSpPr>
        <p:spPr>
          <a:xfrm>
            <a:off x="482625" y="1147900"/>
            <a:ext cx="3373500" cy="1212300"/>
          </a:xfrm>
          <a:prstGeom prst="rect">
            <a:avLst/>
          </a:prstGeom>
          <a:noFill/>
          <a:ln>
            <a:noFill/>
          </a:ln>
        </p:spPr>
        <p:txBody>
          <a:bodyPr spcFirstLastPara="1" wrap="square" lIns="68575" tIns="34275" rIns="68575" bIns="34275" anchor="t" anchorCtr="0">
            <a:normAutofit/>
          </a:bodyPr>
          <a:lstStyle/>
          <a:p>
            <a:pPr marL="0" lvl="0" indent="0" algn="l" rtl="0">
              <a:lnSpc>
                <a:spcPct val="115000"/>
              </a:lnSpc>
              <a:spcBef>
                <a:spcPts val="0"/>
              </a:spcBef>
              <a:spcAft>
                <a:spcPts val="0"/>
              </a:spcAft>
              <a:buNone/>
            </a:pPr>
            <a:r>
              <a:rPr lang="en-GB" sz="2000"/>
              <a:t>Given a finite vocabulary</a:t>
            </a:r>
            <a:endParaRPr sz="2000"/>
          </a:p>
          <a:p>
            <a:pPr marL="0" lvl="0" indent="0" algn="l" rtl="0">
              <a:lnSpc>
                <a:spcPct val="115000"/>
              </a:lnSpc>
              <a:spcBef>
                <a:spcPts val="1000"/>
              </a:spcBef>
              <a:spcAft>
                <a:spcPts val="1000"/>
              </a:spcAft>
              <a:buNone/>
            </a:pPr>
            <a:r>
              <a:rPr lang="en-GB" sz="2000"/>
              <a:t>Define the infinite language</a:t>
            </a:r>
            <a:endParaRPr sz="2000"/>
          </a:p>
        </p:txBody>
      </p:sp>
      <p:sp>
        <p:nvSpPr>
          <p:cNvPr id="202" name="Google Shape;202;p33"/>
          <p:cNvSpPr txBox="1">
            <a:spLocks noGrp="1"/>
          </p:cNvSpPr>
          <p:nvPr>
            <p:ph type="body" idx="1"/>
          </p:nvPr>
        </p:nvSpPr>
        <p:spPr>
          <a:xfrm>
            <a:off x="482625" y="2564275"/>
            <a:ext cx="4521900" cy="2031000"/>
          </a:xfrm>
          <a:prstGeom prst="rect">
            <a:avLst/>
          </a:prstGeom>
          <a:noFill/>
          <a:ln>
            <a:noFill/>
          </a:ln>
        </p:spPr>
        <p:txBody>
          <a:bodyPr spcFirstLastPara="1" wrap="square" lIns="68575" tIns="34275" rIns="68575" bIns="34275" anchor="t" anchorCtr="0">
            <a:normAutofit/>
          </a:bodyPr>
          <a:lstStyle/>
          <a:p>
            <a:pPr marL="0" lvl="0" indent="0" algn="l" rtl="0">
              <a:lnSpc>
                <a:spcPct val="115000"/>
              </a:lnSpc>
              <a:spcBef>
                <a:spcPts val="0"/>
              </a:spcBef>
              <a:spcAft>
                <a:spcPts val="0"/>
              </a:spcAft>
              <a:buNone/>
            </a:pPr>
            <a:r>
              <a:rPr lang="en-GB" sz="2000">
                <a:solidFill>
                  <a:srgbClr val="EE7F32"/>
                </a:solidFill>
              </a:rPr>
              <a:t>the STOP</a:t>
            </a:r>
            <a:endParaRPr sz="2000">
              <a:solidFill>
                <a:srgbClr val="EE7F32"/>
              </a:solidFill>
            </a:endParaRPr>
          </a:p>
          <a:p>
            <a:pPr marL="0" lvl="0" indent="0" algn="l" rtl="0">
              <a:lnSpc>
                <a:spcPct val="115000"/>
              </a:lnSpc>
              <a:spcBef>
                <a:spcPts val="1000"/>
              </a:spcBef>
              <a:spcAft>
                <a:spcPts val="0"/>
              </a:spcAft>
              <a:buNone/>
            </a:pPr>
            <a:r>
              <a:rPr lang="en-GB" sz="2000">
                <a:solidFill>
                  <a:srgbClr val="EE7F32"/>
                </a:solidFill>
              </a:rPr>
              <a:t>a STOP</a:t>
            </a:r>
            <a:endParaRPr sz="2000">
              <a:solidFill>
                <a:srgbClr val="EE7F32"/>
              </a:solidFill>
            </a:endParaRPr>
          </a:p>
          <a:p>
            <a:pPr marL="0" lvl="0" indent="0" algn="l" rtl="0">
              <a:lnSpc>
                <a:spcPct val="115000"/>
              </a:lnSpc>
              <a:spcBef>
                <a:spcPts val="1000"/>
              </a:spcBef>
              <a:spcAft>
                <a:spcPts val="0"/>
              </a:spcAft>
              <a:buNone/>
            </a:pPr>
            <a:r>
              <a:rPr lang="en-GB" sz="2000">
                <a:solidFill>
                  <a:srgbClr val="EE7F32"/>
                </a:solidFill>
              </a:rPr>
              <a:t>the man STOP</a:t>
            </a:r>
            <a:endParaRPr sz="2000">
              <a:solidFill>
                <a:srgbClr val="EE7F32"/>
              </a:solidFill>
            </a:endParaRPr>
          </a:p>
          <a:p>
            <a:pPr marL="0" lvl="0" indent="0" algn="l" rtl="0">
              <a:lnSpc>
                <a:spcPct val="115000"/>
              </a:lnSpc>
              <a:spcBef>
                <a:spcPts val="1000"/>
              </a:spcBef>
              <a:spcAft>
                <a:spcPts val="1000"/>
              </a:spcAft>
              <a:buNone/>
            </a:pPr>
            <a:r>
              <a:rPr lang="en-GB" sz="2000">
                <a:solidFill>
                  <a:srgbClr val="EE7F32"/>
                </a:solidFill>
              </a:rPr>
              <a:t>man man man a telescope STOP</a:t>
            </a:r>
            <a:endParaRPr sz="2000">
              <a:solidFill>
                <a:srgbClr val="EE7F32"/>
              </a:solidFill>
            </a:endParaRPr>
          </a:p>
        </p:txBody>
      </p:sp>
      <p:pic>
        <p:nvPicPr>
          <p:cNvPr id="203" name="Google Shape;203;p33"/>
          <p:cNvPicPr preferRelativeResize="0"/>
          <p:nvPr/>
        </p:nvPicPr>
        <p:blipFill>
          <a:blip r:embed="rId3">
            <a:alphaModFix/>
          </a:blip>
          <a:stretch>
            <a:fillRect/>
          </a:stretch>
        </p:blipFill>
        <p:spPr>
          <a:xfrm>
            <a:off x="3964355" y="1215153"/>
            <a:ext cx="3900721" cy="370623"/>
          </a:xfrm>
          <a:prstGeom prst="rect">
            <a:avLst/>
          </a:prstGeom>
          <a:noFill/>
          <a:ln>
            <a:noFill/>
          </a:ln>
        </p:spPr>
      </p:pic>
      <p:pic>
        <p:nvPicPr>
          <p:cNvPr id="204" name="Google Shape;204;p33"/>
          <p:cNvPicPr preferRelativeResize="0"/>
          <p:nvPr/>
        </p:nvPicPr>
        <p:blipFill>
          <a:blip r:embed="rId4">
            <a:alphaModFix/>
          </a:blip>
          <a:stretch>
            <a:fillRect/>
          </a:stretch>
        </p:blipFill>
        <p:spPr>
          <a:xfrm>
            <a:off x="3964349" y="1638400"/>
            <a:ext cx="1714137" cy="370623"/>
          </a:xfrm>
          <a:prstGeom prst="rect">
            <a:avLst/>
          </a:prstGeom>
          <a:noFill/>
          <a:ln>
            <a:noFill/>
          </a:ln>
        </p:spPr>
      </p:pic>
      <p:pic>
        <p:nvPicPr>
          <p:cNvPr id="2" name="Google Shape;239;p29" descr="Slow sign (Provided by Getty Images)">
            <a:extLst>
              <a:ext uri="{FF2B5EF4-FFF2-40B4-BE49-F238E27FC236}">
                <a16:creationId xmlns:a16="http://schemas.microsoft.com/office/drawing/2014/main" id="{8E8BD626-DF83-7449-5BF9-B83DA57EA72D}"/>
              </a:ext>
            </a:extLst>
          </p:cNvPr>
          <p:cNvPicPr preferRelativeResize="0"/>
          <p:nvPr/>
        </p:nvPicPr>
        <p:blipFill>
          <a:blip r:embed="rId5">
            <a:alphaModFix/>
          </a:blip>
          <a:stretch>
            <a:fillRect/>
          </a:stretch>
        </p:blipFill>
        <p:spPr>
          <a:xfrm>
            <a:off x="8373439" y="4621"/>
            <a:ext cx="657603" cy="657603"/>
          </a:xfrm>
          <a:prstGeom prst="rect">
            <a:avLst/>
          </a:prstGeom>
          <a:noFill/>
          <a:ln>
            <a:noFill/>
          </a:ln>
        </p:spPr>
      </p:pic>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Shape 208"/>
        <p:cNvGrpSpPr/>
        <p:nvPr/>
      </p:nvGrpSpPr>
      <p:grpSpPr>
        <a:xfrm>
          <a:off x="0" y="0"/>
          <a:ext cx="0" cy="0"/>
          <a:chOff x="0" y="0"/>
          <a:chExt cx="0" cy="0"/>
        </a:xfrm>
      </p:grpSpPr>
      <p:sp>
        <p:nvSpPr>
          <p:cNvPr id="209" name="Google Shape;209;p34"/>
          <p:cNvSpPr txBox="1">
            <a:spLocks noGrp="1"/>
          </p:cNvSpPr>
          <p:nvPr>
            <p:ph type="title"/>
          </p:nvPr>
        </p:nvSpPr>
        <p:spPr>
          <a:xfrm>
            <a:off x="471488" y="205383"/>
            <a:ext cx="5915100" cy="7458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chemeClr val="dk1"/>
              </a:buClr>
              <a:buSzPts val="3300"/>
              <a:buFont typeface="Century Gothic"/>
              <a:buNone/>
            </a:pPr>
            <a:r>
              <a:rPr lang="en-GB"/>
              <a:t>Problem definition</a:t>
            </a:r>
            <a:endParaRPr/>
          </a:p>
        </p:txBody>
      </p:sp>
      <p:sp>
        <p:nvSpPr>
          <p:cNvPr id="210" name="Google Shape;210;p34"/>
          <p:cNvSpPr txBox="1">
            <a:spLocks noGrp="1"/>
          </p:cNvSpPr>
          <p:nvPr>
            <p:ph type="body" idx="1"/>
          </p:nvPr>
        </p:nvSpPr>
        <p:spPr>
          <a:xfrm>
            <a:off x="482625" y="1147900"/>
            <a:ext cx="8160300" cy="2125800"/>
          </a:xfrm>
          <a:prstGeom prst="rect">
            <a:avLst/>
          </a:prstGeom>
          <a:noFill/>
          <a:ln>
            <a:noFill/>
          </a:ln>
        </p:spPr>
        <p:txBody>
          <a:bodyPr spcFirstLastPara="1" wrap="square" lIns="68575" tIns="34275" rIns="68575" bIns="34275" anchor="t" anchorCtr="0">
            <a:normAutofit/>
          </a:bodyPr>
          <a:lstStyle/>
          <a:p>
            <a:pPr marL="0" lvl="0" indent="0" algn="l" rtl="0">
              <a:lnSpc>
                <a:spcPct val="115000"/>
              </a:lnSpc>
              <a:spcBef>
                <a:spcPts val="0"/>
              </a:spcBef>
              <a:spcAft>
                <a:spcPts val="0"/>
              </a:spcAft>
              <a:buNone/>
            </a:pPr>
            <a:r>
              <a:rPr lang="en-GB" sz="2000"/>
              <a:t>Given a finite vocabulary</a:t>
            </a:r>
            <a:endParaRPr sz="2000"/>
          </a:p>
          <a:p>
            <a:pPr marL="0" lvl="0" indent="0" algn="l" rtl="0">
              <a:lnSpc>
                <a:spcPct val="115000"/>
              </a:lnSpc>
              <a:spcBef>
                <a:spcPts val="1000"/>
              </a:spcBef>
              <a:spcAft>
                <a:spcPts val="0"/>
              </a:spcAft>
              <a:buNone/>
            </a:pPr>
            <a:r>
              <a:rPr lang="en-GB" sz="2000"/>
              <a:t>Define the infinite language</a:t>
            </a:r>
            <a:endParaRPr sz="2000"/>
          </a:p>
          <a:p>
            <a:pPr marL="0" lvl="0" indent="0" algn="l" rtl="0">
              <a:lnSpc>
                <a:spcPct val="115000"/>
              </a:lnSpc>
              <a:spcBef>
                <a:spcPts val="1000"/>
              </a:spcBef>
              <a:spcAft>
                <a:spcPts val="0"/>
              </a:spcAft>
              <a:buNone/>
            </a:pPr>
            <a:r>
              <a:rPr lang="en-GB" sz="2000" b="1"/>
              <a:t>Input:</a:t>
            </a:r>
            <a:r>
              <a:rPr lang="en-GB" sz="2000"/>
              <a:t> a training set of example sentences (billions)</a:t>
            </a:r>
            <a:endParaRPr sz="2000"/>
          </a:p>
          <a:p>
            <a:pPr marL="0" lvl="0" indent="0" algn="l" rtl="0">
              <a:lnSpc>
                <a:spcPct val="115000"/>
              </a:lnSpc>
              <a:spcBef>
                <a:spcPts val="1000"/>
              </a:spcBef>
              <a:spcAft>
                <a:spcPts val="1000"/>
              </a:spcAft>
              <a:buNone/>
            </a:pPr>
            <a:r>
              <a:rPr lang="en-GB" sz="2000" b="1"/>
              <a:t>Output:</a:t>
            </a:r>
            <a:r>
              <a:rPr lang="en-GB" sz="2000"/>
              <a:t> a probability distribution </a:t>
            </a:r>
            <a:r>
              <a:rPr lang="en-GB" sz="2000" i="1">
                <a:latin typeface="Times New Roman"/>
                <a:ea typeface="Times New Roman"/>
                <a:cs typeface="Times New Roman"/>
                <a:sym typeface="Times New Roman"/>
              </a:rPr>
              <a:t>p</a:t>
            </a:r>
            <a:r>
              <a:rPr lang="en-GB" sz="2000"/>
              <a:t> over </a:t>
            </a:r>
            <a:r>
              <a:rPr lang="en-GB" sz="2000" i="1">
                <a:latin typeface="Times New Roman"/>
                <a:ea typeface="Times New Roman"/>
                <a:cs typeface="Times New Roman"/>
                <a:sym typeface="Times New Roman"/>
              </a:rPr>
              <a:t>L</a:t>
            </a:r>
            <a:r>
              <a:rPr lang="en-GB" sz="2000"/>
              <a:t> </a:t>
            </a:r>
            <a:endParaRPr sz="2000"/>
          </a:p>
        </p:txBody>
      </p:sp>
      <p:pic>
        <p:nvPicPr>
          <p:cNvPr id="211" name="Google Shape;211;p34"/>
          <p:cNvPicPr preferRelativeResize="0"/>
          <p:nvPr/>
        </p:nvPicPr>
        <p:blipFill>
          <a:blip r:embed="rId3">
            <a:alphaModFix/>
          </a:blip>
          <a:stretch>
            <a:fillRect/>
          </a:stretch>
        </p:blipFill>
        <p:spPr>
          <a:xfrm>
            <a:off x="3964355" y="1215153"/>
            <a:ext cx="3900721" cy="370623"/>
          </a:xfrm>
          <a:prstGeom prst="rect">
            <a:avLst/>
          </a:prstGeom>
          <a:noFill/>
          <a:ln>
            <a:noFill/>
          </a:ln>
        </p:spPr>
      </p:pic>
      <p:pic>
        <p:nvPicPr>
          <p:cNvPr id="212" name="Google Shape;212;p34"/>
          <p:cNvPicPr preferRelativeResize="0"/>
          <p:nvPr/>
        </p:nvPicPr>
        <p:blipFill>
          <a:blip r:embed="rId4">
            <a:alphaModFix/>
          </a:blip>
          <a:stretch>
            <a:fillRect/>
          </a:stretch>
        </p:blipFill>
        <p:spPr>
          <a:xfrm>
            <a:off x="3964349" y="1638400"/>
            <a:ext cx="1714137" cy="370623"/>
          </a:xfrm>
          <a:prstGeom prst="rect">
            <a:avLst/>
          </a:prstGeom>
          <a:noFill/>
          <a:ln>
            <a:noFill/>
          </a:ln>
        </p:spPr>
      </p:pic>
      <p:pic>
        <p:nvPicPr>
          <p:cNvPr id="213" name="Google Shape;213;p34"/>
          <p:cNvPicPr preferRelativeResize="0"/>
          <p:nvPr/>
        </p:nvPicPr>
        <p:blipFill>
          <a:blip r:embed="rId5">
            <a:alphaModFix/>
          </a:blip>
          <a:stretch>
            <a:fillRect/>
          </a:stretch>
        </p:blipFill>
        <p:spPr>
          <a:xfrm>
            <a:off x="770180" y="3158333"/>
            <a:ext cx="4811450" cy="1582800"/>
          </a:xfrm>
          <a:prstGeom prst="rect">
            <a:avLst/>
          </a:prstGeom>
          <a:noFill/>
          <a:ln>
            <a:noFill/>
          </a:ln>
        </p:spPr>
      </p:pic>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Shape 218"/>
        <p:cNvGrpSpPr/>
        <p:nvPr/>
      </p:nvGrpSpPr>
      <p:grpSpPr>
        <a:xfrm>
          <a:off x="0" y="0"/>
          <a:ext cx="0" cy="0"/>
          <a:chOff x="0" y="0"/>
          <a:chExt cx="0" cy="0"/>
        </a:xfrm>
      </p:grpSpPr>
      <p:sp>
        <p:nvSpPr>
          <p:cNvPr id="219" name="Google Shape;219;p35"/>
          <p:cNvSpPr txBox="1">
            <a:spLocks noGrp="1"/>
          </p:cNvSpPr>
          <p:nvPr>
            <p:ph type="title"/>
          </p:nvPr>
        </p:nvSpPr>
        <p:spPr>
          <a:xfrm>
            <a:off x="471488" y="205383"/>
            <a:ext cx="5915100" cy="7458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chemeClr val="dk1"/>
              </a:buClr>
              <a:buSzPts val="3300"/>
              <a:buFont typeface="Century Gothic"/>
              <a:buNone/>
            </a:pPr>
            <a:r>
              <a:rPr lang="en-GB"/>
              <a:t>A naïve method</a:t>
            </a:r>
            <a:endParaRPr/>
          </a:p>
        </p:txBody>
      </p:sp>
      <p:sp>
        <p:nvSpPr>
          <p:cNvPr id="220" name="Google Shape;220;p35"/>
          <p:cNvSpPr txBox="1">
            <a:spLocks noGrp="1"/>
          </p:cNvSpPr>
          <p:nvPr>
            <p:ph type="body" idx="1"/>
          </p:nvPr>
        </p:nvSpPr>
        <p:spPr>
          <a:xfrm>
            <a:off x="482625" y="1147900"/>
            <a:ext cx="8160300" cy="2125800"/>
          </a:xfrm>
          <a:prstGeom prst="rect">
            <a:avLst/>
          </a:prstGeom>
          <a:noFill/>
          <a:ln>
            <a:noFill/>
          </a:ln>
        </p:spPr>
        <p:txBody>
          <a:bodyPr spcFirstLastPara="1" wrap="square" lIns="68575" tIns="34275" rIns="68575" bIns="34275" anchor="t" anchorCtr="0">
            <a:normAutofit/>
          </a:bodyPr>
          <a:lstStyle/>
          <a:p>
            <a:pPr marL="457200" lvl="0" indent="-355600" algn="l" rtl="0">
              <a:lnSpc>
                <a:spcPct val="115000"/>
              </a:lnSpc>
              <a:spcBef>
                <a:spcPts val="0"/>
              </a:spcBef>
              <a:spcAft>
                <a:spcPts val="0"/>
              </a:spcAft>
              <a:buSzPts val="2000"/>
              <a:buChar char="●"/>
            </a:pPr>
            <a:r>
              <a:rPr lang="en-GB" sz="2000"/>
              <a:t>Assume we have </a:t>
            </a:r>
            <a:r>
              <a:rPr lang="en-GB" sz="2000" i="1">
                <a:solidFill>
                  <a:srgbClr val="00B0F0"/>
                </a:solidFill>
                <a:latin typeface="Times New Roman"/>
                <a:ea typeface="Times New Roman"/>
                <a:cs typeface="Times New Roman"/>
                <a:sym typeface="Times New Roman"/>
              </a:rPr>
              <a:t>N</a:t>
            </a:r>
            <a:r>
              <a:rPr lang="en-GB" sz="2000">
                <a:solidFill>
                  <a:srgbClr val="00B0F0"/>
                </a:solidFill>
              </a:rPr>
              <a:t> training sentences</a:t>
            </a:r>
            <a:endParaRPr sz="2000">
              <a:solidFill>
                <a:srgbClr val="00B0F0"/>
              </a:solidFill>
            </a:endParaRPr>
          </a:p>
          <a:p>
            <a:pPr marL="0" lvl="0" indent="0" algn="l" rtl="0">
              <a:lnSpc>
                <a:spcPct val="115000"/>
              </a:lnSpc>
              <a:spcBef>
                <a:spcPts val="1000"/>
              </a:spcBef>
              <a:spcAft>
                <a:spcPts val="1000"/>
              </a:spcAft>
              <a:buNone/>
            </a:pPr>
            <a:endParaRPr sz="2000"/>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Shape 225"/>
        <p:cNvGrpSpPr/>
        <p:nvPr/>
      </p:nvGrpSpPr>
      <p:grpSpPr>
        <a:xfrm>
          <a:off x="0" y="0"/>
          <a:ext cx="0" cy="0"/>
          <a:chOff x="0" y="0"/>
          <a:chExt cx="0" cy="0"/>
        </a:xfrm>
      </p:grpSpPr>
      <p:sp>
        <p:nvSpPr>
          <p:cNvPr id="226" name="Google Shape;226;p36"/>
          <p:cNvSpPr txBox="1">
            <a:spLocks noGrp="1"/>
          </p:cNvSpPr>
          <p:nvPr>
            <p:ph type="title"/>
          </p:nvPr>
        </p:nvSpPr>
        <p:spPr>
          <a:xfrm>
            <a:off x="471488" y="205383"/>
            <a:ext cx="5915100" cy="7458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chemeClr val="dk1"/>
              </a:buClr>
              <a:buSzPts val="3300"/>
              <a:buFont typeface="Century Gothic"/>
              <a:buNone/>
            </a:pPr>
            <a:r>
              <a:rPr lang="en-GB"/>
              <a:t>A naïve method</a:t>
            </a:r>
            <a:endParaRPr/>
          </a:p>
        </p:txBody>
      </p:sp>
      <p:sp>
        <p:nvSpPr>
          <p:cNvPr id="227" name="Google Shape;227;p36"/>
          <p:cNvSpPr txBox="1">
            <a:spLocks noGrp="1"/>
          </p:cNvSpPr>
          <p:nvPr>
            <p:ph type="body" idx="1"/>
          </p:nvPr>
        </p:nvSpPr>
        <p:spPr>
          <a:xfrm>
            <a:off x="482625" y="1147900"/>
            <a:ext cx="8160300" cy="2125800"/>
          </a:xfrm>
          <a:prstGeom prst="rect">
            <a:avLst/>
          </a:prstGeom>
          <a:noFill/>
          <a:ln>
            <a:noFill/>
          </a:ln>
        </p:spPr>
        <p:txBody>
          <a:bodyPr spcFirstLastPara="1" wrap="square" lIns="68575" tIns="34275" rIns="68575" bIns="34275" anchor="t" anchorCtr="0">
            <a:normAutofit/>
          </a:bodyPr>
          <a:lstStyle/>
          <a:p>
            <a:pPr marL="457200" lvl="0" indent="-355600" algn="l" rtl="0">
              <a:lnSpc>
                <a:spcPct val="115000"/>
              </a:lnSpc>
              <a:spcBef>
                <a:spcPts val="0"/>
              </a:spcBef>
              <a:spcAft>
                <a:spcPts val="0"/>
              </a:spcAft>
              <a:buSzPts val="2000"/>
              <a:buChar char="●"/>
            </a:pPr>
            <a:r>
              <a:rPr lang="en-GB" sz="2000"/>
              <a:t>Assume we have </a:t>
            </a:r>
            <a:r>
              <a:rPr lang="en-GB" sz="2000" i="1">
                <a:solidFill>
                  <a:srgbClr val="00B0F0"/>
                </a:solidFill>
                <a:latin typeface="Times New Roman"/>
                <a:ea typeface="Times New Roman"/>
                <a:cs typeface="Times New Roman"/>
                <a:sym typeface="Times New Roman"/>
              </a:rPr>
              <a:t>N</a:t>
            </a:r>
            <a:r>
              <a:rPr lang="en-GB" sz="2000">
                <a:solidFill>
                  <a:srgbClr val="00B0F0"/>
                </a:solidFill>
              </a:rPr>
              <a:t> training sentences</a:t>
            </a:r>
            <a:endParaRPr sz="2000">
              <a:solidFill>
                <a:srgbClr val="00B0F0"/>
              </a:solidFill>
            </a:endParaRPr>
          </a:p>
          <a:p>
            <a:pPr marL="457200" lvl="0" indent="-355600" algn="l" rtl="0">
              <a:lnSpc>
                <a:spcPct val="115000"/>
              </a:lnSpc>
              <a:spcBef>
                <a:spcPts val="0"/>
              </a:spcBef>
              <a:spcAft>
                <a:spcPts val="0"/>
              </a:spcAft>
              <a:buSzPts val="2000"/>
              <a:buChar char="●"/>
            </a:pPr>
            <a:r>
              <a:rPr lang="en-GB" sz="2000"/>
              <a:t>Let                      be a sentence, and                         be the number of times it appeared in the training data.</a:t>
            </a:r>
            <a:endParaRPr sz="2000"/>
          </a:p>
        </p:txBody>
      </p:sp>
      <p:pic>
        <p:nvPicPr>
          <p:cNvPr id="228" name="Google Shape;228;p36"/>
          <p:cNvPicPr preferRelativeResize="0"/>
          <p:nvPr/>
        </p:nvPicPr>
        <p:blipFill>
          <a:blip r:embed="rId3">
            <a:alphaModFix/>
          </a:blip>
          <a:stretch>
            <a:fillRect/>
          </a:stretch>
        </p:blipFill>
        <p:spPr>
          <a:xfrm>
            <a:off x="1476873" y="1573231"/>
            <a:ext cx="1378639" cy="271700"/>
          </a:xfrm>
          <a:prstGeom prst="rect">
            <a:avLst/>
          </a:prstGeom>
          <a:noFill/>
          <a:ln>
            <a:noFill/>
          </a:ln>
        </p:spPr>
      </p:pic>
      <p:pic>
        <p:nvPicPr>
          <p:cNvPr id="229" name="Google Shape;229;p36"/>
          <p:cNvPicPr preferRelativeResize="0"/>
          <p:nvPr/>
        </p:nvPicPr>
        <p:blipFill>
          <a:blip r:embed="rId4">
            <a:alphaModFix/>
          </a:blip>
          <a:stretch>
            <a:fillRect/>
          </a:stretch>
        </p:blipFill>
        <p:spPr>
          <a:xfrm>
            <a:off x="5112265" y="1579685"/>
            <a:ext cx="1680475" cy="271700"/>
          </a:xfrm>
          <a:prstGeom prst="rect">
            <a:avLst/>
          </a:prstGeom>
          <a:noFill/>
          <a:ln>
            <a:noFill/>
          </a:ln>
        </p:spPr>
      </p:pic>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sp>
        <p:nvSpPr>
          <p:cNvPr id="235" name="Google Shape;235;p37"/>
          <p:cNvSpPr txBox="1">
            <a:spLocks noGrp="1"/>
          </p:cNvSpPr>
          <p:nvPr>
            <p:ph type="title"/>
          </p:nvPr>
        </p:nvSpPr>
        <p:spPr>
          <a:xfrm>
            <a:off x="471488" y="205383"/>
            <a:ext cx="5915100" cy="7458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chemeClr val="dk1"/>
              </a:buClr>
              <a:buSzPts val="3300"/>
              <a:buFont typeface="Century Gothic"/>
              <a:buNone/>
            </a:pPr>
            <a:r>
              <a:rPr lang="en-GB"/>
              <a:t>A naïve method</a:t>
            </a:r>
            <a:endParaRPr/>
          </a:p>
        </p:txBody>
      </p:sp>
      <p:sp>
        <p:nvSpPr>
          <p:cNvPr id="236" name="Google Shape;236;p37"/>
          <p:cNvSpPr txBox="1">
            <a:spLocks noGrp="1"/>
          </p:cNvSpPr>
          <p:nvPr>
            <p:ph type="body" idx="1"/>
          </p:nvPr>
        </p:nvSpPr>
        <p:spPr>
          <a:xfrm>
            <a:off x="482625" y="1147900"/>
            <a:ext cx="8160300" cy="2125800"/>
          </a:xfrm>
          <a:prstGeom prst="rect">
            <a:avLst/>
          </a:prstGeom>
          <a:noFill/>
          <a:ln>
            <a:noFill/>
          </a:ln>
        </p:spPr>
        <p:txBody>
          <a:bodyPr spcFirstLastPara="1" wrap="square" lIns="68575" tIns="34275" rIns="68575" bIns="34275" anchor="t" anchorCtr="0">
            <a:normAutofit/>
          </a:bodyPr>
          <a:lstStyle/>
          <a:p>
            <a:pPr marL="457200" lvl="0" indent="-355600" algn="l" rtl="0">
              <a:lnSpc>
                <a:spcPct val="115000"/>
              </a:lnSpc>
              <a:spcBef>
                <a:spcPts val="0"/>
              </a:spcBef>
              <a:spcAft>
                <a:spcPts val="0"/>
              </a:spcAft>
              <a:buSzPts val="2000"/>
              <a:buChar char="●"/>
            </a:pPr>
            <a:r>
              <a:rPr lang="en-GB" sz="2000"/>
              <a:t>Assume we have </a:t>
            </a:r>
            <a:r>
              <a:rPr lang="en-GB" sz="2000" i="1">
                <a:solidFill>
                  <a:srgbClr val="00B0F0"/>
                </a:solidFill>
                <a:latin typeface="Times New Roman"/>
                <a:ea typeface="Times New Roman"/>
                <a:cs typeface="Times New Roman"/>
                <a:sym typeface="Times New Roman"/>
              </a:rPr>
              <a:t>N</a:t>
            </a:r>
            <a:r>
              <a:rPr lang="en-GB" sz="2000">
                <a:solidFill>
                  <a:srgbClr val="00B0F0"/>
                </a:solidFill>
              </a:rPr>
              <a:t> training sentences</a:t>
            </a:r>
            <a:endParaRPr sz="2000">
              <a:solidFill>
                <a:srgbClr val="00B0F0"/>
              </a:solidFill>
            </a:endParaRPr>
          </a:p>
          <a:p>
            <a:pPr marL="457200" lvl="0" indent="-355600" algn="l" rtl="0">
              <a:lnSpc>
                <a:spcPct val="115000"/>
              </a:lnSpc>
              <a:spcBef>
                <a:spcPts val="0"/>
              </a:spcBef>
              <a:spcAft>
                <a:spcPts val="0"/>
              </a:spcAft>
              <a:buSzPts val="2000"/>
              <a:buChar char="●"/>
            </a:pPr>
            <a:r>
              <a:rPr lang="en-GB" sz="2000"/>
              <a:t>Let                      be a sentence, and                         be the number of times it appeared in the training data.</a:t>
            </a:r>
            <a:endParaRPr sz="2000"/>
          </a:p>
          <a:p>
            <a:pPr marL="457200" lvl="0" indent="-355600" algn="l" rtl="0">
              <a:lnSpc>
                <a:spcPct val="115000"/>
              </a:lnSpc>
              <a:spcBef>
                <a:spcPts val="0"/>
              </a:spcBef>
              <a:spcAft>
                <a:spcPts val="0"/>
              </a:spcAft>
              <a:buSzPts val="2000"/>
              <a:buChar char="●"/>
            </a:pPr>
            <a:r>
              <a:rPr lang="en-GB" sz="2000"/>
              <a:t>Define a language model: </a:t>
            </a:r>
            <a:endParaRPr sz="2000"/>
          </a:p>
        </p:txBody>
      </p:sp>
      <p:pic>
        <p:nvPicPr>
          <p:cNvPr id="237" name="Google Shape;237;p37"/>
          <p:cNvPicPr preferRelativeResize="0"/>
          <p:nvPr/>
        </p:nvPicPr>
        <p:blipFill>
          <a:blip r:embed="rId3">
            <a:alphaModFix/>
          </a:blip>
          <a:stretch>
            <a:fillRect/>
          </a:stretch>
        </p:blipFill>
        <p:spPr>
          <a:xfrm>
            <a:off x="1476873" y="1573231"/>
            <a:ext cx="1378639" cy="271700"/>
          </a:xfrm>
          <a:prstGeom prst="rect">
            <a:avLst/>
          </a:prstGeom>
          <a:noFill/>
          <a:ln>
            <a:noFill/>
          </a:ln>
        </p:spPr>
      </p:pic>
      <p:pic>
        <p:nvPicPr>
          <p:cNvPr id="238" name="Google Shape;238;p37"/>
          <p:cNvPicPr preferRelativeResize="0"/>
          <p:nvPr/>
        </p:nvPicPr>
        <p:blipFill>
          <a:blip r:embed="rId4">
            <a:alphaModFix/>
          </a:blip>
          <a:stretch>
            <a:fillRect/>
          </a:stretch>
        </p:blipFill>
        <p:spPr>
          <a:xfrm>
            <a:off x="5112265" y="1579685"/>
            <a:ext cx="1680475" cy="271700"/>
          </a:xfrm>
          <a:prstGeom prst="rect">
            <a:avLst/>
          </a:prstGeom>
          <a:noFill/>
          <a:ln>
            <a:noFill/>
          </a:ln>
        </p:spPr>
      </p:pic>
      <p:grpSp>
        <p:nvGrpSpPr>
          <p:cNvPr id="239" name="Google Shape;239;p37"/>
          <p:cNvGrpSpPr/>
          <p:nvPr/>
        </p:nvGrpSpPr>
        <p:grpSpPr>
          <a:xfrm>
            <a:off x="2401850" y="2668600"/>
            <a:ext cx="4340301" cy="765050"/>
            <a:chOff x="2401850" y="2744800"/>
            <a:chExt cx="4340301" cy="765050"/>
          </a:xfrm>
        </p:grpSpPr>
        <p:pic>
          <p:nvPicPr>
            <p:cNvPr id="240" name="Google Shape;240;p37"/>
            <p:cNvPicPr preferRelativeResize="0"/>
            <p:nvPr/>
          </p:nvPicPr>
          <p:blipFill>
            <a:blip r:embed="rId5">
              <a:alphaModFix/>
            </a:blip>
            <a:stretch>
              <a:fillRect/>
            </a:stretch>
          </p:blipFill>
          <p:spPr>
            <a:xfrm>
              <a:off x="2401850" y="2821450"/>
              <a:ext cx="4340301" cy="688400"/>
            </a:xfrm>
            <a:prstGeom prst="rect">
              <a:avLst/>
            </a:prstGeom>
            <a:noFill/>
            <a:ln>
              <a:noFill/>
            </a:ln>
          </p:spPr>
        </p:pic>
        <p:sp>
          <p:nvSpPr>
            <p:cNvPr id="241" name="Google Shape;241;p37"/>
            <p:cNvSpPr/>
            <p:nvPr/>
          </p:nvSpPr>
          <p:spPr>
            <a:xfrm>
              <a:off x="2730375" y="2744800"/>
              <a:ext cx="288300" cy="168300"/>
            </a:xfrm>
            <a:prstGeom prst="rect">
              <a:avLst/>
            </a:prstGeom>
            <a:solidFill>
              <a:srgbClr val="FFFF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sp>
        <p:nvSpPr>
          <p:cNvPr id="242" name="Google Shape;242;p37"/>
          <p:cNvSpPr txBox="1">
            <a:spLocks noGrp="1"/>
          </p:cNvSpPr>
          <p:nvPr>
            <p:ph type="body" idx="1"/>
          </p:nvPr>
        </p:nvSpPr>
        <p:spPr>
          <a:xfrm>
            <a:off x="558825" y="3470425"/>
            <a:ext cx="2271900" cy="440100"/>
          </a:xfrm>
          <a:prstGeom prst="rect">
            <a:avLst/>
          </a:prstGeom>
          <a:noFill/>
          <a:ln>
            <a:noFill/>
          </a:ln>
        </p:spPr>
        <p:txBody>
          <a:bodyPr spcFirstLastPara="1" wrap="square" lIns="68575" tIns="34275" rIns="68575" bIns="34275" anchor="t" anchorCtr="0">
            <a:normAutofit/>
          </a:bodyPr>
          <a:lstStyle/>
          <a:p>
            <a:pPr marL="0" lvl="0" indent="0">
              <a:lnSpc>
                <a:spcPct val="115000"/>
              </a:lnSpc>
              <a:spcBef>
                <a:spcPts val="0"/>
              </a:spcBef>
              <a:buNone/>
            </a:pPr>
            <a:r>
              <a:rPr lang="en-GB" sz="2000" dirty="0">
                <a:solidFill>
                  <a:srgbClr val="EE7F32"/>
                </a:solidFill>
              </a:rPr>
              <a:t>Would that work?</a:t>
            </a:r>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Shape 247"/>
        <p:cNvGrpSpPr/>
        <p:nvPr/>
      </p:nvGrpSpPr>
      <p:grpSpPr>
        <a:xfrm>
          <a:off x="0" y="0"/>
          <a:ext cx="0" cy="0"/>
          <a:chOff x="0" y="0"/>
          <a:chExt cx="0" cy="0"/>
        </a:xfrm>
      </p:grpSpPr>
      <p:sp>
        <p:nvSpPr>
          <p:cNvPr id="248" name="Google Shape;248;p38"/>
          <p:cNvSpPr txBox="1">
            <a:spLocks noGrp="1"/>
          </p:cNvSpPr>
          <p:nvPr>
            <p:ph type="title"/>
          </p:nvPr>
        </p:nvSpPr>
        <p:spPr>
          <a:xfrm>
            <a:off x="471488" y="205383"/>
            <a:ext cx="5915100" cy="7458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chemeClr val="dk1"/>
              </a:buClr>
              <a:buSzPts val="3300"/>
              <a:buFont typeface="Century Gothic"/>
              <a:buNone/>
            </a:pPr>
            <a:r>
              <a:rPr lang="en-GB"/>
              <a:t>A naïve method</a:t>
            </a:r>
            <a:endParaRPr/>
          </a:p>
        </p:txBody>
      </p:sp>
      <p:sp>
        <p:nvSpPr>
          <p:cNvPr id="249" name="Google Shape;249;p38"/>
          <p:cNvSpPr txBox="1">
            <a:spLocks noGrp="1"/>
          </p:cNvSpPr>
          <p:nvPr>
            <p:ph type="body" idx="1"/>
          </p:nvPr>
        </p:nvSpPr>
        <p:spPr>
          <a:xfrm>
            <a:off x="482625" y="1147900"/>
            <a:ext cx="8160300" cy="2125800"/>
          </a:xfrm>
          <a:prstGeom prst="rect">
            <a:avLst/>
          </a:prstGeom>
          <a:noFill/>
          <a:ln>
            <a:noFill/>
          </a:ln>
        </p:spPr>
        <p:txBody>
          <a:bodyPr spcFirstLastPara="1" wrap="square" lIns="68575" tIns="34275" rIns="68575" bIns="34275" anchor="t" anchorCtr="0">
            <a:normAutofit/>
          </a:bodyPr>
          <a:lstStyle/>
          <a:p>
            <a:pPr marL="457200" lvl="0" indent="-355600" algn="l" rtl="0">
              <a:lnSpc>
                <a:spcPct val="115000"/>
              </a:lnSpc>
              <a:spcBef>
                <a:spcPts val="0"/>
              </a:spcBef>
              <a:spcAft>
                <a:spcPts val="0"/>
              </a:spcAft>
              <a:buSzPts val="2000"/>
              <a:buChar char="●"/>
            </a:pPr>
            <a:r>
              <a:rPr lang="en-GB" sz="2000"/>
              <a:t>Assume we have </a:t>
            </a:r>
            <a:r>
              <a:rPr lang="en-GB" sz="2000" i="1">
                <a:solidFill>
                  <a:srgbClr val="00B0F0"/>
                </a:solidFill>
                <a:latin typeface="Times New Roman"/>
                <a:ea typeface="Times New Roman"/>
                <a:cs typeface="Times New Roman"/>
                <a:sym typeface="Times New Roman"/>
              </a:rPr>
              <a:t>N</a:t>
            </a:r>
            <a:r>
              <a:rPr lang="en-GB" sz="2000">
                <a:solidFill>
                  <a:srgbClr val="00B0F0"/>
                </a:solidFill>
              </a:rPr>
              <a:t> training sentences</a:t>
            </a:r>
            <a:endParaRPr sz="2000">
              <a:solidFill>
                <a:srgbClr val="00B0F0"/>
              </a:solidFill>
            </a:endParaRPr>
          </a:p>
          <a:p>
            <a:pPr marL="457200" lvl="0" indent="-355600" algn="l" rtl="0">
              <a:lnSpc>
                <a:spcPct val="115000"/>
              </a:lnSpc>
              <a:spcBef>
                <a:spcPts val="0"/>
              </a:spcBef>
              <a:spcAft>
                <a:spcPts val="0"/>
              </a:spcAft>
              <a:buSzPts val="2000"/>
              <a:buChar char="●"/>
            </a:pPr>
            <a:r>
              <a:rPr lang="en-GB" sz="2000"/>
              <a:t>Let                      be a sentence, and                         be the number of times it appeared in the training data.</a:t>
            </a:r>
            <a:endParaRPr sz="2000"/>
          </a:p>
          <a:p>
            <a:pPr marL="457200" lvl="0" indent="-355600" algn="l" rtl="0">
              <a:lnSpc>
                <a:spcPct val="115000"/>
              </a:lnSpc>
              <a:spcBef>
                <a:spcPts val="0"/>
              </a:spcBef>
              <a:spcAft>
                <a:spcPts val="0"/>
              </a:spcAft>
              <a:buSzPts val="2000"/>
              <a:buChar char="●"/>
            </a:pPr>
            <a:r>
              <a:rPr lang="en-GB" sz="2000"/>
              <a:t>Define a language model: </a:t>
            </a:r>
            <a:endParaRPr sz="2000"/>
          </a:p>
        </p:txBody>
      </p:sp>
      <p:pic>
        <p:nvPicPr>
          <p:cNvPr id="250" name="Google Shape;250;p38"/>
          <p:cNvPicPr preferRelativeResize="0"/>
          <p:nvPr/>
        </p:nvPicPr>
        <p:blipFill>
          <a:blip r:embed="rId3">
            <a:alphaModFix/>
          </a:blip>
          <a:stretch>
            <a:fillRect/>
          </a:stretch>
        </p:blipFill>
        <p:spPr>
          <a:xfrm>
            <a:off x="1476873" y="1573231"/>
            <a:ext cx="1378639" cy="271700"/>
          </a:xfrm>
          <a:prstGeom prst="rect">
            <a:avLst/>
          </a:prstGeom>
          <a:noFill/>
          <a:ln>
            <a:noFill/>
          </a:ln>
        </p:spPr>
      </p:pic>
      <p:pic>
        <p:nvPicPr>
          <p:cNvPr id="251" name="Google Shape;251;p38"/>
          <p:cNvPicPr preferRelativeResize="0"/>
          <p:nvPr/>
        </p:nvPicPr>
        <p:blipFill>
          <a:blip r:embed="rId4">
            <a:alphaModFix/>
          </a:blip>
          <a:stretch>
            <a:fillRect/>
          </a:stretch>
        </p:blipFill>
        <p:spPr>
          <a:xfrm>
            <a:off x="5112265" y="1579685"/>
            <a:ext cx="1680475" cy="271700"/>
          </a:xfrm>
          <a:prstGeom prst="rect">
            <a:avLst/>
          </a:prstGeom>
          <a:noFill/>
          <a:ln>
            <a:noFill/>
          </a:ln>
        </p:spPr>
      </p:pic>
      <p:grpSp>
        <p:nvGrpSpPr>
          <p:cNvPr id="252" name="Google Shape;252;p38"/>
          <p:cNvGrpSpPr/>
          <p:nvPr/>
        </p:nvGrpSpPr>
        <p:grpSpPr>
          <a:xfrm>
            <a:off x="2401850" y="2668600"/>
            <a:ext cx="4340301" cy="765050"/>
            <a:chOff x="2401850" y="2744800"/>
            <a:chExt cx="4340301" cy="765050"/>
          </a:xfrm>
        </p:grpSpPr>
        <p:pic>
          <p:nvPicPr>
            <p:cNvPr id="253" name="Google Shape;253;p38"/>
            <p:cNvPicPr preferRelativeResize="0"/>
            <p:nvPr/>
          </p:nvPicPr>
          <p:blipFill>
            <a:blip r:embed="rId5">
              <a:alphaModFix/>
            </a:blip>
            <a:stretch>
              <a:fillRect/>
            </a:stretch>
          </p:blipFill>
          <p:spPr>
            <a:xfrm>
              <a:off x="2401850" y="2821450"/>
              <a:ext cx="4340301" cy="688400"/>
            </a:xfrm>
            <a:prstGeom prst="rect">
              <a:avLst/>
            </a:prstGeom>
            <a:noFill/>
            <a:ln>
              <a:noFill/>
            </a:ln>
          </p:spPr>
        </p:pic>
        <p:sp>
          <p:nvSpPr>
            <p:cNvPr id="254" name="Google Shape;254;p38"/>
            <p:cNvSpPr/>
            <p:nvPr/>
          </p:nvSpPr>
          <p:spPr>
            <a:xfrm>
              <a:off x="2730375" y="2744800"/>
              <a:ext cx="288300" cy="168300"/>
            </a:xfrm>
            <a:prstGeom prst="rect">
              <a:avLst/>
            </a:prstGeom>
            <a:solidFill>
              <a:srgbClr val="FFFF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sp>
        <p:nvSpPr>
          <p:cNvPr id="255" name="Google Shape;255;p38"/>
          <p:cNvSpPr txBox="1">
            <a:spLocks noGrp="1"/>
          </p:cNvSpPr>
          <p:nvPr>
            <p:ph type="body" idx="1"/>
          </p:nvPr>
        </p:nvSpPr>
        <p:spPr>
          <a:xfrm>
            <a:off x="558825" y="3470425"/>
            <a:ext cx="5973300" cy="1509600"/>
          </a:xfrm>
          <a:prstGeom prst="rect">
            <a:avLst/>
          </a:prstGeom>
          <a:noFill/>
          <a:ln>
            <a:noFill/>
          </a:ln>
        </p:spPr>
        <p:txBody>
          <a:bodyPr spcFirstLastPara="1" wrap="square" lIns="68575" tIns="34275" rIns="68575" bIns="34275" anchor="t" anchorCtr="0">
            <a:normAutofit/>
          </a:bodyPr>
          <a:lstStyle/>
          <a:p>
            <a:pPr marL="0" lvl="0" indent="0" algn="l" rtl="0">
              <a:lnSpc>
                <a:spcPct val="115000"/>
              </a:lnSpc>
              <a:spcBef>
                <a:spcPts val="0"/>
              </a:spcBef>
              <a:spcAft>
                <a:spcPts val="0"/>
              </a:spcAft>
              <a:buNone/>
            </a:pPr>
            <a:r>
              <a:rPr lang="en-GB" sz="2000" dirty="0">
                <a:solidFill>
                  <a:srgbClr val="EE7F32"/>
                </a:solidFill>
              </a:rPr>
              <a:t>Would that work?</a:t>
            </a:r>
            <a:endParaRPr sz="2000" dirty="0">
              <a:solidFill>
                <a:srgbClr val="EE7F32"/>
              </a:solidFill>
            </a:endParaRPr>
          </a:p>
          <a:p>
            <a:pPr marL="0" lvl="0" indent="0" algn="l" rtl="0">
              <a:lnSpc>
                <a:spcPct val="115000"/>
              </a:lnSpc>
              <a:spcBef>
                <a:spcPts val="1000"/>
              </a:spcBef>
              <a:spcAft>
                <a:spcPts val="0"/>
              </a:spcAft>
              <a:buNone/>
            </a:pPr>
            <a:r>
              <a:rPr lang="en-GB" sz="2000" dirty="0">
                <a:solidFill>
                  <a:srgbClr val="C00000"/>
                </a:solidFill>
              </a:rPr>
              <a:t>No generalization!</a:t>
            </a:r>
            <a:endParaRPr sz="2000" dirty="0">
              <a:solidFill>
                <a:srgbClr val="C00000"/>
              </a:solidFill>
            </a:endParaRPr>
          </a:p>
          <a:p>
            <a:pPr marL="457200" lvl="0" indent="-355600" algn="l" rtl="0">
              <a:lnSpc>
                <a:spcPct val="115000"/>
              </a:lnSpc>
              <a:spcBef>
                <a:spcPts val="1000"/>
              </a:spcBef>
              <a:spcAft>
                <a:spcPts val="0"/>
              </a:spcAft>
              <a:buSzPts val="2000"/>
              <a:buChar char="●"/>
            </a:pPr>
            <a:r>
              <a:rPr lang="en-GB" sz="2000" dirty="0"/>
              <a:t>Zero almost everywhere (       sequences)</a:t>
            </a:r>
            <a:endParaRPr sz="2000" dirty="0">
              <a:solidFill>
                <a:srgbClr val="C00000"/>
              </a:solidFill>
            </a:endParaRPr>
          </a:p>
        </p:txBody>
      </p:sp>
      <p:pic>
        <p:nvPicPr>
          <p:cNvPr id="256" name="Google Shape;256;p38"/>
          <p:cNvPicPr preferRelativeResize="0"/>
          <p:nvPr/>
        </p:nvPicPr>
        <p:blipFill>
          <a:blip r:embed="rId6">
            <a:alphaModFix/>
          </a:blip>
          <a:stretch>
            <a:fillRect/>
          </a:stretch>
        </p:blipFill>
        <p:spPr>
          <a:xfrm>
            <a:off x="3977808" y="4470522"/>
            <a:ext cx="453374" cy="329274"/>
          </a:xfrm>
          <a:prstGeom prst="rect">
            <a:avLst/>
          </a:prstGeom>
          <a:noFill/>
          <a:ln>
            <a:noFill/>
          </a:ln>
        </p:spPr>
      </p:pic>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290" name="Google Shape;290;p43"/>
          <p:cNvSpPr txBox="1">
            <a:spLocks noGrp="1"/>
          </p:cNvSpPr>
          <p:nvPr>
            <p:ph type="title"/>
          </p:nvPr>
        </p:nvSpPr>
        <p:spPr>
          <a:xfrm>
            <a:off x="471488" y="205383"/>
            <a:ext cx="5915100" cy="7458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chemeClr val="dk1"/>
              </a:buClr>
              <a:buSzPts val="3300"/>
              <a:buFont typeface="Century Gothic"/>
              <a:buNone/>
            </a:pPr>
            <a:r>
              <a:rPr lang="en-GB"/>
              <a:t>Plan</a:t>
            </a:r>
            <a:endParaRPr/>
          </a:p>
        </p:txBody>
      </p:sp>
      <p:sp>
        <p:nvSpPr>
          <p:cNvPr id="291" name="Google Shape;291;p43"/>
          <p:cNvSpPr txBox="1">
            <a:spLocks noGrp="1"/>
          </p:cNvSpPr>
          <p:nvPr>
            <p:ph type="body" idx="1"/>
          </p:nvPr>
        </p:nvSpPr>
        <p:spPr>
          <a:xfrm>
            <a:off x="471500" y="1103125"/>
            <a:ext cx="5915100" cy="3204000"/>
          </a:xfrm>
          <a:prstGeom prst="rect">
            <a:avLst/>
          </a:prstGeom>
          <a:noFill/>
          <a:ln>
            <a:noFill/>
          </a:ln>
        </p:spPr>
        <p:txBody>
          <a:bodyPr spcFirstLastPara="1" wrap="square" lIns="68575" tIns="34275" rIns="68575" bIns="34275" anchor="t" anchorCtr="0">
            <a:normAutofit/>
          </a:bodyPr>
          <a:lstStyle/>
          <a:p>
            <a:pPr marL="457200" lvl="0" indent="-342900" algn="l" rtl="0">
              <a:lnSpc>
                <a:spcPct val="150000"/>
              </a:lnSpc>
              <a:spcBef>
                <a:spcPts val="0"/>
              </a:spcBef>
              <a:spcAft>
                <a:spcPts val="0"/>
              </a:spcAft>
              <a:buSzPts val="1800"/>
              <a:buChar char="●"/>
            </a:pPr>
            <a:r>
              <a:rPr lang="en-GB"/>
              <a:t>Motivation</a:t>
            </a:r>
            <a:endParaRPr/>
          </a:p>
          <a:p>
            <a:pPr marL="457200" lvl="0" indent="-342900" algn="l" rtl="0">
              <a:lnSpc>
                <a:spcPct val="150000"/>
              </a:lnSpc>
              <a:spcBef>
                <a:spcPts val="0"/>
              </a:spcBef>
              <a:spcAft>
                <a:spcPts val="0"/>
              </a:spcAft>
              <a:buSzPts val="1800"/>
              <a:buChar char="●"/>
            </a:pPr>
            <a:r>
              <a:rPr lang="en-GB"/>
              <a:t>Problem deﬁnition</a:t>
            </a:r>
            <a:endParaRPr/>
          </a:p>
          <a:p>
            <a:pPr marL="457200" lvl="0" indent="-342900" algn="l" rtl="0">
              <a:lnSpc>
                <a:spcPct val="150000"/>
              </a:lnSpc>
              <a:spcBef>
                <a:spcPts val="0"/>
              </a:spcBef>
              <a:spcAft>
                <a:spcPts val="0"/>
              </a:spcAft>
              <a:buSzPts val="1800"/>
              <a:buChar char="●"/>
            </a:pPr>
            <a:r>
              <a:rPr lang="en-GB" b="1"/>
              <a:t>N-gram models</a:t>
            </a:r>
            <a:endParaRPr b="1"/>
          </a:p>
          <a:p>
            <a:pPr marL="457200" lvl="0" indent="-342900" algn="l" rtl="0">
              <a:lnSpc>
                <a:spcPct val="150000"/>
              </a:lnSpc>
              <a:spcBef>
                <a:spcPts val="0"/>
              </a:spcBef>
              <a:spcAft>
                <a:spcPts val="0"/>
              </a:spcAft>
              <a:buSzPts val="1800"/>
              <a:buChar char="●"/>
            </a:pPr>
            <a:r>
              <a:rPr lang="en-GB"/>
              <a:t>Evaluation</a:t>
            </a:r>
            <a:endParaRPr/>
          </a:p>
          <a:p>
            <a:pPr marL="457200" lvl="0" indent="-342900" algn="l" rtl="0">
              <a:lnSpc>
                <a:spcPct val="150000"/>
              </a:lnSpc>
              <a:spcBef>
                <a:spcPts val="0"/>
              </a:spcBef>
              <a:spcAft>
                <a:spcPts val="0"/>
              </a:spcAft>
              <a:buSzPts val="1800"/>
              <a:buChar char="●"/>
            </a:pPr>
            <a:r>
              <a:rPr lang="en-GB"/>
              <a:t>Estimation</a:t>
            </a:r>
            <a:endParaRPr/>
          </a:p>
          <a:p>
            <a:pPr marL="914400" lvl="1" indent="-342900" algn="l" rtl="0">
              <a:lnSpc>
                <a:spcPct val="150000"/>
              </a:lnSpc>
              <a:spcBef>
                <a:spcPts val="0"/>
              </a:spcBef>
              <a:spcAft>
                <a:spcPts val="0"/>
              </a:spcAft>
              <a:buSzPts val="1800"/>
              <a:buChar char="○"/>
            </a:pPr>
            <a:r>
              <a:rPr lang="en-GB"/>
              <a:t>Interpolation</a:t>
            </a:r>
            <a:endParaRPr/>
          </a:p>
          <a:p>
            <a:pPr marL="457200" lvl="0" indent="-342900" algn="l" rtl="0">
              <a:lnSpc>
                <a:spcPct val="150000"/>
              </a:lnSpc>
              <a:spcBef>
                <a:spcPts val="0"/>
              </a:spcBef>
              <a:spcAft>
                <a:spcPts val="0"/>
              </a:spcAft>
              <a:buSzPts val="1800"/>
              <a:buChar char="●"/>
            </a:pPr>
            <a:r>
              <a:rPr lang="en-GB"/>
              <a:t>Neural language models</a:t>
            </a:r>
            <a:endParaRPr/>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E68EB2-91A4-2F58-A8EC-908E20B603CA}"/>
              </a:ext>
            </a:extLst>
          </p:cNvPr>
          <p:cNvSpPr>
            <a:spLocks noGrp="1"/>
          </p:cNvSpPr>
          <p:nvPr>
            <p:ph type="title"/>
          </p:nvPr>
        </p:nvSpPr>
        <p:spPr/>
        <p:txBody>
          <a:bodyPr/>
          <a:lstStyle/>
          <a:p>
            <a:r>
              <a:rPr lang="en-US" dirty="0"/>
              <a:t>Reminder: N-grams</a:t>
            </a:r>
          </a:p>
        </p:txBody>
      </p:sp>
      <p:sp>
        <p:nvSpPr>
          <p:cNvPr id="3" name="Text Placeholder 2">
            <a:extLst>
              <a:ext uri="{FF2B5EF4-FFF2-40B4-BE49-F238E27FC236}">
                <a16:creationId xmlns:a16="http://schemas.microsoft.com/office/drawing/2014/main" id="{DE55605E-D318-8E5F-A0F7-079F2306F2F8}"/>
              </a:ext>
            </a:extLst>
          </p:cNvPr>
          <p:cNvSpPr>
            <a:spLocks noGrp="1"/>
          </p:cNvSpPr>
          <p:nvPr>
            <p:ph type="body" idx="1"/>
          </p:nvPr>
        </p:nvSpPr>
        <p:spPr>
          <a:xfrm>
            <a:off x="448887" y="1369219"/>
            <a:ext cx="8237913" cy="3263400"/>
          </a:xfrm>
        </p:spPr>
        <p:txBody>
          <a:bodyPr/>
          <a:lstStyle/>
          <a:p>
            <a:r>
              <a:rPr lang="en-US" b="1" dirty="0">
                <a:solidFill>
                  <a:schemeClr val="tx1"/>
                </a:solidFill>
              </a:rPr>
              <a:t>N-gram</a:t>
            </a:r>
            <a:r>
              <a:rPr lang="en-US" dirty="0">
                <a:solidFill>
                  <a:schemeClr val="tx1"/>
                </a:solidFill>
              </a:rPr>
              <a:t>: sequence of N consecutive words in a text</a:t>
            </a:r>
          </a:p>
          <a:p>
            <a:r>
              <a:rPr lang="en-US" dirty="0"/>
              <a:t>Text: </a:t>
            </a:r>
            <a:r>
              <a:rPr lang="en-US" dirty="0">
                <a:solidFill>
                  <a:schemeClr val="accent5"/>
                </a:solidFill>
              </a:rPr>
              <a:t>“natural language processing is a crucial part of artificial intelligence”</a:t>
            </a:r>
          </a:p>
          <a:p>
            <a:pPr lvl="1"/>
            <a:r>
              <a:rPr lang="en-US" dirty="0">
                <a:solidFill>
                  <a:schemeClr val="tx1"/>
                </a:solidFill>
              </a:rPr>
              <a:t>Unigrams: </a:t>
            </a:r>
            <a:r>
              <a:rPr lang="en-US" dirty="0">
                <a:solidFill>
                  <a:schemeClr val="accent6">
                    <a:lumMod val="50000"/>
                  </a:schemeClr>
                </a:solidFill>
              </a:rPr>
              <a:t>natural</a:t>
            </a:r>
            <a:r>
              <a:rPr lang="en-US" dirty="0">
                <a:solidFill>
                  <a:schemeClr val="accent5"/>
                </a:solidFill>
              </a:rPr>
              <a:t>, </a:t>
            </a:r>
            <a:r>
              <a:rPr lang="en-US" dirty="0">
                <a:solidFill>
                  <a:schemeClr val="accent4">
                    <a:lumMod val="50000"/>
                  </a:schemeClr>
                </a:solidFill>
              </a:rPr>
              <a:t>language</a:t>
            </a:r>
            <a:r>
              <a:rPr lang="en-US" dirty="0">
                <a:solidFill>
                  <a:schemeClr val="accent5"/>
                </a:solidFill>
              </a:rPr>
              <a:t>, </a:t>
            </a:r>
            <a:r>
              <a:rPr lang="en-US" dirty="0">
                <a:solidFill>
                  <a:srgbClr val="7030A0"/>
                </a:solidFill>
              </a:rPr>
              <a:t>processing</a:t>
            </a:r>
            <a:r>
              <a:rPr lang="en-US" dirty="0">
                <a:solidFill>
                  <a:schemeClr val="accent5"/>
                </a:solidFill>
              </a:rPr>
              <a:t>, </a:t>
            </a:r>
            <a:r>
              <a:rPr lang="en-US" dirty="0">
                <a:solidFill>
                  <a:srgbClr val="0070C0"/>
                </a:solidFill>
              </a:rPr>
              <a:t>is</a:t>
            </a:r>
            <a:r>
              <a:rPr lang="en-US" dirty="0">
                <a:solidFill>
                  <a:schemeClr val="accent5"/>
                </a:solidFill>
              </a:rPr>
              <a:t>, </a:t>
            </a:r>
            <a:r>
              <a:rPr lang="en-US" dirty="0">
                <a:solidFill>
                  <a:srgbClr val="C00000"/>
                </a:solidFill>
              </a:rPr>
              <a:t>a</a:t>
            </a:r>
            <a:r>
              <a:rPr lang="en-US" dirty="0">
                <a:solidFill>
                  <a:schemeClr val="accent5"/>
                </a:solidFill>
              </a:rPr>
              <a:t>, …</a:t>
            </a:r>
          </a:p>
          <a:p>
            <a:pPr lvl="1"/>
            <a:r>
              <a:rPr lang="en-US" dirty="0">
                <a:solidFill>
                  <a:schemeClr val="tx1"/>
                </a:solidFill>
              </a:rPr>
              <a:t>Bigrams: </a:t>
            </a:r>
            <a:r>
              <a:rPr lang="en-US" dirty="0">
                <a:solidFill>
                  <a:schemeClr val="accent6">
                    <a:lumMod val="50000"/>
                  </a:schemeClr>
                </a:solidFill>
              </a:rPr>
              <a:t>natural language</a:t>
            </a:r>
            <a:r>
              <a:rPr lang="en-US" dirty="0">
                <a:solidFill>
                  <a:schemeClr val="accent4">
                    <a:lumMod val="50000"/>
                  </a:schemeClr>
                </a:solidFill>
              </a:rPr>
              <a:t>, language processing</a:t>
            </a:r>
            <a:r>
              <a:rPr lang="en-US" dirty="0">
                <a:solidFill>
                  <a:schemeClr val="accent5"/>
                </a:solidFill>
              </a:rPr>
              <a:t>, </a:t>
            </a:r>
            <a:r>
              <a:rPr lang="en-US" dirty="0">
                <a:solidFill>
                  <a:srgbClr val="7030A0"/>
                </a:solidFill>
              </a:rPr>
              <a:t>processing is</a:t>
            </a:r>
            <a:r>
              <a:rPr lang="en-US" dirty="0">
                <a:solidFill>
                  <a:schemeClr val="accent5"/>
                </a:solidFill>
              </a:rPr>
              <a:t>, …</a:t>
            </a:r>
          </a:p>
          <a:p>
            <a:pPr lvl="1"/>
            <a:r>
              <a:rPr lang="en-US" dirty="0">
                <a:solidFill>
                  <a:schemeClr val="tx1"/>
                </a:solidFill>
              </a:rPr>
              <a:t>Trigrams</a:t>
            </a:r>
            <a:r>
              <a:rPr lang="en-US" dirty="0">
                <a:solidFill>
                  <a:schemeClr val="accent5"/>
                </a:solidFill>
              </a:rPr>
              <a:t>: </a:t>
            </a:r>
            <a:r>
              <a:rPr lang="en-US" dirty="0">
                <a:solidFill>
                  <a:schemeClr val="accent6">
                    <a:lumMod val="50000"/>
                  </a:schemeClr>
                </a:solidFill>
              </a:rPr>
              <a:t>natural language processing</a:t>
            </a:r>
            <a:r>
              <a:rPr lang="en-US" dirty="0">
                <a:solidFill>
                  <a:schemeClr val="tx1"/>
                </a:solidFill>
              </a:rPr>
              <a:t>, </a:t>
            </a:r>
            <a:r>
              <a:rPr lang="en-US" dirty="0">
                <a:solidFill>
                  <a:schemeClr val="accent4">
                    <a:lumMod val="50000"/>
                  </a:schemeClr>
                </a:solidFill>
              </a:rPr>
              <a:t>language processing is</a:t>
            </a:r>
            <a:r>
              <a:rPr lang="en-US" dirty="0">
                <a:solidFill>
                  <a:schemeClr val="tx1"/>
                </a:solidFill>
              </a:rPr>
              <a:t>, …</a:t>
            </a:r>
          </a:p>
          <a:p>
            <a:pPr lvl="1"/>
            <a:r>
              <a:rPr lang="en-US" dirty="0">
                <a:solidFill>
                  <a:schemeClr val="tx1"/>
                </a:solidFill>
              </a:rPr>
              <a:t>Quadrigrams: </a:t>
            </a:r>
            <a:r>
              <a:rPr lang="en-US" dirty="0">
                <a:solidFill>
                  <a:schemeClr val="accent6">
                    <a:lumMod val="50000"/>
                  </a:schemeClr>
                </a:solidFill>
              </a:rPr>
              <a:t>natural language processing is</a:t>
            </a:r>
            <a:r>
              <a:rPr lang="en-US" dirty="0">
                <a:solidFill>
                  <a:schemeClr val="tx1"/>
                </a:solidFill>
              </a:rPr>
              <a:t>, …</a:t>
            </a:r>
          </a:p>
        </p:txBody>
      </p:sp>
    </p:spTree>
    <p:extLst>
      <p:ext uri="{BB962C8B-B14F-4D97-AF65-F5344CB8AC3E}">
        <p14:creationId xmlns:p14="http://schemas.microsoft.com/office/powerpoint/2010/main" val="3901220231"/>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Shape 261"/>
        <p:cNvGrpSpPr/>
        <p:nvPr/>
      </p:nvGrpSpPr>
      <p:grpSpPr>
        <a:xfrm>
          <a:off x="0" y="0"/>
          <a:ext cx="0" cy="0"/>
          <a:chOff x="0" y="0"/>
          <a:chExt cx="0" cy="0"/>
        </a:xfrm>
      </p:grpSpPr>
      <p:sp>
        <p:nvSpPr>
          <p:cNvPr id="262" name="Google Shape;262;p39"/>
          <p:cNvSpPr txBox="1">
            <a:spLocks noGrp="1"/>
          </p:cNvSpPr>
          <p:nvPr>
            <p:ph type="title"/>
          </p:nvPr>
        </p:nvSpPr>
        <p:spPr>
          <a:xfrm>
            <a:off x="471488" y="205383"/>
            <a:ext cx="5915100" cy="745800"/>
          </a:xfrm>
          <a:prstGeom prst="rect">
            <a:avLst/>
          </a:prstGeom>
          <a:noFill/>
          <a:ln>
            <a:noFill/>
          </a:ln>
        </p:spPr>
        <p:txBody>
          <a:bodyPr spcFirstLastPara="1" wrap="square" lIns="68575" tIns="34275" rIns="68575" bIns="34275" anchor="ctr" anchorCtr="0">
            <a:normAutofit fontScale="90000"/>
          </a:bodyPr>
          <a:lstStyle/>
          <a:p>
            <a:pPr marL="0" lvl="0" indent="0" algn="l" rtl="0">
              <a:lnSpc>
                <a:spcPct val="90000"/>
              </a:lnSpc>
              <a:spcBef>
                <a:spcPts val="0"/>
              </a:spcBef>
              <a:spcAft>
                <a:spcPts val="0"/>
              </a:spcAft>
              <a:buClr>
                <a:schemeClr val="dk1"/>
              </a:buClr>
              <a:buSzPct val="117857"/>
              <a:buFont typeface="Century Gothic"/>
              <a:buNone/>
            </a:pPr>
            <a:r>
              <a:rPr lang="en-GB"/>
              <a:t>Berkeley restaurant project sentences</a:t>
            </a:r>
            <a:endParaRPr/>
          </a:p>
        </p:txBody>
      </p:sp>
      <p:sp>
        <p:nvSpPr>
          <p:cNvPr id="263" name="Google Shape;263;p39"/>
          <p:cNvSpPr txBox="1">
            <a:spLocks noGrp="1"/>
          </p:cNvSpPr>
          <p:nvPr>
            <p:ph type="body" idx="1"/>
          </p:nvPr>
        </p:nvSpPr>
        <p:spPr>
          <a:xfrm>
            <a:off x="547700" y="1026925"/>
            <a:ext cx="7486500" cy="3558300"/>
          </a:xfrm>
          <a:prstGeom prst="rect">
            <a:avLst/>
          </a:prstGeom>
          <a:noFill/>
          <a:ln>
            <a:noFill/>
          </a:ln>
        </p:spPr>
        <p:txBody>
          <a:bodyPr spcFirstLastPara="1" wrap="square" lIns="68575" tIns="34275" rIns="68575" bIns="34275" anchor="t" anchorCtr="0">
            <a:noAutofit/>
          </a:bodyPr>
          <a:lstStyle/>
          <a:p>
            <a:pPr marL="177800" lvl="0" indent="-203200" algn="l" rtl="0">
              <a:lnSpc>
                <a:spcPct val="150000"/>
              </a:lnSpc>
              <a:spcBef>
                <a:spcPts val="0"/>
              </a:spcBef>
              <a:spcAft>
                <a:spcPts val="0"/>
              </a:spcAft>
              <a:buClr>
                <a:schemeClr val="dk1"/>
              </a:buClr>
              <a:buSzPts val="1800"/>
              <a:buChar char="●"/>
            </a:pPr>
            <a:r>
              <a:rPr lang="en-GB" i="1"/>
              <a:t>can you tell me about any good cantonese restaurants close by</a:t>
            </a:r>
            <a:endParaRPr i="1"/>
          </a:p>
          <a:p>
            <a:pPr marL="177800" lvl="0" indent="-203200" algn="l" rtl="0">
              <a:lnSpc>
                <a:spcPct val="150000"/>
              </a:lnSpc>
              <a:spcBef>
                <a:spcPts val="800"/>
              </a:spcBef>
              <a:spcAft>
                <a:spcPts val="0"/>
              </a:spcAft>
              <a:buClr>
                <a:schemeClr val="dk1"/>
              </a:buClr>
              <a:buSzPts val="1800"/>
              <a:buChar char="●"/>
            </a:pPr>
            <a:r>
              <a:rPr lang="en-GB" i="1"/>
              <a:t>mid priced that food is what i’m looking for</a:t>
            </a:r>
            <a:endParaRPr i="1"/>
          </a:p>
          <a:p>
            <a:pPr marL="177800" lvl="0" indent="-203200" algn="l" rtl="0">
              <a:lnSpc>
                <a:spcPct val="150000"/>
              </a:lnSpc>
              <a:spcBef>
                <a:spcPts val="800"/>
              </a:spcBef>
              <a:spcAft>
                <a:spcPts val="0"/>
              </a:spcAft>
              <a:buClr>
                <a:schemeClr val="dk1"/>
              </a:buClr>
              <a:buSzPts val="1800"/>
              <a:buChar char="●"/>
            </a:pPr>
            <a:r>
              <a:rPr lang="en-GB" i="1"/>
              <a:t>tell me about chez pansies</a:t>
            </a:r>
            <a:endParaRPr i="1"/>
          </a:p>
          <a:p>
            <a:pPr marL="177800" lvl="0" indent="-203200" algn="l" rtl="0">
              <a:lnSpc>
                <a:spcPct val="150000"/>
              </a:lnSpc>
              <a:spcBef>
                <a:spcPts val="800"/>
              </a:spcBef>
              <a:spcAft>
                <a:spcPts val="0"/>
              </a:spcAft>
              <a:buClr>
                <a:schemeClr val="dk1"/>
              </a:buClr>
              <a:buSzPts val="1800"/>
              <a:buChar char="●"/>
            </a:pPr>
            <a:r>
              <a:rPr lang="en-GB" i="1"/>
              <a:t>can you give me a listing of the kinds of food that are available</a:t>
            </a:r>
            <a:endParaRPr i="1"/>
          </a:p>
          <a:p>
            <a:pPr marL="177800" lvl="0" indent="-203200" algn="l" rtl="0">
              <a:lnSpc>
                <a:spcPct val="150000"/>
              </a:lnSpc>
              <a:spcBef>
                <a:spcPts val="800"/>
              </a:spcBef>
              <a:spcAft>
                <a:spcPts val="0"/>
              </a:spcAft>
              <a:buClr>
                <a:schemeClr val="dk1"/>
              </a:buClr>
              <a:buSzPts val="1800"/>
              <a:buChar char="●"/>
            </a:pPr>
            <a:r>
              <a:rPr lang="en-GB" i="1"/>
              <a:t>i’m looking for a good place to eat breakfast</a:t>
            </a:r>
            <a:endParaRPr i="1"/>
          </a:p>
          <a:p>
            <a:pPr marL="177800" lvl="0" indent="-203200" algn="l" rtl="0">
              <a:lnSpc>
                <a:spcPct val="150000"/>
              </a:lnSpc>
              <a:spcBef>
                <a:spcPts val="800"/>
              </a:spcBef>
              <a:spcAft>
                <a:spcPts val="0"/>
              </a:spcAft>
              <a:buClr>
                <a:schemeClr val="dk1"/>
              </a:buClr>
              <a:buSzPts val="1800"/>
              <a:buChar char="●"/>
            </a:pPr>
            <a:r>
              <a:rPr lang="en-GB" i="1"/>
              <a:t>when is caffe venezia open during the day</a:t>
            </a:r>
            <a:endParaRPr/>
          </a:p>
          <a:p>
            <a:pPr marL="177800" lvl="0" indent="-203200" algn="l" rtl="0">
              <a:lnSpc>
                <a:spcPct val="150000"/>
              </a:lnSpc>
              <a:spcBef>
                <a:spcPts val="800"/>
              </a:spcBef>
              <a:spcAft>
                <a:spcPts val="1200"/>
              </a:spcAft>
              <a:buClr>
                <a:schemeClr val="dk1"/>
              </a:buClr>
              <a:buSzPts val="1800"/>
              <a:buChar char="●"/>
            </a:pPr>
            <a:r>
              <a:rPr lang="en-GB"/>
              <a:t>…</a:t>
            </a:r>
            <a:endParaRPr/>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Shape 267">
          <a:extLst>
            <a:ext uri="{FF2B5EF4-FFF2-40B4-BE49-F238E27FC236}">
              <a16:creationId xmlns:a16="http://schemas.microsoft.com/office/drawing/2014/main" id="{252E8396-30C2-248E-A9E6-3BE70E8C68F2}"/>
            </a:ext>
          </a:extLst>
        </p:cNvPr>
        <p:cNvGrpSpPr/>
        <p:nvPr/>
      </p:nvGrpSpPr>
      <p:grpSpPr>
        <a:xfrm>
          <a:off x="0" y="0"/>
          <a:ext cx="0" cy="0"/>
          <a:chOff x="0" y="0"/>
          <a:chExt cx="0" cy="0"/>
        </a:xfrm>
      </p:grpSpPr>
      <p:sp>
        <p:nvSpPr>
          <p:cNvPr id="268" name="Google Shape;268;p40">
            <a:extLst>
              <a:ext uri="{FF2B5EF4-FFF2-40B4-BE49-F238E27FC236}">
                <a16:creationId xmlns:a16="http://schemas.microsoft.com/office/drawing/2014/main" id="{5B7F2AA5-3402-0B8A-EAC4-7B63457FD15F}"/>
              </a:ext>
            </a:extLst>
          </p:cNvPr>
          <p:cNvSpPr txBox="1">
            <a:spLocks noGrp="1"/>
          </p:cNvSpPr>
          <p:nvPr>
            <p:ph type="title"/>
          </p:nvPr>
        </p:nvSpPr>
        <p:spPr>
          <a:xfrm>
            <a:off x="471488" y="205383"/>
            <a:ext cx="5915100" cy="7458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chemeClr val="dk1"/>
              </a:buClr>
              <a:buSzPts val="3300"/>
              <a:buFont typeface="Century Gothic"/>
              <a:buNone/>
            </a:pPr>
            <a:r>
              <a:rPr lang="en-GB"/>
              <a:t>Bigram counts</a:t>
            </a:r>
            <a:endParaRPr/>
          </a:p>
        </p:txBody>
      </p:sp>
      <p:sp>
        <p:nvSpPr>
          <p:cNvPr id="269" name="Google Shape;269;p40">
            <a:extLst>
              <a:ext uri="{FF2B5EF4-FFF2-40B4-BE49-F238E27FC236}">
                <a16:creationId xmlns:a16="http://schemas.microsoft.com/office/drawing/2014/main" id="{9E11CDA1-40BA-3C85-8C62-0194712208FF}"/>
              </a:ext>
            </a:extLst>
          </p:cNvPr>
          <p:cNvSpPr txBox="1">
            <a:spLocks noGrp="1"/>
          </p:cNvSpPr>
          <p:nvPr>
            <p:ph type="body" idx="2"/>
          </p:nvPr>
        </p:nvSpPr>
        <p:spPr>
          <a:xfrm>
            <a:off x="0" y="3575447"/>
            <a:ext cx="2799600" cy="282300"/>
          </a:xfrm>
          <a:prstGeom prst="rect">
            <a:avLst/>
          </a:prstGeom>
          <a:noFill/>
          <a:ln>
            <a:noFill/>
          </a:ln>
        </p:spPr>
        <p:txBody>
          <a:bodyPr spcFirstLastPara="1" wrap="square" lIns="68575" tIns="34275" rIns="68575" bIns="34275" anchor="t" anchorCtr="0">
            <a:normAutofit fontScale="25000" lnSpcReduction="20000"/>
          </a:bodyPr>
          <a:lstStyle/>
          <a:p>
            <a:pPr marL="0" lvl="0" indent="0" algn="l" rtl="0">
              <a:lnSpc>
                <a:spcPct val="90000"/>
              </a:lnSpc>
              <a:spcBef>
                <a:spcPts val="0"/>
              </a:spcBef>
              <a:spcAft>
                <a:spcPts val="1200"/>
              </a:spcAft>
              <a:buClr>
                <a:schemeClr val="lt1"/>
              </a:buClr>
              <a:buSzPts val="2100"/>
              <a:buNone/>
            </a:pPr>
            <a:endParaRPr/>
          </a:p>
        </p:txBody>
      </p:sp>
      <p:pic>
        <p:nvPicPr>
          <p:cNvPr id="270" name="Google Shape;270;p40">
            <a:extLst>
              <a:ext uri="{FF2B5EF4-FFF2-40B4-BE49-F238E27FC236}">
                <a16:creationId xmlns:a16="http://schemas.microsoft.com/office/drawing/2014/main" id="{73B3474A-143C-AA0E-4B99-646DA6A5BF64}"/>
              </a:ext>
            </a:extLst>
          </p:cNvPr>
          <p:cNvPicPr preferRelativeResize="0">
            <a:picLocks noGrp="1"/>
          </p:cNvPicPr>
          <p:nvPr>
            <p:ph type="body" idx="1"/>
          </p:nvPr>
        </p:nvPicPr>
        <p:blipFill rotWithShape="1">
          <a:blip r:embed="rId3">
            <a:alphaModFix/>
          </a:blip>
          <a:srcRect/>
          <a:stretch/>
        </p:blipFill>
        <p:spPr>
          <a:xfrm>
            <a:off x="0" y="1354662"/>
            <a:ext cx="9144000" cy="3303000"/>
          </a:xfrm>
          <a:prstGeom prst="rect">
            <a:avLst/>
          </a:prstGeom>
          <a:noFill/>
          <a:ln>
            <a:noFill/>
          </a:ln>
        </p:spPr>
      </p:pic>
      <p:pic>
        <p:nvPicPr>
          <p:cNvPr id="2" name="Google Shape;239;p29" descr="Slow sign (Provided by Getty Images)">
            <a:extLst>
              <a:ext uri="{FF2B5EF4-FFF2-40B4-BE49-F238E27FC236}">
                <a16:creationId xmlns:a16="http://schemas.microsoft.com/office/drawing/2014/main" id="{91E7CAB3-39E8-830F-0E60-BC2FDD96E160}"/>
              </a:ext>
            </a:extLst>
          </p:cNvPr>
          <p:cNvPicPr preferRelativeResize="0"/>
          <p:nvPr/>
        </p:nvPicPr>
        <p:blipFill>
          <a:blip r:embed="rId4">
            <a:alphaModFix/>
          </a:blip>
          <a:stretch>
            <a:fillRect/>
          </a:stretch>
        </p:blipFill>
        <p:spPr>
          <a:xfrm>
            <a:off x="8373439" y="4621"/>
            <a:ext cx="657603" cy="657603"/>
          </a:xfrm>
          <a:prstGeom prst="rect">
            <a:avLst/>
          </a:prstGeom>
          <a:noFill/>
          <a:ln>
            <a:noFill/>
          </a:ln>
        </p:spPr>
      </p:pic>
    </p:spTree>
    <p:extLst>
      <p:ext uri="{BB962C8B-B14F-4D97-AF65-F5344CB8AC3E}">
        <p14:creationId xmlns:p14="http://schemas.microsoft.com/office/powerpoint/2010/main" val="2620491522"/>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Shape 267"/>
        <p:cNvGrpSpPr/>
        <p:nvPr/>
      </p:nvGrpSpPr>
      <p:grpSpPr>
        <a:xfrm>
          <a:off x="0" y="0"/>
          <a:ext cx="0" cy="0"/>
          <a:chOff x="0" y="0"/>
          <a:chExt cx="0" cy="0"/>
        </a:xfrm>
      </p:grpSpPr>
      <p:sp>
        <p:nvSpPr>
          <p:cNvPr id="268" name="Google Shape;268;p40"/>
          <p:cNvSpPr txBox="1">
            <a:spLocks noGrp="1"/>
          </p:cNvSpPr>
          <p:nvPr>
            <p:ph type="title"/>
          </p:nvPr>
        </p:nvSpPr>
        <p:spPr>
          <a:xfrm>
            <a:off x="471488" y="205383"/>
            <a:ext cx="5915100" cy="7458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chemeClr val="dk1"/>
              </a:buClr>
              <a:buSzPts val="3300"/>
              <a:buFont typeface="Century Gothic"/>
              <a:buNone/>
            </a:pPr>
            <a:r>
              <a:rPr lang="en-GB"/>
              <a:t>Bigram counts</a:t>
            </a:r>
            <a:endParaRPr/>
          </a:p>
        </p:txBody>
      </p:sp>
      <p:sp>
        <p:nvSpPr>
          <p:cNvPr id="269" name="Google Shape;269;p40"/>
          <p:cNvSpPr txBox="1">
            <a:spLocks noGrp="1"/>
          </p:cNvSpPr>
          <p:nvPr>
            <p:ph type="body" idx="2"/>
          </p:nvPr>
        </p:nvSpPr>
        <p:spPr>
          <a:xfrm>
            <a:off x="0" y="3575447"/>
            <a:ext cx="2799600" cy="282300"/>
          </a:xfrm>
          <a:prstGeom prst="rect">
            <a:avLst/>
          </a:prstGeom>
          <a:noFill/>
          <a:ln>
            <a:noFill/>
          </a:ln>
        </p:spPr>
        <p:txBody>
          <a:bodyPr spcFirstLastPara="1" wrap="square" lIns="68575" tIns="34275" rIns="68575" bIns="34275" anchor="t" anchorCtr="0">
            <a:normAutofit fontScale="25000" lnSpcReduction="20000"/>
          </a:bodyPr>
          <a:lstStyle/>
          <a:p>
            <a:pPr marL="0" lvl="0" indent="0" algn="l" rtl="0">
              <a:lnSpc>
                <a:spcPct val="90000"/>
              </a:lnSpc>
              <a:spcBef>
                <a:spcPts val="0"/>
              </a:spcBef>
              <a:spcAft>
                <a:spcPts val="1200"/>
              </a:spcAft>
              <a:buClr>
                <a:schemeClr val="lt1"/>
              </a:buClr>
              <a:buSzPts val="2100"/>
              <a:buNone/>
            </a:pPr>
            <a:endParaRPr/>
          </a:p>
        </p:txBody>
      </p:sp>
      <p:pic>
        <p:nvPicPr>
          <p:cNvPr id="270" name="Google Shape;270;p40"/>
          <p:cNvPicPr preferRelativeResize="0">
            <a:picLocks noGrp="1"/>
          </p:cNvPicPr>
          <p:nvPr>
            <p:ph type="body" idx="1"/>
          </p:nvPr>
        </p:nvPicPr>
        <p:blipFill rotWithShape="1">
          <a:blip r:embed="rId3">
            <a:alphaModFix/>
          </a:blip>
          <a:srcRect/>
          <a:stretch/>
        </p:blipFill>
        <p:spPr>
          <a:xfrm>
            <a:off x="0" y="1354662"/>
            <a:ext cx="9144000" cy="3303000"/>
          </a:xfrm>
          <a:prstGeom prst="rect">
            <a:avLst/>
          </a:prstGeom>
          <a:noFill/>
          <a:ln>
            <a:noFill/>
          </a:ln>
        </p:spPr>
      </p:pic>
      <p:sp>
        <p:nvSpPr>
          <p:cNvPr id="2" name="TextBox 1">
            <a:extLst>
              <a:ext uri="{FF2B5EF4-FFF2-40B4-BE49-F238E27FC236}">
                <a16:creationId xmlns:a16="http://schemas.microsoft.com/office/drawing/2014/main" id="{96A129C8-2972-3682-0A7E-EFBEB2E74453}"/>
              </a:ext>
            </a:extLst>
          </p:cNvPr>
          <p:cNvSpPr txBox="1"/>
          <p:nvPr/>
        </p:nvSpPr>
        <p:spPr>
          <a:xfrm>
            <a:off x="182880" y="951183"/>
            <a:ext cx="8595360" cy="307777"/>
          </a:xfrm>
          <a:prstGeom prst="rect">
            <a:avLst/>
          </a:prstGeom>
          <a:noFill/>
        </p:spPr>
        <p:txBody>
          <a:bodyPr wrap="square" rtlCol="0">
            <a:spAutoFit/>
          </a:bodyPr>
          <a:lstStyle/>
          <a:p>
            <a:r>
              <a:rPr lang="en-US" b="1" dirty="0">
                <a:solidFill>
                  <a:schemeClr val="accent4">
                    <a:lumMod val="50000"/>
                  </a:schemeClr>
                </a:solidFill>
              </a:rPr>
              <a:t>Note</a:t>
            </a:r>
            <a:r>
              <a:rPr lang="en-US" dirty="0">
                <a:solidFill>
                  <a:schemeClr val="accent4">
                    <a:lumMod val="50000"/>
                  </a:schemeClr>
                </a:solidFill>
              </a:rPr>
              <a:t>: This is not the quite co-occurrence matrix we used for word representations – what’s the difference? </a:t>
            </a:r>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Shape 274"/>
        <p:cNvGrpSpPr/>
        <p:nvPr/>
      </p:nvGrpSpPr>
      <p:grpSpPr>
        <a:xfrm>
          <a:off x="0" y="0"/>
          <a:ext cx="0" cy="0"/>
          <a:chOff x="0" y="0"/>
          <a:chExt cx="0" cy="0"/>
        </a:xfrm>
      </p:grpSpPr>
      <p:sp>
        <p:nvSpPr>
          <p:cNvPr id="275" name="Google Shape;275;p41"/>
          <p:cNvSpPr txBox="1">
            <a:spLocks noGrp="1"/>
          </p:cNvSpPr>
          <p:nvPr>
            <p:ph type="title"/>
          </p:nvPr>
        </p:nvSpPr>
        <p:spPr>
          <a:xfrm>
            <a:off x="471488" y="205383"/>
            <a:ext cx="5915100" cy="7458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chemeClr val="dk1"/>
              </a:buClr>
              <a:buSzPts val="3300"/>
              <a:buFont typeface="Century Gothic"/>
              <a:buNone/>
            </a:pPr>
            <a:r>
              <a:rPr lang="en-GB"/>
              <a:t>Bigram probabilities</a:t>
            </a:r>
            <a:endParaRPr/>
          </a:p>
        </p:txBody>
      </p:sp>
      <p:sp>
        <p:nvSpPr>
          <p:cNvPr id="276" name="Google Shape;276;p41"/>
          <p:cNvSpPr txBox="1">
            <a:spLocks noGrp="1"/>
          </p:cNvSpPr>
          <p:nvPr>
            <p:ph type="body" idx="2"/>
          </p:nvPr>
        </p:nvSpPr>
        <p:spPr>
          <a:xfrm>
            <a:off x="0" y="3575447"/>
            <a:ext cx="2799600" cy="282300"/>
          </a:xfrm>
          <a:prstGeom prst="rect">
            <a:avLst/>
          </a:prstGeom>
          <a:noFill/>
          <a:ln>
            <a:noFill/>
          </a:ln>
        </p:spPr>
        <p:txBody>
          <a:bodyPr spcFirstLastPara="1" wrap="square" lIns="68575" tIns="34275" rIns="68575" bIns="34275" anchor="t" anchorCtr="0">
            <a:normAutofit fontScale="25000" lnSpcReduction="20000"/>
          </a:bodyPr>
          <a:lstStyle/>
          <a:p>
            <a:pPr marL="0" lvl="0" indent="0" algn="l" rtl="0">
              <a:lnSpc>
                <a:spcPct val="90000"/>
              </a:lnSpc>
              <a:spcBef>
                <a:spcPts val="0"/>
              </a:spcBef>
              <a:spcAft>
                <a:spcPts val="1200"/>
              </a:spcAft>
              <a:buClr>
                <a:schemeClr val="lt1"/>
              </a:buClr>
              <a:buSzPts val="2100"/>
              <a:buNone/>
            </a:pPr>
            <a:endParaRPr/>
          </a:p>
        </p:txBody>
      </p:sp>
      <p:pic>
        <p:nvPicPr>
          <p:cNvPr id="277" name="Google Shape;277;p41"/>
          <p:cNvPicPr preferRelativeResize="0">
            <a:picLocks noGrp="1"/>
          </p:cNvPicPr>
          <p:nvPr>
            <p:ph type="body" idx="1"/>
          </p:nvPr>
        </p:nvPicPr>
        <p:blipFill rotWithShape="1">
          <a:blip r:embed="rId3">
            <a:alphaModFix/>
          </a:blip>
          <a:srcRect l="1045" t="2851" r="1269" b="3978"/>
          <a:stretch/>
        </p:blipFill>
        <p:spPr>
          <a:xfrm>
            <a:off x="14055" y="1381125"/>
            <a:ext cx="9120900" cy="3210000"/>
          </a:xfrm>
          <a:prstGeom prst="rect">
            <a:avLst/>
          </a:prstGeom>
          <a:noFill/>
          <a:ln>
            <a:noFill/>
          </a:ln>
        </p:spPr>
      </p:pic>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Shape 282"/>
        <p:cNvGrpSpPr/>
        <p:nvPr/>
      </p:nvGrpSpPr>
      <p:grpSpPr>
        <a:xfrm>
          <a:off x="0" y="0"/>
          <a:ext cx="0" cy="0"/>
          <a:chOff x="0" y="0"/>
          <a:chExt cx="0" cy="0"/>
        </a:xfrm>
      </p:grpSpPr>
      <p:sp>
        <p:nvSpPr>
          <p:cNvPr id="283" name="Google Shape;283;p42"/>
          <p:cNvSpPr txBox="1">
            <a:spLocks noGrp="1"/>
          </p:cNvSpPr>
          <p:nvPr>
            <p:ph type="title"/>
          </p:nvPr>
        </p:nvSpPr>
        <p:spPr>
          <a:xfrm>
            <a:off x="471488" y="205383"/>
            <a:ext cx="5915100" cy="7458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chemeClr val="dk1"/>
              </a:buClr>
              <a:buSzPts val="3300"/>
              <a:buFont typeface="Century Gothic"/>
              <a:buNone/>
            </a:pPr>
            <a:r>
              <a:rPr lang="en-GB" dirty="0"/>
              <a:t>What do we learn from bigrams?</a:t>
            </a:r>
            <a:endParaRPr dirty="0"/>
          </a:p>
        </p:txBody>
      </p:sp>
      <p:sp>
        <p:nvSpPr>
          <p:cNvPr id="284" name="Google Shape;284;p42"/>
          <p:cNvSpPr txBox="1">
            <a:spLocks noGrp="1"/>
          </p:cNvSpPr>
          <p:nvPr>
            <p:ph type="body" idx="1"/>
          </p:nvPr>
        </p:nvSpPr>
        <p:spPr>
          <a:xfrm>
            <a:off x="330225" y="1147900"/>
            <a:ext cx="7799100" cy="3088800"/>
          </a:xfrm>
          <a:prstGeom prst="rect">
            <a:avLst/>
          </a:prstGeom>
          <a:noFill/>
          <a:ln>
            <a:noFill/>
          </a:ln>
        </p:spPr>
        <p:txBody>
          <a:bodyPr spcFirstLastPara="1" wrap="square" lIns="68575" tIns="34275" rIns="68575" bIns="34275" anchor="t" anchorCtr="0">
            <a:normAutofit/>
          </a:bodyPr>
          <a:lstStyle/>
          <a:p>
            <a:pPr marL="457200" lvl="0" indent="-355600" algn="l" rtl="0">
              <a:spcBef>
                <a:spcPts val="0"/>
              </a:spcBef>
              <a:spcAft>
                <a:spcPts val="0"/>
              </a:spcAft>
              <a:buSzPts val="2000"/>
              <a:buChar char="●"/>
            </a:pPr>
            <a:r>
              <a:rPr lang="en-GB" sz="2000" dirty="0" err="1"/>
              <a:t>Pr</a:t>
            </a:r>
            <a:r>
              <a:rPr lang="en-GB" sz="2000" dirty="0"/>
              <a:t>(to | want) = 0.66: English behaves in a certain way</a:t>
            </a:r>
            <a:endParaRPr sz="2000" dirty="0"/>
          </a:p>
          <a:p>
            <a:pPr marL="457200" lvl="0" indent="-355600" algn="l" rtl="0">
              <a:spcBef>
                <a:spcPts val="1000"/>
              </a:spcBef>
              <a:spcAft>
                <a:spcPts val="0"/>
              </a:spcAft>
              <a:buSzPts val="2000"/>
              <a:buChar char="●"/>
            </a:pPr>
            <a:r>
              <a:rPr lang="en-GB" sz="2000" dirty="0" err="1"/>
              <a:t>Pr</a:t>
            </a:r>
            <a:r>
              <a:rPr lang="en-GB" sz="2000" dirty="0"/>
              <a:t>(eat | to) = 0.28: English behaves in a certain way</a:t>
            </a:r>
          </a:p>
          <a:p>
            <a:pPr indent="-355600">
              <a:spcBef>
                <a:spcPts val="1000"/>
              </a:spcBef>
              <a:buSzPts val="2000"/>
            </a:pPr>
            <a:r>
              <a:rPr lang="en-GB" sz="2000" dirty="0" err="1"/>
              <a:t>Pr</a:t>
            </a:r>
            <a:r>
              <a:rPr lang="en-GB" sz="2000" dirty="0"/>
              <a:t>(English | want) &lt; </a:t>
            </a:r>
            <a:r>
              <a:rPr lang="en-GB" sz="2000" dirty="0" err="1"/>
              <a:t>Pr</a:t>
            </a:r>
            <a:r>
              <a:rPr lang="en-GB" sz="2000" dirty="0"/>
              <a:t>(Chinese | want): What do we learn?</a:t>
            </a:r>
            <a:endParaRPr sz="2000" dirty="0"/>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Shape 282">
          <a:extLst>
            <a:ext uri="{FF2B5EF4-FFF2-40B4-BE49-F238E27FC236}">
              <a16:creationId xmlns:a16="http://schemas.microsoft.com/office/drawing/2014/main" id="{09A9551D-36B4-811A-0D90-84FE5D269D22}"/>
            </a:ext>
          </a:extLst>
        </p:cNvPr>
        <p:cNvGrpSpPr/>
        <p:nvPr/>
      </p:nvGrpSpPr>
      <p:grpSpPr>
        <a:xfrm>
          <a:off x="0" y="0"/>
          <a:ext cx="0" cy="0"/>
          <a:chOff x="0" y="0"/>
          <a:chExt cx="0" cy="0"/>
        </a:xfrm>
      </p:grpSpPr>
      <p:sp>
        <p:nvSpPr>
          <p:cNvPr id="283" name="Google Shape;283;p42">
            <a:extLst>
              <a:ext uri="{FF2B5EF4-FFF2-40B4-BE49-F238E27FC236}">
                <a16:creationId xmlns:a16="http://schemas.microsoft.com/office/drawing/2014/main" id="{FAD3F613-496A-40AF-9A7C-EF40E72936FB}"/>
              </a:ext>
            </a:extLst>
          </p:cNvPr>
          <p:cNvSpPr txBox="1">
            <a:spLocks noGrp="1"/>
          </p:cNvSpPr>
          <p:nvPr>
            <p:ph type="title"/>
          </p:nvPr>
        </p:nvSpPr>
        <p:spPr>
          <a:xfrm>
            <a:off x="471488" y="205383"/>
            <a:ext cx="5915100" cy="7458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chemeClr val="dk1"/>
              </a:buClr>
              <a:buSzPts val="3300"/>
              <a:buFont typeface="Century Gothic"/>
              <a:buNone/>
            </a:pPr>
            <a:r>
              <a:rPr lang="en-GB" dirty="0"/>
              <a:t>What do we learn from bigrams?</a:t>
            </a:r>
            <a:endParaRPr dirty="0"/>
          </a:p>
        </p:txBody>
      </p:sp>
      <p:sp>
        <p:nvSpPr>
          <p:cNvPr id="284" name="Google Shape;284;p42">
            <a:extLst>
              <a:ext uri="{FF2B5EF4-FFF2-40B4-BE49-F238E27FC236}">
                <a16:creationId xmlns:a16="http://schemas.microsoft.com/office/drawing/2014/main" id="{C5C2A5E9-244E-5072-CC85-83EF80E4A775}"/>
              </a:ext>
            </a:extLst>
          </p:cNvPr>
          <p:cNvSpPr txBox="1">
            <a:spLocks noGrp="1"/>
          </p:cNvSpPr>
          <p:nvPr>
            <p:ph type="body" idx="1"/>
          </p:nvPr>
        </p:nvSpPr>
        <p:spPr>
          <a:xfrm>
            <a:off x="330225" y="1147900"/>
            <a:ext cx="7799100" cy="3088800"/>
          </a:xfrm>
          <a:prstGeom prst="rect">
            <a:avLst/>
          </a:prstGeom>
          <a:noFill/>
          <a:ln>
            <a:noFill/>
          </a:ln>
        </p:spPr>
        <p:txBody>
          <a:bodyPr spcFirstLastPara="1" wrap="square" lIns="68575" tIns="34275" rIns="68575" bIns="34275" anchor="t" anchorCtr="0">
            <a:normAutofit/>
          </a:bodyPr>
          <a:lstStyle/>
          <a:p>
            <a:pPr marL="457200" lvl="0" indent="-355600" algn="l" rtl="0">
              <a:spcBef>
                <a:spcPts val="0"/>
              </a:spcBef>
              <a:spcAft>
                <a:spcPts val="0"/>
              </a:spcAft>
              <a:buSzPts val="2000"/>
              <a:buChar char="●"/>
            </a:pPr>
            <a:r>
              <a:rPr lang="en-GB" sz="2000" dirty="0" err="1"/>
              <a:t>Pr</a:t>
            </a:r>
            <a:r>
              <a:rPr lang="en-GB" sz="2000" dirty="0"/>
              <a:t>(to | want) = 0.66: English behaves in a certain way</a:t>
            </a:r>
            <a:endParaRPr sz="2000" dirty="0"/>
          </a:p>
          <a:p>
            <a:pPr marL="457200" lvl="0" indent="-355600" algn="l" rtl="0">
              <a:spcBef>
                <a:spcPts val="1000"/>
              </a:spcBef>
              <a:spcAft>
                <a:spcPts val="0"/>
              </a:spcAft>
              <a:buSzPts val="2000"/>
              <a:buChar char="●"/>
            </a:pPr>
            <a:r>
              <a:rPr lang="en-GB" sz="2000" dirty="0" err="1"/>
              <a:t>Pr</a:t>
            </a:r>
            <a:r>
              <a:rPr lang="en-GB" sz="2000" dirty="0"/>
              <a:t>(eat | to) = 0.28: English behaves in a certain way</a:t>
            </a:r>
          </a:p>
          <a:p>
            <a:pPr indent="-355600">
              <a:spcBef>
                <a:spcPts val="1000"/>
              </a:spcBef>
              <a:buSzPts val="2000"/>
            </a:pPr>
            <a:r>
              <a:rPr lang="en-GB" sz="2000" dirty="0" err="1"/>
              <a:t>Pr</a:t>
            </a:r>
            <a:r>
              <a:rPr lang="en-GB" sz="2000" dirty="0"/>
              <a:t>(English | want) &lt; </a:t>
            </a:r>
            <a:r>
              <a:rPr lang="en-GB" sz="2000" dirty="0" err="1"/>
              <a:t>Pr</a:t>
            </a:r>
            <a:r>
              <a:rPr lang="en-GB" sz="2000" dirty="0"/>
              <a:t>(Chinese | want): What do we learn?</a:t>
            </a:r>
            <a:endParaRPr sz="2000" dirty="0"/>
          </a:p>
        </p:txBody>
      </p:sp>
      <p:sp>
        <p:nvSpPr>
          <p:cNvPr id="3" name="TextBox 2">
            <a:extLst>
              <a:ext uri="{FF2B5EF4-FFF2-40B4-BE49-F238E27FC236}">
                <a16:creationId xmlns:a16="http://schemas.microsoft.com/office/drawing/2014/main" id="{8CC40E9F-3249-4674-E047-BD4EB0DCDB35}"/>
              </a:ext>
            </a:extLst>
          </p:cNvPr>
          <p:cNvSpPr txBox="1"/>
          <p:nvPr/>
        </p:nvSpPr>
        <p:spPr>
          <a:xfrm>
            <a:off x="330225" y="3335219"/>
            <a:ext cx="6399348" cy="964367"/>
          </a:xfrm>
          <a:prstGeom prst="rect">
            <a:avLst/>
          </a:prstGeom>
          <a:noFill/>
        </p:spPr>
        <p:txBody>
          <a:bodyPr wrap="square">
            <a:spAutoFit/>
          </a:bodyPr>
          <a:lstStyle/>
          <a:p>
            <a:pPr marL="457200" lvl="0" indent="-355600" algn="l" rtl="0">
              <a:spcBef>
                <a:spcPts val="1000"/>
              </a:spcBef>
              <a:spcAft>
                <a:spcPts val="1000"/>
              </a:spcAft>
              <a:buSzPts val="2000"/>
              <a:buChar char="●"/>
            </a:pPr>
            <a:r>
              <a:rPr lang="en-GB" sz="2000" dirty="0">
                <a:solidFill>
                  <a:schemeClr val="accent1">
                    <a:lumMod val="50000"/>
                  </a:schemeClr>
                </a:solidFill>
              </a:rPr>
              <a:t>Conclusion: Even bigrams can tell us a lot</a:t>
            </a:r>
          </a:p>
          <a:p>
            <a:pPr marL="457200" lvl="0" indent="-355600" algn="l" rtl="0">
              <a:spcBef>
                <a:spcPts val="1000"/>
              </a:spcBef>
              <a:spcAft>
                <a:spcPts val="1000"/>
              </a:spcAft>
              <a:buSzPts val="2000"/>
              <a:buChar char="●"/>
            </a:pPr>
            <a:r>
              <a:rPr lang="en-GB" sz="2000" dirty="0">
                <a:solidFill>
                  <a:schemeClr val="accent1">
                    <a:lumMod val="50000"/>
                  </a:schemeClr>
                </a:solidFill>
              </a:rPr>
              <a:t>But not enough… what about trigrams, etc?</a:t>
            </a:r>
          </a:p>
        </p:txBody>
      </p:sp>
    </p:spTree>
    <p:extLst>
      <p:ext uri="{BB962C8B-B14F-4D97-AF65-F5344CB8AC3E}">
        <p14:creationId xmlns:p14="http://schemas.microsoft.com/office/powerpoint/2010/main" val="1550016843"/>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AE28CE-E78B-3413-BD48-0586A47D2620}"/>
              </a:ext>
            </a:extLst>
          </p:cNvPr>
          <p:cNvSpPr>
            <a:spLocks noGrp="1"/>
          </p:cNvSpPr>
          <p:nvPr>
            <p:ph type="title"/>
          </p:nvPr>
        </p:nvSpPr>
        <p:spPr/>
        <p:txBody>
          <a:bodyPr/>
          <a:lstStyle/>
          <a:p>
            <a:r>
              <a:rPr lang="en-US" dirty="0"/>
              <a:t>N-gram Language Models</a:t>
            </a:r>
          </a:p>
        </p:txBody>
      </p:sp>
      <p:sp>
        <p:nvSpPr>
          <p:cNvPr id="3" name="Text Placeholder 2">
            <a:extLst>
              <a:ext uri="{FF2B5EF4-FFF2-40B4-BE49-F238E27FC236}">
                <a16:creationId xmlns:a16="http://schemas.microsoft.com/office/drawing/2014/main" id="{4DA65780-81BC-F7D2-77B6-577F54BF12C2}"/>
              </a:ext>
            </a:extLst>
          </p:cNvPr>
          <p:cNvSpPr>
            <a:spLocks noGrp="1"/>
          </p:cNvSpPr>
          <p:nvPr>
            <p:ph type="body" idx="1"/>
          </p:nvPr>
        </p:nvSpPr>
        <p:spPr/>
        <p:txBody>
          <a:bodyPr/>
          <a:lstStyle/>
          <a:p>
            <a:r>
              <a:rPr lang="en-US" dirty="0"/>
              <a:t>N-grams seem to encompass a lot of information about language</a:t>
            </a:r>
          </a:p>
          <a:p>
            <a:r>
              <a:rPr lang="en-US" dirty="0"/>
              <a:t>Let’s use them to build N-gram based language models</a:t>
            </a:r>
          </a:p>
          <a:p>
            <a:r>
              <a:rPr lang="en-US" dirty="0"/>
              <a:t>Mathematical basis: </a:t>
            </a:r>
            <a:r>
              <a:rPr lang="en-US" b="1" dirty="0"/>
              <a:t>Markov processes</a:t>
            </a:r>
          </a:p>
        </p:txBody>
      </p:sp>
    </p:spTree>
    <p:extLst>
      <p:ext uri="{BB962C8B-B14F-4D97-AF65-F5344CB8AC3E}">
        <p14:creationId xmlns:p14="http://schemas.microsoft.com/office/powerpoint/2010/main" val="2717308619"/>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Shape 295">
          <a:extLst>
            <a:ext uri="{FF2B5EF4-FFF2-40B4-BE49-F238E27FC236}">
              <a16:creationId xmlns:a16="http://schemas.microsoft.com/office/drawing/2014/main" id="{05C14D4C-B505-F9DD-EBF7-96C780DFE004}"/>
            </a:ext>
          </a:extLst>
        </p:cNvPr>
        <p:cNvGrpSpPr/>
        <p:nvPr/>
      </p:nvGrpSpPr>
      <p:grpSpPr>
        <a:xfrm>
          <a:off x="0" y="0"/>
          <a:ext cx="0" cy="0"/>
          <a:chOff x="0" y="0"/>
          <a:chExt cx="0" cy="0"/>
        </a:xfrm>
      </p:grpSpPr>
      <p:sp>
        <p:nvSpPr>
          <p:cNvPr id="296" name="Google Shape;296;p44">
            <a:extLst>
              <a:ext uri="{FF2B5EF4-FFF2-40B4-BE49-F238E27FC236}">
                <a16:creationId xmlns:a16="http://schemas.microsoft.com/office/drawing/2014/main" id="{7EEE50F0-947F-384E-BB85-DDDD58B16517}"/>
              </a:ext>
            </a:extLst>
          </p:cNvPr>
          <p:cNvSpPr txBox="1">
            <a:spLocks noGrp="1"/>
          </p:cNvSpPr>
          <p:nvPr>
            <p:ph type="title"/>
          </p:nvPr>
        </p:nvSpPr>
        <p:spPr>
          <a:xfrm>
            <a:off x="471488" y="205383"/>
            <a:ext cx="5915100" cy="7458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chemeClr val="dk1"/>
              </a:buClr>
              <a:buSzPts val="3300"/>
              <a:buFont typeface="Century Gothic"/>
              <a:buNone/>
            </a:pPr>
            <a:r>
              <a:rPr lang="en-GB"/>
              <a:t>Markov processes</a:t>
            </a:r>
            <a:endParaRPr/>
          </a:p>
        </p:txBody>
      </p:sp>
    </p:spTree>
    <p:extLst>
      <p:ext uri="{BB962C8B-B14F-4D97-AF65-F5344CB8AC3E}">
        <p14:creationId xmlns:p14="http://schemas.microsoft.com/office/powerpoint/2010/main" val="2004098109"/>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Shape 295"/>
        <p:cNvGrpSpPr/>
        <p:nvPr/>
      </p:nvGrpSpPr>
      <p:grpSpPr>
        <a:xfrm>
          <a:off x="0" y="0"/>
          <a:ext cx="0" cy="0"/>
          <a:chOff x="0" y="0"/>
          <a:chExt cx="0" cy="0"/>
        </a:xfrm>
      </p:grpSpPr>
      <p:sp>
        <p:nvSpPr>
          <p:cNvPr id="296" name="Google Shape;296;p44"/>
          <p:cNvSpPr txBox="1">
            <a:spLocks noGrp="1"/>
          </p:cNvSpPr>
          <p:nvPr>
            <p:ph type="title"/>
          </p:nvPr>
        </p:nvSpPr>
        <p:spPr>
          <a:xfrm>
            <a:off x="471488" y="205383"/>
            <a:ext cx="5915100" cy="7458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chemeClr val="dk1"/>
              </a:buClr>
              <a:buSzPts val="3300"/>
              <a:buFont typeface="Century Gothic"/>
              <a:buNone/>
            </a:pPr>
            <a:r>
              <a:rPr lang="en-GB"/>
              <a:t>Markov processes</a:t>
            </a:r>
            <a:endParaRPr/>
          </a:p>
        </p:txBody>
      </p:sp>
      <mc:AlternateContent xmlns:mc="http://schemas.openxmlformats.org/markup-compatibility/2006" xmlns:a14="http://schemas.microsoft.com/office/drawing/2010/main">
        <mc:Choice Requires="a14">
          <p:sp>
            <p:nvSpPr>
              <p:cNvPr id="299" name="Google Shape;299;p44"/>
              <p:cNvSpPr txBox="1">
                <a:spLocks noGrp="1"/>
              </p:cNvSpPr>
              <p:nvPr>
                <p:ph type="body" idx="1"/>
              </p:nvPr>
            </p:nvSpPr>
            <p:spPr>
              <a:xfrm>
                <a:off x="330225" y="1147900"/>
                <a:ext cx="8630400" cy="582900"/>
              </a:xfrm>
              <a:prstGeom prst="rect">
                <a:avLst/>
              </a:prstGeom>
              <a:noFill/>
              <a:ln>
                <a:noFill/>
              </a:ln>
            </p:spPr>
            <p:txBody>
              <a:bodyPr spcFirstLastPara="1" wrap="square" lIns="68575" tIns="34275" rIns="68575" bIns="34275" anchor="t" anchorCtr="0">
                <a:noAutofit/>
              </a:bodyPr>
              <a:lstStyle/>
              <a:p>
                <a:pPr marL="0" lvl="0" indent="0" algn="l" rtl="0">
                  <a:spcBef>
                    <a:spcPts val="0"/>
                  </a:spcBef>
                  <a:spcAft>
                    <a:spcPts val="1000"/>
                  </a:spcAft>
                  <a:buNone/>
                </a:pPr>
                <a:r>
                  <a:rPr lang="en-GB" dirty="0"/>
                  <a:t>Given a sequence of </a:t>
                </a:r>
                <a14:m>
                  <m:oMath xmlns:m="http://schemas.openxmlformats.org/officeDocument/2006/math">
                    <m:r>
                      <a:rPr lang="en-US" b="0" i="1" smtClean="0">
                        <a:latin typeface="Cambria Math" panose="02040503050406030204" pitchFamily="18" charset="0"/>
                      </a:rPr>
                      <m:t>𝑛</m:t>
                    </m:r>
                    <m:r>
                      <a:rPr lang="en-US" b="0" i="1" smtClean="0">
                        <a:latin typeface="Cambria Math" panose="02040503050406030204" pitchFamily="18" charset="0"/>
                      </a:rPr>
                      <m:t>=100 </m:t>
                    </m:r>
                  </m:oMath>
                </a14:m>
                <a:r>
                  <a:rPr lang="en-GB" dirty="0"/>
                  <a:t>random variables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𝑖</m:t>
                        </m:r>
                      </m:sub>
                    </m:sSub>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𝒱</m:t>
                    </m:r>
                  </m:oMath>
                </a14:m>
                <a:r>
                  <a:rPr lang="en-GB" dirty="0"/>
                  <a:t> use the </a:t>
                </a:r>
                <a:r>
                  <a:rPr lang="en-GB" dirty="0">
                    <a:solidFill>
                      <a:srgbClr val="00B0F0"/>
                    </a:solidFill>
                  </a:rPr>
                  <a:t>chain rule</a:t>
                </a:r>
                <a:r>
                  <a:rPr lang="en-GB" dirty="0"/>
                  <a:t>:</a:t>
                </a:r>
                <a:endParaRPr dirty="0"/>
              </a:p>
            </p:txBody>
          </p:sp>
        </mc:Choice>
        <mc:Fallback xmlns="">
          <p:sp>
            <p:nvSpPr>
              <p:cNvPr id="299" name="Google Shape;299;p44"/>
              <p:cNvSpPr txBox="1">
                <a:spLocks noGrp="1" noRot="1" noChangeAspect="1" noMove="1" noResize="1" noEditPoints="1" noAdjustHandles="1" noChangeArrowheads="1" noChangeShapeType="1" noTextEdit="1"/>
              </p:cNvSpPr>
              <p:nvPr>
                <p:ph type="body" idx="1"/>
              </p:nvPr>
            </p:nvSpPr>
            <p:spPr>
              <a:xfrm>
                <a:off x="330225" y="1147900"/>
                <a:ext cx="8630400" cy="582900"/>
              </a:xfrm>
              <a:prstGeom prst="rect">
                <a:avLst/>
              </a:prstGeom>
              <a:blipFill>
                <a:blip r:embed="rId3"/>
                <a:stretch>
                  <a:fillRect l="-734"/>
                </a:stretch>
              </a:blipFill>
              <a:ln>
                <a:noFill/>
              </a:ln>
            </p:spPr>
            <p:txBody>
              <a:bodyPr/>
              <a:lstStyle/>
              <a:p>
                <a:r>
                  <a:rPr lang="en-US">
                    <a:noFill/>
                  </a:rPr>
                  <a:t> </a:t>
                </a:r>
              </a:p>
            </p:txBody>
          </p:sp>
        </mc:Fallback>
      </mc:AlternateContent>
      <p:pic>
        <p:nvPicPr>
          <p:cNvPr id="302" name="Google Shape;302;p44"/>
          <p:cNvPicPr preferRelativeResize="0"/>
          <p:nvPr/>
        </p:nvPicPr>
        <p:blipFill>
          <a:blip r:embed="rId4">
            <a:alphaModFix/>
          </a:blip>
          <a:stretch>
            <a:fillRect/>
          </a:stretch>
        </p:blipFill>
        <p:spPr>
          <a:xfrm>
            <a:off x="1257950" y="1690715"/>
            <a:ext cx="5368771" cy="1018600"/>
          </a:xfrm>
          <a:prstGeom prst="rect">
            <a:avLst/>
          </a:prstGeom>
          <a:noFill/>
          <a:ln>
            <a:noFill/>
          </a:ln>
        </p:spPr>
      </p:pic>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Shape 295">
          <a:extLst>
            <a:ext uri="{FF2B5EF4-FFF2-40B4-BE49-F238E27FC236}">
              <a16:creationId xmlns:a16="http://schemas.microsoft.com/office/drawing/2014/main" id="{F1368BFB-F0D4-6D6F-BFAF-B8C70829AE17}"/>
            </a:ext>
          </a:extLst>
        </p:cNvPr>
        <p:cNvGrpSpPr/>
        <p:nvPr/>
      </p:nvGrpSpPr>
      <p:grpSpPr>
        <a:xfrm>
          <a:off x="0" y="0"/>
          <a:ext cx="0" cy="0"/>
          <a:chOff x="0" y="0"/>
          <a:chExt cx="0" cy="0"/>
        </a:xfrm>
      </p:grpSpPr>
      <p:sp>
        <p:nvSpPr>
          <p:cNvPr id="296" name="Google Shape;296;p44">
            <a:extLst>
              <a:ext uri="{FF2B5EF4-FFF2-40B4-BE49-F238E27FC236}">
                <a16:creationId xmlns:a16="http://schemas.microsoft.com/office/drawing/2014/main" id="{E59C5EB2-57C9-5060-4CA2-1345EDFB2CFB}"/>
              </a:ext>
            </a:extLst>
          </p:cNvPr>
          <p:cNvSpPr txBox="1">
            <a:spLocks noGrp="1"/>
          </p:cNvSpPr>
          <p:nvPr>
            <p:ph type="title"/>
          </p:nvPr>
        </p:nvSpPr>
        <p:spPr>
          <a:xfrm>
            <a:off x="471488" y="205383"/>
            <a:ext cx="5915100" cy="7458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chemeClr val="dk1"/>
              </a:buClr>
              <a:buSzPts val="3300"/>
              <a:buFont typeface="Century Gothic"/>
              <a:buNone/>
            </a:pPr>
            <a:r>
              <a:rPr lang="en-GB" dirty="0"/>
              <a:t>Markov processes</a:t>
            </a:r>
            <a:endParaRPr dirty="0"/>
          </a:p>
        </p:txBody>
      </p:sp>
      <p:sp>
        <p:nvSpPr>
          <p:cNvPr id="297" name="Google Shape;297;p44">
            <a:extLst>
              <a:ext uri="{FF2B5EF4-FFF2-40B4-BE49-F238E27FC236}">
                <a16:creationId xmlns:a16="http://schemas.microsoft.com/office/drawing/2014/main" id="{F28B52C6-467F-7893-0A68-41B428A7BE31}"/>
              </a:ext>
            </a:extLst>
          </p:cNvPr>
          <p:cNvSpPr txBox="1"/>
          <p:nvPr/>
        </p:nvSpPr>
        <p:spPr>
          <a:xfrm>
            <a:off x="1181759" y="3277502"/>
            <a:ext cx="6340800" cy="346200"/>
          </a:xfrm>
          <a:prstGeom prst="rect">
            <a:avLst/>
          </a:prstGeom>
          <a:blipFill rotWithShape="1">
            <a:blip r:embed="rId3">
              <a:alphaModFix/>
            </a:blip>
            <a:stretch>
              <a:fillRect b="-15788"/>
            </a:stretch>
          </a:blipFill>
          <a:ln>
            <a:noFill/>
          </a:ln>
        </p:spPr>
        <p:txBody>
          <a:bodyPr spcFirstLastPara="1" wrap="square" lIns="68575" tIns="34275" rIns="68575" bIns="34275" anchor="t" anchorCtr="0">
            <a:noAutofit/>
          </a:bodyPr>
          <a:lstStyle/>
          <a:p>
            <a:pPr marL="0" marR="0" lvl="0" indent="0" algn="l" rtl="0">
              <a:spcBef>
                <a:spcPts val="0"/>
              </a:spcBef>
              <a:spcAft>
                <a:spcPts val="0"/>
              </a:spcAft>
              <a:buNone/>
            </a:pPr>
            <a:r>
              <a:rPr lang="en-GB" sz="1400">
                <a:latin typeface="Century Gothic"/>
                <a:ea typeface="Century Gothic"/>
                <a:cs typeface="Century Gothic"/>
                <a:sym typeface="Century Gothic"/>
              </a:rPr>
              <a:t> </a:t>
            </a:r>
            <a:endParaRPr sz="1100"/>
          </a:p>
        </p:txBody>
      </p:sp>
      <mc:AlternateContent xmlns:mc="http://schemas.openxmlformats.org/markup-compatibility/2006" xmlns:a14="http://schemas.microsoft.com/office/drawing/2010/main">
        <mc:Choice Requires="a14">
          <p:sp>
            <p:nvSpPr>
              <p:cNvPr id="299" name="Google Shape;299;p44">
                <a:extLst>
                  <a:ext uri="{FF2B5EF4-FFF2-40B4-BE49-F238E27FC236}">
                    <a16:creationId xmlns:a16="http://schemas.microsoft.com/office/drawing/2014/main" id="{13C4FFB4-07BF-1227-7A5E-DBDF16079328}"/>
                  </a:ext>
                </a:extLst>
              </p:cNvPr>
              <p:cNvSpPr txBox="1">
                <a:spLocks noGrp="1"/>
              </p:cNvSpPr>
              <p:nvPr>
                <p:ph type="body" idx="1"/>
              </p:nvPr>
            </p:nvSpPr>
            <p:spPr>
              <a:xfrm>
                <a:off x="330225" y="1147900"/>
                <a:ext cx="8630400" cy="582900"/>
              </a:xfrm>
              <a:prstGeom prst="rect">
                <a:avLst/>
              </a:prstGeom>
              <a:noFill/>
              <a:ln>
                <a:noFill/>
              </a:ln>
            </p:spPr>
            <p:txBody>
              <a:bodyPr spcFirstLastPara="1" wrap="square" lIns="68575" tIns="34275" rIns="68575" bIns="34275" anchor="t" anchorCtr="0">
                <a:noAutofit/>
              </a:bodyPr>
              <a:lstStyle/>
              <a:p>
                <a:pPr marL="0" lvl="0" indent="0" algn="l" rtl="0">
                  <a:spcBef>
                    <a:spcPts val="0"/>
                  </a:spcBef>
                  <a:spcAft>
                    <a:spcPts val="1000"/>
                  </a:spcAft>
                  <a:buNone/>
                </a:pPr>
                <a:r>
                  <a:rPr lang="en-GB" dirty="0"/>
                  <a:t>Given a sequence of </a:t>
                </a:r>
                <a14:m>
                  <m:oMath xmlns:m="http://schemas.openxmlformats.org/officeDocument/2006/math">
                    <m:r>
                      <a:rPr lang="en-US" b="0" i="1" smtClean="0">
                        <a:latin typeface="Cambria Math" panose="02040503050406030204" pitchFamily="18" charset="0"/>
                      </a:rPr>
                      <m:t>𝑛</m:t>
                    </m:r>
                    <m:r>
                      <a:rPr lang="en-US" b="0" i="1" smtClean="0">
                        <a:latin typeface="Cambria Math" panose="02040503050406030204" pitchFamily="18" charset="0"/>
                      </a:rPr>
                      <m:t>=100 </m:t>
                    </m:r>
                  </m:oMath>
                </a14:m>
                <a:r>
                  <a:rPr lang="en-GB" dirty="0"/>
                  <a:t>random variables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𝑖</m:t>
                        </m:r>
                      </m:sub>
                    </m:sSub>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𝒱</m:t>
                    </m:r>
                  </m:oMath>
                </a14:m>
                <a:r>
                  <a:rPr lang="en-GB" dirty="0"/>
                  <a:t> use the </a:t>
                </a:r>
                <a:r>
                  <a:rPr lang="en-GB" dirty="0">
                    <a:solidFill>
                      <a:srgbClr val="00B0F0"/>
                    </a:solidFill>
                  </a:rPr>
                  <a:t>chain rule</a:t>
                </a:r>
                <a:r>
                  <a:rPr lang="en-GB" dirty="0"/>
                  <a:t>:</a:t>
                </a:r>
                <a:endParaRPr dirty="0"/>
              </a:p>
            </p:txBody>
          </p:sp>
        </mc:Choice>
        <mc:Fallback xmlns="">
          <p:sp>
            <p:nvSpPr>
              <p:cNvPr id="299" name="Google Shape;299;p44">
                <a:extLst>
                  <a:ext uri="{FF2B5EF4-FFF2-40B4-BE49-F238E27FC236}">
                    <a16:creationId xmlns:a16="http://schemas.microsoft.com/office/drawing/2014/main" id="{13C4FFB4-07BF-1227-7A5E-DBDF16079328}"/>
                  </a:ext>
                </a:extLst>
              </p:cNvPr>
              <p:cNvSpPr txBox="1">
                <a:spLocks noGrp="1" noRot="1" noChangeAspect="1" noMove="1" noResize="1" noEditPoints="1" noAdjustHandles="1" noChangeArrowheads="1" noChangeShapeType="1" noTextEdit="1"/>
              </p:cNvSpPr>
              <p:nvPr>
                <p:ph type="body" idx="1"/>
              </p:nvPr>
            </p:nvSpPr>
            <p:spPr>
              <a:xfrm>
                <a:off x="330225" y="1147900"/>
                <a:ext cx="8630400" cy="582900"/>
              </a:xfrm>
              <a:prstGeom prst="rect">
                <a:avLst/>
              </a:prstGeom>
              <a:blipFill>
                <a:blip r:embed="rId4"/>
                <a:stretch>
                  <a:fillRect l="-734"/>
                </a:stretch>
              </a:blipFill>
              <a:ln>
                <a:noFill/>
              </a:ln>
            </p:spPr>
            <p:txBody>
              <a:bodyPr/>
              <a:lstStyle/>
              <a:p>
                <a:r>
                  <a:rPr lang="en-US">
                    <a:noFill/>
                  </a:rPr>
                  <a:t> </a:t>
                </a:r>
              </a:p>
            </p:txBody>
          </p:sp>
        </mc:Fallback>
      </mc:AlternateContent>
      <p:sp>
        <p:nvSpPr>
          <p:cNvPr id="300" name="Google Shape;300;p44">
            <a:extLst>
              <a:ext uri="{FF2B5EF4-FFF2-40B4-BE49-F238E27FC236}">
                <a16:creationId xmlns:a16="http://schemas.microsoft.com/office/drawing/2014/main" id="{96CC8F34-4E4F-0614-6C4D-15F37EE81915}"/>
              </a:ext>
            </a:extLst>
          </p:cNvPr>
          <p:cNvSpPr txBox="1">
            <a:spLocks noGrp="1"/>
          </p:cNvSpPr>
          <p:nvPr>
            <p:ph type="body" idx="1"/>
          </p:nvPr>
        </p:nvSpPr>
        <p:spPr>
          <a:xfrm>
            <a:off x="330225" y="2837123"/>
            <a:ext cx="7799100" cy="466200"/>
          </a:xfrm>
          <a:prstGeom prst="rect">
            <a:avLst/>
          </a:prstGeom>
          <a:noFill/>
          <a:ln>
            <a:noFill/>
          </a:ln>
        </p:spPr>
        <p:txBody>
          <a:bodyPr spcFirstLastPara="1" wrap="square" lIns="68575" tIns="34275" rIns="68575" bIns="34275" anchor="t" anchorCtr="0">
            <a:noAutofit/>
          </a:bodyPr>
          <a:lstStyle/>
          <a:p>
            <a:pPr marL="0" lvl="0" indent="0" algn="l" rtl="0">
              <a:spcBef>
                <a:spcPts val="0"/>
              </a:spcBef>
              <a:spcAft>
                <a:spcPts val="1000"/>
              </a:spcAft>
              <a:buNone/>
            </a:pPr>
            <a:r>
              <a:rPr lang="en-GB" dirty="0"/>
              <a:t>Markov assumption (</a:t>
            </a:r>
            <a:r>
              <a:rPr lang="en-GB" dirty="0">
                <a:solidFill>
                  <a:srgbClr val="00B0F0"/>
                </a:solidFill>
              </a:rPr>
              <a:t>first order</a:t>
            </a:r>
            <a:r>
              <a:rPr lang="en-GB" dirty="0"/>
              <a:t>):</a:t>
            </a:r>
            <a:endParaRPr dirty="0"/>
          </a:p>
        </p:txBody>
      </p:sp>
      <p:pic>
        <p:nvPicPr>
          <p:cNvPr id="302" name="Google Shape;302;p44">
            <a:extLst>
              <a:ext uri="{FF2B5EF4-FFF2-40B4-BE49-F238E27FC236}">
                <a16:creationId xmlns:a16="http://schemas.microsoft.com/office/drawing/2014/main" id="{4AE14905-84F0-974C-E388-D1ACCAEB5B14}"/>
              </a:ext>
            </a:extLst>
          </p:cNvPr>
          <p:cNvPicPr preferRelativeResize="0"/>
          <p:nvPr/>
        </p:nvPicPr>
        <p:blipFill>
          <a:blip r:embed="rId5">
            <a:alphaModFix/>
          </a:blip>
          <a:stretch>
            <a:fillRect/>
          </a:stretch>
        </p:blipFill>
        <p:spPr>
          <a:xfrm>
            <a:off x="1257950" y="1690715"/>
            <a:ext cx="5368771" cy="1018600"/>
          </a:xfrm>
          <a:prstGeom prst="rect">
            <a:avLst/>
          </a:prstGeom>
          <a:noFill/>
          <a:ln>
            <a:noFill/>
          </a:ln>
        </p:spPr>
      </p:pic>
    </p:spTree>
    <p:extLst>
      <p:ext uri="{BB962C8B-B14F-4D97-AF65-F5344CB8AC3E}">
        <p14:creationId xmlns:p14="http://schemas.microsoft.com/office/powerpoint/2010/main" val="1756464669"/>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Shape 295">
          <a:extLst>
            <a:ext uri="{FF2B5EF4-FFF2-40B4-BE49-F238E27FC236}">
              <a16:creationId xmlns:a16="http://schemas.microsoft.com/office/drawing/2014/main" id="{B5262901-11E2-F4C3-58E4-EC9EAFA32AC8}"/>
            </a:ext>
          </a:extLst>
        </p:cNvPr>
        <p:cNvGrpSpPr/>
        <p:nvPr/>
      </p:nvGrpSpPr>
      <p:grpSpPr>
        <a:xfrm>
          <a:off x="0" y="0"/>
          <a:ext cx="0" cy="0"/>
          <a:chOff x="0" y="0"/>
          <a:chExt cx="0" cy="0"/>
        </a:xfrm>
      </p:grpSpPr>
      <p:sp>
        <p:nvSpPr>
          <p:cNvPr id="296" name="Google Shape;296;p44">
            <a:extLst>
              <a:ext uri="{FF2B5EF4-FFF2-40B4-BE49-F238E27FC236}">
                <a16:creationId xmlns:a16="http://schemas.microsoft.com/office/drawing/2014/main" id="{5A1FCCAE-29EE-E7F4-6159-82F3B2EED03C}"/>
              </a:ext>
            </a:extLst>
          </p:cNvPr>
          <p:cNvSpPr txBox="1">
            <a:spLocks noGrp="1"/>
          </p:cNvSpPr>
          <p:nvPr>
            <p:ph type="title"/>
          </p:nvPr>
        </p:nvSpPr>
        <p:spPr>
          <a:xfrm>
            <a:off x="471488" y="205383"/>
            <a:ext cx="5915100" cy="745800"/>
          </a:xfrm>
          <a:prstGeom prst="rect">
            <a:avLst/>
          </a:prstGeom>
          <a:noFill/>
          <a:ln>
            <a:noFill/>
          </a:ln>
        </p:spPr>
        <p:txBody>
          <a:bodyPr spcFirstLastPara="1" wrap="square" lIns="68575" tIns="34275" rIns="68575" bIns="34275" anchor="ctr" anchorCtr="0">
            <a:normAutofit/>
          </a:bodyPr>
          <a:lstStyle/>
          <a:p>
            <a:pPr lvl="0"/>
            <a:r>
              <a:rPr lang="en-GB" dirty="0"/>
              <a:t>Markov processes</a:t>
            </a:r>
            <a:endParaRPr dirty="0"/>
          </a:p>
        </p:txBody>
      </p:sp>
      <p:sp>
        <p:nvSpPr>
          <p:cNvPr id="297" name="Google Shape;297;p44">
            <a:extLst>
              <a:ext uri="{FF2B5EF4-FFF2-40B4-BE49-F238E27FC236}">
                <a16:creationId xmlns:a16="http://schemas.microsoft.com/office/drawing/2014/main" id="{D899D5A6-8344-29BD-D993-4045FD3E2FD9}"/>
              </a:ext>
            </a:extLst>
          </p:cNvPr>
          <p:cNvSpPr txBox="1"/>
          <p:nvPr/>
        </p:nvSpPr>
        <p:spPr>
          <a:xfrm>
            <a:off x="1181759" y="3277502"/>
            <a:ext cx="6340800" cy="346200"/>
          </a:xfrm>
          <a:prstGeom prst="rect">
            <a:avLst/>
          </a:prstGeom>
          <a:blipFill rotWithShape="1">
            <a:blip r:embed="rId3">
              <a:alphaModFix/>
            </a:blip>
            <a:stretch>
              <a:fillRect b="-15788"/>
            </a:stretch>
          </a:blipFill>
          <a:ln>
            <a:noFill/>
          </a:ln>
        </p:spPr>
        <p:txBody>
          <a:bodyPr spcFirstLastPara="1" wrap="square" lIns="68575" tIns="34275" rIns="68575" bIns="34275" anchor="t" anchorCtr="0">
            <a:noAutofit/>
          </a:bodyPr>
          <a:lstStyle/>
          <a:p>
            <a:pPr marL="0" marR="0" lvl="0" indent="0" algn="l" rtl="0">
              <a:spcBef>
                <a:spcPts val="0"/>
              </a:spcBef>
              <a:spcAft>
                <a:spcPts val="0"/>
              </a:spcAft>
              <a:buNone/>
            </a:pPr>
            <a:r>
              <a:rPr lang="en-GB" sz="1400">
                <a:latin typeface="Century Gothic"/>
                <a:ea typeface="Century Gothic"/>
                <a:cs typeface="Century Gothic"/>
                <a:sym typeface="Century Gothic"/>
              </a:rPr>
              <a:t> </a:t>
            </a:r>
            <a:endParaRPr sz="1100"/>
          </a:p>
        </p:txBody>
      </p:sp>
      <p:sp>
        <p:nvSpPr>
          <p:cNvPr id="298" name="Google Shape;298;p44">
            <a:extLst>
              <a:ext uri="{FF2B5EF4-FFF2-40B4-BE49-F238E27FC236}">
                <a16:creationId xmlns:a16="http://schemas.microsoft.com/office/drawing/2014/main" id="{4BC5A6BC-1E13-A028-871D-0652F978CBAC}"/>
              </a:ext>
            </a:extLst>
          </p:cNvPr>
          <p:cNvSpPr txBox="1"/>
          <p:nvPr/>
        </p:nvSpPr>
        <p:spPr>
          <a:xfrm>
            <a:off x="1029359" y="4323882"/>
            <a:ext cx="7871400" cy="346200"/>
          </a:xfrm>
          <a:prstGeom prst="rect">
            <a:avLst/>
          </a:prstGeom>
          <a:blipFill rotWithShape="1">
            <a:blip r:embed="rId4">
              <a:alphaModFix/>
            </a:blip>
            <a:stretch>
              <a:fillRect b="-16219"/>
            </a:stretch>
          </a:blipFill>
          <a:ln>
            <a:noFill/>
          </a:ln>
        </p:spPr>
        <p:txBody>
          <a:bodyPr spcFirstLastPara="1" wrap="square" lIns="68575" tIns="34275" rIns="68575" bIns="34275" anchor="t" anchorCtr="0">
            <a:noAutofit/>
          </a:bodyPr>
          <a:lstStyle/>
          <a:p>
            <a:pPr marL="0" marR="0" lvl="0" indent="0" algn="l" rtl="0">
              <a:spcBef>
                <a:spcPts val="0"/>
              </a:spcBef>
              <a:spcAft>
                <a:spcPts val="0"/>
              </a:spcAft>
              <a:buNone/>
            </a:pPr>
            <a:r>
              <a:rPr lang="en-GB" sz="1400">
                <a:latin typeface="Century Gothic"/>
                <a:ea typeface="Century Gothic"/>
                <a:cs typeface="Century Gothic"/>
                <a:sym typeface="Century Gothic"/>
              </a:rPr>
              <a:t> </a:t>
            </a:r>
            <a:endParaRPr sz="1100"/>
          </a:p>
        </p:txBody>
      </p:sp>
      <mc:AlternateContent xmlns:mc="http://schemas.openxmlformats.org/markup-compatibility/2006" xmlns:a14="http://schemas.microsoft.com/office/drawing/2010/main">
        <mc:Choice Requires="a14">
          <p:sp>
            <p:nvSpPr>
              <p:cNvPr id="299" name="Google Shape;299;p44">
                <a:extLst>
                  <a:ext uri="{FF2B5EF4-FFF2-40B4-BE49-F238E27FC236}">
                    <a16:creationId xmlns:a16="http://schemas.microsoft.com/office/drawing/2014/main" id="{16A68217-67C9-2B58-5857-EAC0C614E33E}"/>
                  </a:ext>
                </a:extLst>
              </p:cNvPr>
              <p:cNvSpPr txBox="1">
                <a:spLocks noGrp="1"/>
              </p:cNvSpPr>
              <p:nvPr>
                <p:ph type="body" idx="1"/>
              </p:nvPr>
            </p:nvSpPr>
            <p:spPr>
              <a:xfrm>
                <a:off x="330225" y="1147900"/>
                <a:ext cx="8630400" cy="582900"/>
              </a:xfrm>
              <a:prstGeom prst="rect">
                <a:avLst/>
              </a:prstGeom>
              <a:noFill/>
              <a:ln>
                <a:noFill/>
              </a:ln>
            </p:spPr>
            <p:txBody>
              <a:bodyPr spcFirstLastPara="1" wrap="square" lIns="68575" tIns="34275" rIns="68575" bIns="34275" anchor="t" anchorCtr="0">
                <a:noAutofit/>
              </a:bodyPr>
              <a:lstStyle/>
              <a:p>
                <a:pPr marL="0" lvl="0" indent="0" algn="l" rtl="0">
                  <a:spcBef>
                    <a:spcPts val="0"/>
                  </a:spcBef>
                  <a:spcAft>
                    <a:spcPts val="1000"/>
                  </a:spcAft>
                  <a:buNone/>
                </a:pPr>
                <a:r>
                  <a:rPr lang="en-GB" dirty="0"/>
                  <a:t>Given a sequence of </a:t>
                </a:r>
                <a14:m>
                  <m:oMath xmlns:m="http://schemas.openxmlformats.org/officeDocument/2006/math">
                    <m:r>
                      <a:rPr lang="en-US" b="0" i="1" smtClean="0">
                        <a:latin typeface="Cambria Math" panose="02040503050406030204" pitchFamily="18" charset="0"/>
                      </a:rPr>
                      <m:t>𝑛</m:t>
                    </m:r>
                    <m:r>
                      <a:rPr lang="en-US" b="0" i="1" smtClean="0">
                        <a:latin typeface="Cambria Math" panose="02040503050406030204" pitchFamily="18" charset="0"/>
                      </a:rPr>
                      <m:t>=100 </m:t>
                    </m:r>
                  </m:oMath>
                </a14:m>
                <a:r>
                  <a:rPr lang="en-GB" dirty="0"/>
                  <a:t>random variables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𝑖</m:t>
                        </m:r>
                      </m:sub>
                    </m:sSub>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𝒱</m:t>
                    </m:r>
                  </m:oMath>
                </a14:m>
                <a:r>
                  <a:rPr lang="en-GB" dirty="0"/>
                  <a:t> use the </a:t>
                </a:r>
                <a:r>
                  <a:rPr lang="en-GB" dirty="0">
                    <a:solidFill>
                      <a:srgbClr val="00B0F0"/>
                    </a:solidFill>
                  </a:rPr>
                  <a:t>chain rule</a:t>
                </a:r>
                <a:r>
                  <a:rPr lang="en-GB" dirty="0"/>
                  <a:t>:</a:t>
                </a:r>
                <a:endParaRPr dirty="0"/>
              </a:p>
            </p:txBody>
          </p:sp>
        </mc:Choice>
        <mc:Fallback xmlns="">
          <p:sp>
            <p:nvSpPr>
              <p:cNvPr id="299" name="Google Shape;299;p44">
                <a:extLst>
                  <a:ext uri="{FF2B5EF4-FFF2-40B4-BE49-F238E27FC236}">
                    <a16:creationId xmlns:a16="http://schemas.microsoft.com/office/drawing/2014/main" id="{16A68217-67C9-2B58-5857-EAC0C614E33E}"/>
                  </a:ext>
                </a:extLst>
              </p:cNvPr>
              <p:cNvSpPr txBox="1">
                <a:spLocks noGrp="1" noRot="1" noChangeAspect="1" noMove="1" noResize="1" noEditPoints="1" noAdjustHandles="1" noChangeArrowheads="1" noChangeShapeType="1" noTextEdit="1"/>
              </p:cNvSpPr>
              <p:nvPr>
                <p:ph type="body" idx="1"/>
              </p:nvPr>
            </p:nvSpPr>
            <p:spPr>
              <a:xfrm>
                <a:off x="330225" y="1147900"/>
                <a:ext cx="8630400" cy="582900"/>
              </a:xfrm>
              <a:prstGeom prst="rect">
                <a:avLst/>
              </a:prstGeom>
              <a:blipFill>
                <a:blip r:embed="rId5"/>
                <a:stretch>
                  <a:fillRect l="-734"/>
                </a:stretch>
              </a:blipFill>
              <a:ln>
                <a:noFill/>
              </a:ln>
            </p:spPr>
            <p:txBody>
              <a:bodyPr/>
              <a:lstStyle/>
              <a:p>
                <a:r>
                  <a:rPr lang="en-US">
                    <a:noFill/>
                  </a:rPr>
                  <a:t> </a:t>
                </a:r>
              </a:p>
            </p:txBody>
          </p:sp>
        </mc:Fallback>
      </mc:AlternateContent>
      <p:sp>
        <p:nvSpPr>
          <p:cNvPr id="300" name="Google Shape;300;p44">
            <a:extLst>
              <a:ext uri="{FF2B5EF4-FFF2-40B4-BE49-F238E27FC236}">
                <a16:creationId xmlns:a16="http://schemas.microsoft.com/office/drawing/2014/main" id="{B91A0F79-83E5-CF6E-E405-FA725DC46BCB}"/>
              </a:ext>
            </a:extLst>
          </p:cNvPr>
          <p:cNvSpPr txBox="1">
            <a:spLocks noGrp="1"/>
          </p:cNvSpPr>
          <p:nvPr>
            <p:ph type="body" idx="1"/>
          </p:nvPr>
        </p:nvSpPr>
        <p:spPr>
          <a:xfrm>
            <a:off x="330225" y="2837123"/>
            <a:ext cx="7799100" cy="466200"/>
          </a:xfrm>
          <a:prstGeom prst="rect">
            <a:avLst/>
          </a:prstGeom>
          <a:noFill/>
          <a:ln>
            <a:noFill/>
          </a:ln>
        </p:spPr>
        <p:txBody>
          <a:bodyPr spcFirstLastPara="1" wrap="square" lIns="68575" tIns="34275" rIns="68575" bIns="34275" anchor="t" anchorCtr="0">
            <a:noAutofit/>
          </a:bodyPr>
          <a:lstStyle/>
          <a:p>
            <a:pPr marL="0" lvl="0" indent="0" algn="l" rtl="0">
              <a:spcBef>
                <a:spcPts val="0"/>
              </a:spcBef>
              <a:spcAft>
                <a:spcPts val="1000"/>
              </a:spcAft>
              <a:buNone/>
            </a:pPr>
            <a:r>
              <a:rPr lang="en-GB" dirty="0"/>
              <a:t>Markov assumption (</a:t>
            </a:r>
            <a:r>
              <a:rPr lang="en-GB" dirty="0">
                <a:solidFill>
                  <a:srgbClr val="00B0F0"/>
                </a:solidFill>
              </a:rPr>
              <a:t>first order</a:t>
            </a:r>
            <a:r>
              <a:rPr lang="en-GB" dirty="0"/>
              <a:t>):</a:t>
            </a:r>
            <a:endParaRPr dirty="0"/>
          </a:p>
        </p:txBody>
      </p:sp>
      <p:sp>
        <p:nvSpPr>
          <p:cNvPr id="301" name="Google Shape;301;p44">
            <a:extLst>
              <a:ext uri="{FF2B5EF4-FFF2-40B4-BE49-F238E27FC236}">
                <a16:creationId xmlns:a16="http://schemas.microsoft.com/office/drawing/2014/main" id="{B198D4A6-FD02-F0E0-8345-865C3D17A3E0}"/>
              </a:ext>
            </a:extLst>
          </p:cNvPr>
          <p:cNvSpPr txBox="1">
            <a:spLocks noGrp="1"/>
          </p:cNvSpPr>
          <p:nvPr>
            <p:ph type="body" idx="1"/>
          </p:nvPr>
        </p:nvSpPr>
        <p:spPr>
          <a:xfrm>
            <a:off x="330225" y="3857683"/>
            <a:ext cx="7799100" cy="466200"/>
          </a:xfrm>
          <a:prstGeom prst="rect">
            <a:avLst/>
          </a:prstGeom>
          <a:noFill/>
          <a:ln>
            <a:noFill/>
          </a:ln>
        </p:spPr>
        <p:txBody>
          <a:bodyPr spcFirstLastPara="1" wrap="square" lIns="68575" tIns="34275" rIns="68575" bIns="34275" anchor="t" anchorCtr="0">
            <a:noAutofit/>
          </a:bodyPr>
          <a:lstStyle/>
          <a:p>
            <a:pPr marL="0" lvl="0" indent="0" algn="l" rtl="0">
              <a:spcBef>
                <a:spcPts val="0"/>
              </a:spcBef>
              <a:spcAft>
                <a:spcPts val="1000"/>
              </a:spcAft>
              <a:buNone/>
            </a:pPr>
            <a:r>
              <a:rPr lang="en-GB" dirty="0"/>
              <a:t>Markov assumption (</a:t>
            </a:r>
            <a:r>
              <a:rPr lang="en-GB" dirty="0">
                <a:solidFill>
                  <a:srgbClr val="00B0F0"/>
                </a:solidFill>
              </a:rPr>
              <a:t>second order</a:t>
            </a:r>
            <a:r>
              <a:rPr lang="en-GB" dirty="0"/>
              <a:t>):</a:t>
            </a:r>
            <a:endParaRPr dirty="0"/>
          </a:p>
        </p:txBody>
      </p:sp>
      <p:pic>
        <p:nvPicPr>
          <p:cNvPr id="302" name="Google Shape;302;p44">
            <a:extLst>
              <a:ext uri="{FF2B5EF4-FFF2-40B4-BE49-F238E27FC236}">
                <a16:creationId xmlns:a16="http://schemas.microsoft.com/office/drawing/2014/main" id="{DEC8931F-CC43-6D91-040A-22BEDB7E0E1D}"/>
              </a:ext>
            </a:extLst>
          </p:cNvPr>
          <p:cNvPicPr preferRelativeResize="0"/>
          <p:nvPr/>
        </p:nvPicPr>
        <p:blipFill>
          <a:blip r:embed="rId6">
            <a:alphaModFix/>
          </a:blip>
          <a:stretch>
            <a:fillRect/>
          </a:stretch>
        </p:blipFill>
        <p:spPr>
          <a:xfrm>
            <a:off x="1257950" y="1690715"/>
            <a:ext cx="5368771" cy="1018600"/>
          </a:xfrm>
          <a:prstGeom prst="rect">
            <a:avLst/>
          </a:prstGeom>
          <a:noFill/>
          <a:ln>
            <a:noFill/>
          </a:ln>
        </p:spPr>
      </p:pic>
    </p:spTree>
    <p:extLst>
      <p:ext uri="{BB962C8B-B14F-4D97-AF65-F5344CB8AC3E}">
        <p14:creationId xmlns:p14="http://schemas.microsoft.com/office/powerpoint/2010/main" val="2994250588"/>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Shape 295">
          <a:extLst>
            <a:ext uri="{FF2B5EF4-FFF2-40B4-BE49-F238E27FC236}">
              <a16:creationId xmlns:a16="http://schemas.microsoft.com/office/drawing/2014/main" id="{F76BDD6A-D2D5-8AE3-5476-7B5B6179FBD5}"/>
            </a:ext>
          </a:extLst>
        </p:cNvPr>
        <p:cNvGrpSpPr/>
        <p:nvPr/>
      </p:nvGrpSpPr>
      <p:grpSpPr>
        <a:xfrm>
          <a:off x="0" y="0"/>
          <a:ext cx="0" cy="0"/>
          <a:chOff x="0" y="0"/>
          <a:chExt cx="0" cy="0"/>
        </a:xfrm>
      </p:grpSpPr>
      <p:sp>
        <p:nvSpPr>
          <p:cNvPr id="296" name="Google Shape;296;p44">
            <a:extLst>
              <a:ext uri="{FF2B5EF4-FFF2-40B4-BE49-F238E27FC236}">
                <a16:creationId xmlns:a16="http://schemas.microsoft.com/office/drawing/2014/main" id="{BBA9C2E6-8CE1-46EC-D522-80FD36E7285A}"/>
              </a:ext>
            </a:extLst>
          </p:cNvPr>
          <p:cNvSpPr txBox="1">
            <a:spLocks noGrp="1"/>
          </p:cNvSpPr>
          <p:nvPr>
            <p:ph type="title"/>
          </p:nvPr>
        </p:nvSpPr>
        <p:spPr>
          <a:xfrm>
            <a:off x="471488" y="205383"/>
            <a:ext cx="5915100" cy="745800"/>
          </a:xfrm>
          <a:prstGeom prst="rect">
            <a:avLst/>
          </a:prstGeom>
          <a:noFill/>
          <a:ln>
            <a:noFill/>
          </a:ln>
        </p:spPr>
        <p:txBody>
          <a:bodyPr spcFirstLastPara="1" wrap="square" lIns="68575" tIns="34275" rIns="68575" bIns="34275" anchor="ctr" anchorCtr="0">
            <a:normAutofit/>
          </a:bodyPr>
          <a:lstStyle/>
          <a:p>
            <a:pPr lvl="0"/>
            <a:r>
              <a:rPr lang="en-GB" dirty="0"/>
              <a:t>Markov processes</a:t>
            </a:r>
            <a:endParaRPr dirty="0"/>
          </a:p>
        </p:txBody>
      </p:sp>
      <p:sp>
        <p:nvSpPr>
          <p:cNvPr id="297" name="Google Shape;297;p44">
            <a:extLst>
              <a:ext uri="{FF2B5EF4-FFF2-40B4-BE49-F238E27FC236}">
                <a16:creationId xmlns:a16="http://schemas.microsoft.com/office/drawing/2014/main" id="{59111CAE-9C2A-3DB4-AA17-CB14D01F2BCE}"/>
              </a:ext>
            </a:extLst>
          </p:cNvPr>
          <p:cNvSpPr txBox="1"/>
          <p:nvPr/>
        </p:nvSpPr>
        <p:spPr>
          <a:xfrm>
            <a:off x="1181759" y="3277502"/>
            <a:ext cx="6340800" cy="346200"/>
          </a:xfrm>
          <a:prstGeom prst="rect">
            <a:avLst/>
          </a:prstGeom>
          <a:blipFill rotWithShape="1">
            <a:blip r:embed="rId3">
              <a:alphaModFix/>
            </a:blip>
            <a:stretch>
              <a:fillRect b="-15788"/>
            </a:stretch>
          </a:blipFill>
          <a:ln>
            <a:noFill/>
          </a:ln>
        </p:spPr>
        <p:txBody>
          <a:bodyPr spcFirstLastPara="1" wrap="square" lIns="68575" tIns="34275" rIns="68575" bIns="34275" anchor="t" anchorCtr="0">
            <a:noAutofit/>
          </a:bodyPr>
          <a:lstStyle/>
          <a:p>
            <a:pPr marL="0" marR="0" lvl="0" indent="0" algn="l" rtl="0">
              <a:spcBef>
                <a:spcPts val="0"/>
              </a:spcBef>
              <a:spcAft>
                <a:spcPts val="0"/>
              </a:spcAft>
              <a:buNone/>
            </a:pPr>
            <a:r>
              <a:rPr lang="en-GB" sz="1400">
                <a:latin typeface="Century Gothic"/>
                <a:ea typeface="Century Gothic"/>
                <a:cs typeface="Century Gothic"/>
                <a:sym typeface="Century Gothic"/>
              </a:rPr>
              <a:t> </a:t>
            </a:r>
            <a:endParaRPr sz="1100"/>
          </a:p>
        </p:txBody>
      </p:sp>
      <p:sp>
        <p:nvSpPr>
          <p:cNvPr id="298" name="Google Shape;298;p44">
            <a:extLst>
              <a:ext uri="{FF2B5EF4-FFF2-40B4-BE49-F238E27FC236}">
                <a16:creationId xmlns:a16="http://schemas.microsoft.com/office/drawing/2014/main" id="{1D900C5B-6E19-47A8-51C4-E97EE1E54ADB}"/>
              </a:ext>
            </a:extLst>
          </p:cNvPr>
          <p:cNvSpPr txBox="1"/>
          <p:nvPr/>
        </p:nvSpPr>
        <p:spPr>
          <a:xfrm>
            <a:off x="1029359" y="4323882"/>
            <a:ext cx="7871400" cy="346200"/>
          </a:xfrm>
          <a:prstGeom prst="rect">
            <a:avLst/>
          </a:prstGeom>
          <a:blipFill rotWithShape="1">
            <a:blip r:embed="rId4">
              <a:alphaModFix/>
            </a:blip>
            <a:stretch>
              <a:fillRect b="-16219"/>
            </a:stretch>
          </a:blipFill>
          <a:ln>
            <a:noFill/>
          </a:ln>
        </p:spPr>
        <p:txBody>
          <a:bodyPr spcFirstLastPara="1" wrap="square" lIns="68575" tIns="34275" rIns="68575" bIns="34275" anchor="t" anchorCtr="0">
            <a:noAutofit/>
          </a:bodyPr>
          <a:lstStyle/>
          <a:p>
            <a:pPr marL="0" marR="0" lvl="0" indent="0" algn="l" rtl="0">
              <a:spcBef>
                <a:spcPts val="0"/>
              </a:spcBef>
              <a:spcAft>
                <a:spcPts val="0"/>
              </a:spcAft>
              <a:buNone/>
            </a:pPr>
            <a:r>
              <a:rPr lang="en-GB" sz="1400">
                <a:latin typeface="Century Gothic"/>
                <a:ea typeface="Century Gothic"/>
                <a:cs typeface="Century Gothic"/>
                <a:sym typeface="Century Gothic"/>
              </a:rPr>
              <a:t> </a:t>
            </a:r>
            <a:endParaRPr sz="1100"/>
          </a:p>
        </p:txBody>
      </p:sp>
      <mc:AlternateContent xmlns:mc="http://schemas.openxmlformats.org/markup-compatibility/2006" xmlns:a14="http://schemas.microsoft.com/office/drawing/2010/main">
        <mc:Choice Requires="a14">
          <p:sp>
            <p:nvSpPr>
              <p:cNvPr id="299" name="Google Shape;299;p44">
                <a:extLst>
                  <a:ext uri="{FF2B5EF4-FFF2-40B4-BE49-F238E27FC236}">
                    <a16:creationId xmlns:a16="http://schemas.microsoft.com/office/drawing/2014/main" id="{A3E1BC5D-DFB5-7774-6E1F-503B7ED9DA69}"/>
                  </a:ext>
                </a:extLst>
              </p:cNvPr>
              <p:cNvSpPr txBox="1">
                <a:spLocks noGrp="1"/>
              </p:cNvSpPr>
              <p:nvPr>
                <p:ph type="body" idx="1"/>
              </p:nvPr>
            </p:nvSpPr>
            <p:spPr>
              <a:xfrm>
                <a:off x="330225" y="1147900"/>
                <a:ext cx="8630400" cy="582900"/>
              </a:xfrm>
              <a:prstGeom prst="rect">
                <a:avLst/>
              </a:prstGeom>
              <a:noFill/>
              <a:ln>
                <a:noFill/>
              </a:ln>
            </p:spPr>
            <p:txBody>
              <a:bodyPr spcFirstLastPara="1" wrap="square" lIns="68575" tIns="34275" rIns="68575" bIns="34275" anchor="t" anchorCtr="0">
                <a:noAutofit/>
              </a:bodyPr>
              <a:lstStyle/>
              <a:p>
                <a:pPr marL="0" lvl="0" indent="0" algn="l" rtl="0">
                  <a:spcBef>
                    <a:spcPts val="0"/>
                  </a:spcBef>
                  <a:spcAft>
                    <a:spcPts val="1000"/>
                  </a:spcAft>
                  <a:buNone/>
                </a:pPr>
                <a:r>
                  <a:rPr lang="en-GB" dirty="0"/>
                  <a:t>Given a sequence of </a:t>
                </a:r>
                <a14:m>
                  <m:oMath xmlns:m="http://schemas.openxmlformats.org/officeDocument/2006/math">
                    <m:r>
                      <a:rPr lang="en-US" b="0" i="1" smtClean="0">
                        <a:latin typeface="Cambria Math" panose="02040503050406030204" pitchFamily="18" charset="0"/>
                      </a:rPr>
                      <m:t>𝑛</m:t>
                    </m:r>
                    <m:r>
                      <a:rPr lang="en-US" b="0" i="1" smtClean="0">
                        <a:latin typeface="Cambria Math" panose="02040503050406030204" pitchFamily="18" charset="0"/>
                      </a:rPr>
                      <m:t>=100 </m:t>
                    </m:r>
                  </m:oMath>
                </a14:m>
                <a:r>
                  <a:rPr lang="en-GB" dirty="0"/>
                  <a:t>random variables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𝑖</m:t>
                        </m:r>
                      </m:sub>
                    </m:sSub>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𝒱</m:t>
                    </m:r>
                  </m:oMath>
                </a14:m>
                <a:r>
                  <a:rPr lang="en-GB" dirty="0"/>
                  <a:t> use the </a:t>
                </a:r>
                <a:r>
                  <a:rPr lang="en-GB" dirty="0">
                    <a:solidFill>
                      <a:srgbClr val="00B0F0"/>
                    </a:solidFill>
                  </a:rPr>
                  <a:t>chain rule</a:t>
                </a:r>
                <a:r>
                  <a:rPr lang="en-GB" dirty="0"/>
                  <a:t>:</a:t>
                </a:r>
                <a:endParaRPr dirty="0"/>
              </a:p>
            </p:txBody>
          </p:sp>
        </mc:Choice>
        <mc:Fallback xmlns="">
          <p:sp>
            <p:nvSpPr>
              <p:cNvPr id="299" name="Google Shape;299;p44">
                <a:extLst>
                  <a:ext uri="{FF2B5EF4-FFF2-40B4-BE49-F238E27FC236}">
                    <a16:creationId xmlns:a16="http://schemas.microsoft.com/office/drawing/2014/main" id="{A3E1BC5D-DFB5-7774-6E1F-503B7ED9DA69}"/>
                  </a:ext>
                </a:extLst>
              </p:cNvPr>
              <p:cNvSpPr txBox="1">
                <a:spLocks noGrp="1" noRot="1" noChangeAspect="1" noMove="1" noResize="1" noEditPoints="1" noAdjustHandles="1" noChangeArrowheads="1" noChangeShapeType="1" noTextEdit="1"/>
              </p:cNvSpPr>
              <p:nvPr>
                <p:ph type="body" idx="1"/>
              </p:nvPr>
            </p:nvSpPr>
            <p:spPr>
              <a:xfrm>
                <a:off x="330225" y="1147900"/>
                <a:ext cx="8630400" cy="582900"/>
              </a:xfrm>
              <a:prstGeom prst="rect">
                <a:avLst/>
              </a:prstGeom>
              <a:blipFill>
                <a:blip r:embed="rId5"/>
                <a:stretch>
                  <a:fillRect l="-734"/>
                </a:stretch>
              </a:blipFill>
              <a:ln>
                <a:noFill/>
              </a:ln>
            </p:spPr>
            <p:txBody>
              <a:bodyPr/>
              <a:lstStyle/>
              <a:p>
                <a:r>
                  <a:rPr lang="en-US">
                    <a:noFill/>
                  </a:rPr>
                  <a:t> </a:t>
                </a:r>
              </a:p>
            </p:txBody>
          </p:sp>
        </mc:Fallback>
      </mc:AlternateContent>
      <p:sp>
        <p:nvSpPr>
          <p:cNvPr id="300" name="Google Shape;300;p44">
            <a:extLst>
              <a:ext uri="{FF2B5EF4-FFF2-40B4-BE49-F238E27FC236}">
                <a16:creationId xmlns:a16="http://schemas.microsoft.com/office/drawing/2014/main" id="{BBB7AB4F-F290-E018-2F43-45B468E5912A}"/>
              </a:ext>
            </a:extLst>
          </p:cNvPr>
          <p:cNvSpPr txBox="1">
            <a:spLocks noGrp="1"/>
          </p:cNvSpPr>
          <p:nvPr>
            <p:ph type="body" idx="1"/>
          </p:nvPr>
        </p:nvSpPr>
        <p:spPr>
          <a:xfrm>
            <a:off x="330225" y="2837123"/>
            <a:ext cx="7799100" cy="466200"/>
          </a:xfrm>
          <a:prstGeom prst="rect">
            <a:avLst/>
          </a:prstGeom>
          <a:noFill/>
          <a:ln>
            <a:noFill/>
          </a:ln>
        </p:spPr>
        <p:txBody>
          <a:bodyPr spcFirstLastPara="1" wrap="square" lIns="68575" tIns="34275" rIns="68575" bIns="34275" anchor="t" anchorCtr="0">
            <a:noAutofit/>
          </a:bodyPr>
          <a:lstStyle/>
          <a:p>
            <a:pPr marL="0" lvl="0" indent="0" algn="l" rtl="0">
              <a:spcBef>
                <a:spcPts val="0"/>
              </a:spcBef>
              <a:spcAft>
                <a:spcPts val="1000"/>
              </a:spcAft>
              <a:buNone/>
            </a:pPr>
            <a:r>
              <a:rPr lang="en-GB" dirty="0"/>
              <a:t>Markov assumption (</a:t>
            </a:r>
            <a:r>
              <a:rPr lang="en-GB" dirty="0">
                <a:solidFill>
                  <a:srgbClr val="00B0F0"/>
                </a:solidFill>
              </a:rPr>
              <a:t>first order</a:t>
            </a:r>
            <a:r>
              <a:rPr lang="en-GB" dirty="0"/>
              <a:t>):</a:t>
            </a:r>
            <a:endParaRPr dirty="0"/>
          </a:p>
        </p:txBody>
      </p:sp>
      <p:sp>
        <p:nvSpPr>
          <p:cNvPr id="301" name="Google Shape;301;p44">
            <a:extLst>
              <a:ext uri="{FF2B5EF4-FFF2-40B4-BE49-F238E27FC236}">
                <a16:creationId xmlns:a16="http://schemas.microsoft.com/office/drawing/2014/main" id="{10B69A4E-E0C3-0E41-6984-1634FC5688FE}"/>
              </a:ext>
            </a:extLst>
          </p:cNvPr>
          <p:cNvSpPr txBox="1">
            <a:spLocks noGrp="1"/>
          </p:cNvSpPr>
          <p:nvPr>
            <p:ph type="body" idx="1"/>
          </p:nvPr>
        </p:nvSpPr>
        <p:spPr>
          <a:xfrm>
            <a:off x="330225" y="3857683"/>
            <a:ext cx="7799100" cy="466200"/>
          </a:xfrm>
          <a:prstGeom prst="rect">
            <a:avLst/>
          </a:prstGeom>
          <a:noFill/>
          <a:ln>
            <a:noFill/>
          </a:ln>
        </p:spPr>
        <p:txBody>
          <a:bodyPr spcFirstLastPara="1" wrap="square" lIns="68575" tIns="34275" rIns="68575" bIns="34275" anchor="t" anchorCtr="0">
            <a:noAutofit/>
          </a:bodyPr>
          <a:lstStyle/>
          <a:p>
            <a:pPr marL="0" lvl="0" indent="0" algn="l" rtl="0">
              <a:spcBef>
                <a:spcPts val="0"/>
              </a:spcBef>
              <a:spcAft>
                <a:spcPts val="1000"/>
              </a:spcAft>
              <a:buNone/>
            </a:pPr>
            <a:r>
              <a:rPr lang="en-GB" dirty="0"/>
              <a:t>Markov assumption (</a:t>
            </a:r>
            <a:r>
              <a:rPr lang="en-GB" dirty="0">
                <a:solidFill>
                  <a:srgbClr val="00B0F0"/>
                </a:solidFill>
              </a:rPr>
              <a:t>second order</a:t>
            </a:r>
            <a:r>
              <a:rPr lang="en-GB" dirty="0"/>
              <a:t>):</a:t>
            </a:r>
            <a:endParaRPr dirty="0"/>
          </a:p>
        </p:txBody>
      </p:sp>
      <p:pic>
        <p:nvPicPr>
          <p:cNvPr id="302" name="Google Shape;302;p44">
            <a:extLst>
              <a:ext uri="{FF2B5EF4-FFF2-40B4-BE49-F238E27FC236}">
                <a16:creationId xmlns:a16="http://schemas.microsoft.com/office/drawing/2014/main" id="{64BE951A-11DD-A100-8A5B-804F80983AC5}"/>
              </a:ext>
            </a:extLst>
          </p:cNvPr>
          <p:cNvPicPr preferRelativeResize="0"/>
          <p:nvPr/>
        </p:nvPicPr>
        <p:blipFill>
          <a:blip r:embed="rId6">
            <a:alphaModFix/>
          </a:blip>
          <a:stretch>
            <a:fillRect/>
          </a:stretch>
        </p:blipFill>
        <p:spPr>
          <a:xfrm>
            <a:off x="1257950" y="1690715"/>
            <a:ext cx="5368771" cy="1018600"/>
          </a:xfrm>
          <a:prstGeom prst="rect">
            <a:avLst/>
          </a:prstGeom>
          <a:noFill/>
          <a:ln>
            <a:noFill/>
          </a:ln>
        </p:spPr>
      </p:pic>
      <p:sp>
        <p:nvSpPr>
          <p:cNvPr id="2" name="Rectangle 1">
            <a:extLst>
              <a:ext uri="{FF2B5EF4-FFF2-40B4-BE49-F238E27FC236}">
                <a16:creationId xmlns:a16="http://schemas.microsoft.com/office/drawing/2014/main" id="{E57DFF87-7248-8B57-7C02-0DC03A906388}"/>
              </a:ext>
            </a:extLst>
          </p:cNvPr>
          <p:cNvSpPr/>
          <p:nvPr/>
        </p:nvSpPr>
        <p:spPr>
          <a:xfrm>
            <a:off x="7554447" y="2211185"/>
            <a:ext cx="1265358" cy="83958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(Word on probabilistic modeling)</a:t>
            </a:r>
          </a:p>
        </p:txBody>
      </p:sp>
    </p:spTree>
    <p:extLst>
      <p:ext uri="{BB962C8B-B14F-4D97-AF65-F5344CB8AC3E}">
        <p14:creationId xmlns:p14="http://schemas.microsoft.com/office/powerpoint/2010/main" val="1039501693"/>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Shape 295">
          <a:extLst>
            <a:ext uri="{FF2B5EF4-FFF2-40B4-BE49-F238E27FC236}">
              <a16:creationId xmlns:a16="http://schemas.microsoft.com/office/drawing/2014/main" id="{5FC10510-DDD6-61B5-9725-0C2867BDA6F7}"/>
            </a:ext>
          </a:extLst>
        </p:cNvPr>
        <p:cNvGrpSpPr/>
        <p:nvPr/>
      </p:nvGrpSpPr>
      <p:grpSpPr>
        <a:xfrm>
          <a:off x="0" y="0"/>
          <a:ext cx="0" cy="0"/>
          <a:chOff x="0" y="0"/>
          <a:chExt cx="0" cy="0"/>
        </a:xfrm>
      </p:grpSpPr>
      <p:sp>
        <p:nvSpPr>
          <p:cNvPr id="296" name="Google Shape;296;p44">
            <a:extLst>
              <a:ext uri="{FF2B5EF4-FFF2-40B4-BE49-F238E27FC236}">
                <a16:creationId xmlns:a16="http://schemas.microsoft.com/office/drawing/2014/main" id="{DCA297C2-FC63-0373-27C3-27E1CDC0FD01}"/>
              </a:ext>
            </a:extLst>
          </p:cNvPr>
          <p:cNvSpPr txBox="1">
            <a:spLocks noGrp="1"/>
          </p:cNvSpPr>
          <p:nvPr>
            <p:ph type="title"/>
          </p:nvPr>
        </p:nvSpPr>
        <p:spPr>
          <a:xfrm>
            <a:off x="471488" y="205383"/>
            <a:ext cx="5915100" cy="745800"/>
          </a:xfrm>
          <a:prstGeom prst="rect">
            <a:avLst/>
          </a:prstGeom>
          <a:noFill/>
          <a:ln>
            <a:noFill/>
          </a:ln>
        </p:spPr>
        <p:txBody>
          <a:bodyPr spcFirstLastPara="1" wrap="square" lIns="68575" tIns="34275" rIns="68575" bIns="34275" anchor="ctr" anchorCtr="0">
            <a:normAutofit/>
          </a:bodyPr>
          <a:lstStyle/>
          <a:p>
            <a:pPr lvl="0"/>
            <a:r>
              <a:rPr lang="en-GB" dirty="0"/>
              <a:t>Second-order Markov processes</a:t>
            </a:r>
            <a:endParaRPr dirty="0"/>
          </a:p>
        </p:txBody>
      </p:sp>
      <mc:AlternateContent xmlns:mc="http://schemas.openxmlformats.org/markup-compatibility/2006" xmlns:a14="http://schemas.microsoft.com/office/drawing/2010/main">
        <mc:Choice Requires="a14">
          <p:sp>
            <p:nvSpPr>
              <p:cNvPr id="299" name="Google Shape;299;p44">
                <a:extLst>
                  <a:ext uri="{FF2B5EF4-FFF2-40B4-BE49-F238E27FC236}">
                    <a16:creationId xmlns:a16="http://schemas.microsoft.com/office/drawing/2014/main" id="{ED5BAE6A-72A8-A516-6150-8EA6FBAA8844}"/>
                  </a:ext>
                </a:extLst>
              </p:cNvPr>
              <p:cNvSpPr txBox="1">
                <a:spLocks noGrp="1"/>
              </p:cNvSpPr>
              <p:nvPr>
                <p:ph type="body" idx="1"/>
              </p:nvPr>
            </p:nvSpPr>
            <p:spPr>
              <a:xfrm>
                <a:off x="330225" y="1147900"/>
                <a:ext cx="8630400" cy="582900"/>
              </a:xfrm>
              <a:prstGeom prst="rect">
                <a:avLst/>
              </a:prstGeom>
              <a:noFill/>
              <a:ln>
                <a:noFill/>
              </a:ln>
            </p:spPr>
            <p:txBody>
              <a:bodyPr spcFirstLastPara="1" wrap="square" lIns="68575" tIns="34275" rIns="68575" bIns="34275" anchor="t" anchorCtr="0">
                <a:noAutofit/>
              </a:bodyPr>
              <a:lstStyle/>
              <a:p>
                <a:pPr marL="0" lvl="0" indent="0" algn="l" rtl="0">
                  <a:spcBef>
                    <a:spcPts val="0"/>
                  </a:spcBef>
                  <a:spcAft>
                    <a:spcPts val="1000"/>
                  </a:spcAft>
                  <a:buNone/>
                </a:pPr>
                <a:r>
                  <a:rPr lang="en-GB" dirty="0"/>
                  <a:t>Given a sequence of </a:t>
                </a:r>
                <a14:m>
                  <m:oMath xmlns:m="http://schemas.openxmlformats.org/officeDocument/2006/math">
                    <m:r>
                      <a:rPr lang="en-US" b="0" i="1" smtClean="0">
                        <a:latin typeface="Cambria Math" panose="02040503050406030204" pitchFamily="18" charset="0"/>
                      </a:rPr>
                      <m:t>𝑛</m:t>
                    </m:r>
                    <m:r>
                      <a:rPr lang="en-US" b="0" i="1" smtClean="0">
                        <a:latin typeface="Cambria Math" panose="02040503050406030204" pitchFamily="18" charset="0"/>
                      </a:rPr>
                      <m:t>=100 </m:t>
                    </m:r>
                  </m:oMath>
                </a14:m>
                <a:r>
                  <a:rPr lang="en-GB" dirty="0"/>
                  <a:t>random variables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𝑖</m:t>
                        </m:r>
                      </m:sub>
                    </m:sSub>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𝒱</m:t>
                    </m:r>
                  </m:oMath>
                </a14:m>
                <a:r>
                  <a:rPr lang="en-GB" dirty="0"/>
                  <a:t> use the </a:t>
                </a:r>
                <a:r>
                  <a:rPr lang="en-GB" dirty="0">
                    <a:solidFill>
                      <a:srgbClr val="00B0F0"/>
                    </a:solidFill>
                  </a:rPr>
                  <a:t>chain rule</a:t>
                </a:r>
                <a:r>
                  <a:rPr lang="en-GB" dirty="0"/>
                  <a:t>:</a:t>
                </a:r>
                <a:endParaRPr dirty="0"/>
              </a:p>
            </p:txBody>
          </p:sp>
        </mc:Choice>
        <mc:Fallback xmlns="">
          <p:sp>
            <p:nvSpPr>
              <p:cNvPr id="299" name="Google Shape;299;p44">
                <a:extLst>
                  <a:ext uri="{FF2B5EF4-FFF2-40B4-BE49-F238E27FC236}">
                    <a16:creationId xmlns:a16="http://schemas.microsoft.com/office/drawing/2014/main" id="{ED5BAE6A-72A8-A516-6150-8EA6FBAA8844}"/>
                  </a:ext>
                </a:extLst>
              </p:cNvPr>
              <p:cNvSpPr txBox="1">
                <a:spLocks noGrp="1" noRot="1" noChangeAspect="1" noMove="1" noResize="1" noEditPoints="1" noAdjustHandles="1" noChangeArrowheads="1" noChangeShapeType="1" noTextEdit="1"/>
              </p:cNvSpPr>
              <p:nvPr>
                <p:ph type="body" idx="1"/>
              </p:nvPr>
            </p:nvSpPr>
            <p:spPr>
              <a:xfrm>
                <a:off x="330225" y="1147900"/>
                <a:ext cx="8630400" cy="582900"/>
              </a:xfrm>
              <a:prstGeom prst="rect">
                <a:avLst/>
              </a:prstGeom>
              <a:blipFill>
                <a:blip r:embed="rId3"/>
                <a:stretch>
                  <a:fillRect l="-734"/>
                </a:stretch>
              </a:blipFill>
              <a:ln>
                <a:noFill/>
              </a:ln>
            </p:spPr>
            <p:txBody>
              <a:bodyPr/>
              <a:lstStyle/>
              <a:p>
                <a:r>
                  <a:rPr lang="en-US">
                    <a:noFill/>
                  </a:rPr>
                  <a:t> </a:t>
                </a:r>
              </a:p>
            </p:txBody>
          </p:sp>
        </mc:Fallback>
      </mc:AlternateContent>
      <p:sp>
        <p:nvSpPr>
          <p:cNvPr id="300" name="Google Shape;300;p44">
            <a:extLst>
              <a:ext uri="{FF2B5EF4-FFF2-40B4-BE49-F238E27FC236}">
                <a16:creationId xmlns:a16="http://schemas.microsoft.com/office/drawing/2014/main" id="{8A362597-CA28-B5B0-2555-0258B729048F}"/>
              </a:ext>
            </a:extLst>
          </p:cNvPr>
          <p:cNvSpPr txBox="1">
            <a:spLocks noGrp="1"/>
          </p:cNvSpPr>
          <p:nvPr>
            <p:ph type="body" idx="1"/>
          </p:nvPr>
        </p:nvSpPr>
        <p:spPr>
          <a:xfrm>
            <a:off x="330225" y="2837123"/>
            <a:ext cx="7799100" cy="466200"/>
          </a:xfrm>
          <a:prstGeom prst="rect">
            <a:avLst/>
          </a:prstGeom>
          <a:noFill/>
          <a:ln>
            <a:noFill/>
          </a:ln>
        </p:spPr>
        <p:txBody>
          <a:bodyPr spcFirstLastPara="1" wrap="square" lIns="68575" tIns="34275" rIns="68575" bIns="34275" anchor="t" anchorCtr="0">
            <a:noAutofit/>
          </a:bodyPr>
          <a:lstStyle/>
          <a:p>
            <a:pPr marL="0" lvl="0" indent="0" algn="l" rtl="0">
              <a:spcBef>
                <a:spcPts val="0"/>
              </a:spcBef>
              <a:spcAft>
                <a:spcPts val="1000"/>
              </a:spcAft>
              <a:buNone/>
            </a:pPr>
            <a:r>
              <a:rPr lang="en-GB" dirty="0"/>
              <a:t>For notational convenience, define: </a:t>
            </a:r>
            <a:endParaRPr dirty="0"/>
          </a:p>
        </p:txBody>
      </p:sp>
      <p:sp>
        <p:nvSpPr>
          <p:cNvPr id="301" name="Google Shape;301;p44">
            <a:extLst>
              <a:ext uri="{FF2B5EF4-FFF2-40B4-BE49-F238E27FC236}">
                <a16:creationId xmlns:a16="http://schemas.microsoft.com/office/drawing/2014/main" id="{0FBBC939-896F-E237-FAF8-4BC188470CFB}"/>
              </a:ext>
            </a:extLst>
          </p:cNvPr>
          <p:cNvSpPr txBox="1">
            <a:spLocks noGrp="1"/>
          </p:cNvSpPr>
          <p:nvPr>
            <p:ph type="body" idx="1"/>
          </p:nvPr>
        </p:nvSpPr>
        <p:spPr>
          <a:xfrm>
            <a:off x="330225" y="3267219"/>
            <a:ext cx="7799100" cy="466200"/>
          </a:xfrm>
          <a:prstGeom prst="rect">
            <a:avLst/>
          </a:prstGeom>
          <a:noFill/>
          <a:ln>
            <a:noFill/>
          </a:ln>
        </p:spPr>
        <p:txBody>
          <a:bodyPr spcFirstLastPara="1" wrap="square" lIns="68575" tIns="34275" rIns="68575" bIns="34275" anchor="t" anchorCtr="0">
            <a:noAutofit/>
          </a:bodyPr>
          <a:lstStyle/>
          <a:p>
            <a:pPr marL="0" lvl="0" indent="0" algn="l" rtl="0">
              <a:spcBef>
                <a:spcPts val="0"/>
              </a:spcBef>
              <a:spcAft>
                <a:spcPts val="1000"/>
              </a:spcAft>
              <a:buNone/>
            </a:pPr>
            <a:r>
              <a:rPr lang="en-GB" dirty="0"/>
              <a:t>Now we can write:</a:t>
            </a:r>
            <a:endParaRPr dirty="0"/>
          </a:p>
        </p:txBody>
      </p:sp>
      <p:pic>
        <p:nvPicPr>
          <p:cNvPr id="302" name="Google Shape;302;p44">
            <a:extLst>
              <a:ext uri="{FF2B5EF4-FFF2-40B4-BE49-F238E27FC236}">
                <a16:creationId xmlns:a16="http://schemas.microsoft.com/office/drawing/2014/main" id="{96D7AC68-0773-F2C0-FC81-B1B37E13CAA2}"/>
              </a:ext>
            </a:extLst>
          </p:cNvPr>
          <p:cNvPicPr preferRelativeResize="0"/>
          <p:nvPr/>
        </p:nvPicPr>
        <p:blipFill>
          <a:blip r:embed="rId4">
            <a:alphaModFix/>
          </a:blip>
          <a:stretch>
            <a:fillRect/>
          </a:stretch>
        </p:blipFill>
        <p:spPr>
          <a:xfrm>
            <a:off x="1257950" y="1690715"/>
            <a:ext cx="5368771" cy="1018600"/>
          </a:xfrm>
          <a:prstGeom prst="rect">
            <a:avLst/>
          </a:prstGeom>
          <a:noFill/>
          <a:ln>
            <a:noFill/>
          </a:ln>
        </p:spPr>
      </p:pic>
      <p:pic>
        <p:nvPicPr>
          <p:cNvPr id="2" name="Google Shape;315;p45" descr="x_{-1} = x_0 = *" title="MathEquation,#00b0f0">
            <a:extLst>
              <a:ext uri="{FF2B5EF4-FFF2-40B4-BE49-F238E27FC236}">
                <a16:creationId xmlns:a16="http://schemas.microsoft.com/office/drawing/2014/main" id="{67B7D6D1-96AA-6C3F-DC65-443D23E09811}"/>
              </a:ext>
            </a:extLst>
          </p:cNvPr>
          <p:cNvPicPr preferRelativeResize="0"/>
          <p:nvPr/>
        </p:nvPicPr>
        <p:blipFill>
          <a:blip r:embed="rId5">
            <a:alphaModFix/>
          </a:blip>
          <a:stretch>
            <a:fillRect/>
          </a:stretch>
        </p:blipFill>
        <p:spPr>
          <a:xfrm>
            <a:off x="4161472" y="3032169"/>
            <a:ext cx="1607174" cy="235050"/>
          </a:xfrm>
          <a:prstGeom prst="rect">
            <a:avLst/>
          </a:prstGeom>
          <a:noFill/>
          <a:ln>
            <a:noFill/>
          </a:ln>
        </p:spPr>
      </p:pic>
      <p:sp>
        <p:nvSpPr>
          <p:cNvPr id="3" name="Google Shape;298;p44">
            <a:extLst>
              <a:ext uri="{FF2B5EF4-FFF2-40B4-BE49-F238E27FC236}">
                <a16:creationId xmlns:a16="http://schemas.microsoft.com/office/drawing/2014/main" id="{F39091D8-5165-0E41-E7F0-22DFC50C228E}"/>
              </a:ext>
            </a:extLst>
          </p:cNvPr>
          <p:cNvSpPr txBox="1"/>
          <p:nvPr/>
        </p:nvSpPr>
        <p:spPr>
          <a:xfrm>
            <a:off x="709725" y="3817315"/>
            <a:ext cx="7871400" cy="346200"/>
          </a:xfrm>
          <a:prstGeom prst="rect">
            <a:avLst/>
          </a:prstGeom>
          <a:blipFill rotWithShape="1">
            <a:blip r:embed="rId6">
              <a:alphaModFix/>
            </a:blip>
            <a:stretch>
              <a:fillRect b="-16219"/>
            </a:stretch>
          </a:blipFill>
          <a:ln>
            <a:noFill/>
          </a:ln>
        </p:spPr>
        <p:txBody>
          <a:bodyPr spcFirstLastPara="1" wrap="square" lIns="68575" tIns="34275" rIns="68575" bIns="34275" anchor="t" anchorCtr="0">
            <a:noAutofit/>
          </a:bodyPr>
          <a:lstStyle/>
          <a:p>
            <a:pPr marL="0" marR="0" lvl="0" indent="0" algn="l" rtl="0">
              <a:spcBef>
                <a:spcPts val="0"/>
              </a:spcBef>
              <a:spcAft>
                <a:spcPts val="0"/>
              </a:spcAft>
              <a:buNone/>
            </a:pPr>
            <a:r>
              <a:rPr lang="en-GB" sz="1400">
                <a:latin typeface="Century Gothic"/>
                <a:ea typeface="Century Gothic"/>
                <a:cs typeface="Century Gothic"/>
                <a:sym typeface="Century Gothic"/>
              </a:rPr>
              <a:t> </a:t>
            </a:r>
            <a:endParaRPr sz="1100"/>
          </a:p>
        </p:txBody>
      </p:sp>
      <p:sp>
        <p:nvSpPr>
          <p:cNvPr id="4" name="Rounded Rectangle 3">
            <a:extLst>
              <a:ext uri="{FF2B5EF4-FFF2-40B4-BE49-F238E27FC236}">
                <a16:creationId xmlns:a16="http://schemas.microsoft.com/office/drawing/2014/main" id="{F5BE27B1-605C-124B-31A2-97DD61A25E5A}"/>
              </a:ext>
            </a:extLst>
          </p:cNvPr>
          <p:cNvSpPr/>
          <p:nvPr/>
        </p:nvSpPr>
        <p:spPr>
          <a:xfrm>
            <a:off x="6917667" y="2723492"/>
            <a:ext cx="1803794" cy="701250"/>
          </a:xfrm>
          <a:prstGeom prst="roundRect">
            <a:avLst/>
          </a:prstGeom>
          <a:ln>
            <a:solidFill>
              <a:srgbClr val="C00000"/>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solidFill>
                  <a:srgbClr val="C00000"/>
                </a:solidFill>
              </a:rPr>
              <a:t>Equality holds under second-order Markov assumption</a:t>
            </a:r>
          </a:p>
        </p:txBody>
      </p:sp>
      <p:cxnSp>
        <p:nvCxnSpPr>
          <p:cNvPr id="9" name="Straight Arrow Connector 8">
            <a:extLst>
              <a:ext uri="{FF2B5EF4-FFF2-40B4-BE49-F238E27FC236}">
                <a16:creationId xmlns:a16="http://schemas.microsoft.com/office/drawing/2014/main" id="{3841D1CF-2311-56A2-E16D-4CFADDADE2CD}"/>
              </a:ext>
            </a:extLst>
          </p:cNvPr>
          <p:cNvCxnSpPr>
            <a:stCxn id="4" idx="1"/>
            <a:endCxn id="3" idx="0"/>
          </p:cNvCxnSpPr>
          <p:nvPr/>
        </p:nvCxnSpPr>
        <p:spPr>
          <a:xfrm flipH="1">
            <a:off x="4645425" y="3074117"/>
            <a:ext cx="2272242" cy="743198"/>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36419925"/>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Shape 295">
          <a:extLst>
            <a:ext uri="{FF2B5EF4-FFF2-40B4-BE49-F238E27FC236}">
              <a16:creationId xmlns:a16="http://schemas.microsoft.com/office/drawing/2014/main" id="{2CD88799-2AD0-0F06-6809-71A242034CE3}"/>
            </a:ext>
          </a:extLst>
        </p:cNvPr>
        <p:cNvGrpSpPr/>
        <p:nvPr/>
      </p:nvGrpSpPr>
      <p:grpSpPr>
        <a:xfrm>
          <a:off x="0" y="0"/>
          <a:ext cx="0" cy="0"/>
          <a:chOff x="0" y="0"/>
          <a:chExt cx="0" cy="0"/>
        </a:xfrm>
      </p:grpSpPr>
      <p:sp>
        <p:nvSpPr>
          <p:cNvPr id="296" name="Google Shape;296;p44">
            <a:extLst>
              <a:ext uri="{FF2B5EF4-FFF2-40B4-BE49-F238E27FC236}">
                <a16:creationId xmlns:a16="http://schemas.microsoft.com/office/drawing/2014/main" id="{070317ED-1293-AD6D-9BA3-5D2A571D6B64}"/>
              </a:ext>
            </a:extLst>
          </p:cNvPr>
          <p:cNvSpPr txBox="1">
            <a:spLocks noGrp="1"/>
          </p:cNvSpPr>
          <p:nvPr>
            <p:ph type="title"/>
          </p:nvPr>
        </p:nvSpPr>
        <p:spPr>
          <a:xfrm>
            <a:off x="471488" y="205383"/>
            <a:ext cx="5915100" cy="745800"/>
          </a:xfrm>
          <a:prstGeom prst="rect">
            <a:avLst/>
          </a:prstGeom>
          <a:noFill/>
          <a:ln>
            <a:noFill/>
          </a:ln>
        </p:spPr>
        <p:txBody>
          <a:bodyPr spcFirstLastPara="1" wrap="square" lIns="68575" tIns="34275" rIns="68575" bIns="34275" anchor="ctr" anchorCtr="0">
            <a:normAutofit/>
          </a:bodyPr>
          <a:lstStyle/>
          <a:p>
            <a:pPr lvl="0"/>
            <a:r>
              <a:rPr lang="en-GB" dirty="0"/>
              <a:t>Second-order Markov processes</a:t>
            </a:r>
            <a:endParaRPr dirty="0"/>
          </a:p>
        </p:txBody>
      </p:sp>
      <mc:AlternateContent xmlns:mc="http://schemas.openxmlformats.org/markup-compatibility/2006" xmlns:a14="http://schemas.microsoft.com/office/drawing/2010/main">
        <mc:Choice Requires="a14">
          <p:sp>
            <p:nvSpPr>
              <p:cNvPr id="299" name="Google Shape;299;p44">
                <a:extLst>
                  <a:ext uri="{FF2B5EF4-FFF2-40B4-BE49-F238E27FC236}">
                    <a16:creationId xmlns:a16="http://schemas.microsoft.com/office/drawing/2014/main" id="{6E0298B9-2A01-30FB-10D3-4FE8C6DFF6EC}"/>
                  </a:ext>
                </a:extLst>
              </p:cNvPr>
              <p:cNvSpPr txBox="1">
                <a:spLocks noGrp="1"/>
              </p:cNvSpPr>
              <p:nvPr>
                <p:ph type="body" idx="1"/>
              </p:nvPr>
            </p:nvSpPr>
            <p:spPr>
              <a:xfrm>
                <a:off x="330225" y="1147900"/>
                <a:ext cx="8630400" cy="582900"/>
              </a:xfrm>
              <a:prstGeom prst="rect">
                <a:avLst/>
              </a:prstGeom>
              <a:noFill/>
              <a:ln>
                <a:noFill/>
              </a:ln>
            </p:spPr>
            <p:txBody>
              <a:bodyPr spcFirstLastPara="1" wrap="square" lIns="68575" tIns="34275" rIns="68575" bIns="34275" anchor="t" anchorCtr="0">
                <a:noAutofit/>
              </a:bodyPr>
              <a:lstStyle/>
              <a:p>
                <a:pPr marL="0" lvl="0" indent="0" algn="l" rtl="0">
                  <a:spcBef>
                    <a:spcPts val="0"/>
                  </a:spcBef>
                  <a:spcAft>
                    <a:spcPts val="1000"/>
                  </a:spcAft>
                  <a:buNone/>
                </a:pPr>
                <a:r>
                  <a:rPr lang="en-GB" dirty="0"/>
                  <a:t>Given a sequence of </a:t>
                </a:r>
                <a14:m>
                  <m:oMath xmlns:m="http://schemas.openxmlformats.org/officeDocument/2006/math">
                    <m:r>
                      <a:rPr lang="en-US" b="0" i="1" smtClean="0">
                        <a:latin typeface="Cambria Math" panose="02040503050406030204" pitchFamily="18" charset="0"/>
                      </a:rPr>
                      <m:t>𝑛</m:t>
                    </m:r>
                    <m:r>
                      <a:rPr lang="en-US" b="0" i="1" smtClean="0">
                        <a:latin typeface="Cambria Math" panose="02040503050406030204" pitchFamily="18" charset="0"/>
                      </a:rPr>
                      <m:t>=100 </m:t>
                    </m:r>
                  </m:oMath>
                </a14:m>
                <a:r>
                  <a:rPr lang="en-GB" dirty="0"/>
                  <a:t>random variables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𝑖</m:t>
                        </m:r>
                      </m:sub>
                    </m:sSub>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𝒱</m:t>
                    </m:r>
                  </m:oMath>
                </a14:m>
                <a:r>
                  <a:rPr lang="en-GB" dirty="0"/>
                  <a:t> use the </a:t>
                </a:r>
                <a:r>
                  <a:rPr lang="en-GB" dirty="0">
                    <a:solidFill>
                      <a:srgbClr val="00B0F0"/>
                    </a:solidFill>
                  </a:rPr>
                  <a:t>chain rule</a:t>
                </a:r>
                <a:r>
                  <a:rPr lang="en-GB" dirty="0"/>
                  <a:t>:</a:t>
                </a:r>
                <a:endParaRPr dirty="0"/>
              </a:p>
            </p:txBody>
          </p:sp>
        </mc:Choice>
        <mc:Fallback xmlns="">
          <p:sp>
            <p:nvSpPr>
              <p:cNvPr id="299" name="Google Shape;299;p44">
                <a:extLst>
                  <a:ext uri="{FF2B5EF4-FFF2-40B4-BE49-F238E27FC236}">
                    <a16:creationId xmlns:a16="http://schemas.microsoft.com/office/drawing/2014/main" id="{6E0298B9-2A01-30FB-10D3-4FE8C6DFF6EC}"/>
                  </a:ext>
                </a:extLst>
              </p:cNvPr>
              <p:cNvSpPr txBox="1">
                <a:spLocks noGrp="1" noRot="1" noChangeAspect="1" noMove="1" noResize="1" noEditPoints="1" noAdjustHandles="1" noChangeArrowheads="1" noChangeShapeType="1" noTextEdit="1"/>
              </p:cNvSpPr>
              <p:nvPr>
                <p:ph type="body" idx="1"/>
              </p:nvPr>
            </p:nvSpPr>
            <p:spPr>
              <a:xfrm>
                <a:off x="330225" y="1147900"/>
                <a:ext cx="8630400" cy="582900"/>
              </a:xfrm>
              <a:prstGeom prst="rect">
                <a:avLst/>
              </a:prstGeom>
              <a:blipFill>
                <a:blip r:embed="rId3"/>
                <a:stretch>
                  <a:fillRect l="-734"/>
                </a:stretch>
              </a:blipFill>
              <a:ln>
                <a:noFill/>
              </a:ln>
            </p:spPr>
            <p:txBody>
              <a:bodyPr/>
              <a:lstStyle/>
              <a:p>
                <a:r>
                  <a:rPr lang="en-US">
                    <a:noFill/>
                  </a:rPr>
                  <a:t> </a:t>
                </a:r>
              </a:p>
            </p:txBody>
          </p:sp>
        </mc:Fallback>
      </mc:AlternateContent>
      <p:sp>
        <p:nvSpPr>
          <p:cNvPr id="300" name="Google Shape;300;p44">
            <a:extLst>
              <a:ext uri="{FF2B5EF4-FFF2-40B4-BE49-F238E27FC236}">
                <a16:creationId xmlns:a16="http://schemas.microsoft.com/office/drawing/2014/main" id="{B46C446D-91DE-AD4F-935A-8415E48BAF56}"/>
              </a:ext>
            </a:extLst>
          </p:cNvPr>
          <p:cNvSpPr txBox="1">
            <a:spLocks noGrp="1"/>
          </p:cNvSpPr>
          <p:nvPr>
            <p:ph type="body" idx="1"/>
          </p:nvPr>
        </p:nvSpPr>
        <p:spPr>
          <a:xfrm>
            <a:off x="330225" y="2837123"/>
            <a:ext cx="7799100" cy="466200"/>
          </a:xfrm>
          <a:prstGeom prst="rect">
            <a:avLst/>
          </a:prstGeom>
          <a:noFill/>
          <a:ln>
            <a:noFill/>
          </a:ln>
        </p:spPr>
        <p:txBody>
          <a:bodyPr spcFirstLastPara="1" wrap="square" lIns="68575" tIns="34275" rIns="68575" bIns="34275" anchor="t" anchorCtr="0">
            <a:noAutofit/>
          </a:bodyPr>
          <a:lstStyle/>
          <a:p>
            <a:pPr marL="0" lvl="0" indent="0" algn="l" rtl="0">
              <a:spcBef>
                <a:spcPts val="0"/>
              </a:spcBef>
              <a:spcAft>
                <a:spcPts val="1000"/>
              </a:spcAft>
              <a:buNone/>
            </a:pPr>
            <a:r>
              <a:rPr lang="en-GB" dirty="0"/>
              <a:t>For notational convenience, define: </a:t>
            </a:r>
            <a:endParaRPr dirty="0"/>
          </a:p>
        </p:txBody>
      </p:sp>
      <p:sp>
        <p:nvSpPr>
          <p:cNvPr id="301" name="Google Shape;301;p44">
            <a:extLst>
              <a:ext uri="{FF2B5EF4-FFF2-40B4-BE49-F238E27FC236}">
                <a16:creationId xmlns:a16="http://schemas.microsoft.com/office/drawing/2014/main" id="{771D7F86-9816-59A6-1D7F-76C27206B5B7}"/>
              </a:ext>
            </a:extLst>
          </p:cNvPr>
          <p:cNvSpPr txBox="1">
            <a:spLocks noGrp="1"/>
          </p:cNvSpPr>
          <p:nvPr>
            <p:ph type="body" idx="1"/>
          </p:nvPr>
        </p:nvSpPr>
        <p:spPr>
          <a:xfrm>
            <a:off x="330225" y="3267219"/>
            <a:ext cx="7799100" cy="466200"/>
          </a:xfrm>
          <a:prstGeom prst="rect">
            <a:avLst/>
          </a:prstGeom>
          <a:noFill/>
          <a:ln>
            <a:noFill/>
          </a:ln>
        </p:spPr>
        <p:txBody>
          <a:bodyPr spcFirstLastPara="1" wrap="square" lIns="68575" tIns="34275" rIns="68575" bIns="34275" anchor="t" anchorCtr="0">
            <a:noAutofit/>
          </a:bodyPr>
          <a:lstStyle/>
          <a:p>
            <a:pPr marL="0" lvl="0" indent="0" algn="l" rtl="0">
              <a:spcBef>
                <a:spcPts val="0"/>
              </a:spcBef>
              <a:spcAft>
                <a:spcPts val="1000"/>
              </a:spcAft>
              <a:buNone/>
            </a:pPr>
            <a:r>
              <a:rPr lang="en-GB" dirty="0"/>
              <a:t>Now we can write:</a:t>
            </a:r>
            <a:endParaRPr dirty="0"/>
          </a:p>
        </p:txBody>
      </p:sp>
      <p:pic>
        <p:nvPicPr>
          <p:cNvPr id="302" name="Google Shape;302;p44">
            <a:extLst>
              <a:ext uri="{FF2B5EF4-FFF2-40B4-BE49-F238E27FC236}">
                <a16:creationId xmlns:a16="http://schemas.microsoft.com/office/drawing/2014/main" id="{57580F06-02EA-85B2-6D15-58189ED906DA}"/>
              </a:ext>
            </a:extLst>
          </p:cNvPr>
          <p:cNvPicPr preferRelativeResize="0"/>
          <p:nvPr/>
        </p:nvPicPr>
        <p:blipFill>
          <a:blip r:embed="rId4">
            <a:alphaModFix/>
          </a:blip>
          <a:stretch>
            <a:fillRect/>
          </a:stretch>
        </p:blipFill>
        <p:spPr>
          <a:xfrm>
            <a:off x="1257950" y="1690715"/>
            <a:ext cx="5368771" cy="1018600"/>
          </a:xfrm>
          <a:prstGeom prst="rect">
            <a:avLst/>
          </a:prstGeom>
          <a:noFill/>
          <a:ln>
            <a:noFill/>
          </a:ln>
        </p:spPr>
      </p:pic>
      <p:pic>
        <p:nvPicPr>
          <p:cNvPr id="2" name="Google Shape;315;p45" descr="x_{-1} = x_0 = *" title="MathEquation,#00b0f0">
            <a:extLst>
              <a:ext uri="{FF2B5EF4-FFF2-40B4-BE49-F238E27FC236}">
                <a16:creationId xmlns:a16="http://schemas.microsoft.com/office/drawing/2014/main" id="{E3C66AC0-2BCB-0AB2-CC4D-04A1EFA50E3A}"/>
              </a:ext>
            </a:extLst>
          </p:cNvPr>
          <p:cNvPicPr preferRelativeResize="0"/>
          <p:nvPr/>
        </p:nvPicPr>
        <p:blipFill>
          <a:blip r:embed="rId5">
            <a:alphaModFix/>
          </a:blip>
          <a:stretch>
            <a:fillRect/>
          </a:stretch>
        </p:blipFill>
        <p:spPr>
          <a:xfrm>
            <a:off x="4161472" y="3032169"/>
            <a:ext cx="1607174" cy="235050"/>
          </a:xfrm>
          <a:prstGeom prst="rect">
            <a:avLst/>
          </a:prstGeom>
          <a:noFill/>
          <a:ln>
            <a:noFill/>
          </a:ln>
        </p:spPr>
      </p:pic>
      <p:sp>
        <p:nvSpPr>
          <p:cNvPr id="3" name="Google Shape;298;p44">
            <a:extLst>
              <a:ext uri="{FF2B5EF4-FFF2-40B4-BE49-F238E27FC236}">
                <a16:creationId xmlns:a16="http://schemas.microsoft.com/office/drawing/2014/main" id="{70FE99BA-3DEB-FA87-8ECC-2795CA5B054F}"/>
              </a:ext>
            </a:extLst>
          </p:cNvPr>
          <p:cNvSpPr txBox="1"/>
          <p:nvPr/>
        </p:nvSpPr>
        <p:spPr>
          <a:xfrm>
            <a:off x="709725" y="3817315"/>
            <a:ext cx="7871400" cy="346200"/>
          </a:xfrm>
          <a:prstGeom prst="rect">
            <a:avLst/>
          </a:prstGeom>
          <a:blipFill rotWithShape="1">
            <a:blip r:embed="rId6">
              <a:alphaModFix/>
            </a:blip>
            <a:stretch>
              <a:fillRect b="-16219"/>
            </a:stretch>
          </a:blipFill>
          <a:ln>
            <a:noFill/>
          </a:ln>
        </p:spPr>
        <p:txBody>
          <a:bodyPr spcFirstLastPara="1" wrap="square" lIns="68575" tIns="34275" rIns="68575" bIns="34275" anchor="t" anchorCtr="0">
            <a:noAutofit/>
          </a:bodyPr>
          <a:lstStyle/>
          <a:p>
            <a:pPr marL="0" marR="0" lvl="0" indent="0" algn="l" rtl="0">
              <a:spcBef>
                <a:spcPts val="0"/>
              </a:spcBef>
              <a:spcAft>
                <a:spcPts val="0"/>
              </a:spcAft>
              <a:buNone/>
            </a:pPr>
            <a:r>
              <a:rPr lang="en-GB" sz="1400">
                <a:latin typeface="Century Gothic"/>
                <a:ea typeface="Century Gothic"/>
                <a:cs typeface="Century Gothic"/>
                <a:sym typeface="Century Gothic"/>
              </a:rPr>
              <a:t> </a:t>
            </a:r>
            <a:endParaRPr sz="1100"/>
          </a:p>
        </p:txBody>
      </p:sp>
      <p:sp>
        <p:nvSpPr>
          <p:cNvPr id="4" name="Rounded Rectangle 3">
            <a:extLst>
              <a:ext uri="{FF2B5EF4-FFF2-40B4-BE49-F238E27FC236}">
                <a16:creationId xmlns:a16="http://schemas.microsoft.com/office/drawing/2014/main" id="{9349870C-059A-6DF9-1551-A98D096EBEE9}"/>
              </a:ext>
            </a:extLst>
          </p:cNvPr>
          <p:cNvSpPr/>
          <p:nvPr/>
        </p:nvSpPr>
        <p:spPr>
          <a:xfrm>
            <a:off x="6917667" y="2723492"/>
            <a:ext cx="1803794" cy="701250"/>
          </a:xfrm>
          <a:prstGeom prst="roundRect">
            <a:avLst/>
          </a:prstGeom>
          <a:ln>
            <a:solidFill>
              <a:srgbClr val="C00000"/>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solidFill>
                  <a:srgbClr val="C00000"/>
                </a:solidFill>
              </a:rPr>
              <a:t>Equality holds under second-order Markov assumption</a:t>
            </a:r>
          </a:p>
        </p:txBody>
      </p:sp>
      <p:cxnSp>
        <p:nvCxnSpPr>
          <p:cNvPr id="9" name="Straight Arrow Connector 8">
            <a:extLst>
              <a:ext uri="{FF2B5EF4-FFF2-40B4-BE49-F238E27FC236}">
                <a16:creationId xmlns:a16="http://schemas.microsoft.com/office/drawing/2014/main" id="{DB9F2B76-92DA-1897-CE27-66F89EC3E593}"/>
              </a:ext>
            </a:extLst>
          </p:cNvPr>
          <p:cNvCxnSpPr>
            <a:stCxn id="4" idx="1"/>
            <a:endCxn id="3" idx="0"/>
          </p:cNvCxnSpPr>
          <p:nvPr/>
        </p:nvCxnSpPr>
        <p:spPr>
          <a:xfrm flipH="1">
            <a:off x="4645425" y="3074117"/>
            <a:ext cx="2272242" cy="743198"/>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10" name="Google Shape;317;p45">
            <a:extLst>
              <a:ext uri="{FF2B5EF4-FFF2-40B4-BE49-F238E27FC236}">
                <a16:creationId xmlns:a16="http://schemas.microsoft.com/office/drawing/2014/main" id="{9EAEE650-C9E3-1A2B-5333-43026C9B7DA1}"/>
              </a:ext>
            </a:extLst>
          </p:cNvPr>
          <p:cNvSpPr txBox="1"/>
          <p:nvPr/>
        </p:nvSpPr>
        <p:spPr>
          <a:xfrm>
            <a:off x="2544900" y="4409646"/>
            <a:ext cx="4054200" cy="392400"/>
          </a:xfrm>
          <a:prstGeom prst="rect">
            <a:avLst/>
          </a:prstGeom>
          <a:noFill/>
          <a:ln w="9525" cap="flat" cmpd="sng">
            <a:solidFill>
              <a:srgbClr val="C55A11"/>
            </a:solidFill>
            <a:prstDash val="solid"/>
            <a:round/>
            <a:headEnd type="none" w="sm" len="sm"/>
            <a:tailEnd type="none" w="sm" len="sm"/>
          </a:ln>
        </p:spPr>
        <p:txBody>
          <a:bodyPr spcFirstLastPara="1" wrap="square" lIns="68575" tIns="34275" rIns="68575" bIns="34275" anchor="t" anchorCtr="0">
            <a:spAutoFit/>
          </a:bodyPr>
          <a:lstStyle/>
          <a:p>
            <a:pPr marL="0" marR="0" lvl="0" indent="0" algn="ctr" rtl="0">
              <a:spcBef>
                <a:spcPts val="0"/>
              </a:spcBef>
              <a:spcAft>
                <a:spcPts val="0"/>
              </a:spcAft>
              <a:buNone/>
            </a:pPr>
            <a:r>
              <a:rPr lang="en-GB" sz="2100" dirty="0">
                <a:solidFill>
                  <a:srgbClr val="C00000"/>
                </a:solidFill>
              </a:rPr>
              <a:t>Is it a reasonable assumption?</a:t>
            </a:r>
            <a:endParaRPr sz="1100" dirty="0">
              <a:solidFill>
                <a:srgbClr val="C00000"/>
              </a:solidFill>
            </a:endParaRPr>
          </a:p>
        </p:txBody>
      </p:sp>
    </p:spTree>
    <p:extLst>
      <p:ext uri="{BB962C8B-B14F-4D97-AF65-F5344CB8AC3E}">
        <p14:creationId xmlns:p14="http://schemas.microsoft.com/office/powerpoint/2010/main" val="3170292252"/>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Shape 348"/>
        <p:cNvGrpSpPr/>
        <p:nvPr/>
      </p:nvGrpSpPr>
      <p:grpSpPr>
        <a:xfrm>
          <a:off x="0" y="0"/>
          <a:ext cx="0" cy="0"/>
          <a:chOff x="0" y="0"/>
          <a:chExt cx="0" cy="0"/>
        </a:xfrm>
      </p:grpSpPr>
      <p:sp>
        <p:nvSpPr>
          <p:cNvPr id="349" name="Google Shape;349;p48"/>
          <p:cNvSpPr txBox="1">
            <a:spLocks noGrp="1"/>
          </p:cNvSpPr>
          <p:nvPr>
            <p:ph type="title"/>
          </p:nvPr>
        </p:nvSpPr>
        <p:spPr>
          <a:xfrm>
            <a:off x="471488" y="205383"/>
            <a:ext cx="5915100" cy="745800"/>
          </a:xfrm>
          <a:prstGeom prst="rect">
            <a:avLst/>
          </a:prstGeom>
          <a:noFill/>
          <a:ln>
            <a:noFill/>
          </a:ln>
        </p:spPr>
        <p:txBody>
          <a:bodyPr spcFirstLastPara="1" wrap="square" lIns="68575" tIns="34275" rIns="68575" bIns="34275" anchor="ctr" anchorCtr="0">
            <a:normAutofit/>
          </a:bodyPr>
          <a:lstStyle/>
          <a:p>
            <a:pPr marL="0" lvl="0" indent="0" algn="l" rtl="0">
              <a:spcBef>
                <a:spcPts val="0"/>
              </a:spcBef>
              <a:spcAft>
                <a:spcPts val="0"/>
              </a:spcAft>
              <a:buClr>
                <a:schemeClr val="dk1"/>
              </a:buClr>
              <a:buSzPts val="3300"/>
              <a:buFont typeface="Century Gothic"/>
              <a:buNone/>
            </a:pPr>
            <a:r>
              <a:rPr lang="en-GB"/>
              <a:t>Trigram language model</a:t>
            </a:r>
            <a:endParaRPr/>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Shape 348">
          <a:extLst>
            <a:ext uri="{FF2B5EF4-FFF2-40B4-BE49-F238E27FC236}">
              <a16:creationId xmlns:a16="http://schemas.microsoft.com/office/drawing/2014/main" id="{B58EF0FF-8856-CC9B-E3EE-30FA516EA6C0}"/>
            </a:ext>
          </a:extLst>
        </p:cNvPr>
        <p:cNvGrpSpPr/>
        <p:nvPr/>
      </p:nvGrpSpPr>
      <p:grpSpPr>
        <a:xfrm>
          <a:off x="0" y="0"/>
          <a:ext cx="0" cy="0"/>
          <a:chOff x="0" y="0"/>
          <a:chExt cx="0" cy="0"/>
        </a:xfrm>
      </p:grpSpPr>
      <p:sp>
        <p:nvSpPr>
          <p:cNvPr id="349" name="Google Shape;349;p48">
            <a:extLst>
              <a:ext uri="{FF2B5EF4-FFF2-40B4-BE49-F238E27FC236}">
                <a16:creationId xmlns:a16="http://schemas.microsoft.com/office/drawing/2014/main" id="{253F9F31-06A7-4401-8258-AAF1A6BE8AF1}"/>
              </a:ext>
            </a:extLst>
          </p:cNvPr>
          <p:cNvSpPr txBox="1">
            <a:spLocks noGrp="1"/>
          </p:cNvSpPr>
          <p:nvPr>
            <p:ph type="title"/>
          </p:nvPr>
        </p:nvSpPr>
        <p:spPr>
          <a:xfrm>
            <a:off x="471488" y="205383"/>
            <a:ext cx="5915100" cy="745800"/>
          </a:xfrm>
          <a:prstGeom prst="rect">
            <a:avLst/>
          </a:prstGeom>
          <a:noFill/>
          <a:ln>
            <a:noFill/>
          </a:ln>
        </p:spPr>
        <p:txBody>
          <a:bodyPr spcFirstLastPara="1" wrap="square" lIns="68575" tIns="34275" rIns="68575" bIns="34275" anchor="ctr" anchorCtr="0">
            <a:normAutofit/>
          </a:bodyPr>
          <a:lstStyle/>
          <a:p>
            <a:pPr marL="0" lvl="0" indent="0" algn="l" rtl="0">
              <a:spcBef>
                <a:spcPts val="0"/>
              </a:spcBef>
              <a:spcAft>
                <a:spcPts val="0"/>
              </a:spcAft>
              <a:buClr>
                <a:schemeClr val="dk1"/>
              </a:buClr>
              <a:buSzPts val="3300"/>
              <a:buFont typeface="Century Gothic"/>
              <a:buNone/>
            </a:pPr>
            <a:r>
              <a:rPr lang="en-GB"/>
              <a:t>Trigram language model</a:t>
            </a:r>
            <a:endParaRPr/>
          </a:p>
        </p:txBody>
      </p:sp>
      <p:sp>
        <p:nvSpPr>
          <p:cNvPr id="351" name="Google Shape;351;p48">
            <a:extLst>
              <a:ext uri="{FF2B5EF4-FFF2-40B4-BE49-F238E27FC236}">
                <a16:creationId xmlns:a16="http://schemas.microsoft.com/office/drawing/2014/main" id="{93CA461F-1A74-709A-052A-5EC9B60B214E}"/>
              </a:ext>
            </a:extLst>
          </p:cNvPr>
          <p:cNvSpPr txBox="1">
            <a:spLocks noGrp="1"/>
          </p:cNvSpPr>
          <p:nvPr>
            <p:ph type="body" idx="1"/>
          </p:nvPr>
        </p:nvSpPr>
        <p:spPr>
          <a:xfrm>
            <a:off x="330225" y="1147900"/>
            <a:ext cx="8361000" cy="2709900"/>
          </a:xfrm>
          <a:prstGeom prst="rect">
            <a:avLst/>
          </a:prstGeom>
          <a:noFill/>
          <a:ln>
            <a:noFill/>
          </a:ln>
        </p:spPr>
        <p:txBody>
          <a:bodyPr spcFirstLastPara="1" wrap="square" lIns="68575" tIns="34275" rIns="68575" bIns="34275" anchor="t" anchorCtr="0">
            <a:normAutofit/>
          </a:bodyPr>
          <a:lstStyle/>
          <a:p>
            <a:pPr marL="457200" lvl="0" indent="-355600" algn="l" rtl="0">
              <a:lnSpc>
                <a:spcPct val="100000"/>
              </a:lnSpc>
              <a:spcBef>
                <a:spcPts val="0"/>
              </a:spcBef>
              <a:spcAft>
                <a:spcPts val="0"/>
              </a:spcAft>
              <a:buSzPts val="2000"/>
              <a:buChar char="●"/>
            </a:pPr>
            <a:r>
              <a:rPr lang="en-GB" sz="2000" dirty="0"/>
              <a:t>A trigram language model contains</a:t>
            </a:r>
            <a:endParaRPr sz="2000" dirty="0"/>
          </a:p>
          <a:p>
            <a:pPr marL="914400" lvl="1" indent="-355600" algn="l" rtl="0">
              <a:lnSpc>
                <a:spcPct val="100000"/>
              </a:lnSpc>
              <a:spcBef>
                <a:spcPts val="1000"/>
              </a:spcBef>
              <a:spcAft>
                <a:spcPts val="0"/>
              </a:spcAft>
              <a:buSzPts val="2000"/>
              <a:buChar char="○"/>
            </a:pPr>
            <a:r>
              <a:rPr lang="en-GB" sz="2000" dirty="0"/>
              <a:t>A vocabulary</a:t>
            </a:r>
            <a:endParaRPr sz="2000" dirty="0"/>
          </a:p>
          <a:p>
            <a:pPr marL="914400" lvl="1" indent="-355600" algn="l" rtl="0">
              <a:lnSpc>
                <a:spcPct val="100000"/>
              </a:lnSpc>
              <a:spcBef>
                <a:spcPts val="1000"/>
              </a:spcBef>
              <a:spcAft>
                <a:spcPts val="0"/>
              </a:spcAft>
              <a:buSzPts val="2000"/>
              <a:buChar char="○"/>
            </a:pPr>
            <a:r>
              <a:rPr lang="en-GB" sz="2000" dirty="0"/>
              <a:t>Non-negative parameters for every trigram, namely:</a:t>
            </a:r>
            <a:br>
              <a:rPr lang="en-GB" sz="2000" dirty="0"/>
            </a:br>
            <a:br>
              <a:rPr lang="en-GB" sz="2000" dirty="0"/>
            </a:br>
            <a:endParaRPr sz="2000" dirty="0"/>
          </a:p>
          <a:p>
            <a:pPr marL="457200" lvl="0" indent="-355600" algn="l" rtl="0">
              <a:lnSpc>
                <a:spcPct val="100000"/>
              </a:lnSpc>
              <a:spcBef>
                <a:spcPts val="1000"/>
              </a:spcBef>
              <a:spcAft>
                <a:spcPts val="1000"/>
              </a:spcAft>
              <a:buSzPts val="2000"/>
              <a:buChar char="●"/>
            </a:pPr>
            <a:r>
              <a:rPr lang="en-GB" sz="2000" dirty="0"/>
              <a:t>The probability of a sequence                (where                  ):</a:t>
            </a:r>
            <a:endParaRPr sz="2000" dirty="0"/>
          </a:p>
        </p:txBody>
      </p:sp>
      <p:pic>
        <p:nvPicPr>
          <p:cNvPr id="352" name="Google Shape;352;p48">
            <a:extLst>
              <a:ext uri="{FF2B5EF4-FFF2-40B4-BE49-F238E27FC236}">
                <a16:creationId xmlns:a16="http://schemas.microsoft.com/office/drawing/2014/main" id="{B39E45C2-A715-BFAD-C136-6D043B64128D}"/>
              </a:ext>
            </a:extLst>
          </p:cNvPr>
          <p:cNvPicPr preferRelativeResize="0"/>
          <p:nvPr/>
        </p:nvPicPr>
        <p:blipFill>
          <a:blip r:embed="rId3">
            <a:alphaModFix/>
          </a:blip>
          <a:stretch>
            <a:fillRect/>
          </a:stretch>
        </p:blipFill>
        <p:spPr>
          <a:xfrm>
            <a:off x="4247496" y="3129432"/>
            <a:ext cx="1014189" cy="282300"/>
          </a:xfrm>
          <a:prstGeom prst="rect">
            <a:avLst/>
          </a:prstGeom>
          <a:noFill/>
          <a:ln>
            <a:noFill/>
          </a:ln>
        </p:spPr>
      </p:pic>
      <p:pic>
        <p:nvPicPr>
          <p:cNvPr id="353" name="Google Shape;353;p48">
            <a:extLst>
              <a:ext uri="{FF2B5EF4-FFF2-40B4-BE49-F238E27FC236}">
                <a16:creationId xmlns:a16="http://schemas.microsoft.com/office/drawing/2014/main" id="{739EE3F0-2F1B-00A2-92AE-6DD0EF028C98}"/>
              </a:ext>
            </a:extLst>
          </p:cNvPr>
          <p:cNvPicPr preferRelativeResize="0"/>
          <p:nvPr/>
        </p:nvPicPr>
        <p:blipFill>
          <a:blip r:embed="rId4">
            <a:alphaModFix/>
          </a:blip>
          <a:stretch>
            <a:fillRect/>
          </a:stretch>
        </p:blipFill>
        <p:spPr>
          <a:xfrm>
            <a:off x="1314082" y="2490688"/>
            <a:ext cx="5915100" cy="328066"/>
          </a:xfrm>
          <a:prstGeom prst="rect">
            <a:avLst/>
          </a:prstGeom>
          <a:noFill/>
          <a:ln>
            <a:noFill/>
          </a:ln>
        </p:spPr>
      </p:pic>
      <p:pic>
        <p:nvPicPr>
          <p:cNvPr id="354" name="Google Shape;354;p48">
            <a:extLst>
              <a:ext uri="{FF2B5EF4-FFF2-40B4-BE49-F238E27FC236}">
                <a16:creationId xmlns:a16="http://schemas.microsoft.com/office/drawing/2014/main" id="{4B83AA97-D184-8315-3C99-6B445969BA46}"/>
              </a:ext>
            </a:extLst>
          </p:cNvPr>
          <p:cNvPicPr preferRelativeResize="0"/>
          <p:nvPr/>
        </p:nvPicPr>
        <p:blipFill>
          <a:blip r:embed="rId5">
            <a:alphaModFix/>
          </a:blip>
          <a:stretch>
            <a:fillRect/>
          </a:stretch>
        </p:blipFill>
        <p:spPr>
          <a:xfrm>
            <a:off x="6163430" y="3112152"/>
            <a:ext cx="1197613" cy="282300"/>
          </a:xfrm>
          <a:prstGeom prst="rect">
            <a:avLst/>
          </a:prstGeom>
          <a:noFill/>
          <a:ln>
            <a:noFill/>
          </a:ln>
        </p:spPr>
      </p:pic>
      <p:pic>
        <p:nvPicPr>
          <p:cNvPr id="355" name="Google Shape;355;p48" descr="p(x_1, ..., x_n) = \prod^n_{i=1} q(x_i | x_{i-2}, x_{i-1})" title="MathEquation,#00aff0">
            <a:extLst>
              <a:ext uri="{FF2B5EF4-FFF2-40B4-BE49-F238E27FC236}">
                <a16:creationId xmlns:a16="http://schemas.microsoft.com/office/drawing/2014/main" id="{8479E935-3A8C-AFBA-5968-6CFBAD15A1D8}"/>
              </a:ext>
            </a:extLst>
          </p:cNvPr>
          <p:cNvPicPr preferRelativeResize="0"/>
          <p:nvPr/>
        </p:nvPicPr>
        <p:blipFill>
          <a:blip r:embed="rId6">
            <a:alphaModFix/>
          </a:blip>
          <a:stretch>
            <a:fillRect/>
          </a:stretch>
        </p:blipFill>
        <p:spPr>
          <a:xfrm>
            <a:off x="1347278" y="3610282"/>
            <a:ext cx="4206726" cy="336550"/>
          </a:xfrm>
          <a:prstGeom prst="rect">
            <a:avLst/>
          </a:prstGeom>
          <a:noFill/>
          <a:ln>
            <a:noFill/>
          </a:ln>
        </p:spPr>
      </p:pic>
    </p:spTree>
    <p:extLst>
      <p:ext uri="{BB962C8B-B14F-4D97-AF65-F5344CB8AC3E}">
        <p14:creationId xmlns:p14="http://schemas.microsoft.com/office/powerpoint/2010/main" val="1797902959"/>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Shape 359"/>
        <p:cNvGrpSpPr/>
        <p:nvPr/>
      </p:nvGrpSpPr>
      <p:grpSpPr>
        <a:xfrm>
          <a:off x="0" y="0"/>
          <a:ext cx="0" cy="0"/>
          <a:chOff x="0" y="0"/>
          <a:chExt cx="0" cy="0"/>
        </a:xfrm>
      </p:grpSpPr>
      <p:sp>
        <p:nvSpPr>
          <p:cNvPr id="360" name="Google Shape;360;p49"/>
          <p:cNvSpPr txBox="1">
            <a:spLocks noGrp="1"/>
          </p:cNvSpPr>
          <p:nvPr>
            <p:ph type="title"/>
          </p:nvPr>
        </p:nvSpPr>
        <p:spPr>
          <a:xfrm>
            <a:off x="471488" y="205383"/>
            <a:ext cx="5915100" cy="7458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chemeClr val="dk1"/>
              </a:buClr>
              <a:buSzPts val="3300"/>
              <a:buFont typeface="Century Gothic"/>
              <a:buNone/>
            </a:pPr>
            <a:r>
              <a:rPr lang="en-GB" dirty="0"/>
              <a:t>Trigram language model: Example</a:t>
            </a:r>
            <a:endParaRPr dirty="0"/>
          </a:p>
        </p:txBody>
      </p:sp>
      <p:pic>
        <p:nvPicPr>
          <p:cNvPr id="364" name="Google Shape;364;p49"/>
          <p:cNvPicPr preferRelativeResize="0"/>
          <p:nvPr/>
        </p:nvPicPr>
        <p:blipFill>
          <a:blip r:embed="rId3">
            <a:alphaModFix/>
          </a:blip>
          <a:stretch>
            <a:fillRect/>
          </a:stretch>
        </p:blipFill>
        <p:spPr>
          <a:xfrm>
            <a:off x="558775" y="1214450"/>
            <a:ext cx="5179549" cy="1196025"/>
          </a:xfrm>
          <a:prstGeom prst="rect">
            <a:avLst/>
          </a:prstGeom>
          <a:noFill/>
          <a:ln>
            <a:noFill/>
          </a:ln>
        </p:spPr>
      </p:pic>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Shape 359">
          <a:extLst>
            <a:ext uri="{FF2B5EF4-FFF2-40B4-BE49-F238E27FC236}">
              <a16:creationId xmlns:a16="http://schemas.microsoft.com/office/drawing/2014/main" id="{F3B7BFE6-EECF-A8F8-4748-E371047E43EA}"/>
            </a:ext>
          </a:extLst>
        </p:cNvPr>
        <p:cNvGrpSpPr/>
        <p:nvPr/>
      </p:nvGrpSpPr>
      <p:grpSpPr>
        <a:xfrm>
          <a:off x="0" y="0"/>
          <a:ext cx="0" cy="0"/>
          <a:chOff x="0" y="0"/>
          <a:chExt cx="0" cy="0"/>
        </a:xfrm>
      </p:grpSpPr>
      <p:sp>
        <p:nvSpPr>
          <p:cNvPr id="360" name="Google Shape;360;p49">
            <a:extLst>
              <a:ext uri="{FF2B5EF4-FFF2-40B4-BE49-F238E27FC236}">
                <a16:creationId xmlns:a16="http://schemas.microsoft.com/office/drawing/2014/main" id="{A72DAF50-173E-ADFB-B52C-7E7A08B41B54}"/>
              </a:ext>
            </a:extLst>
          </p:cNvPr>
          <p:cNvSpPr txBox="1">
            <a:spLocks noGrp="1"/>
          </p:cNvSpPr>
          <p:nvPr>
            <p:ph type="title"/>
          </p:nvPr>
        </p:nvSpPr>
        <p:spPr>
          <a:xfrm>
            <a:off x="471488" y="205383"/>
            <a:ext cx="5915100" cy="7458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chemeClr val="dk1"/>
              </a:buClr>
              <a:buSzPts val="3300"/>
              <a:buFont typeface="Century Gothic"/>
              <a:buNone/>
            </a:pPr>
            <a:r>
              <a:rPr lang="en-GB" dirty="0"/>
              <a:t>Trigram language model: Example</a:t>
            </a:r>
            <a:endParaRPr dirty="0"/>
          </a:p>
        </p:txBody>
      </p:sp>
      <p:sp>
        <p:nvSpPr>
          <p:cNvPr id="361" name="Google Shape;361;p49">
            <a:extLst>
              <a:ext uri="{FF2B5EF4-FFF2-40B4-BE49-F238E27FC236}">
                <a16:creationId xmlns:a16="http://schemas.microsoft.com/office/drawing/2014/main" id="{E1A70032-490E-76D6-FEB3-9F017BE27672}"/>
              </a:ext>
            </a:extLst>
          </p:cNvPr>
          <p:cNvSpPr txBox="1"/>
          <p:nvPr/>
        </p:nvSpPr>
        <p:spPr>
          <a:xfrm>
            <a:off x="552450" y="2766314"/>
            <a:ext cx="8202000" cy="3924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GB" sz="2100" dirty="0">
                <a:solidFill>
                  <a:srgbClr val="C55A11"/>
                </a:solidFill>
              </a:rPr>
              <a:t>He is from France, so it makes sense that his ﬁrst language is…</a:t>
            </a:r>
            <a:endParaRPr sz="2100" dirty="0">
              <a:solidFill>
                <a:srgbClr val="C55A11"/>
              </a:solidFill>
            </a:endParaRPr>
          </a:p>
        </p:txBody>
      </p:sp>
      <p:pic>
        <p:nvPicPr>
          <p:cNvPr id="364" name="Google Shape;364;p49">
            <a:extLst>
              <a:ext uri="{FF2B5EF4-FFF2-40B4-BE49-F238E27FC236}">
                <a16:creationId xmlns:a16="http://schemas.microsoft.com/office/drawing/2014/main" id="{D222CA31-62B6-D7CA-C8B2-874409695CA7}"/>
              </a:ext>
            </a:extLst>
          </p:cNvPr>
          <p:cNvPicPr preferRelativeResize="0"/>
          <p:nvPr/>
        </p:nvPicPr>
        <p:blipFill>
          <a:blip r:embed="rId3">
            <a:alphaModFix/>
          </a:blip>
          <a:stretch>
            <a:fillRect/>
          </a:stretch>
        </p:blipFill>
        <p:spPr>
          <a:xfrm>
            <a:off x="558775" y="1214450"/>
            <a:ext cx="5179549" cy="1196025"/>
          </a:xfrm>
          <a:prstGeom prst="rect">
            <a:avLst/>
          </a:prstGeom>
          <a:noFill/>
          <a:ln>
            <a:noFill/>
          </a:ln>
        </p:spPr>
      </p:pic>
    </p:spTree>
    <p:extLst>
      <p:ext uri="{BB962C8B-B14F-4D97-AF65-F5344CB8AC3E}">
        <p14:creationId xmlns:p14="http://schemas.microsoft.com/office/powerpoint/2010/main" val="2614581141"/>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Shape 359">
          <a:extLst>
            <a:ext uri="{FF2B5EF4-FFF2-40B4-BE49-F238E27FC236}">
              <a16:creationId xmlns:a16="http://schemas.microsoft.com/office/drawing/2014/main" id="{36142AE9-6E78-E5A8-9D38-229E901CE73F}"/>
            </a:ext>
          </a:extLst>
        </p:cNvPr>
        <p:cNvGrpSpPr/>
        <p:nvPr/>
      </p:nvGrpSpPr>
      <p:grpSpPr>
        <a:xfrm>
          <a:off x="0" y="0"/>
          <a:ext cx="0" cy="0"/>
          <a:chOff x="0" y="0"/>
          <a:chExt cx="0" cy="0"/>
        </a:xfrm>
      </p:grpSpPr>
      <p:sp>
        <p:nvSpPr>
          <p:cNvPr id="360" name="Google Shape;360;p49">
            <a:extLst>
              <a:ext uri="{FF2B5EF4-FFF2-40B4-BE49-F238E27FC236}">
                <a16:creationId xmlns:a16="http://schemas.microsoft.com/office/drawing/2014/main" id="{45A43763-36B9-E436-FECA-93888D15845E}"/>
              </a:ext>
            </a:extLst>
          </p:cNvPr>
          <p:cNvSpPr txBox="1">
            <a:spLocks noGrp="1"/>
          </p:cNvSpPr>
          <p:nvPr>
            <p:ph type="title"/>
          </p:nvPr>
        </p:nvSpPr>
        <p:spPr>
          <a:xfrm>
            <a:off x="471488" y="205383"/>
            <a:ext cx="5915100" cy="7458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chemeClr val="dk1"/>
              </a:buClr>
              <a:buSzPts val="3300"/>
              <a:buFont typeface="Century Gothic"/>
              <a:buNone/>
            </a:pPr>
            <a:r>
              <a:rPr lang="en-GB" dirty="0"/>
              <a:t>Trigram language model: Example</a:t>
            </a:r>
            <a:endParaRPr dirty="0"/>
          </a:p>
        </p:txBody>
      </p:sp>
      <p:sp>
        <p:nvSpPr>
          <p:cNvPr id="361" name="Google Shape;361;p49">
            <a:extLst>
              <a:ext uri="{FF2B5EF4-FFF2-40B4-BE49-F238E27FC236}">
                <a16:creationId xmlns:a16="http://schemas.microsoft.com/office/drawing/2014/main" id="{EF60CD7A-5751-C64C-C20A-78A2E246BE5E}"/>
              </a:ext>
            </a:extLst>
          </p:cNvPr>
          <p:cNvSpPr txBox="1"/>
          <p:nvPr/>
        </p:nvSpPr>
        <p:spPr>
          <a:xfrm>
            <a:off x="552450" y="2766314"/>
            <a:ext cx="8202000" cy="3924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GB" sz="2100">
                <a:solidFill>
                  <a:srgbClr val="C55A11"/>
                </a:solidFill>
              </a:rPr>
              <a:t>He is from France, so it makes sense that his ﬁrst language is…</a:t>
            </a:r>
            <a:endParaRPr sz="2100">
              <a:solidFill>
                <a:srgbClr val="C55A11"/>
              </a:solidFill>
            </a:endParaRPr>
          </a:p>
        </p:txBody>
      </p:sp>
      <p:sp>
        <p:nvSpPr>
          <p:cNvPr id="362" name="Google Shape;362;p49">
            <a:extLst>
              <a:ext uri="{FF2B5EF4-FFF2-40B4-BE49-F238E27FC236}">
                <a16:creationId xmlns:a16="http://schemas.microsoft.com/office/drawing/2014/main" id="{82A54A01-17CA-662A-10C9-6959FE164215}"/>
              </a:ext>
            </a:extLst>
          </p:cNvPr>
          <p:cNvSpPr txBox="1"/>
          <p:nvPr/>
        </p:nvSpPr>
        <p:spPr>
          <a:xfrm>
            <a:off x="1876574" y="3369469"/>
            <a:ext cx="5238600" cy="715800"/>
          </a:xfrm>
          <a:prstGeom prst="rect">
            <a:avLst/>
          </a:prstGeom>
          <a:noFill/>
          <a:ln w="9525" cap="flat" cmpd="sng">
            <a:solidFill>
              <a:srgbClr val="CC0000"/>
            </a:solidFill>
            <a:prstDash val="solid"/>
            <a:round/>
            <a:headEnd type="none" w="sm" len="sm"/>
            <a:tailEnd type="none" w="sm" len="sm"/>
          </a:ln>
        </p:spPr>
        <p:txBody>
          <a:bodyPr spcFirstLastPara="1" wrap="square" lIns="68575" tIns="34275" rIns="68575" bIns="34275" anchor="t" anchorCtr="0">
            <a:spAutoFit/>
          </a:bodyPr>
          <a:lstStyle/>
          <a:p>
            <a:pPr marL="0" marR="0" lvl="0" indent="0" algn="l" rtl="0">
              <a:spcBef>
                <a:spcPts val="0"/>
              </a:spcBef>
              <a:spcAft>
                <a:spcPts val="0"/>
              </a:spcAft>
              <a:buNone/>
            </a:pPr>
            <a:r>
              <a:rPr lang="en-GB" sz="2100">
                <a:solidFill>
                  <a:schemeClr val="dk1"/>
                </a:solidFill>
              </a:rPr>
              <a:t>No long-range dependencies – </a:t>
            </a:r>
            <a:br>
              <a:rPr lang="en-GB" sz="2100">
                <a:solidFill>
                  <a:schemeClr val="dk1"/>
                </a:solidFill>
              </a:rPr>
            </a:br>
            <a:r>
              <a:rPr lang="en-GB" sz="2100">
                <a:solidFill>
                  <a:schemeClr val="dk1"/>
                </a:solidFill>
              </a:rPr>
              <a:t>	the </a:t>
            </a:r>
            <a:r>
              <a:rPr lang="en-GB" sz="2100">
                <a:solidFill>
                  <a:srgbClr val="CC0000"/>
                </a:solidFill>
              </a:rPr>
              <a:t>Markovian assumption breaks</a:t>
            </a:r>
            <a:endParaRPr sz="2100">
              <a:solidFill>
                <a:srgbClr val="CC0000"/>
              </a:solidFill>
            </a:endParaRPr>
          </a:p>
        </p:txBody>
      </p:sp>
      <p:sp>
        <p:nvSpPr>
          <p:cNvPr id="363" name="Google Shape;363;p49">
            <a:extLst>
              <a:ext uri="{FF2B5EF4-FFF2-40B4-BE49-F238E27FC236}">
                <a16:creationId xmlns:a16="http://schemas.microsoft.com/office/drawing/2014/main" id="{BAE53D79-6C1C-0D81-6A6B-429A44F7BEB8}"/>
              </a:ext>
            </a:extLst>
          </p:cNvPr>
          <p:cNvSpPr txBox="1"/>
          <p:nvPr/>
        </p:nvSpPr>
        <p:spPr>
          <a:xfrm>
            <a:off x="2520379" y="4262452"/>
            <a:ext cx="3950700" cy="3924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GB" sz="2100">
                <a:solidFill>
                  <a:srgbClr val="00B0F0"/>
                </a:solidFill>
              </a:rPr>
              <a:t>Yet, this works surprisingly well</a:t>
            </a:r>
            <a:endParaRPr sz="2100">
              <a:solidFill>
                <a:srgbClr val="00B0F0"/>
              </a:solidFill>
            </a:endParaRPr>
          </a:p>
        </p:txBody>
      </p:sp>
      <p:pic>
        <p:nvPicPr>
          <p:cNvPr id="364" name="Google Shape;364;p49">
            <a:extLst>
              <a:ext uri="{FF2B5EF4-FFF2-40B4-BE49-F238E27FC236}">
                <a16:creationId xmlns:a16="http://schemas.microsoft.com/office/drawing/2014/main" id="{8EF2A3AC-5FE8-7A29-6CCF-A6D7125F12C8}"/>
              </a:ext>
            </a:extLst>
          </p:cNvPr>
          <p:cNvPicPr preferRelativeResize="0"/>
          <p:nvPr/>
        </p:nvPicPr>
        <p:blipFill>
          <a:blip r:embed="rId3">
            <a:alphaModFix/>
          </a:blip>
          <a:stretch>
            <a:fillRect/>
          </a:stretch>
        </p:blipFill>
        <p:spPr>
          <a:xfrm>
            <a:off x="558775" y="1214450"/>
            <a:ext cx="5179549" cy="1196025"/>
          </a:xfrm>
          <a:prstGeom prst="rect">
            <a:avLst/>
          </a:prstGeom>
          <a:noFill/>
          <a:ln>
            <a:noFill/>
          </a:ln>
        </p:spPr>
      </p:pic>
    </p:spTree>
    <p:extLst>
      <p:ext uri="{BB962C8B-B14F-4D97-AF65-F5344CB8AC3E}">
        <p14:creationId xmlns:p14="http://schemas.microsoft.com/office/powerpoint/2010/main" val="277005885"/>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Shape 348">
          <a:extLst>
            <a:ext uri="{FF2B5EF4-FFF2-40B4-BE49-F238E27FC236}">
              <a16:creationId xmlns:a16="http://schemas.microsoft.com/office/drawing/2014/main" id="{CE059576-8F65-8802-E92B-8E6D5ACE708C}"/>
            </a:ext>
          </a:extLst>
        </p:cNvPr>
        <p:cNvGrpSpPr/>
        <p:nvPr/>
      </p:nvGrpSpPr>
      <p:grpSpPr>
        <a:xfrm>
          <a:off x="0" y="0"/>
          <a:ext cx="0" cy="0"/>
          <a:chOff x="0" y="0"/>
          <a:chExt cx="0" cy="0"/>
        </a:xfrm>
      </p:grpSpPr>
      <p:sp>
        <p:nvSpPr>
          <p:cNvPr id="349" name="Google Shape;349;p48">
            <a:extLst>
              <a:ext uri="{FF2B5EF4-FFF2-40B4-BE49-F238E27FC236}">
                <a16:creationId xmlns:a16="http://schemas.microsoft.com/office/drawing/2014/main" id="{F0C31971-B9E2-D11F-7FB1-28FAC8D2DD30}"/>
              </a:ext>
            </a:extLst>
          </p:cNvPr>
          <p:cNvSpPr txBox="1">
            <a:spLocks noGrp="1"/>
          </p:cNvSpPr>
          <p:nvPr>
            <p:ph type="title"/>
          </p:nvPr>
        </p:nvSpPr>
        <p:spPr>
          <a:xfrm>
            <a:off x="471488" y="205383"/>
            <a:ext cx="5915100" cy="745800"/>
          </a:xfrm>
          <a:prstGeom prst="rect">
            <a:avLst/>
          </a:prstGeom>
          <a:noFill/>
          <a:ln>
            <a:noFill/>
          </a:ln>
        </p:spPr>
        <p:txBody>
          <a:bodyPr spcFirstLastPara="1" wrap="square" lIns="68575" tIns="34275" rIns="68575" bIns="34275" anchor="ctr" anchorCtr="0">
            <a:normAutofit/>
          </a:bodyPr>
          <a:lstStyle/>
          <a:p>
            <a:pPr marL="0" lvl="0" indent="0" algn="l" rtl="0">
              <a:spcBef>
                <a:spcPts val="0"/>
              </a:spcBef>
              <a:spcAft>
                <a:spcPts val="0"/>
              </a:spcAft>
              <a:buClr>
                <a:schemeClr val="dk1"/>
              </a:buClr>
              <a:buSzPts val="3300"/>
              <a:buFont typeface="Century Gothic"/>
              <a:buNone/>
            </a:pPr>
            <a:r>
              <a:rPr lang="en-GB"/>
              <a:t>Trigram language model</a:t>
            </a:r>
            <a:endParaRPr/>
          </a:p>
        </p:txBody>
      </p:sp>
      <p:sp>
        <p:nvSpPr>
          <p:cNvPr id="351" name="Google Shape;351;p48">
            <a:extLst>
              <a:ext uri="{FF2B5EF4-FFF2-40B4-BE49-F238E27FC236}">
                <a16:creationId xmlns:a16="http://schemas.microsoft.com/office/drawing/2014/main" id="{5C1319FA-6E47-932B-5D24-D9F1F90EC0ED}"/>
              </a:ext>
            </a:extLst>
          </p:cNvPr>
          <p:cNvSpPr txBox="1">
            <a:spLocks noGrp="1"/>
          </p:cNvSpPr>
          <p:nvPr>
            <p:ph type="body" idx="1"/>
          </p:nvPr>
        </p:nvSpPr>
        <p:spPr>
          <a:xfrm>
            <a:off x="330225" y="1147900"/>
            <a:ext cx="8361000" cy="3656856"/>
          </a:xfrm>
          <a:prstGeom prst="rect">
            <a:avLst/>
          </a:prstGeom>
          <a:noFill/>
          <a:ln>
            <a:noFill/>
          </a:ln>
        </p:spPr>
        <p:txBody>
          <a:bodyPr spcFirstLastPara="1" wrap="square" lIns="68575" tIns="34275" rIns="68575" bIns="34275" anchor="t" anchorCtr="0">
            <a:normAutofit/>
          </a:bodyPr>
          <a:lstStyle/>
          <a:p>
            <a:pPr marL="457200" lvl="0" indent="-355600" algn="l" rtl="0">
              <a:lnSpc>
                <a:spcPct val="100000"/>
              </a:lnSpc>
              <a:spcBef>
                <a:spcPts val="0"/>
              </a:spcBef>
              <a:spcAft>
                <a:spcPts val="0"/>
              </a:spcAft>
              <a:buSzPts val="2000"/>
              <a:buChar char="●"/>
            </a:pPr>
            <a:r>
              <a:rPr lang="en-GB" sz="2000" dirty="0"/>
              <a:t>A trigram language model contains</a:t>
            </a:r>
            <a:endParaRPr sz="2000" dirty="0"/>
          </a:p>
          <a:p>
            <a:pPr marL="914400" lvl="1" indent="-355600" algn="l" rtl="0">
              <a:lnSpc>
                <a:spcPct val="100000"/>
              </a:lnSpc>
              <a:spcBef>
                <a:spcPts val="1000"/>
              </a:spcBef>
              <a:spcAft>
                <a:spcPts val="0"/>
              </a:spcAft>
              <a:buSzPts val="2000"/>
              <a:buChar char="○"/>
            </a:pPr>
            <a:r>
              <a:rPr lang="en-GB" sz="2000" dirty="0"/>
              <a:t>A vocabulary</a:t>
            </a:r>
            <a:endParaRPr sz="2000" dirty="0"/>
          </a:p>
          <a:p>
            <a:pPr marL="914400" lvl="1" indent="-355600" algn="l" rtl="0">
              <a:lnSpc>
                <a:spcPct val="100000"/>
              </a:lnSpc>
              <a:spcBef>
                <a:spcPts val="1000"/>
              </a:spcBef>
              <a:spcAft>
                <a:spcPts val="0"/>
              </a:spcAft>
              <a:buSzPts val="2000"/>
              <a:buChar char="○"/>
            </a:pPr>
            <a:r>
              <a:rPr lang="en-GB" sz="2000" dirty="0"/>
              <a:t>Non-negative </a:t>
            </a:r>
            <a:r>
              <a:rPr lang="en-GB" sz="2000" dirty="0">
                <a:solidFill>
                  <a:srgbClr val="7030A0"/>
                </a:solidFill>
              </a:rPr>
              <a:t>parameters</a:t>
            </a:r>
            <a:r>
              <a:rPr lang="en-GB" sz="2000" dirty="0"/>
              <a:t> for every trigram, namely:</a:t>
            </a:r>
            <a:br>
              <a:rPr lang="en-GB" sz="2000" dirty="0"/>
            </a:br>
            <a:br>
              <a:rPr lang="en-GB" sz="2000" dirty="0"/>
            </a:br>
            <a:endParaRPr sz="2000" dirty="0"/>
          </a:p>
          <a:p>
            <a:pPr marL="457200" lvl="0" indent="-355600" algn="l" rtl="0">
              <a:lnSpc>
                <a:spcPct val="100000"/>
              </a:lnSpc>
              <a:spcBef>
                <a:spcPts val="1000"/>
              </a:spcBef>
              <a:spcAft>
                <a:spcPts val="1000"/>
              </a:spcAft>
              <a:buSzPts val="2000"/>
              <a:buChar char="●"/>
            </a:pPr>
            <a:r>
              <a:rPr lang="en-GB" sz="2000" dirty="0"/>
              <a:t>The probability of a sequence                (where                  ):</a:t>
            </a:r>
          </a:p>
          <a:p>
            <a:pPr marL="457200" lvl="0" indent="-355600" algn="l" rtl="0">
              <a:lnSpc>
                <a:spcPct val="100000"/>
              </a:lnSpc>
              <a:spcBef>
                <a:spcPts val="1000"/>
              </a:spcBef>
              <a:spcAft>
                <a:spcPts val="1000"/>
              </a:spcAft>
              <a:buSzPts val="2000"/>
              <a:buChar char="●"/>
            </a:pPr>
            <a:endParaRPr lang="en-GB" sz="2000" dirty="0"/>
          </a:p>
          <a:p>
            <a:pPr marL="457200" lvl="0" indent="-355600" algn="l" rtl="0">
              <a:lnSpc>
                <a:spcPct val="100000"/>
              </a:lnSpc>
              <a:spcBef>
                <a:spcPts val="1000"/>
              </a:spcBef>
              <a:spcAft>
                <a:spcPts val="1000"/>
              </a:spcAft>
              <a:buSzPts val="2000"/>
              <a:buChar char="●"/>
            </a:pPr>
            <a:r>
              <a:rPr lang="en-GB" sz="2000" dirty="0">
                <a:solidFill>
                  <a:srgbClr val="7030A0"/>
                </a:solidFill>
              </a:rPr>
              <a:t>How do we pick the parameters?</a:t>
            </a:r>
          </a:p>
        </p:txBody>
      </p:sp>
      <p:pic>
        <p:nvPicPr>
          <p:cNvPr id="352" name="Google Shape;352;p48">
            <a:extLst>
              <a:ext uri="{FF2B5EF4-FFF2-40B4-BE49-F238E27FC236}">
                <a16:creationId xmlns:a16="http://schemas.microsoft.com/office/drawing/2014/main" id="{B6C017D9-E7A9-7161-975B-1FFEA39FEED8}"/>
              </a:ext>
            </a:extLst>
          </p:cNvPr>
          <p:cNvPicPr preferRelativeResize="0"/>
          <p:nvPr/>
        </p:nvPicPr>
        <p:blipFill>
          <a:blip r:embed="rId3">
            <a:alphaModFix/>
          </a:blip>
          <a:stretch>
            <a:fillRect/>
          </a:stretch>
        </p:blipFill>
        <p:spPr>
          <a:xfrm>
            <a:off x="4247496" y="3129432"/>
            <a:ext cx="1014189" cy="282300"/>
          </a:xfrm>
          <a:prstGeom prst="rect">
            <a:avLst/>
          </a:prstGeom>
          <a:noFill/>
          <a:ln>
            <a:noFill/>
          </a:ln>
        </p:spPr>
      </p:pic>
      <p:pic>
        <p:nvPicPr>
          <p:cNvPr id="353" name="Google Shape;353;p48">
            <a:extLst>
              <a:ext uri="{FF2B5EF4-FFF2-40B4-BE49-F238E27FC236}">
                <a16:creationId xmlns:a16="http://schemas.microsoft.com/office/drawing/2014/main" id="{C03BDC66-417C-434F-1575-7FA55242030F}"/>
              </a:ext>
            </a:extLst>
          </p:cNvPr>
          <p:cNvPicPr preferRelativeResize="0"/>
          <p:nvPr/>
        </p:nvPicPr>
        <p:blipFill>
          <a:blip r:embed="rId4">
            <a:alphaModFix/>
          </a:blip>
          <a:stretch>
            <a:fillRect/>
          </a:stretch>
        </p:blipFill>
        <p:spPr>
          <a:xfrm>
            <a:off x="1314082" y="2490688"/>
            <a:ext cx="5915100" cy="328066"/>
          </a:xfrm>
          <a:prstGeom prst="rect">
            <a:avLst/>
          </a:prstGeom>
          <a:noFill/>
          <a:ln>
            <a:noFill/>
          </a:ln>
        </p:spPr>
      </p:pic>
      <p:pic>
        <p:nvPicPr>
          <p:cNvPr id="354" name="Google Shape;354;p48">
            <a:extLst>
              <a:ext uri="{FF2B5EF4-FFF2-40B4-BE49-F238E27FC236}">
                <a16:creationId xmlns:a16="http://schemas.microsoft.com/office/drawing/2014/main" id="{89977E4D-5DFD-B759-C16E-68EFE82641AF}"/>
              </a:ext>
            </a:extLst>
          </p:cNvPr>
          <p:cNvPicPr preferRelativeResize="0"/>
          <p:nvPr/>
        </p:nvPicPr>
        <p:blipFill>
          <a:blip r:embed="rId5">
            <a:alphaModFix/>
          </a:blip>
          <a:stretch>
            <a:fillRect/>
          </a:stretch>
        </p:blipFill>
        <p:spPr>
          <a:xfrm>
            <a:off x="6163430" y="3112152"/>
            <a:ext cx="1197613" cy="282300"/>
          </a:xfrm>
          <a:prstGeom prst="rect">
            <a:avLst/>
          </a:prstGeom>
          <a:noFill/>
          <a:ln>
            <a:noFill/>
          </a:ln>
        </p:spPr>
      </p:pic>
      <p:pic>
        <p:nvPicPr>
          <p:cNvPr id="355" name="Google Shape;355;p48" descr="p(x_1, ..., x_n) = \prod^n_{i=1} q(x_i | x_{i-2}, x_{i-1})" title="MathEquation,#00aff0">
            <a:extLst>
              <a:ext uri="{FF2B5EF4-FFF2-40B4-BE49-F238E27FC236}">
                <a16:creationId xmlns:a16="http://schemas.microsoft.com/office/drawing/2014/main" id="{15F9FC56-5473-1268-A0A0-4C8D4B6DEF9C}"/>
              </a:ext>
            </a:extLst>
          </p:cNvPr>
          <p:cNvPicPr preferRelativeResize="0"/>
          <p:nvPr/>
        </p:nvPicPr>
        <p:blipFill>
          <a:blip r:embed="rId6">
            <a:alphaModFix/>
          </a:blip>
          <a:stretch>
            <a:fillRect/>
          </a:stretch>
        </p:blipFill>
        <p:spPr>
          <a:xfrm>
            <a:off x="1347278" y="3610282"/>
            <a:ext cx="4206726" cy="336550"/>
          </a:xfrm>
          <a:prstGeom prst="rect">
            <a:avLst/>
          </a:prstGeom>
          <a:noFill/>
          <a:ln>
            <a:noFill/>
          </a:ln>
        </p:spPr>
      </p:pic>
    </p:spTree>
    <p:extLst>
      <p:ext uri="{BB962C8B-B14F-4D97-AF65-F5344CB8AC3E}">
        <p14:creationId xmlns:p14="http://schemas.microsoft.com/office/powerpoint/2010/main" val="1409565981"/>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Shape 369"/>
        <p:cNvGrpSpPr/>
        <p:nvPr/>
      </p:nvGrpSpPr>
      <p:grpSpPr>
        <a:xfrm>
          <a:off x="0" y="0"/>
          <a:ext cx="0" cy="0"/>
          <a:chOff x="0" y="0"/>
          <a:chExt cx="0" cy="0"/>
        </a:xfrm>
      </p:grpSpPr>
      <p:sp>
        <p:nvSpPr>
          <p:cNvPr id="370" name="Google Shape;370;p50"/>
          <p:cNvSpPr txBox="1">
            <a:spLocks noGrp="1"/>
          </p:cNvSpPr>
          <p:nvPr>
            <p:ph type="title"/>
          </p:nvPr>
        </p:nvSpPr>
        <p:spPr>
          <a:xfrm>
            <a:off x="471488" y="205383"/>
            <a:ext cx="5915100" cy="7458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chemeClr val="dk1"/>
              </a:buClr>
              <a:buSzPts val="3300"/>
              <a:buFont typeface="Century Gothic"/>
              <a:buNone/>
            </a:pPr>
            <a:r>
              <a:rPr lang="en-GB"/>
              <a:t>Estimation</a:t>
            </a:r>
            <a:endParaRPr/>
          </a:p>
        </p:txBody>
      </p:sp>
      <p:sp>
        <p:nvSpPr>
          <p:cNvPr id="372" name="Google Shape;372;p50"/>
          <p:cNvSpPr txBox="1">
            <a:spLocks noGrp="1"/>
          </p:cNvSpPr>
          <p:nvPr>
            <p:ph type="body" idx="1"/>
          </p:nvPr>
        </p:nvSpPr>
        <p:spPr>
          <a:xfrm>
            <a:off x="330225" y="1147900"/>
            <a:ext cx="8361000" cy="1500900"/>
          </a:xfrm>
          <a:prstGeom prst="rect">
            <a:avLst/>
          </a:prstGeom>
          <a:noFill/>
          <a:ln>
            <a:noFill/>
          </a:ln>
        </p:spPr>
        <p:txBody>
          <a:bodyPr spcFirstLastPara="1" wrap="square" lIns="68575" tIns="34275" rIns="68575" bIns="34275" anchor="t" anchorCtr="0">
            <a:normAutofit/>
          </a:bodyPr>
          <a:lstStyle/>
          <a:p>
            <a:pPr marL="457200" lvl="0" indent="-355600" algn="l" rtl="0">
              <a:lnSpc>
                <a:spcPct val="100000"/>
              </a:lnSpc>
              <a:spcBef>
                <a:spcPts val="0"/>
              </a:spcBef>
              <a:spcAft>
                <a:spcPts val="0"/>
              </a:spcAft>
              <a:buSzPts val="2000"/>
              <a:buChar char="●"/>
            </a:pPr>
            <a:r>
              <a:rPr lang="en-GB" sz="2000"/>
              <a:t>Estimating </a:t>
            </a:r>
            <a:r>
              <a:rPr lang="en-GB" sz="2000" i="1">
                <a:latin typeface="Times New Roman"/>
                <a:ea typeface="Times New Roman"/>
                <a:cs typeface="Times New Roman"/>
                <a:sym typeface="Times New Roman"/>
              </a:rPr>
              <a:t>q</a:t>
            </a:r>
            <a:r>
              <a:rPr lang="en-GB" sz="2000"/>
              <a:t> from the data using maximum likelihood</a:t>
            </a:r>
            <a:endParaRPr sz="2000"/>
          </a:p>
          <a:p>
            <a:pPr marL="914400" lvl="1" indent="-355600" algn="l" rtl="0">
              <a:lnSpc>
                <a:spcPct val="100000"/>
              </a:lnSpc>
              <a:spcBef>
                <a:spcPts val="1000"/>
              </a:spcBef>
              <a:spcAft>
                <a:spcPts val="1000"/>
              </a:spcAft>
              <a:buSzPts val="2000"/>
              <a:buChar char="○"/>
            </a:pPr>
            <a:r>
              <a:rPr lang="en-GB" sz="2000"/>
              <a:t>Let                     be the number of times the k-gram (sequence of length </a:t>
            </a:r>
            <a:r>
              <a:rPr lang="en-GB" sz="2000" i="1">
                <a:latin typeface="Times New Roman"/>
                <a:ea typeface="Times New Roman"/>
                <a:cs typeface="Times New Roman"/>
                <a:sym typeface="Times New Roman"/>
              </a:rPr>
              <a:t>k</a:t>
            </a:r>
            <a:r>
              <a:rPr lang="en-GB" sz="2000"/>
              <a:t>)                   appeared in the corpus</a:t>
            </a:r>
            <a:endParaRPr sz="2000"/>
          </a:p>
        </p:txBody>
      </p:sp>
      <p:pic>
        <p:nvPicPr>
          <p:cNvPr id="373" name="Google Shape;373;p50"/>
          <p:cNvPicPr preferRelativeResize="0"/>
          <p:nvPr/>
        </p:nvPicPr>
        <p:blipFill>
          <a:blip r:embed="rId3">
            <a:alphaModFix/>
          </a:blip>
          <a:stretch>
            <a:fillRect/>
          </a:stretch>
        </p:blipFill>
        <p:spPr>
          <a:xfrm>
            <a:off x="1696198" y="1622922"/>
            <a:ext cx="1400121" cy="298555"/>
          </a:xfrm>
          <a:prstGeom prst="rect">
            <a:avLst/>
          </a:prstGeom>
          <a:noFill/>
          <a:ln>
            <a:noFill/>
          </a:ln>
        </p:spPr>
      </p:pic>
      <p:pic>
        <p:nvPicPr>
          <p:cNvPr id="374" name="Google Shape;374;p50"/>
          <p:cNvPicPr preferRelativeResize="0"/>
          <p:nvPr/>
        </p:nvPicPr>
        <p:blipFill>
          <a:blip r:embed="rId4">
            <a:alphaModFix/>
          </a:blip>
          <a:stretch>
            <a:fillRect/>
          </a:stretch>
        </p:blipFill>
        <p:spPr>
          <a:xfrm>
            <a:off x="2310368" y="1945519"/>
            <a:ext cx="1185382" cy="315376"/>
          </a:xfrm>
          <a:prstGeom prst="rect">
            <a:avLst/>
          </a:prstGeom>
          <a:noFill/>
          <a:ln>
            <a:noFill/>
          </a:ln>
        </p:spPr>
      </p:pic>
      <p:grpSp>
        <p:nvGrpSpPr>
          <p:cNvPr id="375" name="Google Shape;375;p50"/>
          <p:cNvGrpSpPr/>
          <p:nvPr/>
        </p:nvGrpSpPr>
        <p:grpSpPr>
          <a:xfrm>
            <a:off x="2666475" y="2395448"/>
            <a:ext cx="4337398" cy="768725"/>
            <a:chOff x="2666475" y="2424425"/>
            <a:chExt cx="4337398" cy="768725"/>
          </a:xfrm>
        </p:grpSpPr>
        <p:grpSp>
          <p:nvGrpSpPr>
            <p:cNvPr id="376" name="Google Shape;376;p50"/>
            <p:cNvGrpSpPr/>
            <p:nvPr/>
          </p:nvGrpSpPr>
          <p:grpSpPr>
            <a:xfrm>
              <a:off x="2666475" y="2424425"/>
              <a:ext cx="4337398" cy="768725"/>
              <a:chOff x="2514075" y="2348225"/>
              <a:chExt cx="4337398" cy="768725"/>
            </a:xfrm>
          </p:grpSpPr>
          <p:pic>
            <p:nvPicPr>
              <p:cNvPr id="377" name="Google Shape;377;p50"/>
              <p:cNvPicPr preferRelativeResize="0"/>
              <p:nvPr/>
            </p:nvPicPr>
            <p:blipFill>
              <a:blip r:embed="rId5">
                <a:alphaModFix/>
              </a:blip>
              <a:stretch>
                <a:fillRect/>
              </a:stretch>
            </p:blipFill>
            <p:spPr>
              <a:xfrm>
                <a:off x="2610200" y="2399197"/>
                <a:ext cx="4241273" cy="717753"/>
              </a:xfrm>
              <a:prstGeom prst="rect">
                <a:avLst/>
              </a:prstGeom>
              <a:noFill/>
              <a:ln>
                <a:noFill/>
              </a:ln>
            </p:spPr>
          </p:pic>
          <p:sp>
            <p:nvSpPr>
              <p:cNvPr id="378" name="Google Shape;378;p50"/>
              <p:cNvSpPr/>
              <p:nvPr/>
            </p:nvSpPr>
            <p:spPr>
              <a:xfrm>
                <a:off x="2514075" y="2348225"/>
                <a:ext cx="1490100" cy="132300"/>
              </a:xfrm>
              <a:prstGeom prst="rect">
                <a:avLst/>
              </a:prstGeom>
              <a:solidFill>
                <a:srgbClr val="FFFF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sp>
          <p:nvSpPr>
            <p:cNvPr id="379" name="Google Shape;379;p50"/>
            <p:cNvSpPr/>
            <p:nvPr/>
          </p:nvSpPr>
          <p:spPr>
            <a:xfrm>
              <a:off x="6131350" y="2424425"/>
              <a:ext cx="424800" cy="132300"/>
            </a:xfrm>
            <a:prstGeom prst="rect">
              <a:avLst/>
            </a:prstGeom>
            <a:solidFill>
              <a:srgbClr val="FFFF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sp>
        <p:nvSpPr>
          <p:cNvPr id="380" name="Google Shape;380;p50"/>
          <p:cNvSpPr/>
          <p:nvPr/>
        </p:nvSpPr>
        <p:spPr>
          <a:xfrm>
            <a:off x="5056700" y="2302450"/>
            <a:ext cx="2080500" cy="969900"/>
          </a:xfrm>
          <a:prstGeom prst="rect">
            <a:avLst/>
          </a:prstGeom>
          <a:solidFill>
            <a:srgbClr val="FFFF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Shape 385"/>
        <p:cNvGrpSpPr/>
        <p:nvPr/>
      </p:nvGrpSpPr>
      <p:grpSpPr>
        <a:xfrm>
          <a:off x="0" y="0"/>
          <a:ext cx="0" cy="0"/>
          <a:chOff x="0" y="0"/>
          <a:chExt cx="0" cy="0"/>
        </a:xfrm>
      </p:grpSpPr>
      <p:sp>
        <p:nvSpPr>
          <p:cNvPr id="386" name="Google Shape;386;p51"/>
          <p:cNvSpPr txBox="1">
            <a:spLocks noGrp="1"/>
          </p:cNvSpPr>
          <p:nvPr>
            <p:ph type="title"/>
          </p:nvPr>
        </p:nvSpPr>
        <p:spPr>
          <a:xfrm>
            <a:off x="471488" y="205383"/>
            <a:ext cx="5915100" cy="7458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chemeClr val="dk1"/>
              </a:buClr>
              <a:buSzPts val="3300"/>
              <a:buFont typeface="Century Gothic"/>
              <a:buNone/>
            </a:pPr>
            <a:r>
              <a:rPr lang="en-GB"/>
              <a:t>Estimation</a:t>
            </a:r>
            <a:endParaRPr/>
          </a:p>
        </p:txBody>
      </p:sp>
      <p:sp>
        <p:nvSpPr>
          <p:cNvPr id="387" name="Google Shape;387;p51"/>
          <p:cNvSpPr txBox="1">
            <a:spLocks noGrp="1"/>
          </p:cNvSpPr>
          <p:nvPr>
            <p:ph type="body" idx="1"/>
          </p:nvPr>
        </p:nvSpPr>
        <p:spPr>
          <a:xfrm>
            <a:off x="330225" y="1147900"/>
            <a:ext cx="8361000" cy="1500900"/>
          </a:xfrm>
          <a:prstGeom prst="rect">
            <a:avLst/>
          </a:prstGeom>
          <a:noFill/>
          <a:ln>
            <a:noFill/>
          </a:ln>
        </p:spPr>
        <p:txBody>
          <a:bodyPr spcFirstLastPara="1" wrap="square" lIns="68575" tIns="34275" rIns="68575" bIns="34275" anchor="t" anchorCtr="0">
            <a:normAutofit/>
          </a:bodyPr>
          <a:lstStyle/>
          <a:p>
            <a:pPr marL="457200" lvl="0" indent="-355600" algn="l" rtl="0">
              <a:lnSpc>
                <a:spcPct val="100000"/>
              </a:lnSpc>
              <a:spcBef>
                <a:spcPts val="0"/>
              </a:spcBef>
              <a:spcAft>
                <a:spcPts val="0"/>
              </a:spcAft>
              <a:buSzPts val="2000"/>
              <a:buChar char="●"/>
            </a:pPr>
            <a:r>
              <a:rPr lang="en-GB" sz="2000"/>
              <a:t>Estimating </a:t>
            </a:r>
            <a:r>
              <a:rPr lang="en-GB" sz="2000" i="1">
                <a:latin typeface="Times New Roman"/>
                <a:ea typeface="Times New Roman"/>
                <a:cs typeface="Times New Roman"/>
                <a:sym typeface="Times New Roman"/>
              </a:rPr>
              <a:t>q</a:t>
            </a:r>
            <a:r>
              <a:rPr lang="en-GB" sz="2000"/>
              <a:t> from the data using maximum likelihood</a:t>
            </a:r>
            <a:endParaRPr sz="2000"/>
          </a:p>
          <a:p>
            <a:pPr marL="914400" lvl="1" indent="-355600" algn="l" rtl="0">
              <a:lnSpc>
                <a:spcPct val="100000"/>
              </a:lnSpc>
              <a:spcBef>
                <a:spcPts val="1000"/>
              </a:spcBef>
              <a:spcAft>
                <a:spcPts val="1000"/>
              </a:spcAft>
              <a:buSzPts val="2000"/>
              <a:buChar char="○"/>
            </a:pPr>
            <a:r>
              <a:rPr lang="en-GB" sz="2000"/>
              <a:t>Let                     be the number of times the k-gram (sequence of length </a:t>
            </a:r>
            <a:r>
              <a:rPr lang="en-GB" sz="2000" i="1">
                <a:latin typeface="Times New Roman"/>
                <a:ea typeface="Times New Roman"/>
                <a:cs typeface="Times New Roman"/>
                <a:sym typeface="Times New Roman"/>
              </a:rPr>
              <a:t>k</a:t>
            </a:r>
            <a:r>
              <a:rPr lang="en-GB" sz="2000"/>
              <a:t>)                   appeared in the corpus</a:t>
            </a:r>
            <a:endParaRPr sz="2000"/>
          </a:p>
        </p:txBody>
      </p:sp>
      <p:pic>
        <p:nvPicPr>
          <p:cNvPr id="388" name="Google Shape;388;p51"/>
          <p:cNvPicPr preferRelativeResize="0"/>
          <p:nvPr/>
        </p:nvPicPr>
        <p:blipFill>
          <a:blip r:embed="rId3">
            <a:alphaModFix/>
          </a:blip>
          <a:stretch>
            <a:fillRect/>
          </a:stretch>
        </p:blipFill>
        <p:spPr>
          <a:xfrm>
            <a:off x="1696198" y="1622922"/>
            <a:ext cx="1400121" cy="298555"/>
          </a:xfrm>
          <a:prstGeom prst="rect">
            <a:avLst/>
          </a:prstGeom>
          <a:noFill/>
          <a:ln>
            <a:noFill/>
          </a:ln>
        </p:spPr>
      </p:pic>
      <p:pic>
        <p:nvPicPr>
          <p:cNvPr id="389" name="Google Shape;389;p51"/>
          <p:cNvPicPr preferRelativeResize="0"/>
          <p:nvPr/>
        </p:nvPicPr>
        <p:blipFill>
          <a:blip r:embed="rId4">
            <a:alphaModFix/>
          </a:blip>
          <a:stretch>
            <a:fillRect/>
          </a:stretch>
        </p:blipFill>
        <p:spPr>
          <a:xfrm>
            <a:off x="2310368" y="1945519"/>
            <a:ext cx="1185382" cy="315376"/>
          </a:xfrm>
          <a:prstGeom prst="rect">
            <a:avLst/>
          </a:prstGeom>
          <a:noFill/>
          <a:ln>
            <a:noFill/>
          </a:ln>
        </p:spPr>
      </p:pic>
      <p:grpSp>
        <p:nvGrpSpPr>
          <p:cNvPr id="390" name="Google Shape;390;p51"/>
          <p:cNvGrpSpPr/>
          <p:nvPr/>
        </p:nvGrpSpPr>
        <p:grpSpPr>
          <a:xfrm>
            <a:off x="2666475" y="2388372"/>
            <a:ext cx="4337398" cy="768725"/>
            <a:chOff x="2666475" y="2424425"/>
            <a:chExt cx="4337398" cy="768725"/>
          </a:xfrm>
        </p:grpSpPr>
        <p:grpSp>
          <p:nvGrpSpPr>
            <p:cNvPr id="391" name="Google Shape;391;p51"/>
            <p:cNvGrpSpPr/>
            <p:nvPr/>
          </p:nvGrpSpPr>
          <p:grpSpPr>
            <a:xfrm>
              <a:off x="2666475" y="2424425"/>
              <a:ext cx="4337398" cy="768725"/>
              <a:chOff x="2514075" y="2348225"/>
              <a:chExt cx="4337398" cy="768725"/>
            </a:xfrm>
          </p:grpSpPr>
          <p:pic>
            <p:nvPicPr>
              <p:cNvPr id="392" name="Google Shape;392;p51"/>
              <p:cNvPicPr preferRelativeResize="0"/>
              <p:nvPr/>
            </p:nvPicPr>
            <p:blipFill>
              <a:blip r:embed="rId5">
                <a:alphaModFix/>
              </a:blip>
              <a:stretch>
                <a:fillRect/>
              </a:stretch>
            </p:blipFill>
            <p:spPr>
              <a:xfrm>
                <a:off x="2610200" y="2399197"/>
                <a:ext cx="4241273" cy="717753"/>
              </a:xfrm>
              <a:prstGeom prst="rect">
                <a:avLst/>
              </a:prstGeom>
              <a:noFill/>
              <a:ln>
                <a:noFill/>
              </a:ln>
            </p:spPr>
          </p:pic>
          <p:sp>
            <p:nvSpPr>
              <p:cNvPr id="393" name="Google Shape;393;p51"/>
              <p:cNvSpPr/>
              <p:nvPr/>
            </p:nvSpPr>
            <p:spPr>
              <a:xfrm>
                <a:off x="2514075" y="2348225"/>
                <a:ext cx="1490100" cy="132300"/>
              </a:xfrm>
              <a:prstGeom prst="rect">
                <a:avLst/>
              </a:prstGeom>
              <a:solidFill>
                <a:srgbClr val="FFFF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sp>
          <p:nvSpPr>
            <p:cNvPr id="394" name="Google Shape;394;p51"/>
            <p:cNvSpPr/>
            <p:nvPr/>
          </p:nvSpPr>
          <p:spPr>
            <a:xfrm>
              <a:off x="6131350" y="2424425"/>
              <a:ext cx="424800" cy="132300"/>
            </a:xfrm>
            <a:prstGeom prst="rect">
              <a:avLst/>
            </a:prstGeom>
            <a:solidFill>
              <a:srgbClr val="FFFF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Shape 385">
          <a:extLst>
            <a:ext uri="{FF2B5EF4-FFF2-40B4-BE49-F238E27FC236}">
              <a16:creationId xmlns:a16="http://schemas.microsoft.com/office/drawing/2014/main" id="{64A11BD2-1B44-14C8-F07C-223046B184C7}"/>
            </a:ext>
          </a:extLst>
        </p:cNvPr>
        <p:cNvGrpSpPr/>
        <p:nvPr/>
      </p:nvGrpSpPr>
      <p:grpSpPr>
        <a:xfrm>
          <a:off x="0" y="0"/>
          <a:ext cx="0" cy="0"/>
          <a:chOff x="0" y="0"/>
          <a:chExt cx="0" cy="0"/>
        </a:xfrm>
      </p:grpSpPr>
      <p:sp>
        <p:nvSpPr>
          <p:cNvPr id="386" name="Google Shape;386;p51">
            <a:extLst>
              <a:ext uri="{FF2B5EF4-FFF2-40B4-BE49-F238E27FC236}">
                <a16:creationId xmlns:a16="http://schemas.microsoft.com/office/drawing/2014/main" id="{CE6985C4-6B0C-0818-29E1-45857FC817FE}"/>
              </a:ext>
            </a:extLst>
          </p:cNvPr>
          <p:cNvSpPr txBox="1">
            <a:spLocks noGrp="1"/>
          </p:cNvSpPr>
          <p:nvPr>
            <p:ph type="title"/>
          </p:nvPr>
        </p:nvSpPr>
        <p:spPr>
          <a:xfrm>
            <a:off x="471488" y="205383"/>
            <a:ext cx="5915100" cy="7458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chemeClr val="dk1"/>
              </a:buClr>
              <a:buSzPts val="3300"/>
              <a:buFont typeface="Century Gothic"/>
              <a:buNone/>
            </a:pPr>
            <a:r>
              <a:rPr lang="en-GB"/>
              <a:t>Estimation</a:t>
            </a:r>
            <a:endParaRPr/>
          </a:p>
        </p:txBody>
      </p:sp>
      <p:sp>
        <p:nvSpPr>
          <p:cNvPr id="387" name="Google Shape;387;p51">
            <a:extLst>
              <a:ext uri="{FF2B5EF4-FFF2-40B4-BE49-F238E27FC236}">
                <a16:creationId xmlns:a16="http://schemas.microsoft.com/office/drawing/2014/main" id="{4682E9DD-8148-C801-7E89-0B36277F2B21}"/>
              </a:ext>
            </a:extLst>
          </p:cNvPr>
          <p:cNvSpPr txBox="1">
            <a:spLocks noGrp="1"/>
          </p:cNvSpPr>
          <p:nvPr>
            <p:ph type="body" idx="1"/>
          </p:nvPr>
        </p:nvSpPr>
        <p:spPr>
          <a:xfrm>
            <a:off x="330225" y="1147900"/>
            <a:ext cx="8361000" cy="1500900"/>
          </a:xfrm>
          <a:prstGeom prst="rect">
            <a:avLst/>
          </a:prstGeom>
          <a:noFill/>
          <a:ln>
            <a:noFill/>
          </a:ln>
        </p:spPr>
        <p:txBody>
          <a:bodyPr spcFirstLastPara="1" wrap="square" lIns="68575" tIns="34275" rIns="68575" bIns="34275" anchor="t" anchorCtr="0">
            <a:normAutofit/>
          </a:bodyPr>
          <a:lstStyle/>
          <a:p>
            <a:pPr marL="457200" lvl="0" indent="-355600" algn="l" rtl="0">
              <a:lnSpc>
                <a:spcPct val="100000"/>
              </a:lnSpc>
              <a:spcBef>
                <a:spcPts val="0"/>
              </a:spcBef>
              <a:spcAft>
                <a:spcPts val="0"/>
              </a:spcAft>
              <a:buSzPts val="2000"/>
              <a:buChar char="●"/>
            </a:pPr>
            <a:r>
              <a:rPr lang="en-GB" sz="2000"/>
              <a:t>Estimating </a:t>
            </a:r>
            <a:r>
              <a:rPr lang="en-GB" sz="2000" i="1">
                <a:latin typeface="Times New Roman"/>
                <a:ea typeface="Times New Roman"/>
                <a:cs typeface="Times New Roman"/>
                <a:sym typeface="Times New Roman"/>
              </a:rPr>
              <a:t>q</a:t>
            </a:r>
            <a:r>
              <a:rPr lang="en-GB" sz="2000"/>
              <a:t> from the data using maximum likelihood</a:t>
            </a:r>
            <a:endParaRPr sz="2000"/>
          </a:p>
          <a:p>
            <a:pPr marL="914400" lvl="1" indent="-355600" algn="l" rtl="0">
              <a:lnSpc>
                <a:spcPct val="100000"/>
              </a:lnSpc>
              <a:spcBef>
                <a:spcPts val="1000"/>
              </a:spcBef>
              <a:spcAft>
                <a:spcPts val="1000"/>
              </a:spcAft>
              <a:buSzPts val="2000"/>
              <a:buChar char="○"/>
            </a:pPr>
            <a:r>
              <a:rPr lang="en-GB" sz="2000"/>
              <a:t>Let                     be the number of times the k-gram (sequence of length </a:t>
            </a:r>
            <a:r>
              <a:rPr lang="en-GB" sz="2000" i="1">
                <a:latin typeface="Times New Roman"/>
                <a:ea typeface="Times New Roman"/>
                <a:cs typeface="Times New Roman"/>
                <a:sym typeface="Times New Roman"/>
              </a:rPr>
              <a:t>k</a:t>
            </a:r>
            <a:r>
              <a:rPr lang="en-GB" sz="2000"/>
              <a:t>)                   appeared in the corpus</a:t>
            </a:r>
            <a:endParaRPr sz="2000"/>
          </a:p>
        </p:txBody>
      </p:sp>
      <p:pic>
        <p:nvPicPr>
          <p:cNvPr id="388" name="Google Shape;388;p51">
            <a:extLst>
              <a:ext uri="{FF2B5EF4-FFF2-40B4-BE49-F238E27FC236}">
                <a16:creationId xmlns:a16="http://schemas.microsoft.com/office/drawing/2014/main" id="{B6E94CFA-118E-867F-2426-45F8A9A85BD4}"/>
              </a:ext>
            </a:extLst>
          </p:cNvPr>
          <p:cNvPicPr preferRelativeResize="0"/>
          <p:nvPr/>
        </p:nvPicPr>
        <p:blipFill>
          <a:blip r:embed="rId3">
            <a:alphaModFix/>
          </a:blip>
          <a:stretch>
            <a:fillRect/>
          </a:stretch>
        </p:blipFill>
        <p:spPr>
          <a:xfrm>
            <a:off x="1696198" y="1622922"/>
            <a:ext cx="1400121" cy="298555"/>
          </a:xfrm>
          <a:prstGeom prst="rect">
            <a:avLst/>
          </a:prstGeom>
          <a:noFill/>
          <a:ln>
            <a:noFill/>
          </a:ln>
        </p:spPr>
      </p:pic>
      <p:pic>
        <p:nvPicPr>
          <p:cNvPr id="389" name="Google Shape;389;p51">
            <a:extLst>
              <a:ext uri="{FF2B5EF4-FFF2-40B4-BE49-F238E27FC236}">
                <a16:creationId xmlns:a16="http://schemas.microsoft.com/office/drawing/2014/main" id="{CEABE3A7-0410-0427-DBBB-A541EB97F803}"/>
              </a:ext>
            </a:extLst>
          </p:cNvPr>
          <p:cNvPicPr preferRelativeResize="0"/>
          <p:nvPr/>
        </p:nvPicPr>
        <p:blipFill>
          <a:blip r:embed="rId4">
            <a:alphaModFix/>
          </a:blip>
          <a:stretch>
            <a:fillRect/>
          </a:stretch>
        </p:blipFill>
        <p:spPr>
          <a:xfrm>
            <a:off x="2310368" y="1945519"/>
            <a:ext cx="1185382" cy="315376"/>
          </a:xfrm>
          <a:prstGeom prst="rect">
            <a:avLst/>
          </a:prstGeom>
          <a:noFill/>
          <a:ln>
            <a:noFill/>
          </a:ln>
        </p:spPr>
      </p:pic>
      <p:grpSp>
        <p:nvGrpSpPr>
          <p:cNvPr id="390" name="Google Shape;390;p51">
            <a:extLst>
              <a:ext uri="{FF2B5EF4-FFF2-40B4-BE49-F238E27FC236}">
                <a16:creationId xmlns:a16="http://schemas.microsoft.com/office/drawing/2014/main" id="{17CB0E2B-5A51-0AF9-68A5-7E31BF8AA0ED}"/>
              </a:ext>
            </a:extLst>
          </p:cNvPr>
          <p:cNvGrpSpPr/>
          <p:nvPr/>
        </p:nvGrpSpPr>
        <p:grpSpPr>
          <a:xfrm>
            <a:off x="2666475" y="2388372"/>
            <a:ext cx="4337398" cy="768725"/>
            <a:chOff x="2666475" y="2424425"/>
            <a:chExt cx="4337398" cy="768725"/>
          </a:xfrm>
        </p:grpSpPr>
        <p:grpSp>
          <p:nvGrpSpPr>
            <p:cNvPr id="391" name="Google Shape;391;p51">
              <a:extLst>
                <a:ext uri="{FF2B5EF4-FFF2-40B4-BE49-F238E27FC236}">
                  <a16:creationId xmlns:a16="http://schemas.microsoft.com/office/drawing/2014/main" id="{37B61DC3-4109-60CD-561C-6AF6A58FCE62}"/>
                </a:ext>
              </a:extLst>
            </p:cNvPr>
            <p:cNvGrpSpPr/>
            <p:nvPr/>
          </p:nvGrpSpPr>
          <p:grpSpPr>
            <a:xfrm>
              <a:off x="2666475" y="2424425"/>
              <a:ext cx="4337398" cy="768725"/>
              <a:chOff x="2514075" y="2348225"/>
              <a:chExt cx="4337398" cy="768725"/>
            </a:xfrm>
          </p:grpSpPr>
          <p:pic>
            <p:nvPicPr>
              <p:cNvPr id="392" name="Google Shape;392;p51">
                <a:extLst>
                  <a:ext uri="{FF2B5EF4-FFF2-40B4-BE49-F238E27FC236}">
                    <a16:creationId xmlns:a16="http://schemas.microsoft.com/office/drawing/2014/main" id="{0C1AEA5D-9FC9-689E-47B4-494AD30FCD65}"/>
                  </a:ext>
                </a:extLst>
              </p:cNvPr>
              <p:cNvPicPr preferRelativeResize="0"/>
              <p:nvPr/>
            </p:nvPicPr>
            <p:blipFill>
              <a:blip r:embed="rId5">
                <a:alphaModFix/>
              </a:blip>
              <a:stretch>
                <a:fillRect/>
              </a:stretch>
            </p:blipFill>
            <p:spPr>
              <a:xfrm>
                <a:off x="2610200" y="2399197"/>
                <a:ext cx="4241273" cy="717753"/>
              </a:xfrm>
              <a:prstGeom prst="rect">
                <a:avLst/>
              </a:prstGeom>
              <a:noFill/>
              <a:ln>
                <a:noFill/>
              </a:ln>
            </p:spPr>
          </p:pic>
          <p:sp>
            <p:nvSpPr>
              <p:cNvPr id="393" name="Google Shape;393;p51">
                <a:extLst>
                  <a:ext uri="{FF2B5EF4-FFF2-40B4-BE49-F238E27FC236}">
                    <a16:creationId xmlns:a16="http://schemas.microsoft.com/office/drawing/2014/main" id="{69D8194E-1A20-5640-FD3B-EE272116CA47}"/>
                  </a:ext>
                </a:extLst>
              </p:cNvPr>
              <p:cNvSpPr/>
              <p:nvPr/>
            </p:nvSpPr>
            <p:spPr>
              <a:xfrm>
                <a:off x="2514075" y="2348225"/>
                <a:ext cx="1490100" cy="132300"/>
              </a:xfrm>
              <a:prstGeom prst="rect">
                <a:avLst/>
              </a:prstGeom>
              <a:solidFill>
                <a:srgbClr val="FFFF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sp>
          <p:nvSpPr>
            <p:cNvPr id="394" name="Google Shape;394;p51">
              <a:extLst>
                <a:ext uri="{FF2B5EF4-FFF2-40B4-BE49-F238E27FC236}">
                  <a16:creationId xmlns:a16="http://schemas.microsoft.com/office/drawing/2014/main" id="{95C79E39-C144-ED2A-3165-113564C47CF9}"/>
                </a:ext>
              </a:extLst>
            </p:cNvPr>
            <p:cNvSpPr/>
            <p:nvPr/>
          </p:nvSpPr>
          <p:spPr>
            <a:xfrm>
              <a:off x="6131350" y="2424425"/>
              <a:ext cx="424800" cy="132300"/>
            </a:xfrm>
            <a:prstGeom prst="rect">
              <a:avLst/>
            </a:prstGeom>
            <a:solidFill>
              <a:srgbClr val="FFFF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sp>
        <p:nvSpPr>
          <p:cNvPr id="395" name="Google Shape;395;p51">
            <a:extLst>
              <a:ext uri="{FF2B5EF4-FFF2-40B4-BE49-F238E27FC236}">
                <a16:creationId xmlns:a16="http://schemas.microsoft.com/office/drawing/2014/main" id="{FCC00BD5-CF65-DCCB-DE45-CE49DEC0F1B3}"/>
              </a:ext>
            </a:extLst>
          </p:cNvPr>
          <p:cNvSpPr txBox="1">
            <a:spLocks noGrp="1"/>
          </p:cNvSpPr>
          <p:nvPr>
            <p:ph type="body" idx="1"/>
          </p:nvPr>
        </p:nvSpPr>
        <p:spPr>
          <a:xfrm>
            <a:off x="330225" y="3280475"/>
            <a:ext cx="8361000" cy="565800"/>
          </a:xfrm>
          <a:prstGeom prst="rect">
            <a:avLst/>
          </a:prstGeom>
          <a:noFill/>
          <a:ln>
            <a:noFill/>
          </a:ln>
        </p:spPr>
        <p:txBody>
          <a:bodyPr spcFirstLastPara="1" wrap="square" lIns="68575" tIns="34275" rIns="68575" bIns="34275" anchor="t" anchorCtr="0">
            <a:normAutofit/>
          </a:bodyPr>
          <a:lstStyle/>
          <a:p>
            <a:pPr marL="457200" lvl="0" indent="-355600" algn="l" rtl="0">
              <a:lnSpc>
                <a:spcPct val="100000"/>
              </a:lnSpc>
              <a:spcBef>
                <a:spcPts val="0"/>
              </a:spcBef>
              <a:spcAft>
                <a:spcPts val="1000"/>
              </a:spcAft>
              <a:buSzPts val="2000"/>
              <a:buChar char="●"/>
            </a:pPr>
            <a:r>
              <a:rPr lang="en-GB" sz="2000" dirty="0"/>
              <a:t>How many parameters?</a:t>
            </a:r>
            <a:endParaRPr sz="2000" dirty="0"/>
          </a:p>
        </p:txBody>
      </p:sp>
    </p:spTree>
    <p:extLst>
      <p:ext uri="{BB962C8B-B14F-4D97-AF65-F5344CB8AC3E}">
        <p14:creationId xmlns:p14="http://schemas.microsoft.com/office/powerpoint/2010/main" val="1874446788"/>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Shape 385">
          <a:extLst>
            <a:ext uri="{FF2B5EF4-FFF2-40B4-BE49-F238E27FC236}">
              <a16:creationId xmlns:a16="http://schemas.microsoft.com/office/drawing/2014/main" id="{1C3659D9-9476-0EC3-4BC5-29E61833797D}"/>
            </a:ext>
          </a:extLst>
        </p:cNvPr>
        <p:cNvGrpSpPr/>
        <p:nvPr/>
      </p:nvGrpSpPr>
      <p:grpSpPr>
        <a:xfrm>
          <a:off x="0" y="0"/>
          <a:ext cx="0" cy="0"/>
          <a:chOff x="0" y="0"/>
          <a:chExt cx="0" cy="0"/>
        </a:xfrm>
      </p:grpSpPr>
      <p:sp>
        <p:nvSpPr>
          <p:cNvPr id="386" name="Google Shape;386;p51">
            <a:extLst>
              <a:ext uri="{FF2B5EF4-FFF2-40B4-BE49-F238E27FC236}">
                <a16:creationId xmlns:a16="http://schemas.microsoft.com/office/drawing/2014/main" id="{792B5E02-3C79-D736-FF69-4314E901EA04}"/>
              </a:ext>
            </a:extLst>
          </p:cNvPr>
          <p:cNvSpPr txBox="1">
            <a:spLocks noGrp="1"/>
          </p:cNvSpPr>
          <p:nvPr>
            <p:ph type="title"/>
          </p:nvPr>
        </p:nvSpPr>
        <p:spPr>
          <a:xfrm>
            <a:off x="471488" y="205383"/>
            <a:ext cx="5915100" cy="7458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chemeClr val="dk1"/>
              </a:buClr>
              <a:buSzPts val="3300"/>
              <a:buFont typeface="Century Gothic"/>
              <a:buNone/>
            </a:pPr>
            <a:r>
              <a:rPr lang="en-GB"/>
              <a:t>Estimation</a:t>
            </a:r>
            <a:endParaRPr/>
          </a:p>
        </p:txBody>
      </p:sp>
      <p:sp>
        <p:nvSpPr>
          <p:cNvPr id="387" name="Google Shape;387;p51">
            <a:extLst>
              <a:ext uri="{FF2B5EF4-FFF2-40B4-BE49-F238E27FC236}">
                <a16:creationId xmlns:a16="http://schemas.microsoft.com/office/drawing/2014/main" id="{DEE79596-E3F0-7F1C-73EB-D80CB4BC6DA0}"/>
              </a:ext>
            </a:extLst>
          </p:cNvPr>
          <p:cNvSpPr txBox="1">
            <a:spLocks noGrp="1"/>
          </p:cNvSpPr>
          <p:nvPr>
            <p:ph type="body" idx="1"/>
          </p:nvPr>
        </p:nvSpPr>
        <p:spPr>
          <a:xfrm>
            <a:off x="330225" y="1147900"/>
            <a:ext cx="8361000" cy="1500900"/>
          </a:xfrm>
          <a:prstGeom prst="rect">
            <a:avLst/>
          </a:prstGeom>
          <a:noFill/>
          <a:ln>
            <a:noFill/>
          </a:ln>
        </p:spPr>
        <p:txBody>
          <a:bodyPr spcFirstLastPara="1" wrap="square" lIns="68575" tIns="34275" rIns="68575" bIns="34275" anchor="t" anchorCtr="0">
            <a:normAutofit/>
          </a:bodyPr>
          <a:lstStyle/>
          <a:p>
            <a:pPr marL="457200" lvl="0" indent="-355600" algn="l" rtl="0">
              <a:lnSpc>
                <a:spcPct val="100000"/>
              </a:lnSpc>
              <a:spcBef>
                <a:spcPts val="0"/>
              </a:spcBef>
              <a:spcAft>
                <a:spcPts val="0"/>
              </a:spcAft>
              <a:buSzPts val="2000"/>
              <a:buChar char="●"/>
            </a:pPr>
            <a:r>
              <a:rPr lang="en-GB" sz="2000"/>
              <a:t>Estimating </a:t>
            </a:r>
            <a:r>
              <a:rPr lang="en-GB" sz="2000" i="1">
                <a:latin typeface="Times New Roman"/>
                <a:ea typeface="Times New Roman"/>
                <a:cs typeface="Times New Roman"/>
                <a:sym typeface="Times New Roman"/>
              </a:rPr>
              <a:t>q</a:t>
            </a:r>
            <a:r>
              <a:rPr lang="en-GB" sz="2000"/>
              <a:t> from the data using maximum likelihood</a:t>
            </a:r>
            <a:endParaRPr sz="2000"/>
          </a:p>
          <a:p>
            <a:pPr marL="914400" lvl="1" indent="-355600" algn="l" rtl="0">
              <a:lnSpc>
                <a:spcPct val="100000"/>
              </a:lnSpc>
              <a:spcBef>
                <a:spcPts val="1000"/>
              </a:spcBef>
              <a:spcAft>
                <a:spcPts val="1000"/>
              </a:spcAft>
              <a:buSzPts val="2000"/>
              <a:buChar char="○"/>
            </a:pPr>
            <a:r>
              <a:rPr lang="en-GB" sz="2000"/>
              <a:t>Let                     be the number of times the k-gram (sequence of length </a:t>
            </a:r>
            <a:r>
              <a:rPr lang="en-GB" sz="2000" i="1">
                <a:latin typeface="Times New Roman"/>
                <a:ea typeface="Times New Roman"/>
                <a:cs typeface="Times New Roman"/>
                <a:sym typeface="Times New Roman"/>
              </a:rPr>
              <a:t>k</a:t>
            </a:r>
            <a:r>
              <a:rPr lang="en-GB" sz="2000"/>
              <a:t>)                   appeared in the corpus</a:t>
            </a:r>
            <a:endParaRPr sz="2000"/>
          </a:p>
        </p:txBody>
      </p:sp>
      <p:pic>
        <p:nvPicPr>
          <p:cNvPr id="388" name="Google Shape;388;p51">
            <a:extLst>
              <a:ext uri="{FF2B5EF4-FFF2-40B4-BE49-F238E27FC236}">
                <a16:creationId xmlns:a16="http://schemas.microsoft.com/office/drawing/2014/main" id="{BDECF40B-34D4-18BF-63BD-6C0A429C4A97}"/>
              </a:ext>
            </a:extLst>
          </p:cNvPr>
          <p:cNvPicPr preferRelativeResize="0"/>
          <p:nvPr/>
        </p:nvPicPr>
        <p:blipFill>
          <a:blip r:embed="rId3">
            <a:alphaModFix/>
          </a:blip>
          <a:stretch>
            <a:fillRect/>
          </a:stretch>
        </p:blipFill>
        <p:spPr>
          <a:xfrm>
            <a:off x="1696198" y="1622922"/>
            <a:ext cx="1400121" cy="298555"/>
          </a:xfrm>
          <a:prstGeom prst="rect">
            <a:avLst/>
          </a:prstGeom>
          <a:noFill/>
          <a:ln>
            <a:noFill/>
          </a:ln>
        </p:spPr>
      </p:pic>
      <p:pic>
        <p:nvPicPr>
          <p:cNvPr id="389" name="Google Shape;389;p51">
            <a:extLst>
              <a:ext uri="{FF2B5EF4-FFF2-40B4-BE49-F238E27FC236}">
                <a16:creationId xmlns:a16="http://schemas.microsoft.com/office/drawing/2014/main" id="{B4E1BEB6-D49A-A6FE-576C-FBDDAC1E76CB}"/>
              </a:ext>
            </a:extLst>
          </p:cNvPr>
          <p:cNvPicPr preferRelativeResize="0"/>
          <p:nvPr/>
        </p:nvPicPr>
        <p:blipFill>
          <a:blip r:embed="rId4">
            <a:alphaModFix/>
          </a:blip>
          <a:stretch>
            <a:fillRect/>
          </a:stretch>
        </p:blipFill>
        <p:spPr>
          <a:xfrm>
            <a:off x="2310368" y="1945519"/>
            <a:ext cx="1185382" cy="315376"/>
          </a:xfrm>
          <a:prstGeom prst="rect">
            <a:avLst/>
          </a:prstGeom>
          <a:noFill/>
          <a:ln>
            <a:noFill/>
          </a:ln>
        </p:spPr>
      </p:pic>
      <p:grpSp>
        <p:nvGrpSpPr>
          <p:cNvPr id="390" name="Google Shape;390;p51">
            <a:extLst>
              <a:ext uri="{FF2B5EF4-FFF2-40B4-BE49-F238E27FC236}">
                <a16:creationId xmlns:a16="http://schemas.microsoft.com/office/drawing/2014/main" id="{A052E81F-4E78-51B9-4CE4-481473A39F60}"/>
              </a:ext>
            </a:extLst>
          </p:cNvPr>
          <p:cNvGrpSpPr/>
          <p:nvPr/>
        </p:nvGrpSpPr>
        <p:grpSpPr>
          <a:xfrm>
            <a:off x="2666475" y="2388372"/>
            <a:ext cx="4337398" cy="768725"/>
            <a:chOff x="2666475" y="2424425"/>
            <a:chExt cx="4337398" cy="768725"/>
          </a:xfrm>
        </p:grpSpPr>
        <p:grpSp>
          <p:nvGrpSpPr>
            <p:cNvPr id="391" name="Google Shape;391;p51">
              <a:extLst>
                <a:ext uri="{FF2B5EF4-FFF2-40B4-BE49-F238E27FC236}">
                  <a16:creationId xmlns:a16="http://schemas.microsoft.com/office/drawing/2014/main" id="{762013E7-E68D-0C31-5921-E65D865FB1F3}"/>
                </a:ext>
              </a:extLst>
            </p:cNvPr>
            <p:cNvGrpSpPr/>
            <p:nvPr/>
          </p:nvGrpSpPr>
          <p:grpSpPr>
            <a:xfrm>
              <a:off x="2666475" y="2424425"/>
              <a:ext cx="4337398" cy="768725"/>
              <a:chOff x="2514075" y="2348225"/>
              <a:chExt cx="4337398" cy="768725"/>
            </a:xfrm>
          </p:grpSpPr>
          <p:pic>
            <p:nvPicPr>
              <p:cNvPr id="392" name="Google Shape;392;p51">
                <a:extLst>
                  <a:ext uri="{FF2B5EF4-FFF2-40B4-BE49-F238E27FC236}">
                    <a16:creationId xmlns:a16="http://schemas.microsoft.com/office/drawing/2014/main" id="{CF95D307-198C-767B-C7C2-65B3EB558B3E}"/>
                  </a:ext>
                </a:extLst>
              </p:cNvPr>
              <p:cNvPicPr preferRelativeResize="0"/>
              <p:nvPr/>
            </p:nvPicPr>
            <p:blipFill>
              <a:blip r:embed="rId5">
                <a:alphaModFix/>
              </a:blip>
              <a:stretch>
                <a:fillRect/>
              </a:stretch>
            </p:blipFill>
            <p:spPr>
              <a:xfrm>
                <a:off x="2610200" y="2399197"/>
                <a:ext cx="4241273" cy="717753"/>
              </a:xfrm>
              <a:prstGeom prst="rect">
                <a:avLst/>
              </a:prstGeom>
              <a:noFill/>
              <a:ln>
                <a:noFill/>
              </a:ln>
            </p:spPr>
          </p:pic>
          <p:sp>
            <p:nvSpPr>
              <p:cNvPr id="393" name="Google Shape;393;p51">
                <a:extLst>
                  <a:ext uri="{FF2B5EF4-FFF2-40B4-BE49-F238E27FC236}">
                    <a16:creationId xmlns:a16="http://schemas.microsoft.com/office/drawing/2014/main" id="{107D9389-5A2D-D0BA-5BD1-C35A9242EC63}"/>
                  </a:ext>
                </a:extLst>
              </p:cNvPr>
              <p:cNvSpPr/>
              <p:nvPr/>
            </p:nvSpPr>
            <p:spPr>
              <a:xfrm>
                <a:off x="2514075" y="2348225"/>
                <a:ext cx="1490100" cy="132300"/>
              </a:xfrm>
              <a:prstGeom prst="rect">
                <a:avLst/>
              </a:prstGeom>
              <a:solidFill>
                <a:srgbClr val="FFFF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sp>
          <p:nvSpPr>
            <p:cNvPr id="394" name="Google Shape;394;p51">
              <a:extLst>
                <a:ext uri="{FF2B5EF4-FFF2-40B4-BE49-F238E27FC236}">
                  <a16:creationId xmlns:a16="http://schemas.microsoft.com/office/drawing/2014/main" id="{748261B6-4031-17B5-AABE-41929D22192E}"/>
                </a:ext>
              </a:extLst>
            </p:cNvPr>
            <p:cNvSpPr/>
            <p:nvPr/>
          </p:nvSpPr>
          <p:spPr>
            <a:xfrm>
              <a:off x="6131350" y="2424425"/>
              <a:ext cx="424800" cy="132300"/>
            </a:xfrm>
            <a:prstGeom prst="rect">
              <a:avLst/>
            </a:prstGeom>
            <a:solidFill>
              <a:srgbClr val="FFFF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sp>
        <p:nvSpPr>
          <p:cNvPr id="395" name="Google Shape;395;p51">
            <a:extLst>
              <a:ext uri="{FF2B5EF4-FFF2-40B4-BE49-F238E27FC236}">
                <a16:creationId xmlns:a16="http://schemas.microsoft.com/office/drawing/2014/main" id="{7D125AC2-10CA-97F8-5EED-A25398E6BA32}"/>
              </a:ext>
            </a:extLst>
          </p:cNvPr>
          <p:cNvSpPr txBox="1">
            <a:spLocks noGrp="1"/>
          </p:cNvSpPr>
          <p:nvPr>
            <p:ph type="body" idx="1"/>
          </p:nvPr>
        </p:nvSpPr>
        <p:spPr>
          <a:xfrm>
            <a:off x="330225" y="3280475"/>
            <a:ext cx="8361000" cy="565800"/>
          </a:xfrm>
          <a:prstGeom prst="rect">
            <a:avLst/>
          </a:prstGeom>
          <a:noFill/>
          <a:ln>
            <a:noFill/>
          </a:ln>
        </p:spPr>
        <p:txBody>
          <a:bodyPr spcFirstLastPara="1" wrap="square" lIns="68575" tIns="34275" rIns="68575" bIns="34275" anchor="t" anchorCtr="0">
            <a:normAutofit/>
          </a:bodyPr>
          <a:lstStyle/>
          <a:p>
            <a:pPr marL="457200" lvl="0" indent="-355600" algn="l" rtl="0">
              <a:lnSpc>
                <a:spcPct val="100000"/>
              </a:lnSpc>
              <a:spcBef>
                <a:spcPts val="0"/>
              </a:spcBef>
              <a:spcAft>
                <a:spcPts val="1000"/>
              </a:spcAft>
              <a:buSzPts val="2000"/>
              <a:buChar char="●"/>
            </a:pPr>
            <a:r>
              <a:rPr lang="en-GB" sz="2000"/>
              <a:t>How many parameters?</a:t>
            </a:r>
            <a:endParaRPr sz="2000"/>
          </a:p>
        </p:txBody>
      </p:sp>
      <p:pic>
        <p:nvPicPr>
          <p:cNvPr id="396" name="Google Shape;396;p51">
            <a:extLst>
              <a:ext uri="{FF2B5EF4-FFF2-40B4-BE49-F238E27FC236}">
                <a16:creationId xmlns:a16="http://schemas.microsoft.com/office/drawing/2014/main" id="{C463F780-CF93-DF93-65C3-1E509F6A5464}"/>
              </a:ext>
            </a:extLst>
          </p:cNvPr>
          <p:cNvPicPr preferRelativeResize="0"/>
          <p:nvPr/>
        </p:nvPicPr>
        <p:blipFill>
          <a:blip r:embed="rId6">
            <a:alphaModFix/>
          </a:blip>
          <a:stretch>
            <a:fillRect/>
          </a:stretch>
        </p:blipFill>
        <p:spPr>
          <a:xfrm>
            <a:off x="3740472" y="3336900"/>
            <a:ext cx="3517643" cy="315375"/>
          </a:xfrm>
          <a:prstGeom prst="rect">
            <a:avLst/>
          </a:prstGeom>
          <a:noFill/>
          <a:ln>
            <a:noFill/>
          </a:ln>
        </p:spPr>
      </p:pic>
    </p:spTree>
    <p:extLst>
      <p:ext uri="{BB962C8B-B14F-4D97-AF65-F5344CB8AC3E}">
        <p14:creationId xmlns:p14="http://schemas.microsoft.com/office/powerpoint/2010/main" val="3268151864"/>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Shape 401"/>
        <p:cNvGrpSpPr/>
        <p:nvPr/>
      </p:nvGrpSpPr>
      <p:grpSpPr>
        <a:xfrm>
          <a:off x="0" y="0"/>
          <a:ext cx="0" cy="0"/>
          <a:chOff x="0" y="0"/>
          <a:chExt cx="0" cy="0"/>
        </a:xfrm>
      </p:grpSpPr>
      <p:sp>
        <p:nvSpPr>
          <p:cNvPr id="402" name="Google Shape;402;p52"/>
          <p:cNvSpPr txBox="1">
            <a:spLocks noGrp="1"/>
          </p:cNvSpPr>
          <p:nvPr>
            <p:ph type="title"/>
          </p:nvPr>
        </p:nvSpPr>
        <p:spPr>
          <a:xfrm>
            <a:off x="471488" y="205383"/>
            <a:ext cx="5915100" cy="7458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chemeClr val="dk1"/>
              </a:buClr>
              <a:buSzPts val="3300"/>
              <a:buFont typeface="Century Gothic"/>
              <a:buNone/>
            </a:pPr>
            <a:r>
              <a:rPr lang="en-GB"/>
              <a:t>Estimation</a:t>
            </a:r>
            <a:endParaRPr/>
          </a:p>
        </p:txBody>
      </p:sp>
      <p:sp>
        <p:nvSpPr>
          <p:cNvPr id="403" name="Google Shape;403;p52"/>
          <p:cNvSpPr txBox="1">
            <a:spLocks noGrp="1"/>
          </p:cNvSpPr>
          <p:nvPr>
            <p:ph type="body" idx="1"/>
          </p:nvPr>
        </p:nvSpPr>
        <p:spPr>
          <a:xfrm>
            <a:off x="330225" y="1147900"/>
            <a:ext cx="8361000" cy="1500900"/>
          </a:xfrm>
          <a:prstGeom prst="rect">
            <a:avLst/>
          </a:prstGeom>
          <a:noFill/>
          <a:ln>
            <a:noFill/>
          </a:ln>
        </p:spPr>
        <p:txBody>
          <a:bodyPr spcFirstLastPara="1" wrap="square" lIns="68575" tIns="34275" rIns="68575" bIns="34275" anchor="t" anchorCtr="0">
            <a:normAutofit/>
          </a:bodyPr>
          <a:lstStyle/>
          <a:p>
            <a:pPr marL="457200" lvl="0" indent="-355600" algn="l" rtl="0">
              <a:lnSpc>
                <a:spcPct val="100000"/>
              </a:lnSpc>
              <a:spcBef>
                <a:spcPts val="0"/>
              </a:spcBef>
              <a:spcAft>
                <a:spcPts val="0"/>
              </a:spcAft>
              <a:buSzPts val="2000"/>
              <a:buChar char="●"/>
            </a:pPr>
            <a:r>
              <a:rPr lang="en-GB" sz="2000"/>
              <a:t>Estimating </a:t>
            </a:r>
            <a:r>
              <a:rPr lang="en-GB" sz="2000" i="1">
                <a:latin typeface="Times New Roman"/>
                <a:ea typeface="Times New Roman"/>
                <a:cs typeface="Times New Roman"/>
                <a:sym typeface="Times New Roman"/>
              </a:rPr>
              <a:t>q</a:t>
            </a:r>
            <a:r>
              <a:rPr lang="en-GB" sz="2000"/>
              <a:t> from the data using maximum likelihood</a:t>
            </a:r>
            <a:endParaRPr sz="2000"/>
          </a:p>
          <a:p>
            <a:pPr marL="914400" lvl="1" indent="-355600" algn="l" rtl="0">
              <a:lnSpc>
                <a:spcPct val="100000"/>
              </a:lnSpc>
              <a:spcBef>
                <a:spcPts val="1000"/>
              </a:spcBef>
              <a:spcAft>
                <a:spcPts val="1000"/>
              </a:spcAft>
              <a:buSzPts val="2000"/>
              <a:buChar char="○"/>
            </a:pPr>
            <a:r>
              <a:rPr lang="en-GB" sz="2000"/>
              <a:t>Let                     be the number of times the k-gram (sequence of length </a:t>
            </a:r>
            <a:r>
              <a:rPr lang="en-GB" sz="2000" i="1">
                <a:latin typeface="Times New Roman"/>
                <a:ea typeface="Times New Roman"/>
                <a:cs typeface="Times New Roman"/>
                <a:sym typeface="Times New Roman"/>
              </a:rPr>
              <a:t>k</a:t>
            </a:r>
            <a:r>
              <a:rPr lang="en-GB" sz="2000"/>
              <a:t>)                   appeared in the corpus</a:t>
            </a:r>
            <a:endParaRPr sz="2000"/>
          </a:p>
        </p:txBody>
      </p:sp>
      <p:pic>
        <p:nvPicPr>
          <p:cNvPr id="404" name="Google Shape;404;p52"/>
          <p:cNvPicPr preferRelativeResize="0"/>
          <p:nvPr/>
        </p:nvPicPr>
        <p:blipFill>
          <a:blip r:embed="rId3">
            <a:alphaModFix/>
          </a:blip>
          <a:stretch>
            <a:fillRect/>
          </a:stretch>
        </p:blipFill>
        <p:spPr>
          <a:xfrm>
            <a:off x="1696198" y="1622922"/>
            <a:ext cx="1400121" cy="298555"/>
          </a:xfrm>
          <a:prstGeom prst="rect">
            <a:avLst/>
          </a:prstGeom>
          <a:noFill/>
          <a:ln>
            <a:noFill/>
          </a:ln>
        </p:spPr>
      </p:pic>
      <p:pic>
        <p:nvPicPr>
          <p:cNvPr id="405" name="Google Shape;405;p52"/>
          <p:cNvPicPr preferRelativeResize="0"/>
          <p:nvPr/>
        </p:nvPicPr>
        <p:blipFill>
          <a:blip r:embed="rId4">
            <a:alphaModFix/>
          </a:blip>
          <a:stretch>
            <a:fillRect/>
          </a:stretch>
        </p:blipFill>
        <p:spPr>
          <a:xfrm>
            <a:off x="2310368" y="1945519"/>
            <a:ext cx="1185382" cy="315376"/>
          </a:xfrm>
          <a:prstGeom prst="rect">
            <a:avLst/>
          </a:prstGeom>
          <a:noFill/>
          <a:ln>
            <a:noFill/>
          </a:ln>
        </p:spPr>
      </p:pic>
      <p:grpSp>
        <p:nvGrpSpPr>
          <p:cNvPr id="406" name="Google Shape;406;p52"/>
          <p:cNvGrpSpPr/>
          <p:nvPr/>
        </p:nvGrpSpPr>
        <p:grpSpPr>
          <a:xfrm>
            <a:off x="2666475" y="2388372"/>
            <a:ext cx="4337398" cy="768725"/>
            <a:chOff x="2666475" y="2424425"/>
            <a:chExt cx="4337398" cy="768725"/>
          </a:xfrm>
        </p:grpSpPr>
        <p:grpSp>
          <p:nvGrpSpPr>
            <p:cNvPr id="407" name="Google Shape;407;p52"/>
            <p:cNvGrpSpPr/>
            <p:nvPr/>
          </p:nvGrpSpPr>
          <p:grpSpPr>
            <a:xfrm>
              <a:off x="2666475" y="2424425"/>
              <a:ext cx="4337398" cy="768725"/>
              <a:chOff x="2514075" y="2348225"/>
              <a:chExt cx="4337398" cy="768725"/>
            </a:xfrm>
          </p:grpSpPr>
          <p:pic>
            <p:nvPicPr>
              <p:cNvPr id="408" name="Google Shape;408;p52"/>
              <p:cNvPicPr preferRelativeResize="0"/>
              <p:nvPr/>
            </p:nvPicPr>
            <p:blipFill>
              <a:blip r:embed="rId5">
                <a:alphaModFix/>
              </a:blip>
              <a:stretch>
                <a:fillRect/>
              </a:stretch>
            </p:blipFill>
            <p:spPr>
              <a:xfrm>
                <a:off x="2610200" y="2399197"/>
                <a:ext cx="4241273" cy="717753"/>
              </a:xfrm>
              <a:prstGeom prst="rect">
                <a:avLst/>
              </a:prstGeom>
              <a:noFill/>
              <a:ln>
                <a:noFill/>
              </a:ln>
            </p:spPr>
          </p:pic>
          <p:sp>
            <p:nvSpPr>
              <p:cNvPr id="409" name="Google Shape;409;p52"/>
              <p:cNvSpPr/>
              <p:nvPr/>
            </p:nvSpPr>
            <p:spPr>
              <a:xfrm>
                <a:off x="2514075" y="2348225"/>
                <a:ext cx="1490100" cy="132300"/>
              </a:xfrm>
              <a:prstGeom prst="rect">
                <a:avLst/>
              </a:prstGeom>
              <a:solidFill>
                <a:srgbClr val="FFFF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sp>
          <p:nvSpPr>
            <p:cNvPr id="410" name="Google Shape;410;p52"/>
            <p:cNvSpPr/>
            <p:nvPr/>
          </p:nvSpPr>
          <p:spPr>
            <a:xfrm>
              <a:off x="6131350" y="2424425"/>
              <a:ext cx="424800" cy="132300"/>
            </a:xfrm>
            <a:prstGeom prst="rect">
              <a:avLst/>
            </a:prstGeom>
            <a:solidFill>
              <a:srgbClr val="FFFF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sp>
        <p:nvSpPr>
          <p:cNvPr id="411" name="Google Shape;411;p52"/>
          <p:cNvSpPr txBox="1">
            <a:spLocks noGrp="1"/>
          </p:cNvSpPr>
          <p:nvPr>
            <p:ph type="body" idx="1"/>
          </p:nvPr>
        </p:nvSpPr>
        <p:spPr>
          <a:xfrm>
            <a:off x="330225" y="3280475"/>
            <a:ext cx="8361000" cy="501000"/>
          </a:xfrm>
          <a:prstGeom prst="rect">
            <a:avLst/>
          </a:prstGeom>
          <a:noFill/>
          <a:ln>
            <a:noFill/>
          </a:ln>
        </p:spPr>
        <p:txBody>
          <a:bodyPr spcFirstLastPara="1" wrap="square" lIns="68575" tIns="34275" rIns="68575" bIns="34275" anchor="t" anchorCtr="0">
            <a:normAutofit/>
          </a:bodyPr>
          <a:lstStyle/>
          <a:p>
            <a:pPr marL="457200" lvl="0" indent="-355600" algn="l" rtl="0">
              <a:lnSpc>
                <a:spcPct val="100000"/>
              </a:lnSpc>
              <a:spcBef>
                <a:spcPts val="0"/>
              </a:spcBef>
              <a:spcAft>
                <a:spcPts val="1000"/>
              </a:spcAft>
              <a:buSzPts val="2000"/>
              <a:buChar char="●"/>
            </a:pPr>
            <a:r>
              <a:rPr lang="en-GB" sz="2000"/>
              <a:t>How many parameters?</a:t>
            </a:r>
            <a:endParaRPr sz="2000"/>
          </a:p>
        </p:txBody>
      </p:sp>
      <p:pic>
        <p:nvPicPr>
          <p:cNvPr id="412" name="Google Shape;412;p52"/>
          <p:cNvPicPr preferRelativeResize="0"/>
          <p:nvPr/>
        </p:nvPicPr>
        <p:blipFill>
          <a:blip r:embed="rId6">
            <a:alphaModFix/>
          </a:blip>
          <a:stretch>
            <a:fillRect/>
          </a:stretch>
        </p:blipFill>
        <p:spPr>
          <a:xfrm>
            <a:off x="3740472" y="3336900"/>
            <a:ext cx="3517643" cy="315375"/>
          </a:xfrm>
          <a:prstGeom prst="rect">
            <a:avLst/>
          </a:prstGeom>
          <a:noFill/>
          <a:ln>
            <a:noFill/>
          </a:ln>
        </p:spPr>
      </p:pic>
      <p:sp>
        <p:nvSpPr>
          <p:cNvPr id="413" name="Google Shape;413;p52"/>
          <p:cNvSpPr txBox="1">
            <a:spLocks noGrp="1"/>
          </p:cNvSpPr>
          <p:nvPr>
            <p:ph type="body" idx="1"/>
          </p:nvPr>
        </p:nvSpPr>
        <p:spPr>
          <a:xfrm>
            <a:off x="330225" y="3709376"/>
            <a:ext cx="8361000" cy="1302600"/>
          </a:xfrm>
          <a:prstGeom prst="rect">
            <a:avLst/>
          </a:prstGeom>
          <a:noFill/>
          <a:ln>
            <a:noFill/>
          </a:ln>
        </p:spPr>
        <p:txBody>
          <a:bodyPr spcFirstLastPara="1" wrap="square" lIns="68575" tIns="34275" rIns="68575" bIns="34275" anchor="t" anchorCtr="0">
            <a:normAutofit lnSpcReduction="10000"/>
          </a:bodyPr>
          <a:lstStyle/>
          <a:p>
            <a:pPr marL="457200" lvl="0" indent="-355600" algn="l" rtl="0">
              <a:lnSpc>
                <a:spcPct val="100000"/>
              </a:lnSpc>
              <a:spcBef>
                <a:spcPts val="0"/>
              </a:spcBef>
              <a:spcAft>
                <a:spcPts val="0"/>
              </a:spcAft>
              <a:buSzPts val="2000"/>
              <a:buChar char="●"/>
            </a:pPr>
            <a:r>
              <a:rPr lang="en-GB" sz="2000"/>
              <a:t>What does that mean for our estimations?</a:t>
            </a:r>
            <a:endParaRPr sz="2000"/>
          </a:p>
          <a:p>
            <a:pPr marL="457200" lvl="0" indent="-355600" algn="l" rtl="0">
              <a:lnSpc>
                <a:spcPct val="100000"/>
              </a:lnSpc>
              <a:spcBef>
                <a:spcPts val="1000"/>
              </a:spcBef>
              <a:spcAft>
                <a:spcPts val="0"/>
              </a:spcAft>
              <a:buSzPts val="2000"/>
              <a:buChar char="●"/>
            </a:pPr>
            <a:r>
              <a:rPr lang="en-GB" sz="2000"/>
              <a:t>Why is that a problem?</a:t>
            </a:r>
            <a:endParaRPr sz="2000"/>
          </a:p>
          <a:p>
            <a:pPr marL="457200" lvl="0" indent="-355600" algn="l" rtl="0">
              <a:lnSpc>
                <a:spcPct val="100000"/>
              </a:lnSpc>
              <a:spcBef>
                <a:spcPts val="1000"/>
              </a:spcBef>
              <a:spcAft>
                <a:spcPts val="1000"/>
              </a:spcAft>
              <a:buSzPts val="2000"/>
              <a:buChar char="●"/>
            </a:pPr>
            <a:r>
              <a:rPr lang="en-GB" sz="2000"/>
              <a:t>How do we know if we have a </a:t>
            </a:r>
            <a:r>
              <a:rPr lang="en-GB" sz="2000">
                <a:solidFill>
                  <a:srgbClr val="00B0F0"/>
                </a:solidFill>
              </a:rPr>
              <a:t>good model</a:t>
            </a:r>
            <a:r>
              <a:rPr lang="en-GB" sz="2000"/>
              <a:t>?</a:t>
            </a:r>
            <a:endParaRPr sz="2000"/>
          </a:p>
        </p:txBody>
      </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Shape 418"/>
        <p:cNvGrpSpPr/>
        <p:nvPr/>
      </p:nvGrpSpPr>
      <p:grpSpPr>
        <a:xfrm>
          <a:off x="0" y="0"/>
          <a:ext cx="0" cy="0"/>
          <a:chOff x="0" y="0"/>
          <a:chExt cx="0" cy="0"/>
        </a:xfrm>
      </p:grpSpPr>
      <p:sp>
        <p:nvSpPr>
          <p:cNvPr id="419" name="Google Shape;419;p53"/>
          <p:cNvSpPr txBox="1">
            <a:spLocks noGrp="1"/>
          </p:cNvSpPr>
          <p:nvPr>
            <p:ph type="title"/>
          </p:nvPr>
        </p:nvSpPr>
        <p:spPr>
          <a:xfrm>
            <a:off x="471488" y="205383"/>
            <a:ext cx="5915100" cy="7458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chemeClr val="dk1"/>
              </a:buClr>
              <a:buSzPts val="3300"/>
              <a:buFont typeface="Century Gothic"/>
              <a:buNone/>
            </a:pPr>
            <a:r>
              <a:rPr lang="en-GB"/>
              <a:t>Plan</a:t>
            </a:r>
            <a:endParaRPr/>
          </a:p>
        </p:txBody>
      </p:sp>
      <p:sp>
        <p:nvSpPr>
          <p:cNvPr id="420" name="Google Shape;420;p53"/>
          <p:cNvSpPr txBox="1">
            <a:spLocks noGrp="1"/>
          </p:cNvSpPr>
          <p:nvPr>
            <p:ph type="body" idx="1"/>
          </p:nvPr>
        </p:nvSpPr>
        <p:spPr>
          <a:xfrm>
            <a:off x="471500" y="1103125"/>
            <a:ext cx="5915100" cy="3204000"/>
          </a:xfrm>
          <a:prstGeom prst="rect">
            <a:avLst/>
          </a:prstGeom>
          <a:noFill/>
          <a:ln>
            <a:noFill/>
          </a:ln>
        </p:spPr>
        <p:txBody>
          <a:bodyPr spcFirstLastPara="1" wrap="square" lIns="68575" tIns="34275" rIns="68575" bIns="34275" anchor="t" anchorCtr="0">
            <a:normAutofit/>
          </a:bodyPr>
          <a:lstStyle/>
          <a:p>
            <a:pPr marL="457200" lvl="0" indent="-342900" algn="l" rtl="0">
              <a:lnSpc>
                <a:spcPct val="150000"/>
              </a:lnSpc>
              <a:spcBef>
                <a:spcPts val="0"/>
              </a:spcBef>
              <a:spcAft>
                <a:spcPts val="0"/>
              </a:spcAft>
              <a:buSzPts val="1800"/>
              <a:buChar char="●"/>
            </a:pPr>
            <a:r>
              <a:rPr lang="en-GB"/>
              <a:t>Motivation</a:t>
            </a:r>
            <a:endParaRPr/>
          </a:p>
          <a:p>
            <a:pPr marL="457200" lvl="0" indent="-342900" algn="l" rtl="0">
              <a:lnSpc>
                <a:spcPct val="150000"/>
              </a:lnSpc>
              <a:spcBef>
                <a:spcPts val="0"/>
              </a:spcBef>
              <a:spcAft>
                <a:spcPts val="0"/>
              </a:spcAft>
              <a:buSzPts val="1800"/>
              <a:buChar char="●"/>
            </a:pPr>
            <a:r>
              <a:rPr lang="en-GB"/>
              <a:t>Problem deﬁnition</a:t>
            </a:r>
            <a:endParaRPr/>
          </a:p>
          <a:p>
            <a:pPr marL="457200" lvl="0" indent="-342900" algn="l" rtl="0">
              <a:lnSpc>
                <a:spcPct val="150000"/>
              </a:lnSpc>
              <a:spcBef>
                <a:spcPts val="0"/>
              </a:spcBef>
              <a:spcAft>
                <a:spcPts val="0"/>
              </a:spcAft>
              <a:buSzPts val="1800"/>
              <a:buChar char="●"/>
            </a:pPr>
            <a:r>
              <a:rPr lang="en-GB"/>
              <a:t>N-gram models</a:t>
            </a:r>
            <a:endParaRPr/>
          </a:p>
          <a:p>
            <a:pPr marL="457200" lvl="0" indent="-342900" algn="l" rtl="0">
              <a:lnSpc>
                <a:spcPct val="150000"/>
              </a:lnSpc>
              <a:spcBef>
                <a:spcPts val="0"/>
              </a:spcBef>
              <a:spcAft>
                <a:spcPts val="0"/>
              </a:spcAft>
              <a:buSzPts val="1800"/>
              <a:buChar char="●"/>
            </a:pPr>
            <a:r>
              <a:rPr lang="en-GB" b="1"/>
              <a:t>Evaluation</a:t>
            </a:r>
            <a:endParaRPr b="1"/>
          </a:p>
          <a:p>
            <a:pPr marL="457200" lvl="0" indent="-342900" algn="l" rtl="0">
              <a:lnSpc>
                <a:spcPct val="150000"/>
              </a:lnSpc>
              <a:spcBef>
                <a:spcPts val="0"/>
              </a:spcBef>
              <a:spcAft>
                <a:spcPts val="0"/>
              </a:spcAft>
              <a:buSzPts val="1800"/>
              <a:buChar char="●"/>
            </a:pPr>
            <a:r>
              <a:rPr lang="en-GB"/>
              <a:t>Estimation</a:t>
            </a:r>
            <a:endParaRPr/>
          </a:p>
          <a:p>
            <a:pPr marL="914400" lvl="1" indent="-342900" algn="l" rtl="0">
              <a:lnSpc>
                <a:spcPct val="150000"/>
              </a:lnSpc>
              <a:spcBef>
                <a:spcPts val="0"/>
              </a:spcBef>
              <a:spcAft>
                <a:spcPts val="0"/>
              </a:spcAft>
              <a:buSzPts val="1800"/>
              <a:buChar char="○"/>
            </a:pPr>
            <a:r>
              <a:rPr lang="en-GB"/>
              <a:t>Interpolation</a:t>
            </a:r>
            <a:endParaRPr/>
          </a:p>
          <a:p>
            <a:pPr marL="457200" lvl="0" indent="-342900" algn="l" rtl="0">
              <a:lnSpc>
                <a:spcPct val="150000"/>
              </a:lnSpc>
              <a:spcBef>
                <a:spcPts val="0"/>
              </a:spcBef>
              <a:spcAft>
                <a:spcPts val="0"/>
              </a:spcAft>
              <a:buSzPts val="1800"/>
              <a:buChar char="●"/>
            </a:pPr>
            <a:r>
              <a:rPr lang="en-GB"/>
              <a:t>Neural language models</a:t>
            </a:r>
            <a:endParaRPr/>
          </a:p>
        </p:txBody>
      </p:sp>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0CF1AB-8C11-8BD1-A6CE-91A0FBCC2B8E}"/>
              </a:ext>
            </a:extLst>
          </p:cNvPr>
          <p:cNvSpPr>
            <a:spLocks noGrp="1"/>
          </p:cNvSpPr>
          <p:nvPr>
            <p:ph type="title"/>
          </p:nvPr>
        </p:nvSpPr>
        <p:spPr/>
        <p:txBody>
          <a:bodyPr/>
          <a:lstStyle/>
          <a:p>
            <a:r>
              <a:rPr lang="en-US" dirty="0"/>
              <a:t>Intrinsic Evaluation: Perplexity</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AE9A690F-6144-35B1-EA36-A02CB21FB482}"/>
                  </a:ext>
                </a:extLst>
              </p:cNvPr>
              <p:cNvSpPr>
                <a:spLocks noGrp="1"/>
              </p:cNvSpPr>
              <p:nvPr>
                <p:ph type="body" idx="1"/>
              </p:nvPr>
            </p:nvSpPr>
            <p:spPr/>
            <p:txBody>
              <a:bodyPr/>
              <a:lstStyle/>
              <a:p>
                <a:r>
                  <a:rPr lang="en-US" dirty="0">
                    <a:solidFill>
                      <a:schemeClr val="tx1"/>
                    </a:solidFill>
                  </a:rPr>
                  <a:t>Suppose we have a held-out test text of length </a:t>
                </a:r>
                <a14:m>
                  <m:oMath xmlns:m="http://schemas.openxmlformats.org/officeDocument/2006/math">
                    <m:r>
                      <a:rPr lang="en-US" b="0" i="1" smtClean="0">
                        <a:solidFill>
                          <a:schemeClr val="tx1"/>
                        </a:solidFill>
                        <a:latin typeface="Cambria Math" panose="02040503050406030204" pitchFamily="18" charset="0"/>
                      </a:rPr>
                      <m:t>𝑀</m:t>
                    </m:r>
                  </m:oMath>
                </a14:m>
                <a:r>
                  <a:rPr lang="en-US" dirty="0">
                    <a:solidFill>
                      <a:schemeClr val="tx1"/>
                    </a:solidFill>
                  </a:rPr>
                  <a:t>: </a:t>
                </a:r>
                <a14:m>
                  <m:oMath xmlns:m="http://schemas.openxmlformats.org/officeDocument/2006/math">
                    <m:r>
                      <a:rPr lang="en-US" b="0" i="1" smtClean="0">
                        <a:solidFill>
                          <a:schemeClr val="accent4">
                            <a:lumMod val="50000"/>
                          </a:schemeClr>
                        </a:solidFill>
                        <a:latin typeface="Cambria Math" panose="02040503050406030204" pitchFamily="18" charset="0"/>
                      </a:rPr>
                      <m:t>𝑆</m:t>
                    </m:r>
                    <m:r>
                      <a:rPr lang="en-US" b="0" i="1" smtClean="0">
                        <a:solidFill>
                          <a:schemeClr val="accent4">
                            <a:lumMod val="50000"/>
                          </a:schemeClr>
                        </a:solidFill>
                        <a:latin typeface="Cambria Math" panose="02040503050406030204" pitchFamily="18" charset="0"/>
                      </a:rPr>
                      <m:t>=</m:t>
                    </m:r>
                    <m:d>
                      <m:dPr>
                        <m:ctrlPr>
                          <a:rPr lang="en-US" b="0" i="1" smtClean="0">
                            <a:solidFill>
                              <a:schemeClr val="accent4">
                                <a:lumMod val="50000"/>
                              </a:schemeClr>
                            </a:solidFill>
                            <a:latin typeface="Cambria Math" panose="02040503050406030204" pitchFamily="18" charset="0"/>
                          </a:rPr>
                        </m:ctrlPr>
                      </m:dPr>
                      <m:e>
                        <m:sSub>
                          <m:sSubPr>
                            <m:ctrlPr>
                              <a:rPr lang="en-US" b="0" i="1" smtClean="0">
                                <a:solidFill>
                                  <a:schemeClr val="accent4">
                                    <a:lumMod val="50000"/>
                                  </a:schemeClr>
                                </a:solidFill>
                                <a:latin typeface="Cambria Math" panose="02040503050406030204" pitchFamily="18" charset="0"/>
                              </a:rPr>
                            </m:ctrlPr>
                          </m:sSubPr>
                          <m:e>
                            <m:r>
                              <a:rPr lang="en-US" b="0" i="1" smtClean="0">
                                <a:solidFill>
                                  <a:schemeClr val="accent4">
                                    <a:lumMod val="50000"/>
                                  </a:schemeClr>
                                </a:solidFill>
                                <a:latin typeface="Cambria Math" panose="02040503050406030204" pitchFamily="18" charset="0"/>
                              </a:rPr>
                              <m:t>𝑠</m:t>
                            </m:r>
                          </m:e>
                          <m:sub>
                            <m:r>
                              <a:rPr lang="en-US" b="0" i="1" smtClean="0">
                                <a:solidFill>
                                  <a:schemeClr val="accent4">
                                    <a:lumMod val="50000"/>
                                  </a:schemeClr>
                                </a:solidFill>
                                <a:latin typeface="Cambria Math" panose="02040503050406030204" pitchFamily="18" charset="0"/>
                              </a:rPr>
                              <m:t>1</m:t>
                            </m:r>
                          </m:sub>
                        </m:sSub>
                        <m:r>
                          <a:rPr lang="en-US" b="0" i="1" smtClean="0">
                            <a:solidFill>
                              <a:schemeClr val="accent4">
                                <a:lumMod val="50000"/>
                              </a:schemeClr>
                            </a:solidFill>
                            <a:latin typeface="Cambria Math" panose="02040503050406030204" pitchFamily="18" charset="0"/>
                          </a:rPr>
                          <m:t>,…,</m:t>
                        </m:r>
                        <m:sSub>
                          <m:sSubPr>
                            <m:ctrlPr>
                              <a:rPr lang="en-US" b="0" i="1" smtClean="0">
                                <a:solidFill>
                                  <a:schemeClr val="accent4">
                                    <a:lumMod val="50000"/>
                                  </a:schemeClr>
                                </a:solidFill>
                                <a:latin typeface="Cambria Math" panose="02040503050406030204" pitchFamily="18" charset="0"/>
                              </a:rPr>
                            </m:ctrlPr>
                          </m:sSubPr>
                          <m:e>
                            <m:r>
                              <a:rPr lang="en-US" b="0" i="1" smtClean="0">
                                <a:solidFill>
                                  <a:schemeClr val="accent4">
                                    <a:lumMod val="50000"/>
                                  </a:schemeClr>
                                </a:solidFill>
                                <a:latin typeface="Cambria Math" panose="02040503050406030204" pitchFamily="18" charset="0"/>
                              </a:rPr>
                              <m:t>𝑠</m:t>
                            </m:r>
                          </m:e>
                          <m:sub>
                            <m:r>
                              <a:rPr lang="en-US" b="0" i="1" smtClean="0">
                                <a:solidFill>
                                  <a:schemeClr val="accent4">
                                    <a:lumMod val="50000"/>
                                  </a:schemeClr>
                                </a:solidFill>
                                <a:latin typeface="Cambria Math" panose="02040503050406030204" pitchFamily="18" charset="0"/>
                              </a:rPr>
                              <m:t>𝑀</m:t>
                            </m:r>
                          </m:sub>
                        </m:sSub>
                      </m:e>
                    </m:d>
                  </m:oMath>
                </a14:m>
                <a:endParaRPr lang="en-US" dirty="0">
                  <a:solidFill>
                    <a:schemeClr val="tx1"/>
                  </a:solidFill>
                </a:endParaRPr>
              </a:p>
              <a:p>
                <a:r>
                  <a:rPr lang="en-US" dirty="0">
                    <a:solidFill>
                      <a:schemeClr val="tx1"/>
                    </a:solidFill>
                  </a:rPr>
                  <a:t>A good model would assign high probability </a:t>
                </a:r>
                <a14:m>
                  <m:oMath xmlns:m="http://schemas.openxmlformats.org/officeDocument/2006/math">
                    <m:r>
                      <a:rPr lang="en-US" b="0" i="1" smtClean="0">
                        <a:solidFill>
                          <a:srgbClr val="00B0F0"/>
                        </a:solidFill>
                        <a:latin typeface="Cambria Math" panose="02040503050406030204" pitchFamily="18" charset="0"/>
                      </a:rPr>
                      <m:t>𝑝</m:t>
                    </m:r>
                    <m:r>
                      <a:rPr lang="en-US" b="0" i="1" smtClean="0">
                        <a:solidFill>
                          <a:srgbClr val="00B0F0"/>
                        </a:solidFill>
                        <a:latin typeface="Cambria Math" panose="02040503050406030204" pitchFamily="18" charset="0"/>
                      </a:rPr>
                      <m:t>(</m:t>
                    </m:r>
                    <m:r>
                      <a:rPr lang="en-US" b="0" i="1" smtClean="0">
                        <a:solidFill>
                          <a:srgbClr val="00B0F0"/>
                        </a:solidFill>
                        <a:latin typeface="Cambria Math" panose="02040503050406030204" pitchFamily="18" charset="0"/>
                      </a:rPr>
                      <m:t>𝑆</m:t>
                    </m:r>
                    <m:r>
                      <a:rPr lang="en-US" b="0" i="1" smtClean="0">
                        <a:solidFill>
                          <a:srgbClr val="00B0F0"/>
                        </a:solidFill>
                        <a:latin typeface="Cambria Math" panose="02040503050406030204" pitchFamily="18" charset="0"/>
                      </a:rPr>
                      <m:t>)</m:t>
                    </m:r>
                  </m:oMath>
                </a14:m>
                <a:r>
                  <a:rPr lang="en-US" dirty="0">
                    <a:solidFill>
                      <a:schemeClr val="tx1"/>
                    </a:solidFill>
                  </a:rPr>
                  <a:t> to </a:t>
                </a:r>
                <a14:m>
                  <m:oMath xmlns:m="http://schemas.openxmlformats.org/officeDocument/2006/math">
                    <m:r>
                      <a:rPr lang="en-US" b="0" i="1" smtClean="0">
                        <a:solidFill>
                          <a:schemeClr val="tx1"/>
                        </a:solidFill>
                        <a:latin typeface="Cambria Math" panose="02040503050406030204" pitchFamily="18" charset="0"/>
                      </a:rPr>
                      <m:t>𝑆</m:t>
                    </m:r>
                  </m:oMath>
                </a14:m>
                <a:endParaRPr lang="en-US" dirty="0">
                  <a:solidFill>
                    <a:schemeClr val="tx1"/>
                  </a:solidFill>
                </a:endParaRPr>
              </a:p>
              <a:p>
                <a:endParaRPr lang="en-US" dirty="0"/>
              </a:p>
              <a:p>
                <a:endParaRPr lang="en-US" dirty="0"/>
              </a:p>
            </p:txBody>
          </p:sp>
        </mc:Choice>
        <mc:Fallback xmlns="">
          <p:sp>
            <p:nvSpPr>
              <p:cNvPr id="3" name="Text Placeholder 2">
                <a:extLst>
                  <a:ext uri="{FF2B5EF4-FFF2-40B4-BE49-F238E27FC236}">
                    <a16:creationId xmlns:a16="http://schemas.microsoft.com/office/drawing/2014/main" id="{AE9A690F-6144-35B1-EA36-A02CB21FB482}"/>
                  </a:ext>
                </a:extLst>
              </p:cNvPr>
              <p:cNvSpPr>
                <a:spLocks noGrp="1" noRot="1" noChangeAspect="1" noMove="1" noResize="1" noEditPoints="1" noAdjustHandles="1" noChangeArrowheads="1" noChangeShapeType="1" noTextEdit="1"/>
              </p:cNvSpPr>
              <p:nvPr>
                <p:ph type="body" idx="1"/>
              </p:nvPr>
            </p:nvSpPr>
            <p:spPr>
              <a:blipFill>
                <a:blip r:embed="rId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683719694"/>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C15D9D-279A-B4B3-672B-5134F0C3BF6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FD5FF8B-8F67-7BFA-E06D-07B6DD5A76F7}"/>
              </a:ext>
            </a:extLst>
          </p:cNvPr>
          <p:cNvSpPr>
            <a:spLocks noGrp="1"/>
          </p:cNvSpPr>
          <p:nvPr>
            <p:ph type="title"/>
          </p:nvPr>
        </p:nvSpPr>
        <p:spPr/>
        <p:txBody>
          <a:bodyPr/>
          <a:lstStyle/>
          <a:p>
            <a:r>
              <a:rPr lang="en-US" dirty="0"/>
              <a:t>Intrinsic Evaluation: Perplexity</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5D0BEE87-5C77-68FE-993F-6C4B08FF45C1}"/>
                  </a:ext>
                </a:extLst>
              </p:cNvPr>
              <p:cNvSpPr>
                <a:spLocks noGrp="1"/>
              </p:cNvSpPr>
              <p:nvPr>
                <p:ph type="body" idx="1"/>
              </p:nvPr>
            </p:nvSpPr>
            <p:spPr/>
            <p:txBody>
              <a:bodyPr/>
              <a:lstStyle/>
              <a:p>
                <a:r>
                  <a:rPr lang="en-US" dirty="0">
                    <a:solidFill>
                      <a:schemeClr val="tx1"/>
                    </a:solidFill>
                  </a:rPr>
                  <a:t>Suppose we have a held-out test text of length </a:t>
                </a:r>
                <a14:m>
                  <m:oMath xmlns:m="http://schemas.openxmlformats.org/officeDocument/2006/math">
                    <m:r>
                      <a:rPr lang="en-US" b="0" i="1" smtClean="0">
                        <a:solidFill>
                          <a:schemeClr val="tx1"/>
                        </a:solidFill>
                        <a:latin typeface="Cambria Math" panose="02040503050406030204" pitchFamily="18" charset="0"/>
                      </a:rPr>
                      <m:t>𝑀</m:t>
                    </m:r>
                  </m:oMath>
                </a14:m>
                <a:r>
                  <a:rPr lang="en-US" dirty="0">
                    <a:solidFill>
                      <a:schemeClr val="tx1"/>
                    </a:solidFill>
                  </a:rPr>
                  <a:t>: </a:t>
                </a:r>
                <a14:m>
                  <m:oMath xmlns:m="http://schemas.openxmlformats.org/officeDocument/2006/math">
                    <m:r>
                      <a:rPr lang="en-US" b="0" i="1" smtClean="0">
                        <a:solidFill>
                          <a:schemeClr val="accent4">
                            <a:lumMod val="50000"/>
                          </a:schemeClr>
                        </a:solidFill>
                        <a:latin typeface="Cambria Math" panose="02040503050406030204" pitchFamily="18" charset="0"/>
                      </a:rPr>
                      <m:t>𝑆</m:t>
                    </m:r>
                    <m:r>
                      <a:rPr lang="en-US" b="0" i="1" smtClean="0">
                        <a:solidFill>
                          <a:schemeClr val="accent4">
                            <a:lumMod val="50000"/>
                          </a:schemeClr>
                        </a:solidFill>
                        <a:latin typeface="Cambria Math" panose="02040503050406030204" pitchFamily="18" charset="0"/>
                      </a:rPr>
                      <m:t>=</m:t>
                    </m:r>
                    <m:d>
                      <m:dPr>
                        <m:ctrlPr>
                          <a:rPr lang="en-US" b="0" i="1" smtClean="0">
                            <a:solidFill>
                              <a:schemeClr val="accent4">
                                <a:lumMod val="50000"/>
                              </a:schemeClr>
                            </a:solidFill>
                            <a:latin typeface="Cambria Math" panose="02040503050406030204" pitchFamily="18" charset="0"/>
                          </a:rPr>
                        </m:ctrlPr>
                      </m:dPr>
                      <m:e>
                        <m:sSub>
                          <m:sSubPr>
                            <m:ctrlPr>
                              <a:rPr lang="en-US" b="0" i="1" smtClean="0">
                                <a:solidFill>
                                  <a:schemeClr val="accent4">
                                    <a:lumMod val="50000"/>
                                  </a:schemeClr>
                                </a:solidFill>
                                <a:latin typeface="Cambria Math" panose="02040503050406030204" pitchFamily="18" charset="0"/>
                              </a:rPr>
                            </m:ctrlPr>
                          </m:sSubPr>
                          <m:e>
                            <m:r>
                              <a:rPr lang="en-US" b="0" i="1" smtClean="0">
                                <a:solidFill>
                                  <a:schemeClr val="accent4">
                                    <a:lumMod val="50000"/>
                                  </a:schemeClr>
                                </a:solidFill>
                                <a:latin typeface="Cambria Math" panose="02040503050406030204" pitchFamily="18" charset="0"/>
                              </a:rPr>
                              <m:t>𝑠</m:t>
                            </m:r>
                          </m:e>
                          <m:sub>
                            <m:r>
                              <a:rPr lang="en-US" b="0" i="1" smtClean="0">
                                <a:solidFill>
                                  <a:schemeClr val="accent4">
                                    <a:lumMod val="50000"/>
                                  </a:schemeClr>
                                </a:solidFill>
                                <a:latin typeface="Cambria Math" panose="02040503050406030204" pitchFamily="18" charset="0"/>
                              </a:rPr>
                              <m:t>1</m:t>
                            </m:r>
                          </m:sub>
                        </m:sSub>
                        <m:r>
                          <a:rPr lang="en-US" b="0" i="1" smtClean="0">
                            <a:solidFill>
                              <a:schemeClr val="accent4">
                                <a:lumMod val="50000"/>
                              </a:schemeClr>
                            </a:solidFill>
                            <a:latin typeface="Cambria Math" panose="02040503050406030204" pitchFamily="18" charset="0"/>
                          </a:rPr>
                          <m:t>,…,</m:t>
                        </m:r>
                        <m:sSub>
                          <m:sSubPr>
                            <m:ctrlPr>
                              <a:rPr lang="en-US" b="0" i="1" smtClean="0">
                                <a:solidFill>
                                  <a:schemeClr val="accent4">
                                    <a:lumMod val="50000"/>
                                  </a:schemeClr>
                                </a:solidFill>
                                <a:latin typeface="Cambria Math" panose="02040503050406030204" pitchFamily="18" charset="0"/>
                              </a:rPr>
                            </m:ctrlPr>
                          </m:sSubPr>
                          <m:e>
                            <m:r>
                              <a:rPr lang="en-US" b="0" i="1" smtClean="0">
                                <a:solidFill>
                                  <a:schemeClr val="accent4">
                                    <a:lumMod val="50000"/>
                                  </a:schemeClr>
                                </a:solidFill>
                                <a:latin typeface="Cambria Math" panose="02040503050406030204" pitchFamily="18" charset="0"/>
                              </a:rPr>
                              <m:t>𝑠</m:t>
                            </m:r>
                          </m:e>
                          <m:sub>
                            <m:r>
                              <a:rPr lang="en-US" b="0" i="1" smtClean="0">
                                <a:solidFill>
                                  <a:schemeClr val="accent4">
                                    <a:lumMod val="50000"/>
                                  </a:schemeClr>
                                </a:solidFill>
                                <a:latin typeface="Cambria Math" panose="02040503050406030204" pitchFamily="18" charset="0"/>
                              </a:rPr>
                              <m:t>𝑀</m:t>
                            </m:r>
                          </m:sub>
                        </m:sSub>
                      </m:e>
                    </m:d>
                  </m:oMath>
                </a14:m>
                <a:endParaRPr lang="en-US" dirty="0">
                  <a:solidFill>
                    <a:schemeClr val="tx1"/>
                  </a:solidFill>
                </a:endParaRPr>
              </a:p>
              <a:p>
                <a:r>
                  <a:rPr lang="en-US" dirty="0">
                    <a:solidFill>
                      <a:schemeClr val="tx1"/>
                    </a:solidFill>
                  </a:rPr>
                  <a:t>A good model would assign high probability </a:t>
                </a:r>
                <a14:m>
                  <m:oMath xmlns:m="http://schemas.openxmlformats.org/officeDocument/2006/math">
                    <m:r>
                      <a:rPr lang="en-US" b="0" i="1" smtClean="0">
                        <a:solidFill>
                          <a:srgbClr val="00B0F0"/>
                        </a:solidFill>
                        <a:latin typeface="Cambria Math" panose="02040503050406030204" pitchFamily="18" charset="0"/>
                      </a:rPr>
                      <m:t>𝑝</m:t>
                    </m:r>
                    <m:r>
                      <a:rPr lang="en-US" b="0" i="1" smtClean="0">
                        <a:solidFill>
                          <a:srgbClr val="00B0F0"/>
                        </a:solidFill>
                        <a:latin typeface="Cambria Math" panose="02040503050406030204" pitchFamily="18" charset="0"/>
                      </a:rPr>
                      <m:t>(</m:t>
                    </m:r>
                    <m:r>
                      <a:rPr lang="en-US" b="0" i="1" smtClean="0">
                        <a:solidFill>
                          <a:srgbClr val="00B0F0"/>
                        </a:solidFill>
                        <a:latin typeface="Cambria Math" panose="02040503050406030204" pitchFamily="18" charset="0"/>
                      </a:rPr>
                      <m:t>𝑆</m:t>
                    </m:r>
                    <m:r>
                      <a:rPr lang="en-US" b="0" i="1" smtClean="0">
                        <a:solidFill>
                          <a:srgbClr val="00B0F0"/>
                        </a:solidFill>
                        <a:latin typeface="Cambria Math" panose="02040503050406030204" pitchFamily="18" charset="0"/>
                      </a:rPr>
                      <m:t>)</m:t>
                    </m:r>
                  </m:oMath>
                </a14:m>
                <a:r>
                  <a:rPr lang="en-US" dirty="0">
                    <a:solidFill>
                      <a:schemeClr val="tx1"/>
                    </a:solidFill>
                  </a:rPr>
                  <a:t> to </a:t>
                </a:r>
                <a14:m>
                  <m:oMath xmlns:m="http://schemas.openxmlformats.org/officeDocument/2006/math">
                    <m:r>
                      <a:rPr lang="en-US" b="0" i="1" smtClean="0">
                        <a:solidFill>
                          <a:schemeClr val="tx1"/>
                        </a:solidFill>
                        <a:latin typeface="Cambria Math" panose="02040503050406030204" pitchFamily="18" charset="0"/>
                      </a:rPr>
                      <m:t>𝑆</m:t>
                    </m:r>
                  </m:oMath>
                </a14:m>
                <a:endParaRPr lang="en-US" dirty="0">
                  <a:solidFill>
                    <a:schemeClr val="tx1"/>
                  </a:solidFill>
                </a:endParaRPr>
              </a:p>
              <a:p>
                <a:r>
                  <a:rPr lang="en-US" dirty="0">
                    <a:solidFill>
                      <a:schemeClr val="tx1"/>
                    </a:solidFill>
                  </a:rPr>
                  <a:t>The </a:t>
                </a:r>
                <a:r>
                  <a:rPr lang="en-US" b="1" dirty="0">
                    <a:solidFill>
                      <a:schemeClr val="tx1"/>
                    </a:solidFill>
                  </a:rPr>
                  <a:t>perplexity</a:t>
                </a:r>
                <a:r>
                  <a:rPr lang="en-US" dirty="0">
                    <a:solidFill>
                      <a:schemeClr val="tx1"/>
                    </a:solidFill>
                  </a:rPr>
                  <a:t> is defined as the inverse-normalized-log-probability:</a:t>
                </a:r>
              </a:p>
              <a:p>
                <a:endParaRPr lang="en-US" dirty="0"/>
              </a:p>
              <a:p>
                <a:endParaRPr lang="en-US" dirty="0"/>
              </a:p>
            </p:txBody>
          </p:sp>
        </mc:Choice>
        <mc:Fallback xmlns="">
          <p:sp>
            <p:nvSpPr>
              <p:cNvPr id="3" name="Text Placeholder 2">
                <a:extLst>
                  <a:ext uri="{FF2B5EF4-FFF2-40B4-BE49-F238E27FC236}">
                    <a16:creationId xmlns:a16="http://schemas.microsoft.com/office/drawing/2014/main" id="{5D0BEE87-5C77-68FE-993F-6C4B08FF45C1}"/>
                  </a:ext>
                </a:extLst>
              </p:cNvPr>
              <p:cNvSpPr>
                <a:spLocks noGrp="1" noRot="1" noChangeAspect="1" noMove="1" noResize="1" noEditPoints="1" noAdjustHandles="1" noChangeArrowheads="1" noChangeShapeType="1" noTextEdit="1"/>
              </p:cNvSpPr>
              <p:nvPr>
                <p:ph type="body" idx="1"/>
              </p:nvPr>
            </p:nvSpPr>
            <p:spPr>
              <a:blipFill>
                <a:blip r:embed="rId2"/>
                <a:stretch>
                  <a:fillRect/>
                </a:stretch>
              </a:blipFill>
            </p:spPr>
            <p:txBody>
              <a:bodyPr/>
              <a:lstStyle/>
              <a:p>
                <a:r>
                  <a:rPr lang="en-US">
                    <a:noFill/>
                  </a:rPr>
                  <a:t> </a:t>
                </a:r>
              </a:p>
            </p:txBody>
          </p:sp>
        </mc:Fallback>
      </mc:AlternateContent>
      <p:pic>
        <p:nvPicPr>
          <p:cNvPr id="6" name="Google Shape;443;p55" descr="\text{PPL} = 2^{-\frac{\log_2 p(S)}{M}}" title="MathEquation,#00aff0">
            <a:extLst>
              <a:ext uri="{FF2B5EF4-FFF2-40B4-BE49-F238E27FC236}">
                <a16:creationId xmlns:a16="http://schemas.microsoft.com/office/drawing/2014/main" id="{8DF9BF51-4634-15E6-33AD-EAF07B4BD6E1}"/>
              </a:ext>
            </a:extLst>
          </p:cNvPr>
          <p:cNvPicPr preferRelativeResize="0"/>
          <p:nvPr/>
        </p:nvPicPr>
        <p:blipFill>
          <a:blip r:embed="rId3">
            <a:alphaModFix/>
          </a:blip>
          <a:stretch>
            <a:fillRect/>
          </a:stretch>
        </p:blipFill>
        <p:spPr>
          <a:xfrm>
            <a:off x="1850480" y="3240347"/>
            <a:ext cx="2396226" cy="635000"/>
          </a:xfrm>
          <a:prstGeom prst="rect">
            <a:avLst/>
          </a:prstGeom>
          <a:noFill/>
          <a:ln>
            <a:noFill/>
          </a:ln>
        </p:spPr>
      </p:pic>
    </p:spTree>
    <p:extLst>
      <p:ext uri="{BB962C8B-B14F-4D97-AF65-F5344CB8AC3E}">
        <p14:creationId xmlns:p14="http://schemas.microsoft.com/office/powerpoint/2010/main" val="2446378890"/>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ED1F18-31CD-3703-203C-B01397952EC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941D3A8-66BE-4555-B08C-DE0A43F9EF36}"/>
              </a:ext>
            </a:extLst>
          </p:cNvPr>
          <p:cNvSpPr>
            <a:spLocks noGrp="1"/>
          </p:cNvSpPr>
          <p:nvPr>
            <p:ph type="title"/>
          </p:nvPr>
        </p:nvSpPr>
        <p:spPr/>
        <p:txBody>
          <a:bodyPr/>
          <a:lstStyle/>
          <a:p>
            <a:r>
              <a:rPr lang="en-US" dirty="0"/>
              <a:t>Intrinsic Evaluation: Perplexity</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E8968152-4A13-A236-3E3A-84FFAEFA42F8}"/>
                  </a:ext>
                </a:extLst>
              </p:cNvPr>
              <p:cNvSpPr>
                <a:spLocks noGrp="1"/>
              </p:cNvSpPr>
              <p:nvPr>
                <p:ph type="body" idx="1"/>
              </p:nvPr>
            </p:nvSpPr>
            <p:spPr/>
            <p:txBody>
              <a:bodyPr/>
              <a:lstStyle/>
              <a:p>
                <a:r>
                  <a:rPr lang="en-US" dirty="0">
                    <a:solidFill>
                      <a:schemeClr val="tx1"/>
                    </a:solidFill>
                  </a:rPr>
                  <a:t>Suppose we have a held-out test text of length </a:t>
                </a:r>
                <a14:m>
                  <m:oMath xmlns:m="http://schemas.openxmlformats.org/officeDocument/2006/math">
                    <m:r>
                      <a:rPr lang="en-US" b="0" i="1" smtClean="0">
                        <a:solidFill>
                          <a:schemeClr val="tx1"/>
                        </a:solidFill>
                        <a:latin typeface="Cambria Math" panose="02040503050406030204" pitchFamily="18" charset="0"/>
                      </a:rPr>
                      <m:t>𝑀</m:t>
                    </m:r>
                  </m:oMath>
                </a14:m>
                <a:r>
                  <a:rPr lang="en-US" dirty="0">
                    <a:solidFill>
                      <a:schemeClr val="tx1"/>
                    </a:solidFill>
                  </a:rPr>
                  <a:t>: </a:t>
                </a:r>
                <a14:m>
                  <m:oMath xmlns:m="http://schemas.openxmlformats.org/officeDocument/2006/math">
                    <m:r>
                      <a:rPr lang="en-US" b="0" i="1" smtClean="0">
                        <a:solidFill>
                          <a:schemeClr val="accent4">
                            <a:lumMod val="50000"/>
                          </a:schemeClr>
                        </a:solidFill>
                        <a:latin typeface="Cambria Math" panose="02040503050406030204" pitchFamily="18" charset="0"/>
                      </a:rPr>
                      <m:t>𝑆</m:t>
                    </m:r>
                    <m:r>
                      <a:rPr lang="en-US" b="0" i="1" smtClean="0">
                        <a:solidFill>
                          <a:schemeClr val="accent4">
                            <a:lumMod val="50000"/>
                          </a:schemeClr>
                        </a:solidFill>
                        <a:latin typeface="Cambria Math" panose="02040503050406030204" pitchFamily="18" charset="0"/>
                      </a:rPr>
                      <m:t>=</m:t>
                    </m:r>
                    <m:d>
                      <m:dPr>
                        <m:ctrlPr>
                          <a:rPr lang="en-US" b="0" i="1" smtClean="0">
                            <a:solidFill>
                              <a:schemeClr val="accent4">
                                <a:lumMod val="50000"/>
                              </a:schemeClr>
                            </a:solidFill>
                            <a:latin typeface="Cambria Math" panose="02040503050406030204" pitchFamily="18" charset="0"/>
                          </a:rPr>
                        </m:ctrlPr>
                      </m:dPr>
                      <m:e>
                        <m:sSub>
                          <m:sSubPr>
                            <m:ctrlPr>
                              <a:rPr lang="en-US" b="0" i="1" smtClean="0">
                                <a:solidFill>
                                  <a:schemeClr val="accent4">
                                    <a:lumMod val="50000"/>
                                  </a:schemeClr>
                                </a:solidFill>
                                <a:latin typeface="Cambria Math" panose="02040503050406030204" pitchFamily="18" charset="0"/>
                              </a:rPr>
                            </m:ctrlPr>
                          </m:sSubPr>
                          <m:e>
                            <m:r>
                              <a:rPr lang="en-US" b="0" i="1" smtClean="0">
                                <a:solidFill>
                                  <a:schemeClr val="accent4">
                                    <a:lumMod val="50000"/>
                                  </a:schemeClr>
                                </a:solidFill>
                                <a:latin typeface="Cambria Math" panose="02040503050406030204" pitchFamily="18" charset="0"/>
                              </a:rPr>
                              <m:t>𝑠</m:t>
                            </m:r>
                          </m:e>
                          <m:sub>
                            <m:r>
                              <a:rPr lang="en-US" b="0" i="1" smtClean="0">
                                <a:solidFill>
                                  <a:schemeClr val="accent4">
                                    <a:lumMod val="50000"/>
                                  </a:schemeClr>
                                </a:solidFill>
                                <a:latin typeface="Cambria Math" panose="02040503050406030204" pitchFamily="18" charset="0"/>
                              </a:rPr>
                              <m:t>1</m:t>
                            </m:r>
                          </m:sub>
                        </m:sSub>
                        <m:r>
                          <a:rPr lang="en-US" b="0" i="1" smtClean="0">
                            <a:solidFill>
                              <a:schemeClr val="accent4">
                                <a:lumMod val="50000"/>
                              </a:schemeClr>
                            </a:solidFill>
                            <a:latin typeface="Cambria Math" panose="02040503050406030204" pitchFamily="18" charset="0"/>
                          </a:rPr>
                          <m:t>,…,</m:t>
                        </m:r>
                        <m:sSub>
                          <m:sSubPr>
                            <m:ctrlPr>
                              <a:rPr lang="en-US" b="0" i="1" smtClean="0">
                                <a:solidFill>
                                  <a:schemeClr val="accent4">
                                    <a:lumMod val="50000"/>
                                  </a:schemeClr>
                                </a:solidFill>
                                <a:latin typeface="Cambria Math" panose="02040503050406030204" pitchFamily="18" charset="0"/>
                              </a:rPr>
                            </m:ctrlPr>
                          </m:sSubPr>
                          <m:e>
                            <m:r>
                              <a:rPr lang="en-US" b="0" i="1" smtClean="0">
                                <a:solidFill>
                                  <a:schemeClr val="accent4">
                                    <a:lumMod val="50000"/>
                                  </a:schemeClr>
                                </a:solidFill>
                                <a:latin typeface="Cambria Math" panose="02040503050406030204" pitchFamily="18" charset="0"/>
                              </a:rPr>
                              <m:t>𝑠</m:t>
                            </m:r>
                          </m:e>
                          <m:sub>
                            <m:r>
                              <a:rPr lang="en-US" b="0" i="1" smtClean="0">
                                <a:solidFill>
                                  <a:schemeClr val="accent4">
                                    <a:lumMod val="50000"/>
                                  </a:schemeClr>
                                </a:solidFill>
                                <a:latin typeface="Cambria Math" panose="02040503050406030204" pitchFamily="18" charset="0"/>
                              </a:rPr>
                              <m:t>𝑀</m:t>
                            </m:r>
                          </m:sub>
                        </m:sSub>
                      </m:e>
                    </m:d>
                  </m:oMath>
                </a14:m>
                <a:endParaRPr lang="en-US" dirty="0">
                  <a:solidFill>
                    <a:schemeClr val="tx1"/>
                  </a:solidFill>
                </a:endParaRPr>
              </a:p>
              <a:p>
                <a:r>
                  <a:rPr lang="en-US" dirty="0">
                    <a:solidFill>
                      <a:schemeClr val="tx1"/>
                    </a:solidFill>
                  </a:rPr>
                  <a:t>A good model would assign high probability </a:t>
                </a:r>
                <a14:m>
                  <m:oMath xmlns:m="http://schemas.openxmlformats.org/officeDocument/2006/math">
                    <m:r>
                      <a:rPr lang="en-US" b="0" i="1" smtClean="0">
                        <a:solidFill>
                          <a:srgbClr val="00B0F0"/>
                        </a:solidFill>
                        <a:latin typeface="Cambria Math" panose="02040503050406030204" pitchFamily="18" charset="0"/>
                      </a:rPr>
                      <m:t>𝑝</m:t>
                    </m:r>
                    <m:r>
                      <a:rPr lang="en-US" b="0" i="1" smtClean="0">
                        <a:solidFill>
                          <a:srgbClr val="00B0F0"/>
                        </a:solidFill>
                        <a:latin typeface="Cambria Math" panose="02040503050406030204" pitchFamily="18" charset="0"/>
                      </a:rPr>
                      <m:t>(</m:t>
                    </m:r>
                    <m:r>
                      <a:rPr lang="en-US" b="0" i="1" smtClean="0">
                        <a:solidFill>
                          <a:srgbClr val="00B0F0"/>
                        </a:solidFill>
                        <a:latin typeface="Cambria Math" panose="02040503050406030204" pitchFamily="18" charset="0"/>
                      </a:rPr>
                      <m:t>𝑆</m:t>
                    </m:r>
                    <m:r>
                      <a:rPr lang="en-US" b="0" i="1" smtClean="0">
                        <a:solidFill>
                          <a:srgbClr val="00B0F0"/>
                        </a:solidFill>
                        <a:latin typeface="Cambria Math" panose="02040503050406030204" pitchFamily="18" charset="0"/>
                      </a:rPr>
                      <m:t>)</m:t>
                    </m:r>
                  </m:oMath>
                </a14:m>
                <a:r>
                  <a:rPr lang="en-US" dirty="0">
                    <a:solidFill>
                      <a:schemeClr val="tx1"/>
                    </a:solidFill>
                  </a:rPr>
                  <a:t> to </a:t>
                </a:r>
                <a14:m>
                  <m:oMath xmlns:m="http://schemas.openxmlformats.org/officeDocument/2006/math">
                    <m:r>
                      <a:rPr lang="en-US" b="0" i="1" smtClean="0">
                        <a:solidFill>
                          <a:schemeClr val="tx1"/>
                        </a:solidFill>
                        <a:latin typeface="Cambria Math" panose="02040503050406030204" pitchFamily="18" charset="0"/>
                      </a:rPr>
                      <m:t>𝑆</m:t>
                    </m:r>
                  </m:oMath>
                </a14:m>
                <a:endParaRPr lang="en-US" dirty="0">
                  <a:solidFill>
                    <a:schemeClr val="tx1"/>
                  </a:solidFill>
                </a:endParaRPr>
              </a:p>
              <a:p>
                <a:r>
                  <a:rPr lang="en-US" dirty="0">
                    <a:solidFill>
                      <a:schemeClr val="tx1"/>
                    </a:solidFill>
                  </a:rPr>
                  <a:t>The </a:t>
                </a:r>
                <a:r>
                  <a:rPr lang="en-US" b="1" dirty="0">
                    <a:solidFill>
                      <a:schemeClr val="tx1"/>
                    </a:solidFill>
                  </a:rPr>
                  <a:t>perplexity</a:t>
                </a:r>
                <a:r>
                  <a:rPr lang="en-US" dirty="0">
                    <a:solidFill>
                      <a:schemeClr val="tx1"/>
                    </a:solidFill>
                  </a:rPr>
                  <a:t> is defined as the inverse-normalized-log-probability:</a:t>
                </a:r>
              </a:p>
              <a:p>
                <a:endParaRPr lang="en-US" dirty="0"/>
              </a:p>
              <a:p>
                <a:endParaRPr lang="en-US" dirty="0"/>
              </a:p>
            </p:txBody>
          </p:sp>
        </mc:Choice>
        <mc:Fallback xmlns="">
          <p:sp>
            <p:nvSpPr>
              <p:cNvPr id="3" name="Text Placeholder 2">
                <a:extLst>
                  <a:ext uri="{FF2B5EF4-FFF2-40B4-BE49-F238E27FC236}">
                    <a16:creationId xmlns:a16="http://schemas.microsoft.com/office/drawing/2014/main" id="{E8968152-4A13-A236-3E3A-84FFAEFA42F8}"/>
                  </a:ext>
                </a:extLst>
              </p:cNvPr>
              <p:cNvSpPr>
                <a:spLocks noGrp="1" noRot="1" noChangeAspect="1" noMove="1" noResize="1" noEditPoints="1" noAdjustHandles="1" noChangeArrowheads="1" noChangeShapeType="1" noTextEdit="1"/>
              </p:cNvSpPr>
              <p:nvPr>
                <p:ph type="body" idx="1"/>
              </p:nvPr>
            </p:nvSpPr>
            <p:spPr>
              <a:blipFill>
                <a:blip r:embed="rId2"/>
                <a:stretch>
                  <a:fillRect/>
                </a:stretch>
              </a:blipFill>
            </p:spPr>
            <p:txBody>
              <a:bodyPr/>
              <a:lstStyle/>
              <a:p>
                <a:r>
                  <a:rPr lang="en-US">
                    <a:noFill/>
                  </a:rPr>
                  <a:t> </a:t>
                </a:r>
              </a:p>
            </p:txBody>
          </p:sp>
        </mc:Fallback>
      </mc:AlternateContent>
      <p:pic>
        <p:nvPicPr>
          <p:cNvPr id="6" name="Google Shape;443;p55" descr="\text{PPL} = 2^{-\frac{\log_2 p(S)}{M}}" title="MathEquation,#00aff0">
            <a:extLst>
              <a:ext uri="{FF2B5EF4-FFF2-40B4-BE49-F238E27FC236}">
                <a16:creationId xmlns:a16="http://schemas.microsoft.com/office/drawing/2014/main" id="{3273241B-8532-E911-0B62-C91C12F05BA5}"/>
              </a:ext>
            </a:extLst>
          </p:cNvPr>
          <p:cNvPicPr preferRelativeResize="0"/>
          <p:nvPr/>
        </p:nvPicPr>
        <p:blipFill>
          <a:blip r:embed="rId3">
            <a:alphaModFix/>
          </a:blip>
          <a:stretch>
            <a:fillRect/>
          </a:stretch>
        </p:blipFill>
        <p:spPr>
          <a:xfrm>
            <a:off x="1850480" y="3240347"/>
            <a:ext cx="2396226" cy="635000"/>
          </a:xfrm>
          <a:prstGeom prst="rect">
            <a:avLst/>
          </a:prstGeom>
          <a:noFill/>
          <a:ln>
            <a:noFill/>
          </a:ln>
        </p:spPr>
      </p:pic>
      <p:grpSp>
        <p:nvGrpSpPr>
          <p:cNvPr id="7" name="Google Shape;439;p55">
            <a:extLst>
              <a:ext uri="{FF2B5EF4-FFF2-40B4-BE49-F238E27FC236}">
                <a16:creationId xmlns:a16="http://schemas.microsoft.com/office/drawing/2014/main" id="{53C87C47-82E0-01EF-14F0-171765BA0EB9}"/>
              </a:ext>
            </a:extLst>
          </p:cNvPr>
          <p:cNvGrpSpPr/>
          <p:nvPr/>
        </p:nvGrpSpPr>
        <p:grpSpPr>
          <a:xfrm>
            <a:off x="6151418" y="3557847"/>
            <a:ext cx="2771938" cy="1375272"/>
            <a:chOff x="2482105" y="1999725"/>
            <a:chExt cx="3851507" cy="1817878"/>
          </a:xfrm>
        </p:grpSpPr>
        <p:pic>
          <p:nvPicPr>
            <p:cNvPr id="8" name="Google Shape;440;p55">
              <a:extLst>
                <a:ext uri="{FF2B5EF4-FFF2-40B4-BE49-F238E27FC236}">
                  <a16:creationId xmlns:a16="http://schemas.microsoft.com/office/drawing/2014/main" id="{A4A8352F-6A12-B967-8352-1D17E9055F53}"/>
                </a:ext>
              </a:extLst>
            </p:cNvPr>
            <p:cNvPicPr preferRelativeResize="0"/>
            <p:nvPr/>
          </p:nvPicPr>
          <p:blipFill>
            <a:blip r:embed="rId4">
              <a:alphaModFix/>
            </a:blip>
            <a:stretch>
              <a:fillRect/>
            </a:stretch>
          </p:blipFill>
          <p:spPr>
            <a:xfrm>
              <a:off x="2482105" y="2042178"/>
              <a:ext cx="3851507" cy="1775425"/>
            </a:xfrm>
            <a:prstGeom prst="rect">
              <a:avLst/>
            </a:prstGeom>
            <a:noFill/>
            <a:ln>
              <a:noFill/>
            </a:ln>
          </p:spPr>
        </p:pic>
        <p:sp>
          <p:nvSpPr>
            <p:cNvPr id="9" name="Google Shape;441;p55">
              <a:extLst>
                <a:ext uri="{FF2B5EF4-FFF2-40B4-BE49-F238E27FC236}">
                  <a16:creationId xmlns:a16="http://schemas.microsoft.com/office/drawing/2014/main" id="{AC2D777D-10FD-2F70-6029-3F4D82631AEA}"/>
                </a:ext>
              </a:extLst>
            </p:cNvPr>
            <p:cNvSpPr/>
            <p:nvPr/>
          </p:nvSpPr>
          <p:spPr>
            <a:xfrm>
              <a:off x="4520975" y="1999725"/>
              <a:ext cx="1812600" cy="120300"/>
            </a:xfrm>
            <a:prstGeom prst="rect">
              <a:avLst/>
            </a:prstGeom>
            <a:solidFill>
              <a:srgbClr val="FFFF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0" name="Google Shape;442;p55">
              <a:extLst>
                <a:ext uri="{FF2B5EF4-FFF2-40B4-BE49-F238E27FC236}">
                  <a16:creationId xmlns:a16="http://schemas.microsoft.com/office/drawing/2014/main" id="{F15D69B7-55EC-AC05-0D49-EED70A9EB8A0}"/>
                </a:ext>
              </a:extLst>
            </p:cNvPr>
            <p:cNvSpPr/>
            <p:nvPr/>
          </p:nvSpPr>
          <p:spPr>
            <a:xfrm>
              <a:off x="3475475" y="1999725"/>
              <a:ext cx="334500" cy="120300"/>
            </a:xfrm>
            <a:prstGeom prst="rect">
              <a:avLst/>
            </a:prstGeom>
            <a:solidFill>
              <a:srgbClr val="FFFF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sp>
        <p:nvSpPr>
          <p:cNvPr id="11" name="Rectangle 10">
            <a:extLst>
              <a:ext uri="{FF2B5EF4-FFF2-40B4-BE49-F238E27FC236}">
                <a16:creationId xmlns:a16="http://schemas.microsoft.com/office/drawing/2014/main" id="{BBCF267A-8EA4-ED36-A477-F039009A5DB2}"/>
              </a:ext>
            </a:extLst>
          </p:cNvPr>
          <p:cNvSpPr/>
          <p:nvPr/>
        </p:nvSpPr>
        <p:spPr>
          <a:xfrm>
            <a:off x="5918662" y="3000919"/>
            <a:ext cx="3158836" cy="2078157"/>
          </a:xfrm>
          <a:prstGeom prst="rect">
            <a:avLst/>
          </a:prstGeom>
          <a:noFill/>
          <a:ln>
            <a:solidFill>
              <a:srgbClr val="C0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AE2FA9FD-9839-380E-3946-13D7998E1C8B}"/>
                  </a:ext>
                </a:extLst>
              </p:cNvPr>
              <p:cNvSpPr txBox="1"/>
              <p:nvPr/>
            </p:nvSpPr>
            <p:spPr>
              <a:xfrm>
                <a:off x="6625537" y="3141553"/>
                <a:ext cx="1889813" cy="307777"/>
              </a:xfrm>
              <a:prstGeom prst="rect">
                <a:avLst/>
              </a:prstGeom>
              <a:noFill/>
            </p:spPr>
            <p:txBody>
              <a:bodyPr wrap="none" rtlCol="0">
                <a:spAutoFit/>
              </a:bodyPr>
              <a:lstStyle/>
              <a:p>
                <a:r>
                  <a:rPr lang="en-US" dirty="0">
                    <a:solidFill>
                      <a:srgbClr val="C00000"/>
                    </a:solidFill>
                  </a:rPr>
                  <a:t>Why normalize by </a:t>
                </a:r>
                <a14:m>
                  <m:oMath xmlns:m="http://schemas.openxmlformats.org/officeDocument/2006/math">
                    <m:r>
                      <a:rPr lang="en-US" b="0" i="1" smtClean="0">
                        <a:solidFill>
                          <a:srgbClr val="C00000"/>
                        </a:solidFill>
                        <a:latin typeface="Cambria Math" panose="02040503050406030204" pitchFamily="18" charset="0"/>
                      </a:rPr>
                      <m:t>𝑀</m:t>
                    </m:r>
                    <m:r>
                      <a:rPr lang="en-US" b="0" i="1" smtClean="0">
                        <a:solidFill>
                          <a:srgbClr val="C00000"/>
                        </a:solidFill>
                        <a:latin typeface="Cambria Math" panose="02040503050406030204" pitchFamily="18" charset="0"/>
                      </a:rPr>
                      <m:t>?</m:t>
                    </m:r>
                  </m:oMath>
                </a14:m>
                <a:endParaRPr lang="en-US" dirty="0">
                  <a:solidFill>
                    <a:srgbClr val="C00000"/>
                  </a:solidFill>
                </a:endParaRPr>
              </a:p>
            </p:txBody>
          </p:sp>
        </mc:Choice>
        <mc:Fallback xmlns="">
          <p:sp>
            <p:nvSpPr>
              <p:cNvPr id="12" name="TextBox 11">
                <a:extLst>
                  <a:ext uri="{FF2B5EF4-FFF2-40B4-BE49-F238E27FC236}">
                    <a16:creationId xmlns:a16="http://schemas.microsoft.com/office/drawing/2014/main" id="{AE2FA9FD-9839-380E-3946-13D7998E1C8B}"/>
                  </a:ext>
                </a:extLst>
              </p:cNvPr>
              <p:cNvSpPr txBox="1">
                <a:spLocks noRot="1" noChangeAspect="1" noMove="1" noResize="1" noEditPoints="1" noAdjustHandles="1" noChangeArrowheads="1" noChangeShapeType="1" noTextEdit="1"/>
              </p:cNvSpPr>
              <p:nvPr/>
            </p:nvSpPr>
            <p:spPr>
              <a:xfrm>
                <a:off x="6625537" y="3141553"/>
                <a:ext cx="1889813" cy="307777"/>
              </a:xfrm>
              <a:prstGeom prst="rect">
                <a:avLst/>
              </a:prstGeom>
              <a:blipFill>
                <a:blip r:embed="rId5"/>
                <a:stretch>
                  <a:fillRect l="-667" t="-4000" b="-20000"/>
                </a:stretch>
              </a:blipFill>
            </p:spPr>
            <p:txBody>
              <a:bodyPr/>
              <a:lstStyle/>
              <a:p>
                <a:r>
                  <a:rPr lang="en-US">
                    <a:noFill/>
                  </a:rPr>
                  <a:t> </a:t>
                </a:r>
              </a:p>
            </p:txBody>
          </p:sp>
        </mc:Fallback>
      </mc:AlternateContent>
    </p:spTree>
    <p:extLst>
      <p:ext uri="{BB962C8B-B14F-4D97-AF65-F5344CB8AC3E}">
        <p14:creationId xmlns:p14="http://schemas.microsoft.com/office/powerpoint/2010/main" val="3113473019"/>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00A091-2B2C-8D65-5634-DA919302282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07FDA3A-A85B-8ADF-7EC1-3C62896A6EAC}"/>
              </a:ext>
            </a:extLst>
          </p:cNvPr>
          <p:cNvSpPr>
            <a:spLocks noGrp="1"/>
          </p:cNvSpPr>
          <p:nvPr>
            <p:ph type="title"/>
          </p:nvPr>
        </p:nvSpPr>
        <p:spPr/>
        <p:txBody>
          <a:bodyPr/>
          <a:lstStyle/>
          <a:p>
            <a:r>
              <a:rPr lang="en-US" dirty="0"/>
              <a:t>Perplexity: Intuition (1)</a:t>
            </a:r>
          </a:p>
        </p:txBody>
      </p:sp>
      <p:sp>
        <p:nvSpPr>
          <p:cNvPr id="3" name="Text Placeholder 2">
            <a:extLst>
              <a:ext uri="{FF2B5EF4-FFF2-40B4-BE49-F238E27FC236}">
                <a16:creationId xmlns:a16="http://schemas.microsoft.com/office/drawing/2014/main" id="{2E58C8B4-C0A1-F3DD-6624-AC7762929706}"/>
              </a:ext>
            </a:extLst>
          </p:cNvPr>
          <p:cNvSpPr>
            <a:spLocks noGrp="1"/>
          </p:cNvSpPr>
          <p:nvPr>
            <p:ph type="body" idx="1"/>
          </p:nvPr>
        </p:nvSpPr>
        <p:spPr/>
        <p:txBody>
          <a:bodyPr/>
          <a:lstStyle/>
          <a:p>
            <a:r>
              <a:rPr lang="en-US" dirty="0"/>
              <a:t>What range of values can the perplexity take?</a:t>
            </a:r>
          </a:p>
          <a:p>
            <a:endParaRPr lang="en-US" dirty="0"/>
          </a:p>
        </p:txBody>
      </p:sp>
      <p:pic>
        <p:nvPicPr>
          <p:cNvPr id="6" name="Google Shape;443;p55" descr="\text{PPL} = 2^{-\frac{\log_2 p(S)}{M}}" title="MathEquation,#00aff0">
            <a:extLst>
              <a:ext uri="{FF2B5EF4-FFF2-40B4-BE49-F238E27FC236}">
                <a16:creationId xmlns:a16="http://schemas.microsoft.com/office/drawing/2014/main" id="{BD2F7A4F-66BB-3B9C-D699-F82CB15613E8}"/>
              </a:ext>
            </a:extLst>
          </p:cNvPr>
          <p:cNvPicPr preferRelativeResize="0"/>
          <p:nvPr/>
        </p:nvPicPr>
        <p:blipFill>
          <a:blip r:embed="rId2">
            <a:alphaModFix/>
          </a:blip>
          <a:stretch>
            <a:fillRect/>
          </a:stretch>
        </p:blipFill>
        <p:spPr>
          <a:xfrm>
            <a:off x="5441578" y="366132"/>
            <a:ext cx="2396226" cy="635000"/>
          </a:xfrm>
          <a:prstGeom prst="rect">
            <a:avLst/>
          </a:prstGeom>
          <a:noFill/>
          <a:ln>
            <a:noFill/>
          </a:ln>
        </p:spPr>
      </p:pic>
    </p:spTree>
    <p:extLst>
      <p:ext uri="{BB962C8B-B14F-4D97-AF65-F5344CB8AC3E}">
        <p14:creationId xmlns:p14="http://schemas.microsoft.com/office/powerpoint/2010/main" val="956901256"/>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7B8BBA-0068-2FC0-1B31-C9B7A2D9166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63FF035-13A5-1B83-2389-731E6E222FF9}"/>
              </a:ext>
            </a:extLst>
          </p:cNvPr>
          <p:cNvSpPr>
            <a:spLocks noGrp="1"/>
          </p:cNvSpPr>
          <p:nvPr>
            <p:ph type="title"/>
          </p:nvPr>
        </p:nvSpPr>
        <p:spPr/>
        <p:txBody>
          <a:bodyPr/>
          <a:lstStyle/>
          <a:p>
            <a:r>
              <a:rPr lang="en-US" dirty="0"/>
              <a:t>Perplexity: Intuition (1)</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78F1D8B2-FFA1-4025-BC30-FC05284A9C03}"/>
                  </a:ext>
                </a:extLst>
              </p:cNvPr>
              <p:cNvSpPr>
                <a:spLocks noGrp="1"/>
              </p:cNvSpPr>
              <p:nvPr>
                <p:ph type="body" idx="1"/>
              </p:nvPr>
            </p:nvSpPr>
            <p:spPr/>
            <p:txBody>
              <a:bodyPr/>
              <a:lstStyle/>
              <a:p>
                <a:r>
                  <a:rPr lang="en-US" dirty="0"/>
                  <a:t>What range of values can the perplexity take?</a:t>
                </a:r>
              </a:p>
              <a:p>
                <a:r>
                  <a:rPr lang="en-US" dirty="0"/>
                  <a:t>What is the perplexity if </a:t>
                </a:r>
                <a14:m>
                  <m:oMath xmlns:m="http://schemas.openxmlformats.org/officeDocument/2006/math">
                    <m:r>
                      <a:rPr lang="en-US" b="0" i="1" smtClean="0">
                        <a:solidFill>
                          <a:srgbClr val="7030A0"/>
                        </a:solidFill>
                        <a:latin typeface="Cambria Math" panose="02040503050406030204" pitchFamily="18" charset="0"/>
                      </a:rPr>
                      <m:t>𝑝</m:t>
                    </m:r>
                    <m:d>
                      <m:dPr>
                        <m:ctrlPr>
                          <a:rPr lang="en-US" b="0" i="1" smtClean="0">
                            <a:solidFill>
                              <a:srgbClr val="7030A0"/>
                            </a:solidFill>
                            <a:latin typeface="Cambria Math" panose="02040503050406030204" pitchFamily="18" charset="0"/>
                          </a:rPr>
                        </m:ctrlPr>
                      </m:dPr>
                      <m:e>
                        <m:r>
                          <a:rPr lang="en-US" b="0" i="1" smtClean="0">
                            <a:solidFill>
                              <a:srgbClr val="7030A0"/>
                            </a:solidFill>
                            <a:latin typeface="Cambria Math" panose="02040503050406030204" pitchFamily="18" charset="0"/>
                          </a:rPr>
                          <m:t>𝑠</m:t>
                        </m:r>
                      </m:e>
                    </m:d>
                    <m:r>
                      <a:rPr lang="en-US" b="0" i="1" smtClean="0">
                        <a:solidFill>
                          <a:srgbClr val="7030A0"/>
                        </a:solidFill>
                        <a:latin typeface="Cambria Math" panose="02040503050406030204" pitchFamily="18" charset="0"/>
                      </a:rPr>
                      <m:t>=1</m:t>
                    </m:r>
                  </m:oMath>
                </a14:m>
                <a:r>
                  <a:rPr lang="en-US" dirty="0"/>
                  <a:t> ?</a:t>
                </a:r>
              </a:p>
              <a:p>
                <a:endParaRPr lang="en-US" dirty="0"/>
              </a:p>
            </p:txBody>
          </p:sp>
        </mc:Choice>
        <mc:Fallback xmlns="">
          <p:sp>
            <p:nvSpPr>
              <p:cNvPr id="3" name="Text Placeholder 2">
                <a:extLst>
                  <a:ext uri="{FF2B5EF4-FFF2-40B4-BE49-F238E27FC236}">
                    <a16:creationId xmlns:a16="http://schemas.microsoft.com/office/drawing/2014/main" id="{78F1D8B2-FFA1-4025-BC30-FC05284A9C03}"/>
                  </a:ext>
                </a:extLst>
              </p:cNvPr>
              <p:cNvSpPr>
                <a:spLocks noGrp="1" noRot="1" noChangeAspect="1" noMove="1" noResize="1" noEditPoints="1" noAdjustHandles="1" noChangeArrowheads="1" noChangeShapeType="1" noTextEdit="1"/>
              </p:cNvSpPr>
              <p:nvPr>
                <p:ph type="body" idx="1"/>
              </p:nvPr>
            </p:nvSpPr>
            <p:spPr>
              <a:blipFill>
                <a:blip r:embed="rId2"/>
                <a:stretch>
                  <a:fillRect/>
                </a:stretch>
              </a:blipFill>
            </p:spPr>
            <p:txBody>
              <a:bodyPr/>
              <a:lstStyle/>
              <a:p>
                <a:r>
                  <a:rPr lang="en-US">
                    <a:noFill/>
                  </a:rPr>
                  <a:t> </a:t>
                </a:r>
              </a:p>
            </p:txBody>
          </p:sp>
        </mc:Fallback>
      </mc:AlternateContent>
      <p:pic>
        <p:nvPicPr>
          <p:cNvPr id="6" name="Google Shape;443;p55" descr="\text{PPL} = 2^{-\frac{\log_2 p(S)}{M}}" title="MathEquation,#00aff0">
            <a:extLst>
              <a:ext uri="{FF2B5EF4-FFF2-40B4-BE49-F238E27FC236}">
                <a16:creationId xmlns:a16="http://schemas.microsoft.com/office/drawing/2014/main" id="{0CD33B1B-688B-4FB2-B381-FBCA280BFA1E}"/>
              </a:ext>
            </a:extLst>
          </p:cNvPr>
          <p:cNvPicPr preferRelativeResize="0"/>
          <p:nvPr/>
        </p:nvPicPr>
        <p:blipFill>
          <a:blip r:embed="rId3">
            <a:alphaModFix/>
          </a:blip>
          <a:stretch>
            <a:fillRect/>
          </a:stretch>
        </p:blipFill>
        <p:spPr>
          <a:xfrm>
            <a:off x="5441578" y="366132"/>
            <a:ext cx="2396226" cy="635000"/>
          </a:xfrm>
          <a:prstGeom prst="rect">
            <a:avLst/>
          </a:prstGeom>
          <a:noFill/>
          <a:ln>
            <a:noFill/>
          </a:ln>
        </p:spPr>
      </p:pic>
    </p:spTree>
    <p:extLst>
      <p:ext uri="{BB962C8B-B14F-4D97-AF65-F5344CB8AC3E}">
        <p14:creationId xmlns:p14="http://schemas.microsoft.com/office/powerpoint/2010/main" val="1884538851"/>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1281F1-6C61-B9A4-9450-EF923B7D7CD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C56FAC1-96F0-7B00-C38D-204BF9DBFC32}"/>
              </a:ext>
            </a:extLst>
          </p:cNvPr>
          <p:cNvSpPr>
            <a:spLocks noGrp="1"/>
          </p:cNvSpPr>
          <p:nvPr>
            <p:ph type="title"/>
          </p:nvPr>
        </p:nvSpPr>
        <p:spPr/>
        <p:txBody>
          <a:bodyPr/>
          <a:lstStyle/>
          <a:p>
            <a:r>
              <a:rPr lang="en-US" dirty="0"/>
              <a:t>Perplexity: Intuition (1)</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C8E3FAB6-D7B4-FD03-72CE-AFEBD4957314}"/>
                  </a:ext>
                </a:extLst>
              </p:cNvPr>
              <p:cNvSpPr>
                <a:spLocks noGrp="1"/>
              </p:cNvSpPr>
              <p:nvPr>
                <p:ph type="body" idx="1"/>
              </p:nvPr>
            </p:nvSpPr>
            <p:spPr/>
            <p:txBody>
              <a:bodyPr/>
              <a:lstStyle/>
              <a:p>
                <a:r>
                  <a:rPr lang="en-US" dirty="0"/>
                  <a:t>What range of values can the perplexity take?</a:t>
                </a:r>
              </a:p>
              <a:p>
                <a:r>
                  <a:rPr lang="en-US" dirty="0"/>
                  <a:t>What is the perplexity if </a:t>
                </a:r>
                <a14:m>
                  <m:oMath xmlns:m="http://schemas.openxmlformats.org/officeDocument/2006/math">
                    <m:r>
                      <a:rPr lang="en-US" b="0" i="1" smtClean="0">
                        <a:solidFill>
                          <a:srgbClr val="7030A0"/>
                        </a:solidFill>
                        <a:latin typeface="Cambria Math" panose="02040503050406030204" pitchFamily="18" charset="0"/>
                      </a:rPr>
                      <m:t>𝑝</m:t>
                    </m:r>
                    <m:d>
                      <m:dPr>
                        <m:ctrlPr>
                          <a:rPr lang="en-US" b="0" i="1" smtClean="0">
                            <a:solidFill>
                              <a:srgbClr val="7030A0"/>
                            </a:solidFill>
                            <a:latin typeface="Cambria Math" panose="02040503050406030204" pitchFamily="18" charset="0"/>
                          </a:rPr>
                        </m:ctrlPr>
                      </m:dPr>
                      <m:e>
                        <m:r>
                          <a:rPr lang="en-US" b="0" i="1" smtClean="0">
                            <a:solidFill>
                              <a:srgbClr val="7030A0"/>
                            </a:solidFill>
                            <a:latin typeface="Cambria Math" panose="02040503050406030204" pitchFamily="18" charset="0"/>
                          </a:rPr>
                          <m:t>𝑠</m:t>
                        </m:r>
                      </m:e>
                    </m:d>
                    <m:r>
                      <a:rPr lang="en-US" b="0" i="1" smtClean="0">
                        <a:solidFill>
                          <a:srgbClr val="7030A0"/>
                        </a:solidFill>
                        <a:latin typeface="Cambria Math" panose="02040503050406030204" pitchFamily="18" charset="0"/>
                      </a:rPr>
                      <m:t>=1</m:t>
                    </m:r>
                  </m:oMath>
                </a14:m>
                <a:r>
                  <a:rPr lang="en-US" dirty="0"/>
                  <a:t> ?</a:t>
                </a:r>
              </a:p>
              <a:p>
                <a:r>
                  <a:rPr lang="en-US" dirty="0"/>
                  <a:t>What is the perplexity if </a:t>
                </a:r>
                <a14:m>
                  <m:oMath xmlns:m="http://schemas.openxmlformats.org/officeDocument/2006/math">
                    <m:r>
                      <a:rPr lang="en-US" i="1">
                        <a:solidFill>
                          <a:srgbClr val="7030A0"/>
                        </a:solidFill>
                        <a:latin typeface="Cambria Math" panose="02040503050406030204" pitchFamily="18" charset="0"/>
                      </a:rPr>
                      <m:t>𝑝</m:t>
                    </m:r>
                    <m:d>
                      <m:dPr>
                        <m:ctrlPr>
                          <a:rPr lang="en-US" i="1">
                            <a:solidFill>
                              <a:srgbClr val="7030A0"/>
                            </a:solidFill>
                            <a:latin typeface="Cambria Math" panose="02040503050406030204" pitchFamily="18" charset="0"/>
                          </a:rPr>
                        </m:ctrlPr>
                      </m:dPr>
                      <m:e>
                        <m:r>
                          <a:rPr lang="en-US" i="1">
                            <a:solidFill>
                              <a:srgbClr val="7030A0"/>
                            </a:solidFill>
                            <a:latin typeface="Cambria Math" panose="02040503050406030204" pitchFamily="18" charset="0"/>
                          </a:rPr>
                          <m:t>𝑠</m:t>
                        </m:r>
                      </m:e>
                    </m:d>
                    <m:r>
                      <a:rPr lang="en-US" i="1">
                        <a:solidFill>
                          <a:srgbClr val="7030A0"/>
                        </a:solidFill>
                        <a:latin typeface="Cambria Math" panose="02040503050406030204" pitchFamily="18" charset="0"/>
                      </a:rPr>
                      <m:t>=</m:t>
                    </m:r>
                    <m:r>
                      <a:rPr lang="en-US" b="0" i="1" smtClean="0">
                        <a:solidFill>
                          <a:srgbClr val="7030A0"/>
                        </a:solidFill>
                        <a:latin typeface="Cambria Math" panose="02040503050406030204" pitchFamily="18" charset="0"/>
                      </a:rPr>
                      <m:t>0</m:t>
                    </m:r>
                  </m:oMath>
                </a14:m>
                <a:r>
                  <a:rPr lang="en-US" dirty="0"/>
                  <a:t> ?</a:t>
                </a:r>
              </a:p>
              <a:p>
                <a:endParaRPr lang="en-US" dirty="0"/>
              </a:p>
            </p:txBody>
          </p:sp>
        </mc:Choice>
        <mc:Fallback xmlns="">
          <p:sp>
            <p:nvSpPr>
              <p:cNvPr id="3" name="Text Placeholder 2">
                <a:extLst>
                  <a:ext uri="{FF2B5EF4-FFF2-40B4-BE49-F238E27FC236}">
                    <a16:creationId xmlns:a16="http://schemas.microsoft.com/office/drawing/2014/main" id="{C8E3FAB6-D7B4-FD03-72CE-AFEBD4957314}"/>
                  </a:ext>
                </a:extLst>
              </p:cNvPr>
              <p:cNvSpPr>
                <a:spLocks noGrp="1" noRot="1" noChangeAspect="1" noMove="1" noResize="1" noEditPoints="1" noAdjustHandles="1" noChangeArrowheads="1" noChangeShapeType="1" noTextEdit="1"/>
              </p:cNvSpPr>
              <p:nvPr>
                <p:ph type="body" idx="1"/>
              </p:nvPr>
            </p:nvSpPr>
            <p:spPr>
              <a:blipFill>
                <a:blip r:embed="rId2"/>
                <a:stretch>
                  <a:fillRect/>
                </a:stretch>
              </a:blipFill>
            </p:spPr>
            <p:txBody>
              <a:bodyPr/>
              <a:lstStyle/>
              <a:p>
                <a:r>
                  <a:rPr lang="en-US">
                    <a:noFill/>
                  </a:rPr>
                  <a:t> </a:t>
                </a:r>
              </a:p>
            </p:txBody>
          </p:sp>
        </mc:Fallback>
      </mc:AlternateContent>
      <p:pic>
        <p:nvPicPr>
          <p:cNvPr id="6" name="Google Shape;443;p55" descr="\text{PPL} = 2^{-\frac{\log_2 p(S)}{M}}" title="MathEquation,#00aff0">
            <a:extLst>
              <a:ext uri="{FF2B5EF4-FFF2-40B4-BE49-F238E27FC236}">
                <a16:creationId xmlns:a16="http://schemas.microsoft.com/office/drawing/2014/main" id="{BBF2C0D2-07FD-CDD5-11CC-70DC592D86F9}"/>
              </a:ext>
            </a:extLst>
          </p:cNvPr>
          <p:cNvPicPr preferRelativeResize="0"/>
          <p:nvPr/>
        </p:nvPicPr>
        <p:blipFill>
          <a:blip r:embed="rId3">
            <a:alphaModFix/>
          </a:blip>
          <a:stretch>
            <a:fillRect/>
          </a:stretch>
        </p:blipFill>
        <p:spPr>
          <a:xfrm>
            <a:off x="5441578" y="366132"/>
            <a:ext cx="2396226" cy="635000"/>
          </a:xfrm>
          <a:prstGeom prst="rect">
            <a:avLst/>
          </a:prstGeom>
          <a:noFill/>
          <a:ln>
            <a:noFill/>
          </a:ln>
        </p:spPr>
      </p:pic>
    </p:spTree>
    <p:extLst>
      <p:ext uri="{BB962C8B-B14F-4D97-AF65-F5344CB8AC3E}">
        <p14:creationId xmlns:p14="http://schemas.microsoft.com/office/powerpoint/2010/main" val="1731439690"/>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249A70-90A0-B160-65C0-E05719D6F2E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09B2D38-63BC-DC54-98BC-E816F69B68FD}"/>
              </a:ext>
            </a:extLst>
          </p:cNvPr>
          <p:cNvSpPr>
            <a:spLocks noGrp="1"/>
          </p:cNvSpPr>
          <p:nvPr>
            <p:ph type="title"/>
          </p:nvPr>
        </p:nvSpPr>
        <p:spPr/>
        <p:txBody>
          <a:bodyPr/>
          <a:lstStyle/>
          <a:p>
            <a:r>
              <a:rPr lang="en-US" dirty="0"/>
              <a:t>Perplexity: Intuition (2)</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EEFDFE83-EC1F-737F-A44B-1A477A1A61A4}"/>
                  </a:ext>
                </a:extLst>
              </p:cNvPr>
              <p:cNvSpPr>
                <a:spLocks noGrp="1"/>
              </p:cNvSpPr>
              <p:nvPr>
                <p:ph type="body" idx="1"/>
              </p:nvPr>
            </p:nvSpPr>
            <p:spPr/>
            <p:txBody>
              <a:bodyPr/>
              <a:lstStyle/>
              <a:p>
                <a:r>
                  <a:rPr lang="en-US" dirty="0"/>
                  <a:t>Suppose we have a naïve language model that assigns each word in the sequence uniform probability, regardless of the history:</a:t>
                </a:r>
              </a:p>
              <a:p>
                <a:pPr marL="11430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𝑖</m:t>
                      </m:r>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𝑖</m:t>
                          </m:r>
                        </m:sub>
                      </m:sSub>
                      <m:r>
                        <a:rPr lang="en-US" b="0" i="1" smtClean="0">
                          <a:latin typeface="Cambria Math" panose="02040503050406030204" pitchFamily="18" charset="0"/>
                        </a:rPr>
                        <m:t>∈</m:t>
                      </m:r>
                      <m:acc>
                        <m:accPr>
                          <m:chr m:val="̅"/>
                          <m:ctrlPr>
                            <a:rPr lang="en-US" b="0" i="1" smtClean="0">
                              <a:latin typeface="Cambria Math" panose="02040503050406030204" pitchFamily="18" charset="0"/>
                            </a:rPr>
                          </m:ctrlPr>
                        </m:accPr>
                        <m:e>
                          <m:r>
                            <a:rPr lang="en-US" b="0" i="1" smtClean="0">
                              <a:latin typeface="Cambria Math" panose="02040503050406030204" pitchFamily="18" charset="0"/>
                              <a:ea typeface="Cambria Math" panose="02040503050406030204" pitchFamily="18" charset="0"/>
                            </a:rPr>
                            <m:t>𝒱</m:t>
                          </m:r>
                        </m:e>
                      </m:acc>
                      <m:r>
                        <a:rPr lang="en-US" b="0" i="1" smtClean="0">
                          <a:latin typeface="Cambria Math" panose="02040503050406030204" pitchFamily="18" charset="0"/>
                        </a:rPr>
                        <m:t>:    </m:t>
                      </m:r>
                      <m:r>
                        <a:rPr lang="en-US" b="0" i="1" smtClean="0">
                          <a:solidFill>
                            <a:srgbClr val="7030A0"/>
                          </a:solidFill>
                          <a:latin typeface="Cambria Math" panose="02040503050406030204" pitchFamily="18" charset="0"/>
                        </a:rPr>
                        <m:t>𝑝</m:t>
                      </m:r>
                      <m:d>
                        <m:dPr>
                          <m:ctrlPr>
                            <a:rPr lang="en-US" b="0" i="1" smtClean="0">
                              <a:solidFill>
                                <a:srgbClr val="7030A0"/>
                              </a:solidFill>
                              <a:latin typeface="Cambria Math" panose="02040503050406030204" pitchFamily="18" charset="0"/>
                            </a:rPr>
                          </m:ctrlPr>
                        </m:dPr>
                        <m:e>
                          <m:sSub>
                            <m:sSubPr>
                              <m:ctrlPr>
                                <a:rPr lang="en-US" b="0" i="1" smtClean="0">
                                  <a:solidFill>
                                    <a:srgbClr val="7030A0"/>
                                  </a:solidFill>
                                  <a:latin typeface="Cambria Math" panose="02040503050406030204" pitchFamily="18" charset="0"/>
                                </a:rPr>
                              </m:ctrlPr>
                            </m:sSubPr>
                            <m:e>
                              <m:r>
                                <a:rPr lang="en-US" b="0" i="1" smtClean="0">
                                  <a:solidFill>
                                    <a:srgbClr val="7030A0"/>
                                  </a:solidFill>
                                  <a:latin typeface="Cambria Math" panose="02040503050406030204" pitchFamily="18" charset="0"/>
                                </a:rPr>
                                <m:t>𝑥</m:t>
                              </m:r>
                            </m:e>
                            <m:sub>
                              <m:r>
                                <a:rPr lang="en-US" b="0" i="1" smtClean="0">
                                  <a:solidFill>
                                    <a:srgbClr val="7030A0"/>
                                  </a:solidFill>
                                  <a:latin typeface="Cambria Math" panose="02040503050406030204" pitchFamily="18" charset="0"/>
                                </a:rPr>
                                <m:t>𝑖</m:t>
                              </m:r>
                            </m:sub>
                          </m:sSub>
                          <m:r>
                            <a:rPr lang="en-US" b="0" i="1" smtClean="0">
                              <a:solidFill>
                                <a:srgbClr val="7030A0"/>
                              </a:solidFill>
                              <a:latin typeface="Cambria Math" panose="02040503050406030204" pitchFamily="18" charset="0"/>
                            </a:rPr>
                            <m:t> | </m:t>
                          </m:r>
                          <m:sSub>
                            <m:sSubPr>
                              <m:ctrlPr>
                                <a:rPr lang="en-US" b="0" i="1" smtClean="0">
                                  <a:solidFill>
                                    <a:srgbClr val="7030A0"/>
                                  </a:solidFill>
                                  <a:latin typeface="Cambria Math" panose="02040503050406030204" pitchFamily="18" charset="0"/>
                                </a:rPr>
                              </m:ctrlPr>
                            </m:sSubPr>
                            <m:e>
                              <m:r>
                                <a:rPr lang="en-US" b="0" i="1" smtClean="0">
                                  <a:solidFill>
                                    <a:srgbClr val="7030A0"/>
                                  </a:solidFill>
                                  <a:latin typeface="Cambria Math" panose="02040503050406030204" pitchFamily="18" charset="0"/>
                                </a:rPr>
                                <m:t>𝑥</m:t>
                              </m:r>
                            </m:e>
                            <m:sub>
                              <m:r>
                                <a:rPr lang="en-US" b="0" i="1" smtClean="0">
                                  <a:solidFill>
                                    <a:srgbClr val="7030A0"/>
                                  </a:solidFill>
                                  <a:latin typeface="Cambria Math" panose="02040503050406030204" pitchFamily="18" charset="0"/>
                                </a:rPr>
                                <m:t>1</m:t>
                              </m:r>
                            </m:sub>
                          </m:sSub>
                          <m:r>
                            <a:rPr lang="en-US" b="0" i="1" smtClean="0">
                              <a:solidFill>
                                <a:srgbClr val="7030A0"/>
                              </a:solidFill>
                              <a:latin typeface="Cambria Math" panose="02040503050406030204" pitchFamily="18" charset="0"/>
                            </a:rPr>
                            <m:t>,…</m:t>
                          </m:r>
                          <m:sSub>
                            <m:sSubPr>
                              <m:ctrlPr>
                                <a:rPr lang="en-US" b="0" i="1" smtClean="0">
                                  <a:solidFill>
                                    <a:srgbClr val="7030A0"/>
                                  </a:solidFill>
                                  <a:latin typeface="Cambria Math" panose="02040503050406030204" pitchFamily="18" charset="0"/>
                                </a:rPr>
                              </m:ctrlPr>
                            </m:sSubPr>
                            <m:e>
                              <m:r>
                                <a:rPr lang="en-US" b="0" i="1" smtClean="0">
                                  <a:solidFill>
                                    <a:srgbClr val="7030A0"/>
                                  </a:solidFill>
                                  <a:latin typeface="Cambria Math" panose="02040503050406030204" pitchFamily="18" charset="0"/>
                                </a:rPr>
                                <m:t>𝑥</m:t>
                              </m:r>
                            </m:e>
                            <m:sub>
                              <m:r>
                                <a:rPr lang="en-US" b="0" i="1" smtClean="0">
                                  <a:solidFill>
                                    <a:srgbClr val="7030A0"/>
                                  </a:solidFill>
                                  <a:latin typeface="Cambria Math" panose="02040503050406030204" pitchFamily="18" charset="0"/>
                                </a:rPr>
                                <m:t>𝑖</m:t>
                              </m:r>
                              <m:r>
                                <a:rPr lang="en-US" b="0" i="1" smtClean="0">
                                  <a:solidFill>
                                    <a:srgbClr val="7030A0"/>
                                  </a:solidFill>
                                  <a:latin typeface="Cambria Math" panose="02040503050406030204" pitchFamily="18" charset="0"/>
                                </a:rPr>
                                <m:t>−1</m:t>
                              </m:r>
                            </m:sub>
                          </m:sSub>
                        </m:e>
                      </m:d>
                      <m:r>
                        <a:rPr lang="en-US" b="0" i="1" smtClean="0">
                          <a:solidFill>
                            <a:srgbClr val="7030A0"/>
                          </a:solidFill>
                          <a:latin typeface="Cambria Math" panose="02040503050406030204" pitchFamily="18" charset="0"/>
                        </a:rPr>
                        <m:t>=</m:t>
                      </m:r>
                      <m:f>
                        <m:fPr>
                          <m:ctrlPr>
                            <a:rPr lang="en-US" b="0" i="1" smtClean="0">
                              <a:solidFill>
                                <a:srgbClr val="7030A0"/>
                              </a:solidFill>
                              <a:latin typeface="Cambria Math" panose="02040503050406030204" pitchFamily="18" charset="0"/>
                            </a:rPr>
                          </m:ctrlPr>
                        </m:fPr>
                        <m:num>
                          <m:r>
                            <a:rPr lang="en-US" b="0" i="1" smtClean="0">
                              <a:solidFill>
                                <a:srgbClr val="7030A0"/>
                              </a:solidFill>
                              <a:latin typeface="Cambria Math" panose="02040503050406030204" pitchFamily="18" charset="0"/>
                            </a:rPr>
                            <m:t>1</m:t>
                          </m:r>
                        </m:num>
                        <m:den>
                          <m:d>
                            <m:dPr>
                              <m:begChr m:val="|"/>
                              <m:endChr m:val="|"/>
                              <m:ctrlPr>
                                <a:rPr lang="en-US" b="0" i="1" smtClean="0">
                                  <a:solidFill>
                                    <a:srgbClr val="7030A0"/>
                                  </a:solidFill>
                                  <a:latin typeface="Cambria Math" panose="02040503050406030204" pitchFamily="18" charset="0"/>
                                </a:rPr>
                              </m:ctrlPr>
                            </m:dPr>
                            <m:e>
                              <m:acc>
                                <m:accPr>
                                  <m:chr m:val="̅"/>
                                  <m:ctrlPr>
                                    <a:rPr lang="en-US" i="1">
                                      <a:solidFill>
                                        <a:srgbClr val="7030A0"/>
                                      </a:solidFill>
                                      <a:latin typeface="Cambria Math" panose="02040503050406030204" pitchFamily="18" charset="0"/>
                                    </a:rPr>
                                  </m:ctrlPr>
                                </m:accPr>
                                <m:e>
                                  <m:r>
                                    <a:rPr lang="en-US" i="1">
                                      <a:solidFill>
                                        <a:srgbClr val="7030A0"/>
                                      </a:solidFill>
                                      <a:latin typeface="Cambria Math" panose="02040503050406030204" pitchFamily="18" charset="0"/>
                                      <a:ea typeface="Cambria Math" panose="02040503050406030204" pitchFamily="18" charset="0"/>
                                    </a:rPr>
                                    <m:t>𝒱</m:t>
                                  </m:r>
                                </m:e>
                              </m:acc>
                            </m:e>
                          </m:d>
                        </m:den>
                      </m:f>
                    </m:oMath>
                  </m:oMathPara>
                </a14:m>
                <a:endParaRPr lang="en-US" dirty="0"/>
              </a:p>
              <a:p>
                <a:r>
                  <a:rPr lang="en-US" b="1" dirty="0"/>
                  <a:t>What is the perplexity?</a:t>
                </a:r>
                <a:r>
                  <a:rPr lang="en-US" dirty="0"/>
                  <a:t> </a:t>
                </a:r>
              </a:p>
              <a:p>
                <a:r>
                  <a:rPr lang="en-US" dirty="0"/>
                  <a:t>(take a moment to calculate)</a:t>
                </a:r>
              </a:p>
            </p:txBody>
          </p:sp>
        </mc:Choice>
        <mc:Fallback xmlns="">
          <p:sp>
            <p:nvSpPr>
              <p:cNvPr id="3" name="Text Placeholder 2">
                <a:extLst>
                  <a:ext uri="{FF2B5EF4-FFF2-40B4-BE49-F238E27FC236}">
                    <a16:creationId xmlns:a16="http://schemas.microsoft.com/office/drawing/2014/main" id="{EEFDFE83-EC1F-737F-A44B-1A477A1A61A4}"/>
                  </a:ext>
                </a:extLst>
              </p:cNvPr>
              <p:cNvSpPr>
                <a:spLocks noGrp="1" noRot="1" noChangeAspect="1" noMove="1" noResize="1" noEditPoints="1" noAdjustHandles="1" noChangeArrowheads="1" noChangeShapeType="1" noTextEdit="1"/>
              </p:cNvSpPr>
              <p:nvPr>
                <p:ph type="body" idx="1"/>
              </p:nvPr>
            </p:nvSpPr>
            <p:spPr>
              <a:blipFill>
                <a:blip r:embed="rId2"/>
                <a:stretch>
                  <a:fillRect/>
                </a:stretch>
              </a:blipFill>
            </p:spPr>
            <p:txBody>
              <a:bodyPr/>
              <a:lstStyle/>
              <a:p>
                <a:r>
                  <a:rPr lang="en-US">
                    <a:noFill/>
                  </a:rPr>
                  <a:t> </a:t>
                </a:r>
              </a:p>
            </p:txBody>
          </p:sp>
        </mc:Fallback>
      </mc:AlternateContent>
      <p:pic>
        <p:nvPicPr>
          <p:cNvPr id="6" name="Google Shape;443;p55" descr="\text{PPL} = 2^{-\frac{\log_2 p(S)}{M}}" title="MathEquation,#00aff0">
            <a:extLst>
              <a:ext uri="{FF2B5EF4-FFF2-40B4-BE49-F238E27FC236}">
                <a16:creationId xmlns:a16="http://schemas.microsoft.com/office/drawing/2014/main" id="{6ADEB888-E6B9-A33B-C788-9C553EF64623}"/>
              </a:ext>
            </a:extLst>
          </p:cNvPr>
          <p:cNvPicPr preferRelativeResize="0"/>
          <p:nvPr/>
        </p:nvPicPr>
        <p:blipFill>
          <a:blip r:embed="rId3">
            <a:alphaModFix/>
          </a:blip>
          <a:stretch>
            <a:fillRect/>
          </a:stretch>
        </p:blipFill>
        <p:spPr>
          <a:xfrm>
            <a:off x="5441578" y="366132"/>
            <a:ext cx="2396226" cy="635000"/>
          </a:xfrm>
          <a:prstGeom prst="rect">
            <a:avLst/>
          </a:prstGeom>
          <a:noFill/>
          <a:ln>
            <a:noFill/>
          </a:ln>
        </p:spPr>
      </p:pic>
      <p:sp>
        <p:nvSpPr>
          <p:cNvPr id="4" name="Rectangle 3">
            <a:extLst>
              <a:ext uri="{FF2B5EF4-FFF2-40B4-BE49-F238E27FC236}">
                <a16:creationId xmlns:a16="http://schemas.microsoft.com/office/drawing/2014/main" id="{2248BDAB-9682-5D9F-D3D5-90D30EA7AC70}"/>
              </a:ext>
            </a:extLst>
          </p:cNvPr>
          <p:cNvSpPr/>
          <p:nvPr/>
        </p:nvSpPr>
        <p:spPr>
          <a:xfrm>
            <a:off x="4572000" y="3499658"/>
            <a:ext cx="4505498" cy="1579418"/>
          </a:xfrm>
          <a:prstGeom prst="rect">
            <a:avLst/>
          </a:prstGeom>
          <a:noFill/>
          <a:ln>
            <a:solidFill>
              <a:srgbClr val="C0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5" name="TextBox 4">
            <a:extLst>
              <a:ext uri="{FF2B5EF4-FFF2-40B4-BE49-F238E27FC236}">
                <a16:creationId xmlns:a16="http://schemas.microsoft.com/office/drawing/2014/main" id="{6861D2CB-083B-3F62-761C-F889F6F78A83}"/>
              </a:ext>
            </a:extLst>
          </p:cNvPr>
          <p:cNvSpPr txBox="1"/>
          <p:nvPr/>
        </p:nvSpPr>
        <p:spPr>
          <a:xfrm>
            <a:off x="4608657" y="3728043"/>
            <a:ext cx="1665841" cy="307777"/>
          </a:xfrm>
          <a:prstGeom prst="rect">
            <a:avLst/>
          </a:prstGeom>
          <a:noFill/>
        </p:spPr>
        <p:txBody>
          <a:bodyPr wrap="none" rtlCol="0">
            <a:spAutoFit/>
          </a:bodyPr>
          <a:lstStyle/>
          <a:p>
            <a:r>
              <a:rPr lang="en-US" dirty="0">
                <a:solidFill>
                  <a:srgbClr val="C00000"/>
                </a:solidFill>
              </a:rPr>
              <a:t>(Helpful reminder:)</a:t>
            </a:r>
          </a:p>
        </p:txBody>
      </p:sp>
      <p:grpSp>
        <p:nvGrpSpPr>
          <p:cNvPr id="7" name="Google Shape;439;p55">
            <a:extLst>
              <a:ext uri="{FF2B5EF4-FFF2-40B4-BE49-F238E27FC236}">
                <a16:creationId xmlns:a16="http://schemas.microsoft.com/office/drawing/2014/main" id="{60B001A1-8010-CB45-32E5-267A38389CF6}"/>
              </a:ext>
            </a:extLst>
          </p:cNvPr>
          <p:cNvGrpSpPr/>
          <p:nvPr/>
        </p:nvGrpSpPr>
        <p:grpSpPr>
          <a:xfrm>
            <a:off x="6151418" y="3557847"/>
            <a:ext cx="2771938" cy="1375272"/>
            <a:chOff x="2482105" y="1999725"/>
            <a:chExt cx="3851507" cy="1817878"/>
          </a:xfrm>
        </p:grpSpPr>
        <p:pic>
          <p:nvPicPr>
            <p:cNvPr id="8" name="Google Shape;440;p55">
              <a:extLst>
                <a:ext uri="{FF2B5EF4-FFF2-40B4-BE49-F238E27FC236}">
                  <a16:creationId xmlns:a16="http://schemas.microsoft.com/office/drawing/2014/main" id="{0504EA12-37DF-ED37-9617-5040E95B3DBC}"/>
                </a:ext>
              </a:extLst>
            </p:cNvPr>
            <p:cNvPicPr preferRelativeResize="0"/>
            <p:nvPr/>
          </p:nvPicPr>
          <p:blipFill>
            <a:blip r:embed="rId4">
              <a:alphaModFix/>
            </a:blip>
            <a:stretch>
              <a:fillRect/>
            </a:stretch>
          </p:blipFill>
          <p:spPr>
            <a:xfrm>
              <a:off x="2482105" y="2042178"/>
              <a:ext cx="3851507" cy="1775425"/>
            </a:xfrm>
            <a:prstGeom prst="rect">
              <a:avLst/>
            </a:prstGeom>
            <a:noFill/>
            <a:ln>
              <a:noFill/>
            </a:ln>
          </p:spPr>
        </p:pic>
        <p:sp>
          <p:nvSpPr>
            <p:cNvPr id="9" name="Google Shape;441;p55">
              <a:extLst>
                <a:ext uri="{FF2B5EF4-FFF2-40B4-BE49-F238E27FC236}">
                  <a16:creationId xmlns:a16="http://schemas.microsoft.com/office/drawing/2014/main" id="{5C4099F9-81D3-86FB-66E9-B221B5B49056}"/>
                </a:ext>
              </a:extLst>
            </p:cNvPr>
            <p:cNvSpPr/>
            <p:nvPr/>
          </p:nvSpPr>
          <p:spPr>
            <a:xfrm>
              <a:off x="4520975" y="1999725"/>
              <a:ext cx="1812600" cy="120300"/>
            </a:xfrm>
            <a:prstGeom prst="rect">
              <a:avLst/>
            </a:prstGeom>
            <a:solidFill>
              <a:srgbClr val="FFFF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0" name="Google Shape;442;p55">
              <a:extLst>
                <a:ext uri="{FF2B5EF4-FFF2-40B4-BE49-F238E27FC236}">
                  <a16:creationId xmlns:a16="http://schemas.microsoft.com/office/drawing/2014/main" id="{0E843D43-E545-0094-C52E-78024AFC6FC0}"/>
                </a:ext>
              </a:extLst>
            </p:cNvPr>
            <p:cNvSpPr/>
            <p:nvPr/>
          </p:nvSpPr>
          <p:spPr>
            <a:xfrm>
              <a:off x="3475475" y="1999725"/>
              <a:ext cx="334500" cy="120300"/>
            </a:xfrm>
            <a:prstGeom prst="rect">
              <a:avLst/>
            </a:prstGeom>
            <a:solidFill>
              <a:srgbClr val="FFFF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spTree>
    <p:extLst>
      <p:ext uri="{BB962C8B-B14F-4D97-AF65-F5344CB8AC3E}">
        <p14:creationId xmlns:p14="http://schemas.microsoft.com/office/powerpoint/2010/main" val="3234887144"/>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740101-3CAF-BD60-3826-DEB0EA7C39E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32ADCE2-8E6C-5E7C-EC2E-68B0F6A27760}"/>
              </a:ext>
            </a:extLst>
          </p:cNvPr>
          <p:cNvSpPr>
            <a:spLocks noGrp="1"/>
          </p:cNvSpPr>
          <p:nvPr>
            <p:ph type="title"/>
          </p:nvPr>
        </p:nvSpPr>
        <p:spPr/>
        <p:txBody>
          <a:bodyPr/>
          <a:lstStyle/>
          <a:p>
            <a:r>
              <a:rPr lang="en-US" dirty="0"/>
              <a:t>Perplexity: Intuition (2)</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8AF8A554-E14F-0B14-16E0-49EA3A424F19}"/>
                  </a:ext>
                </a:extLst>
              </p:cNvPr>
              <p:cNvSpPr>
                <a:spLocks noGrp="1"/>
              </p:cNvSpPr>
              <p:nvPr>
                <p:ph type="body" idx="1"/>
              </p:nvPr>
            </p:nvSpPr>
            <p:spPr/>
            <p:txBody>
              <a:bodyPr/>
              <a:lstStyle/>
              <a:p>
                <a:r>
                  <a:rPr lang="en-US" dirty="0"/>
                  <a:t>Suppose we have a naïve language model that assigns each word in the sequence uniform probability, regardless of the history:</a:t>
                </a:r>
              </a:p>
              <a:p>
                <a:pPr marL="11430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𝑖</m:t>
                      </m:r>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𝑖</m:t>
                          </m:r>
                        </m:sub>
                      </m:sSub>
                      <m:r>
                        <a:rPr lang="en-US" b="0" i="1" smtClean="0">
                          <a:latin typeface="Cambria Math" panose="02040503050406030204" pitchFamily="18" charset="0"/>
                        </a:rPr>
                        <m:t>∈</m:t>
                      </m:r>
                      <m:acc>
                        <m:accPr>
                          <m:chr m:val="̅"/>
                          <m:ctrlPr>
                            <a:rPr lang="en-US" b="0" i="1" smtClean="0">
                              <a:latin typeface="Cambria Math" panose="02040503050406030204" pitchFamily="18" charset="0"/>
                            </a:rPr>
                          </m:ctrlPr>
                        </m:accPr>
                        <m:e>
                          <m:r>
                            <a:rPr lang="en-US" b="0" i="1" smtClean="0">
                              <a:latin typeface="Cambria Math" panose="02040503050406030204" pitchFamily="18" charset="0"/>
                              <a:ea typeface="Cambria Math" panose="02040503050406030204" pitchFamily="18" charset="0"/>
                            </a:rPr>
                            <m:t>𝒱</m:t>
                          </m:r>
                        </m:e>
                      </m:acc>
                      <m:r>
                        <a:rPr lang="en-US" b="0" i="1" smtClean="0">
                          <a:latin typeface="Cambria Math" panose="02040503050406030204" pitchFamily="18" charset="0"/>
                        </a:rPr>
                        <m:t>:    </m:t>
                      </m:r>
                      <m:r>
                        <a:rPr lang="en-US" b="0" i="1" smtClean="0">
                          <a:solidFill>
                            <a:srgbClr val="7030A0"/>
                          </a:solidFill>
                          <a:latin typeface="Cambria Math" panose="02040503050406030204" pitchFamily="18" charset="0"/>
                        </a:rPr>
                        <m:t>𝑝</m:t>
                      </m:r>
                      <m:d>
                        <m:dPr>
                          <m:ctrlPr>
                            <a:rPr lang="en-US" b="0" i="1" smtClean="0">
                              <a:solidFill>
                                <a:srgbClr val="7030A0"/>
                              </a:solidFill>
                              <a:latin typeface="Cambria Math" panose="02040503050406030204" pitchFamily="18" charset="0"/>
                            </a:rPr>
                          </m:ctrlPr>
                        </m:dPr>
                        <m:e>
                          <m:sSub>
                            <m:sSubPr>
                              <m:ctrlPr>
                                <a:rPr lang="en-US" b="0" i="1" smtClean="0">
                                  <a:solidFill>
                                    <a:srgbClr val="7030A0"/>
                                  </a:solidFill>
                                  <a:latin typeface="Cambria Math" panose="02040503050406030204" pitchFamily="18" charset="0"/>
                                </a:rPr>
                              </m:ctrlPr>
                            </m:sSubPr>
                            <m:e>
                              <m:r>
                                <a:rPr lang="en-US" b="0" i="1" smtClean="0">
                                  <a:solidFill>
                                    <a:srgbClr val="7030A0"/>
                                  </a:solidFill>
                                  <a:latin typeface="Cambria Math" panose="02040503050406030204" pitchFamily="18" charset="0"/>
                                </a:rPr>
                                <m:t>𝑥</m:t>
                              </m:r>
                            </m:e>
                            <m:sub>
                              <m:r>
                                <a:rPr lang="en-US" b="0" i="1" smtClean="0">
                                  <a:solidFill>
                                    <a:srgbClr val="7030A0"/>
                                  </a:solidFill>
                                  <a:latin typeface="Cambria Math" panose="02040503050406030204" pitchFamily="18" charset="0"/>
                                </a:rPr>
                                <m:t>𝑖</m:t>
                              </m:r>
                            </m:sub>
                          </m:sSub>
                          <m:r>
                            <a:rPr lang="en-US" b="0" i="1" smtClean="0">
                              <a:solidFill>
                                <a:srgbClr val="7030A0"/>
                              </a:solidFill>
                              <a:latin typeface="Cambria Math" panose="02040503050406030204" pitchFamily="18" charset="0"/>
                            </a:rPr>
                            <m:t> | </m:t>
                          </m:r>
                          <m:sSub>
                            <m:sSubPr>
                              <m:ctrlPr>
                                <a:rPr lang="en-US" b="0" i="1" smtClean="0">
                                  <a:solidFill>
                                    <a:srgbClr val="7030A0"/>
                                  </a:solidFill>
                                  <a:latin typeface="Cambria Math" panose="02040503050406030204" pitchFamily="18" charset="0"/>
                                </a:rPr>
                              </m:ctrlPr>
                            </m:sSubPr>
                            <m:e>
                              <m:r>
                                <a:rPr lang="en-US" b="0" i="1" smtClean="0">
                                  <a:solidFill>
                                    <a:srgbClr val="7030A0"/>
                                  </a:solidFill>
                                  <a:latin typeface="Cambria Math" panose="02040503050406030204" pitchFamily="18" charset="0"/>
                                </a:rPr>
                                <m:t>𝑥</m:t>
                              </m:r>
                            </m:e>
                            <m:sub>
                              <m:r>
                                <a:rPr lang="en-US" b="0" i="1" smtClean="0">
                                  <a:solidFill>
                                    <a:srgbClr val="7030A0"/>
                                  </a:solidFill>
                                  <a:latin typeface="Cambria Math" panose="02040503050406030204" pitchFamily="18" charset="0"/>
                                </a:rPr>
                                <m:t>1</m:t>
                              </m:r>
                            </m:sub>
                          </m:sSub>
                          <m:r>
                            <a:rPr lang="en-US" b="0" i="1" smtClean="0">
                              <a:solidFill>
                                <a:srgbClr val="7030A0"/>
                              </a:solidFill>
                              <a:latin typeface="Cambria Math" panose="02040503050406030204" pitchFamily="18" charset="0"/>
                            </a:rPr>
                            <m:t>,…</m:t>
                          </m:r>
                          <m:sSub>
                            <m:sSubPr>
                              <m:ctrlPr>
                                <a:rPr lang="en-US" b="0" i="1" smtClean="0">
                                  <a:solidFill>
                                    <a:srgbClr val="7030A0"/>
                                  </a:solidFill>
                                  <a:latin typeface="Cambria Math" panose="02040503050406030204" pitchFamily="18" charset="0"/>
                                </a:rPr>
                              </m:ctrlPr>
                            </m:sSubPr>
                            <m:e>
                              <m:r>
                                <a:rPr lang="en-US" b="0" i="1" smtClean="0">
                                  <a:solidFill>
                                    <a:srgbClr val="7030A0"/>
                                  </a:solidFill>
                                  <a:latin typeface="Cambria Math" panose="02040503050406030204" pitchFamily="18" charset="0"/>
                                </a:rPr>
                                <m:t>𝑥</m:t>
                              </m:r>
                            </m:e>
                            <m:sub>
                              <m:r>
                                <a:rPr lang="en-US" b="0" i="1" smtClean="0">
                                  <a:solidFill>
                                    <a:srgbClr val="7030A0"/>
                                  </a:solidFill>
                                  <a:latin typeface="Cambria Math" panose="02040503050406030204" pitchFamily="18" charset="0"/>
                                </a:rPr>
                                <m:t>𝑖</m:t>
                              </m:r>
                              <m:r>
                                <a:rPr lang="en-US" b="0" i="1" smtClean="0">
                                  <a:solidFill>
                                    <a:srgbClr val="7030A0"/>
                                  </a:solidFill>
                                  <a:latin typeface="Cambria Math" panose="02040503050406030204" pitchFamily="18" charset="0"/>
                                </a:rPr>
                                <m:t>−1</m:t>
                              </m:r>
                            </m:sub>
                          </m:sSub>
                        </m:e>
                      </m:d>
                      <m:r>
                        <a:rPr lang="en-US" b="0" i="1" smtClean="0">
                          <a:solidFill>
                            <a:srgbClr val="7030A0"/>
                          </a:solidFill>
                          <a:latin typeface="Cambria Math" panose="02040503050406030204" pitchFamily="18" charset="0"/>
                        </a:rPr>
                        <m:t>=</m:t>
                      </m:r>
                      <m:f>
                        <m:fPr>
                          <m:ctrlPr>
                            <a:rPr lang="en-US" b="0" i="1" smtClean="0">
                              <a:solidFill>
                                <a:srgbClr val="7030A0"/>
                              </a:solidFill>
                              <a:latin typeface="Cambria Math" panose="02040503050406030204" pitchFamily="18" charset="0"/>
                            </a:rPr>
                          </m:ctrlPr>
                        </m:fPr>
                        <m:num>
                          <m:r>
                            <a:rPr lang="en-US" b="0" i="1" smtClean="0">
                              <a:solidFill>
                                <a:srgbClr val="7030A0"/>
                              </a:solidFill>
                              <a:latin typeface="Cambria Math" panose="02040503050406030204" pitchFamily="18" charset="0"/>
                            </a:rPr>
                            <m:t>1</m:t>
                          </m:r>
                        </m:num>
                        <m:den>
                          <m:d>
                            <m:dPr>
                              <m:begChr m:val="|"/>
                              <m:endChr m:val="|"/>
                              <m:ctrlPr>
                                <a:rPr lang="en-US" b="0" i="1" smtClean="0">
                                  <a:solidFill>
                                    <a:srgbClr val="7030A0"/>
                                  </a:solidFill>
                                  <a:latin typeface="Cambria Math" panose="02040503050406030204" pitchFamily="18" charset="0"/>
                                </a:rPr>
                              </m:ctrlPr>
                            </m:dPr>
                            <m:e>
                              <m:acc>
                                <m:accPr>
                                  <m:chr m:val="̅"/>
                                  <m:ctrlPr>
                                    <a:rPr lang="en-US" i="1">
                                      <a:solidFill>
                                        <a:srgbClr val="7030A0"/>
                                      </a:solidFill>
                                      <a:latin typeface="Cambria Math" panose="02040503050406030204" pitchFamily="18" charset="0"/>
                                    </a:rPr>
                                  </m:ctrlPr>
                                </m:accPr>
                                <m:e>
                                  <m:r>
                                    <a:rPr lang="en-US" i="1">
                                      <a:solidFill>
                                        <a:srgbClr val="7030A0"/>
                                      </a:solidFill>
                                      <a:latin typeface="Cambria Math" panose="02040503050406030204" pitchFamily="18" charset="0"/>
                                      <a:ea typeface="Cambria Math" panose="02040503050406030204" pitchFamily="18" charset="0"/>
                                    </a:rPr>
                                    <m:t>𝒱</m:t>
                                  </m:r>
                                </m:e>
                              </m:acc>
                            </m:e>
                          </m:d>
                        </m:den>
                      </m:f>
                    </m:oMath>
                  </m:oMathPara>
                </a14:m>
                <a:endParaRPr lang="en-US" dirty="0"/>
              </a:p>
              <a:p>
                <a:r>
                  <a:rPr lang="en-US" b="1" dirty="0"/>
                  <a:t>What is the perplexity? </a:t>
                </a:r>
                <a:r>
                  <a:rPr lang="en-US" dirty="0">
                    <a:solidFill>
                      <a:schemeClr val="tx1"/>
                    </a:solidFill>
                  </a:rPr>
                  <a:t>Denote </a:t>
                </a:r>
                <a14:m>
                  <m:oMath xmlns:m="http://schemas.openxmlformats.org/officeDocument/2006/math">
                    <m:r>
                      <a:rPr lang="en-US" b="0" i="1" smtClean="0">
                        <a:solidFill>
                          <a:schemeClr val="tx1"/>
                        </a:solidFill>
                        <a:latin typeface="Cambria Math" panose="02040503050406030204" pitchFamily="18" charset="0"/>
                      </a:rPr>
                      <m:t>𝑁</m:t>
                    </m:r>
                    <m:r>
                      <a:rPr lang="en-US" b="0" i="1" smtClean="0">
                        <a:solidFill>
                          <a:schemeClr val="tx1"/>
                        </a:solidFill>
                        <a:latin typeface="Cambria Math" panose="02040503050406030204" pitchFamily="18" charset="0"/>
                      </a:rPr>
                      <m:t>=</m:t>
                    </m:r>
                    <m:d>
                      <m:dPr>
                        <m:begChr m:val="|"/>
                        <m:endChr m:val="|"/>
                        <m:ctrlPr>
                          <a:rPr lang="en-US" i="1">
                            <a:solidFill>
                              <a:schemeClr val="tx1"/>
                            </a:solidFill>
                            <a:latin typeface="Cambria Math" panose="02040503050406030204" pitchFamily="18" charset="0"/>
                          </a:rPr>
                        </m:ctrlPr>
                      </m:dPr>
                      <m:e>
                        <m:acc>
                          <m:accPr>
                            <m:chr m:val="̅"/>
                            <m:ctrlPr>
                              <a:rPr lang="en-US" i="1">
                                <a:solidFill>
                                  <a:schemeClr val="tx1"/>
                                </a:solidFill>
                                <a:latin typeface="Cambria Math" panose="02040503050406030204" pitchFamily="18" charset="0"/>
                              </a:rPr>
                            </m:ctrlPr>
                          </m:accPr>
                          <m:e>
                            <m:r>
                              <a:rPr lang="en-US" i="1">
                                <a:solidFill>
                                  <a:schemeClr val="tx1"/>
                                </a:solidFill>
                                <a:latin typeface="Cambria Math" panose="02040503050406030204" pitchFamily="18" charset="0"/>
                                <a:ea typeface="Cambria Math" panose="02040503050406030204" pitchFamily="18" charset="0"/>
                              </a:rPr>
                              <m:t>𝒱</m:t>
                            </m:r>
                          </m:e>
                        </m:acc>
                      </m:e>
                    </m:d>
                  </m:oMath>
                </a14:m>
                <a:r>
                  <a:rPr lang="en-US" dirty="0">
                    <a:solidFill>
                      <a:schemeClr val="tx1"/>
                    </a:solidFill>
                  </a:rPr>
                  <a:t>:</a:t>
                </a:r>
                <a:endParaRPr lang="en-US" dirty="0"/>
              </a:p>
            </p:txBody>
          </p:sp>
        </mc:Choice>
        <mc:Fallback xmlns="">
          <p:sp>
            <p:nvSpPr>
              <p:cNvPr id="3" name="Text Placeholder 2">
                <a:extLst>
                  <a:ext uri="{FF2B5EF4-FFF2-40B4-BE49-F238E27FC236}">
                    <a16:creationId xmlns:a16="http://schemas.microsoft.com/office/drawing/2014/main" id="{8AF8A554-E14F-0B14-16E0-49EA3A424F19}"/>
                  </a:ext>
                </a:extLst>
              </p:cNvPr>
              <p:cNvSpPr>
                <a:spLocks noGrp="1" noRot="1" noChangeAspect="1" noMove="1" noResize="1" noEditPoints="1" noAdjustHandles="1" noChangeArrowheads="1" noChangeShapeType="1" noTextEdit="1"/>
              </p:cNvSpPr>
              <p:nvPr>
                <p:ph type="body" idx="1"/>
              </p:nvPr>
            </p:nvSpPr>
            <p:spPr>
              <a:blipFill>
                <a:blip r:embed="rId2"/>
                <a:stretch>
                  <a:fillRect/>
                </a:stretch>
              </a:blipFill>
            </p:spPr>
            <p:txBody>
              <a:bodyPr/>
              <a:lstStyle/>
              <a:p>
                <a:r>
                  <a:rPr lang="en-US">
                    <a:noFill/>
                  </a:rPr>
                  <a:t> </a:t>
                </a:r>
              </a:p>
            </p:txBody>
          </p:sp>
        </mc:Fallback>
      </mc:AlternateContent>
      <p:pic>
        <p:nvPicPr>
          <p:cNvPr id="6" name="Google Shape;443;p55" descr="\text{PPL} = 2^{-\frac{\log_2 p(S)}{M}}" title="MathEquation,#00aff0">
            <a:extLst>
              <a:ext uri="{FF2B5EF4-FFF2-40B4-BE49-F238E27FC236}">
                <a16:creationId xmlns:a16="http://schemas.microsoft.com/office/drawing/2014/main" id="{BB74FDDE-DEB5-7FD8-94EF-83B5239DED9B}"/>
              </a:ext>
            </a:extLst>
          </p:cNvPr>
          <p:cNvPicPr preferRelativeResize="0"/>
          <p:nvPr/>
        </p:nvPicPr>
        <p:blipFill>
          <a:blip r:embed="rId3">
            <a:alphaModFix/>
          </a:blip>
          <a:stretch>
            <a:fillRect/>
          </a:stretch>
        </p:blipFill>
        <p:spPr>
          <a:xfrm>
            <a:off x="5441578" y="366132"/>
            <a:ext cx="2396226" cy="635000"/>
          </a:xfrm>
          <a:prstGeom prst="rect">
            <a:avLst/>
          </a:prstGeom>
          <a:noFill/>
          <a:ln>
            <a:noFill/>
          </a:ln>
        </p:spPr>
      </p:pic>
      <p:sp>
        <p:nvSpPr>
          <p:cNvPr id="11" name="Google Shape;464;p57">
            <a:extLst>
              <a:ext uri="{FF2B5EF4-FFF2-40B4-BE49-F238E27FC236}">
                <a16:creationId xmlns:a16="http://schemas.microsoft.com/office/drawing/2014/main" id="{9B3979C8-DE31-9AEC-8D14-4DFDE90C725E}"/>
              </a:ext>
            </a:extLst>
          </p:cNvPr>
          <p:cNvSpPr txBox="1"/>
          <p:nvPr/>
        </p:nvSpPr>
        <p:spPr>
          <a:xfrm>
            <a:off x="518099" y="3716020"/>
            <a:ext cx="8296200" cy="1034400"/>
          </a:xfrm>
          <a:prstGeom prst="rect">
            <a:avLst/>
          </a:prstGeom>
          <a:blipFill rotWithShape="1">
            <a:blip r:embed="rId4">
              <a:alphaModFix/>
            </a:blip>
            <a:stretch>
              <a:fillRect t="-24539"/>
            </a:stretch>
          </a:blipFill>
          <a:ln>
            <a:noFill/>
          </a:ln>
        </p:spPr>
        <p:txBody>
          <a:bodyPr spcFirstLastPara="1" wrap="square" lIns="68575" tIns="34275" rIns="68575" bIns="34275" anchor="t" anchorCtr="0">
            <a:noAutofit/>
          </a:bodyPr>
          <a:lstStyle/>
          <a:p>
            <a:pPr marL="0" marR="0" lvl="0" indent="0" algn="l" rtl="0">
              <a:spcBef>
                <a:spcPts val="0"/>
              </a:spcBef>
              <a:spcAft>
                <a:spcPts val="0"/>
              </a:spcAft>
              <a:buNone/>
            </a:pPr>
            <a:r>
              <a:rPr lang="en-GB" sz="1400">
                <a:latin typeface="Century Gothic"/>
                <a:ea typeface="Century Gothic"/>
                <a:cs typeface="Century Gothic"/>
                <a:sym typeface="Century Gothic"/>
              </a:rPr>
              <a:t> </a:t>
            </a:r>
            <a:endParaRPr sz="1100"/>
          </a:p>
        </p:txBody>
      </p:sp>
    </p:spTree>
    <p:extLst>
      <p:ext uri="{BB962C8B-B14F-4D97-AF65-F5344CB8AC3E}">
        <p14:creationId xmlns:p14="http://schemas.microsoft.com/office/powerpoint/2010/main" val="1840358113"/>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FD63E8-01CE-3753-49D5-DE6D0D1B531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4B5E838-E210-DC6F-3C0F-4A837C93130A}"/>
              </a:ext>
            </a:extLst>
          </p:cNvPr>
          <p:cNvSpPr>
            <a:spLocks noGrp="1"/>
          </p:cNvSpPr>
          <p:nvPr>
            <p:ph type="title"/>
          </p:nvPr>
        </p:nvSpPr>
        <p:spPr/>
        <p:txBody>
          <a:bodyPr/>
          <a:lstStyle/>
          <a:p>
            <a:r>
              <a:rPr lang="en-US" dirty="0"/>
              <a:t>Perplexity: Intuition (2)</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01F0A564-CA6F-C90A-A636-0A646B4A197E}"/>
                  </a:ext>
                </a:extLst>
              </p:cNvPr>
              <p:cNvSpPr>
                <a:spLocks noGrp="1"/>
              </p:cNvSpPr>
              <p:nvPr>
                <p:ph type="body" idx="1"/>
              </p:nvPr>
            </p:nvSpPr>
            <p:spPr/>
            <p:txBody>
              <a:bodyPr/>
              <a:lstStyle/>
              <a:p>
                <a:r>
                  <a:rPr lang="en-US" dirty="0"/>
                  <a:t>Suppose we have a naïve language model that assigns each word in the sequence uniform probability, regardless of the history:</a:t>
                </a:r>
              </a:p>
              <a:p>
                <a:pPr marL="11430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𝑖</m:t>
                      </m:r>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𝑖</m:t>
                          </m:r>
                        </m:sub>
                      </m:sSub>
                      <m:r>
                        <a:rPr lang="en-US" b="0" i="1" smtClean="0">
                          <a:latin typeface="Cambria Math" panose="02040503050406030204" pitchFamily="18" charset="0"/>
                        </a:rPr>
                        <m:t>∈</m:t>
                      </m:r>
                      <m:acc>
                        <m:accPr>
                          <m:chr m:val="̅"/>
                          <m:ctrlPr>
                            <a:rPr lang="en-US" b="0" i="1" smtClean="0">
                              <a:latin typeface="Cambria Math" panose="02040503050406030204" pitchFamily="18" charset="0"/>
                            </a:rPr>
                          </m:ctrlPr>
                        </m:accPr>
                        <m:e>
                          <m:r>
                            <a:rPr lang="en-US" b="0" i="1" smtClean="0">
                              <a:latin typeface="Cambria Math" panose="02040503050406030204" pitchFamily="18" charset="0"/>
                              <a:ea typeface="Cambria Math" panose="02040503050406030204" pitchFamily="18" charset="0"/>
                            </a:rPr>
                            <m:t>𝒱</m:t>
                          </m:r>
                        </m:e>
                      </m:acc>
                      <m:r>
                        <a:rPr lang="en-US" b="0" i="1" smtClean="0">
                          <a:latin typeface="Cambria Math" panose="02040503050406030204" pitchFamily="18" charset="0"/>
                        </a:rPr>
                        <m:t>:    </m:t>
                      </m:r>
                      <m:r>
                        <a:rPr lang="en-US" b="0" i="1" smtClean="0">
                          <a:solidFill>
                            <a:srgbClr val="7030A0"/>
                          </a:solidFill>
                          <a:latin typeface="Cambria Math" panose="02040503050406030204" pitchFamily="18" charset="0"/>
                        </a:rPr>
                        <m:t>𝑝</m:t>
                      </m:r>
                      <m:d>
                        <m:dPr>
                          <m:ctrlPr>
                            <a:rPr lang="en-US" b="0" i="1" smtClean="0">
                              <a:solidFill>
                                <a:srgbClr val="7030A0"/>
                              </a:solidFill>
                              <a:latin typeface="Cambria Math" panose="02040503050406030204" pitchFamily="18" charset="0"/>
                            </a:rPr>
                          </m:ctrlPr>
                        </m:dPr>
                        <m:e>
                          <m:sSub>
                            <m:sSubPr>
                              <m:ctrlPr>
                                <a:rPr lang="en-US" b="0" i="1" smtClean="0">
                                  <a:solidFill>
                                    <a:srgbClr val="7030A0"/>
                                  </a:solidFill>
                                  <a:latin typeface="Cambria Math" panose="02040503050406030204" pitchFamily="18" charset="0"/>
                                </a:rPr>
                              </m:ctrlPr>
                            </m:sSubPr>
                            <m:e>
                              <m:r>
                                <a:rPr lang="en-US" b="0" i="1" smtClean="0">
                                  <a:solidFill>
                                    <a:srgbClr val="7030A0"/>
                                  </a:solidFill>
                                  <a:latin typeface="Cambria Math" panose="02040503050406030204" pitchFamily="18" charset="0"/>
                                </a:rPr>
                                <m:t>𝑥</m:t>
                              </m:r>
                            </m:e>
                            <m:sub>
                              <m:r>
                                <a:rPr lang="en-US" b="0" i="1" smtClean="0">
                                  <a:solidFill>
                                    <a:srgbClr val="7030A0"/>
                                  </a:solidFill>
                                  <a:latin typeface="Cambria Math" panose="02040503050406030204" pitchFamily="18" charset="0"/>
                                </a:rPr>
                                <m:t>𝑖</m:t>
                              </m:r>
                            </m:sub>
                          </m:sSub>
                          <m:r>
                            <a:rPr lang="en-US" b="0" i="1" smtClean="0">
                              <a:solidFill>
                                <a:srgbClr val="7030A0"/>
                              </a:solidFill>
                              <a:latin typeface="Cambria Math" panose="02040503050406030204" pitchFamily="18" charset="0"/>
                            </a:rPr>
                            <m:t> | </m:t>
                          </m:r>
                          <m:sSub>
                            <m:sSubPr>
                              <m:ctrlPr>
                                <a:rPr lang="en-US" b="0" i="1" smtClean="0">
                                  <a:solidFill>
                                    <a:srgbClr val="7030A0"/>
                                  </a:solidFill>
                                  <a:latin typeface="Cambria Math" panose="02040503050406030204" pitchFamily="18" charset="0"/>
                                </a:rPr>
                              </m:ctrlPr>
                            </m:sSubPr>
                            <m:e>
                              <m:r>
                                <a:rPr lang="en-US" b="0" i="1" smtClean="0">
                                  <a:solidFill>
                                    <a:srgbClr val="7030A0"/>
                                  </a:solidFill>
                                  <a:latin typeface="Cambria Math" panose="02040503050406030204" pitchFamily="18" charset="0"/>
                                </a:rPr>
                                <m:t>𝑥</m:t>
                              </m:r>
                            </m:e>
                            <m:sub>
                              <m:r>
                                <a:rPr lang="en-US" b="0" i="1" smtClean="0">
                                  <a:solidFill>
                                    <a:srgbClr val="7030A0"/>
                                  </a:solidFill>
                                  <a:latin typeface="Cambria Math" panose="02040503050406030204" pitchFamily="18" charset="0"/>
                                </a:rPr>
                                <m:t>1</m:t>
                              </m:r>
                            </m:sub>
                          </m:sSub>
                          <m:r>
                            <a:rPr lang="en-US" b="0" i="1" smtClean="0">
                              <a:solidFill>
                                <a:srgbClr val="7030A0"/>
                              </a:solidFill>
                              <a:latin typeface="Cambria Math" panose="02040503050406030204" pitchFamily="18" charset="0"/>
                            </a:rPr>
                            <m:t>,…</m:t>
                          </m:r>
                          <m:sSub>
                            <m:sSubPr>
                              <m:ctrlPr>
                                <a:rPr lang="en-US" b="0" i="1" smtClean="0">
                                  <a:solidFill>
                                    <a:srgbClr val="7030A0"/>
                                  </a:solidFill>
                                  <a:latin typeface="Cambria Math" panose="02040503050406030204" pitchFamily="18" charset="0"/>
                                </a:rPr>
                              </m:ctrlPr>
                            </m:sSubPr>
                            <m:e>
                              <m:r>
                                <a:rPr lang="en-US" b="0" i="1" smtClean="0">
                                  <a:solidFill>
                                    <a:srgbClr val="7030A0"/>
                                  </a:solidFill>
                                  <a:latin typeface="Cambria Math" panose="02040503050406030204" pitchFamily="18" charset="0"/>
                                </a:rPr>
                                <m:t>𝑥</m:t>
                              </m:r>
                            </m:e>
                            <m:sub>
                              <m:r>
                                <a:rPr lang="en-US" b="0" i="1" smtClean="0">
                                  <a:solidFill>
                                    <a:srgbClr val="7030A0"/>
                                  </a:solidFill>
                                  <a:latin typeface="Cambria Math" panose="02040503050406030204" pitchFamily="18" charset="0"/>
                                </a:rPr>
                                <m:t>𝑖</m:t>
                              </m:r>
                              <m:r>
                                <a:rPr lang="en-US" b="0" i="1" smtClean="0">
                                  <a:solidFill>
                                    <a:srgbClr val="7030A0"/>
                                  </a:solidFill>
                                  <a:latin typeface="Cambria Math" panose="02040503050406030204" pitchFamily="18" charset="0"/>
                                </a:rPr>
                                <m:t>−1</m:t>
                              </m:r>
                            </m:sub>
                          </m:sSub>
                        </m:e>
                      </m:d>
                      <m:r>
                        <a:rPr lang="en-US" b="0" i="1" smtClean="0">
                          <a:solidFill>
                            <a:srgbClr val="7030A0"/>
                          </a:solidFill>
                          <a:latin typeface="Cambria Math" panose="02040503050406030204" pitchFamily="18" charset="0"/>
                        </a:rPr>
                        <m:t>=</m:t>
                      </m:r>
                      <m:f>
                        <m:fPr>
                          <m:ctrlPr>
                            <a:rPr lang="en-US" b="0" i="1" smtClean="0">
                              <a:solidFill>
                                <a:srgbClr val="7030A0"/>
                              </a:solidFill>
                              <a:latin typeface="Cambria Math" panose="02040503050406030204" pitchFamily="18" charset="0"/>
                            </a:rPr>
                          </m:ctrlPr>
                        </m:fPr>
                        <m:num>
                          <m:r>
                            <a:rPr lang="en-US" b="0" i="1" smtClean="0">
                              <a:solidFill>
                                <a:srgbClr val="7030A0"/>
                              </a:solidFill>
                              <a:latin typeface="Cambria Math" panose="02040503050406030204" pitchFamily="18" charset="0"/>
                            </a:rPr>
                            <m:t>1</m:t>
                          </m:r>
                        </m:num>
                        <m:den>
                          <m:d>
                            <m:dPr>
                              <m:begChr m:val="|"/>
                              <m:endChr m:val="|"/>
                              <m:ctrlPr>
                                <a:rPr lang="en-US" b="0" i="1" smtClean="0">
                                  <a:solidFill>
                                    <a:srgbClr val="7030A0"/>
                                  </a:solidFill>
                                  <a:latin typeface="Cambria Math" panose="02040503050406030204" pitchFamily="18" charset="0"/>
                                </a:rPr>
                              </m:ctrlPr>
                            </m:dPr>
                            <m:e>
                              <m:acc>
                                <m:accPr>
                                  <m:chr m:val="̅"/>
                                  <m:ctrlPr>
                                    <a:rPr lang="en-US" i="1">
                                      <a:solidFill>
                                        <a:srgbClr val="7030A0"/>
                                      </a:solidFill>
                                      <a:latin typeface="Cambria Math" panose="02040503050406030204" pitchFamily="18" charset="0"/>
                                    </a:rPr>
                                  </m:ctrlPr>
                                </m:accPr>
                                <m:e>
                                  <m:r>
                                    <a:rPr lang="en-US" i="1">
                                      <a:solidFill>
                                        <a:srgbClr val="7030A0"/>
                                      </a:solidFill>
                                      <a:latin typeface="Cambria Math" panose="02040503050406030204" pitchFamily="18" charset="0"/>
                                      <a:ea typeface="Cambria Math" panose="02040503050406030204" pitchFamily="18" charset="0"/>
                                    </a:rPr>
                                    <m:t>𝒱</m:t>
                                  </m:r>
                                </m:e>
                              </m:acc>
                            </m:e>
                          </m:d>
                        </m:den>
                      </m:f>
                    </m:oMath>
                  </m:oMathPara>
                </a14:m>
                <a:endParaRPr lang="en-US" dirty="0"/>
              </a:p>
              <a:p>
                <a:r>
                  <a:rPr lang="en-US" b="1" dirty="0"/>
                  <a:t>What is the perplexity? </a:t>
                </a:r>
                <a:r>
                  <a:rPr lang="en-US" dirty="0">
                    <a:solidFill>
                      <a:schemeClr val="tx1"/>
                    </a:solidFill>
                  </a:rPr>
                  <a:t>Denote </a:t>
                </a:r>
                <a14:m>
                  <m:oMath xmlns:m="http://schemas.openxmlformats.org/officeDocument/2006/math">
                    <m:r>
                      <a:rPr lang="en-US" b="0" i="1" smtClean="0">
                        <a:solidFill>
                          <a:schemeClr val="tx1"/>
                        </a:solidFill>
                        <a:latin typeface="Cambria Math" panose="02040503050406030204" pitchFamily="18" charset="0"/>
                      </a:rPr>
                      <m:t>𝑁</m:t>
                    </m:r>
                    <m:r>
                      <a:rPr lang="en-US" b="0" i="1" smtClean="0">
                        <a:solidFill>
                          <a:schemeClr val="tx1"/>
                        </a:solidFill>
                        <a:latin typeface="Cambria Math" panose="02040503050406030204" pitchFamily="18" charset="0"/>
                      </a:rPr>
                      <m:t>=</m:t>
                    </m:r>
                    <m:d>
                      <m:dPr>
                        <m:begChr m:val="|"/>
                        <m:endChr m:val="|"/>
                        <m:ctrlPr>
                          <a:rPr lang="en-US" i="1">
                            <a:solidFill>
                              <a:schemeClr val="tx1"/>
                            </a:solidFill>
                            <a:latin typeface="Cambria Math" panose="02040503050406030204" pitchFamily="18" charset="0"/>
                          </a:rPr>
                        </m:ctrlPr>
                      </m:dPr>
                      <m:e>
                        <m:acc>
                          <m:accPr>
                            <m:chr m:val="̅"/>
                            <m:ctrlPr>
                              <a:rPr lang="en-US" i="1">
                                <a:solidFill>
                                  <a:schemeClr val="tx1"/>
                                </a:solidFill>
                                <a:latin typeface="Cambria Math" panose="02040503050406030204" pitchFamily="18" charset="0"/>
                              </a:rPr>
                            </m:ctrlPr>
                          </m:accPr>
                          <m:e>
                            <m:r>
                              <a:rPr lang="en-US" i="1">
                                <a:solidFill>
                                  <a:schemeClr val="tx1"/>
                                </a:solidFill>
                                <a:latin typeface="Cambria Math" panose="02040503050406030204" pitchFamily="18" charset="0"/>
                                <a:ea typeface="Cambria Math" panose="02040503050406030204" pitchFamily="18" charset="0"/>
                              </a:rPr>
                              <m:t>𝒱</m:t>
                            </m:r>
                          </m:e>
                        </m:acc>
                      </m:e>
                    </m:d>
                  </m:oMath>
                </a14:m>
                <a:r>
                  <a:rPr lang="en-US" dirty="0">
                    <a:solidFill>
                      <a:schemeClr val="tx1"/>
                    </a:solidFill>
                  </a:rPr>
                  <a:t>:</a:t>
                </a:r>
                <a:endParaRPr lang="en-US" dirty="0"/>
              </a:p>
            </p:txBody>
          </p:sp>
        </mc:Choice>
        <mc:Fallback xmlns="">
          <p:sp>
            <p:nvSpPr>
              <p:cNvPr id="3" name="Text Placeholder 2">
                <a:extLst>
                  <a:ext uri="{FF2B5EF4-FFF2-40B4-BE49-F238E27FC236}">
                    <a16:creationId xmlns:a16="http://schemas.microsoft.com/office/drawing/2014/main" id="{01F0A564-CA6F-C90A-A636-0A646B4A197E}"/>
                  </a:ext>
                </a:extLst>
              </p:cNvPr>
              <p:cNvSpPr>
                <a:spLocks noGrp="1" noRot="1" noChangeAspect="1" noMove="1" noResize="1" noEditPoints="1" noAdjustHandles="1" noChangeArrowheads="1" noChangeShapeType="1" noTextEdit="1"/>
              </p:cNvSpPr>
              <p:nvPr>
                <p:ph type="body" idx="1"/>
              </p:nvPr>
            </p:nvSpPr>
            <p:spPr>
              <a:blipFill>
                <a:blip r:embed="rId2"/>
                <a:stretch>
                  <a:fillRect/>
                </a:stretch>
              </a:blipFill>
            </p:spPr>
            <p:txBody>
              <a:bodyPr/>
              <a:lstStyle/>
              <a:p>
                <a:r>
                  <a:rPr lang="en-US">
                    <a:noFill/>
                  </a:rPr>
                  <a:t> </a:t>
                </a:r>
              </a:p>
            </p:txBody>
          </p:sp>
        </mc:Fallback>
      </mc:AlternateContent>
      <p:pic>
        <p:nvPicPr>
          <p:cNvPr id="6" name="Google Shape;443;p55" descr="\text{PPL} = 2^{-\frac{\log_2 p(S)}{M}}" title="MathEquation,#00aff0">
            <a:extLst>
              <a:ext uri="{FF2B5EF4-FFF2-40B4-BE49-F238E27FC236}">
                <a16:creationId xmlns:a16="http://schemas.microsoft.com/office/drawing/2014/main" id="{C2A21485-D9D4-82DE-43B1-98051ED87AE5}"/>
              </a:ext>
            </a:extLst>
          </p:cNvPr>
          <p:cNvPicPr preferRelativeResize="0"/>
          <p:nvPr/>
        </p:nvPicPr>
        <p:blipFill>
          <a:blip r:embed="rId3">
            <a:alphaModFix/>
          </a:blip>
          <a:stretch>
            <a:fillRect/>
          </a:stretch>
        </p:blipFill>
        <p:spPr>
          <a:xfrm>
            <a:off x="5441578" y="366132"/>
            <a:ext cx="2396226" cy="635000"/>
          </a:xfrm>
          <a:prstGeom prst="rect">
            <a:avLst/>
          </a:prstGeom>
          <a:noFill/>
          <a:ln>
            <a:noFill/>
          </a:ln>
        </p:spPr>
      </p:pic>
      <p:sp>
        <p:nvSpPr>
          <p:cNvPr id="11" name="Google Shape;464;p57">
            <a:extLst>
              <a:ext uri="{FF2B5EF4-FFF2-40B4-BE49-F238E27FC236}">
                <a16:creationId xmlns:a16="http://schemas.microsoft.com/office/drawing/2014/main" id="{79D293E0-C955-767B-BC9E-C3F610216ED4}"/>
              </a:ext>
            </a:extLst>
          </p:cNvPr>
          <p:cNvSpPr txBox="1"/>
          <p:nvPr/>
        </p:nvSpPr>
        <p:spPr>
          <a:xfrm>
            <a:off x="518099" y="3716020"/>
            <a:ext cx="8296200" cy="1034400"/>
          </a:xfrm>
          <a:prstGeom prst="rect">
            <a:avLst/>
          </a:prstGeom>
          <a:blipFill rotWithShape="1">
            <a:blip r:embed="rId4">
              <a:alphaModFix/>
            </a:blip>
            <a:stretch>
              <a:fillRect t="-24539"/>
            </a:stretch>
          </a:blipFill>
          <a:ln>
            <a:noFill/>
          </a:ln>
        </p:spPr>
        <p:txBody>
          <a:bodyPr spcFirstLastPara="1" wrap="square" lIns="68575" tIns="34275" rIns="68575" bIns="34275" anchor="t" anchorCtr="0">
            <a:noAutofit/>
          </a:bodyPr>
          <a:lstStyle/>
          <a:p>
            <a:pPr marL="0" marR="0" lvl="0" indent="0" algn="l" rtl="0">
              <a:spcBef>
                <a:spcPts val="0"/>
              </a:spcBef>
              <a:spcAft>
                <a:spcPts val="0"/>
              </a:spcAft>
              <a:buNone/>
            </a:pPr>
            <a:r>
              <a:rPr lang="en-GB" sz="1400">
                <a:latin typeface="Century Gothic"/>
                <a:ea typeface="Century Gothic"/>
                <a:cs typeface="Century Gothic"/>
                <a:sym typeface="Century Gothic"/>
              </a:rPr>
              <a:t> </a:t>
            </a:r>
            <a:endParaRPr sz="1100"/>
          </a:p>
        </p:txBody>
      </p:sp>
      <p:sp>
        <p:nvSpPr>
          <p:cNvPr id="13" name="TextBox 12">
            <a:extLst>
              <a:ext uri="{FF2B5EF4-FFF2-40B4-BE49-F238E27FC236}">
                <a16:creationId xmlns:a16="http://schemas.microsoft.com/office/drawing/2014/main" id="{26F573BC-EC72-ACD4-BD47-85622BBA9AF8}"/>
              </a:ext>
            </a:extLst>
          </p:cNvPr>
          <p:cNvSpPr txBox="1"/>
          <p:nvPr/>
        </p:nvSpPr>
        <p:spPr>
          <a:xfrm>
            <a:off x="6989674" y="2326027"/>
            <a:ext cx="1696260" cy="1339406"/>
          </a:xfrm>
          <a:prstGeom prst="rect">
            <a:avLst/>
          </a:prstGeom>
          <a:noFill/>
          <a:ln>
            <a:solidFill>
              <a:srgbClr val="00B0F0"/>
            </a:solidFill>
          </a:ln>
        </p:spPr>
        <p:txBody>
          <a:bodyPr wrap="square">
            <a:spAutoFit/>
          </a:bodyPr>
          <a:lstStyle/>
          <a:p>
            <a:pPr marL="0" lvl="0" indent="0" algn="ctr" rtl="0">
              <a:lnSpc>
                <a:spcPct val="115000"/>
              </a:lnSpc>
              <a:spcBef>
                <a:spcPts val="1000"/>
              </a:spcBef>
              <a:spcAft>
                <a:spcPts val="1000"/>
              </a:spcAft>
              <a:buNone/>
            </a:pPr>
            <a:r>
              <a:rPr lang="en-GB" sz="1800" dirty="0">
                <a:solidFill>
                  <a:srgbClr val="00B0F0"/>
                </a:solidFill>
              </a:rPr>
              <a:t>Perplexity is the “effective” vocabulary size</a:t>
            </a:r>
          </a:p>
        </p:txBody>
      </p:sp>
    </p:spTree>
    <p:extLst>
      <p:ext uri="{BB962C8B-B14F-4D97-AF65-F5344CB8AC3E}">
        <p14:creationId xmlns:p14="http://schemas.microsoft.com/office/powerpoint/2010/main" val="1716552797"/>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Shape 483"/>
        <p:cNvGrpSpPr/>
        <p:nvPr/>
      </p:nvGrpSpPr>
      <p:grpSpPr>
        <a:xfrm>
          <a:off x="0" y="0"/>
          <a:ext cx="0" cy="0"/>
          <a:chOff x="0" y="0"/>
          <a:chExt cx="0" cy="0"/>
        </a:xfrm>
      </p:grpSpPr>
      <p:sp>
        <p:nvSpPr>
          <p:cNvPr id="484" name="Google Shape;484;p59"/>
          <p:cNvSpPr txBox="1">
            <a:spLocks noGrp="1"/>
          </p:cNvSpPr>
          <p:nvPr>
            <p:ph type="title"/>
          </p:nvPr>
        </p:nvSpPr>
        <p:spPr>
          <a:xfrm>
            <a:off x="471488" y="205383"/>
            <a:ext cx="5915100" cy="7458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chemeClr val="dk1"/>
              </a:buClr>
              <a:buSzPts val="3300"/>
              <a:buFont typeface="Century Gothic"/>
              <a:buNone/>
            </a:pPr>
            <a:r>
              <a:rPr lang="en-GB" dirty="0"/>
              <a:t>Some values of perplexity</a:t>
            </a:r>
            <a:endParaRPr dirty="0"/>
          </a:p>
        </p:txBody>
      </p:sp>
      <p:sp>
        <p:nvSpPr>
          <p:cNvPr id="485" name="Google Shape;485;p59"/>
          <p:cNvSpPr txBox="1">
            <a:spLocks noGrp="1"/>
          </p:cNvSpPr>
          <p:nvPr>
            <p:ph type="body" idx="1"/>
          </p:nvPr>
        </p:nvSpPr>
        <p:spPr>
          <a:xfrm>
            <a:off x="330225" y="951183"/>
            <a:ext cx="8361000" cy="3698420"/>
          </a:xfrm>
          <a:prstGeom prst="rect">
            <a:avLst/>
          </a:prstGeom>
          <a:noFill/>
          <a:ln>
            <a:noFill/>
          </a:ln>
        </p:spPr>
        <p:txBody>
          <a:bodyPr spcFirstLastPara="1" wrap="square" lIns="68575" tIns="34275" rIns="68575" bIns="34275" anchor="t" anchorCtr="0">
            <a:normAutofit/>
          </a:bodyPr>
          <a:lstStyle/>
          <a:p>
            <a:pPr marL="457200" lvl="0" indent="-355600" algn="l" rtl="0">
              <a:lnSpc>
                <a:spcPct val="115000"/>
              </a:lnSpc>
              <a:spcBef>
                <a:spcPts val="0"/>
              </a:spcBef>
              <a:spcAft>
                <a:spcPts val="0"/>
              </a:spcAft>
              <a:buSzPts val="2000"/>
              <a:buChar char="●"/>
            </a:pPr>
            <a:r>
              <a:rPr lang="en-GB" dirty="0"/>
              <a:t>Perplexity is highly dependent on data and vocabulary </a:t>
            </a:r>
            <a:r>
              <a:rPr lang="en-GB" sz="1400" i="1" dirty="0"/>
              <a:t>(or tokenization)</a:t>
            </a:r>
          </a:p>
        </p:txBody>
      </p:sp>
    </p:spTree>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Shape 483">
          <a:extLst>
            <a:ext uri="{FF2B5EF4-FFF2-40B4-BE49-F238E27FC236}">
              <a16:creationId xmlns:a16="http://schemas.microsoft.com/office/drawing/2014/main" id="{0F72874A-4441-7E1D-1741-0B6698F1F9C8}"/>
            </a:ext>
          </a:extLst>
        </p:cNvPr>
        <p:cNvGrpSpPr/>
        <p:nvPr/>
      </p:nvGrpSpPr>
      <p:grpSpPr>
        <a:xfrm>
          <a:off x="0" y="0"/>
          <a:ext cx="0" cy="0"/>
          <a:chOff x="0" y="0"/>
          <a:chExt cx="0" cy="0"/>
        </a:xfrm>
      </p:grpSpPr>
      <p:sp>
        <p:nvSpPr>
          <p:cNvPr id="484" name="Google Shape;484;p59">
            <a:extLst>
              <a:ext uri="{FF2B5EF4-FFF2-40B4-BE49-F238E27FC236}">
                <a16:creationId xmlns:a16="http://schemas.microsoft.com/office/drawing/2014/main" id="{1DD1B0CF-8C4B-BE31-3176-01E6A07ACD05}"/>
              </a:ext>
            </a:extLst>
          </p:cNvPr>
          <p:cNvSpPr txBox="1">
            <a:spLocks noGrp="1"/>
          </p:cNvSpPr>
          <p:nvPr>
            <p:ph type="title"/>
          </p:nvPr>
        </p:nvSpPr>
        <p:spPr>
          <a:xfrm>
            <a:off x="471488" y="205383"/>
            <a:ext cx="5915100" cy="7458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chemeClr val="dk1"/>
              </a:buClr>
              <a:buSzPts val="3300"/>
              <a:buFont typeface="Century Gothic"/>
              <a:buNone/>
            </a:pPr>
            <a:r>
              <a:rPr lang="en-GB" dirty="0"/>
              <a:t>Some values of perplexity</a:t>
            </a:r>
            <a:endParaRPr dirty="0"/>
          </a:p>
        </p:txBody>
      </p:sp>
      <p:sp>
        <p:nvSpPr>
          <p:cNvPr id="485" name="Google Shape;485;p59">
            <a:extLst>
              <a:ext uri="{FF2B5EF4-FFF2-40B4-BE49-F238E27FC236}">
                <a16:creationId xmlns:a16="http://schemas.microsoft.com/office/drawing/2014/main" id="{74805B9B-6EEF-20AE-26BB-9981CA7276DC}"/>
              </a:ext>
            </a:extLst>
          </p:cNvPr>
          <p:cNvSpPr txBox="1">
            <a:spLocks noGrp="1"/>
          </p:cNvSpPr>
          <p:nvPr>
            <p:ph type="body" idx="1"/>
          </p:nvPr>
        </p:nvSpPr>
        <p:spPr>
          <a:xfrm>
            <a:off x="330225" y="951183"/>
            <a:ext cx="8361000" cy="3698420"/>
          </a:xfrm>
          <a:prstGeom prst="rect">
            <a:avLst/>
          </a:prstGeom>
          <a:noFill/>
          <a:ln>
            <a:noFill/>
          </a:ln>
        </p:spPr>
        <p:txBody>
          <a:bodyPr spcFirstLastPara="1" wrap="square" lIns="68575" tIns="34275" rIns="68575" bIns="34275" anchor="t" anchorCtr="0">
            <a:normAutofit/>
          </a:bodyPr>
          <a:lstStyle/>
          <a:p>
            <a:pPr marL="457200" lvl="0" indent="-355600" algn="l" rtl="0">
              <a:lnSpc>
                <a:spcPct val="115000"/>
              </a:lnSpc>
              <a:spcBef>
                <a:spcPts val="0"/>
              </a:spcBef>
              <a:spcAft>
                <a:spcPts val="0"/>
              </a:spcAft>
              <a:buSzPts val="2000"/>
              <a:buChar char="●"/>
            </a:pPr>
            <a:r>
              <a:rPr lang="en-GB" dirty="0"/>
              <a:t>Perplexity is highly dependent on data and vocabulary </a:t>
            </a:r>
            <a:r>
              <a:rPr lang="en-GB" sz="1400" i="1" dirty="0"/>
              <a:t>(or tokenization)</a:t>
            </a:r>
          </a:p>
          <a:p>
            <a:pPr marL="457200" lvl="0" indent="-355600" algn="l" rtl="0">
              <a:lnSpc>
                <a:spcPct val="115000"/>
              </a:lnSpc>
              <a:spcBef>
                <a:spcPts val="0"/>
              </a:spcBef>
              <a:spcAft>
                <a:spcPts val="0"/>
              </a:spcAft>
              <a:buSzPts val="2000"/>
              <a:buChar char="●"/>
            </a:pPr>
            <a:r>
              <a:rPr lang="en-GB" dirty="0"/>
              <a:t>Still, some ballpark numbers:</a:t>
            </a:r>
          </a:p>
          <a:p>
            <a:pPr marL="457200" lvl="0" indent="-355600" algn="l" rtl="0">
              <a:lnSpc>
                <a:spcPct val="115000"/>
              </a:lnSpc>
              <a:spcBef>
                <a:spcPts val="0"/>
              </a:spcBef>
              <a:spcAft>
                <a:spcPts val="0"/>
              </a:spcAft>
              <a:buSzPts val="2000"/>
              <a:buChar char="●"/>
            </a:pPr>
            <a:endParaRPr lang="en-GB" sz="200" dirty="0"/>
          </a:p>
          <a:p>
            <a:pPr marL="457200" lvl="0" indent="-355600" algn="l" rtl="0">
              <a:lnSpc>
                <a:spcPct val="115000"/>
              </a:lnSpc>
              <a:spcBef>
                <a:spcPts val="0"/>
              </a:spcBef>
              <a:spcAft>
                <a:spcPts val="0"/>
              </a:spcAft>
              <a:buSzPts val="2000"/>
              <a:buChar char="●"/>
            </a:pPr>
            <a:r>
              <a:rPr lang="en-GB" dirty="0"/>
              <a:t>With |V| = 50000: </a:t>
            </a:r>
          </a:p>
          <a:p>
            <a:pPr lvl="1" indent="-355600">
              <a:lnSpc>
                <a:spcPct val="115000"/>
              </a:lnSpc>
              <a:spcBef>
                <a:spcPts val="0"/>
              </a:spcBef>
              <a:buSzPts val="2000"/>
              <a:buChar char="●"/>
            </a:pPr>
            <a:r>
              <a:rPr lang="en-GB" dirty="0"/>
              <a:t>Trigram perplexity: ~74, bigram: 137, unigram: 955 (still &lt;&lt; 50000 !)</a:t>
            </a:r>
          </a:p>
          <a:p>
            <a:pPr indent="-355600">
              <a:lnSpc>
                <a:spcPct val="115000"/>
              </a:lnSpc>
              <a:spcBef>
                <a:spcPts val="1000"/>
              </a:spcBef>
              <a:buSzPts val="2000"/>
              <a:buChar char="○"/>
            </a:pPr>
            <a:r>
              <a:rPr lang="en-GB" dirty="0"/>
              <a:t>On 38M words from the Wall Street Journal:</a:t>
            </a:r>
          </a:p>
        </p:txBody>
      </p:sp>
      <p:pic>
        <p:nvPicPr>
          <p:cNvPr id="3" name="Picture 2" descr="A blue and black sign&#10;&#10;AI-generated content may be incorrect.">
            <a:extLst>
              <a:ext uri="{FF2B5EF4-FFF2-40B4-BE49-F238E27FC236}">
                <a16:creationId xmlns:a16="http://schemas.microsoft.com/office/drawing/2014/main" id="{2A616874-D076-3BC0-4AF3-31D5518E1639}"/>
              </a:ext>
            </a:extLst>
          </p:cNvPr>
          <p:cNvPicPr>
            <a:picLocks noChangeAspect="1"/>
          </p:cNvPicPr>
          <p:nvPr/>
        </p:nvPicPr>
        <p:blipFill>
          <a:blip r:embed="rId3"/>
          <a:stretch>
            <a:fillRect/>
          </a:stretch>
        </p:blipFill>
        <p:spPr>
          <a:xfrm>
            <a:off x="5390572" y="2333325"/>
            <a:ext cx="3595486" cy="605869"/>
          </a:xfrm>
          <a:prstGeom prst="rect">
            <a:avLst/>
          </a:prstGeom>
        </p:spPr>
      </p:pic>
    </p:spTree>
    <p:extLst>
      <p:ext uri="{BB962C8B-B14F-4D97-AF65-F5344CB8AC3E}">
        <p14:creationId xmlns:p14="http://schemas.microsoft.com/office/powerpoint/2010/main" val="4282753866"/>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Shape 483">
          <a:extLst>
            <a:ext uri="{FF2B5EF4-FFF2-40B4-BE49-F238E27FC236}">
              <a16:creationId xmlns:a16="http://schemas.microsoft.com/office/drawing/2014/main" id="{E439A43D-8F9D-E6CD-C636-2A055F604C19}"/>
            </a:ext>
          </a:extLst>
        </p:cNvPr>
        <p:cNvGrpSpPr/>
        <p:nvPr/>
      </p:nvGrpSpPr>
      <p:grpSpPr>
        <a:xfrm>
          <a:off x="0" y="0"/>
          <a:ext cx="0" cy="0"/>
          <a:chOff x="0" y="0"/>
          <a:chExt cx="0" cy="0"/>
        </a:xfrm>
      </p:grpSpPr>
      <p:sp>
        <p:nvSpPr>
          <p:cNvPr id="484" name="Google Shape;484;p59">
            <a:extLst>
              <a:ext uri="{FF2B5EF4-FFF2-40B4-BE49-F238E27FC236}">
                <a16:creationId xmlns:a16="http://schemas.microsoft.com/office/drawing/2014/main" id="{D7E34AE7-8EE0-0A75-FFCB-01CC5AC3D72A}"/>
              </a:ext>
            </a:extLst>
          </p:cNvPr>
          <p:cNvSpPr txBox="1">
            <a:spLocks noGrp="1"/>
          </p:cNvSpPr>
          <p:nvPr>
            <p:ph type="title"/>
          </p:nvPr>
        </p:nvSpPr>
        <p:spPr>
          <a:xfrm>
            <a:off x="471488" y="205383"/>
            <a:ext cx="5915100" cy="7458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chemeClr val="dk1"/>
              </a:buClr>
              <a:buSzPts val="3300"/>
              <a:buFont typeface="Century Gothic"/>
              <a:buNone/>
            </a:pPr>
            <a:r>
              <a:rPr lang="en-GB" dirty="0"/>
              <a:t>Some values of perplexity</a:t>
            </a:r>
            <a:endParaRPr dirty="0"/>
          </a:p>
        </p:txBody>
      </p:sp>
      <p:sp>
        <p:nvSpPr>
          <p:cNvPr id="485" name="Google Shape;485;p59">
            <a:extLst>
              <a:ext uri="{FF2B5EF4-FFF2-40B4-BE49-F238E27FC236}">
                <a16:creationId xmlns:a16="http://schemas.microsoft.com/office/drawing/2014/main" id="{9C75BDB9-D769-E5D5-1FF2-CCBDC7957DE4}"/>
              </a:ext>
            </a:extLst>
          </p:cNvPr>
          <p:cNvSpPr txBox="1">
            <a:spLocks noGrp="1"/>
          </p:cNvSpPr>
          <p:nvPr>
            <p:ph type="body" idx="1"/>
          </p:nvPr>
        </p:nvSpPr>
        <p:spPr>
          <a:xfrm>
            <a:off x="330225" y="951183"/>
            <a:ext cx="8361000" cy="3698420"/>
          </a:xfrm>
          <a:prstGeom prst="rect">
            <a:avLst/>
          </a:prstGeom>
          <a:noFill/>
          <a:ln>
            <a:noFill/>
          </a:ln>
        </p:spPr>
        <p:txBody>
          <a:bodyPr spcFirstLastPara="1" wrap="square" lIns="68575" tIns="34275" rIns="68575" bIns="34275" anchor="t" anchorCtr="0">
            <a:normAutofit/>
          </a:bodyPr>
          <a:lstStyle/>
          <a:p>
            <a:pPr marL="457200" lvl="0" indent="-355600" algn="l" rtl="0">
              <a:lnSpc>
                <a:spcPct val="115000"/>
              </a:lnSpc>
              <a:spcBef>
                <a:spcPts val="0"/>
              </a:spcBef>
              <a:spcAft>
                <a:spcPts val="0"/>
              </a:spcAft>
              <a:buSzPts val="2000"/>
              <a:buChar char="●"/>
            </a:pPr>
            <a:r>
              <a:rPr lang="en-GB" dirty="0"/>
              <a:t>Perplexity is highly dependent on data and vocabulary </a:t>
            </a:r>
            <a:r>
              <a:rPr lang="en-GB" sz="1400" i="1" dirty="0"/>
              <a:t>(or tokenization)</a:t>
            </a:r>
          </a:p>
          <a:p>
            <a:pPr marL="457200" lvl="0" indent="-355600" algn="l" rtl="0">
              <a:lnSpc>
                <a:spcPct val="115000"/>
              </a:lnSpc>
              <a:spcBef>
                <a:spcPts val="0"/>
              </a:spcBef>
              <a:spcAft>
                <a:spcPts val="0"/>
              </a:spcAft>
              <a:buSzPts val="2000"/>
              <a:buChar char="●"/>
            </a:pPr>
            <a:r>
              <a:rPr lang="en-GB" dirty="0"/>
              <a:t>Still, some ballpark numbers:</a:t>
            </a:r>
          </a:p>
          <a:p>
            <a:pPr marL="457200" lvl="0" indent="-355600" algn="l" rtl="0">
              <a:lnSpc>
                <a:spcPct val="115000"/>
              </a:lnSpc>
              <a:spcBef>
                <a:spcPts val="0"/>
              </a:spcBef>
              <a:spcAft>
                <a:spcPts val="0"/>
              </a:spcAft>
              <a:buSzPts val="2000"/>
              <a:buChar char="●"/>
            </a:pPr>
            <a:endParaRPr lang="en-GB" sz="200" dirty="0"/>
          </a:p>
          <a:p>
            <a:pPr marL="457200" lvl="0" indent="-355600" algn="l" rtl="0">
              <a:lnSpc>
                <a:spcPct val="115000"/>
              </a:lnSpc>
              <a:spcBef>
                <a:spcPts val="0"/>
              </a:spcBef>
              <a:spcAft>
                <a:spcPts val="0"/>
              </a:spcAft>
              <a:buSzPts val="2000"/>
              <a:buChar char="●"/>
            </a:pPr>
            <a:r>
              <a:rPr lang="en-GB" dirty="0"/>
              <a:t>With |V| = 50000: </a:t>
            </a:r>
          </a:p>
          <a:p>
            <a:pPr lvl="1" indent="-355600">
              <a:lnSpc>
                <a:spcPct val="115000"/>
              </a:lnSpc>
              <a:spcBef>
                <a:spcPts val="0"/>
              </a:spcBef>
              <a:buSzPts val="2000"/>
              <a:buChar char="●"/>
            </a:pPr>
            <a:r>
              <a:rPr lang="en-GB" dirty="0"/>
              <a:t>Trigram perplexity: ~74, bigram: 137, unigram: 955 (still &lt;&lt; 50000 !)</a:t>
            </a:r>
          </a:p>
          <a:p>
            <a:pPr indent="-355600">
              <a:lnSpc>
                <a:spcPct val="115000"/>
              </a:lnSpc>
              <a:spcBef>
                <a:spcPts val="1000"/>
              </a:spcBef>
              <a:buSzPts val="2000"/>
              <a:buChar char="○"/>
            </a:pPr>
            <a:r>
              <a:rPr lang="en-GB" dirty="0"/>
              <a:t>On 38M words from the Wall Street Journal:</a:t>
            </a:r>
          </a:p>
          <a:p>
            <a:pPr indent="-355600">
              <a:lnSpc>
                <a:spcPct val="115000"/>
              </a:lnSpc>
              <a:spcBef>
                <a:spcPts val="1000"/>
              </a:spcBef>
              <a:buSzPts val="2000"/>
              <a:buChar char="○"/>
            </a:pPr>
            <a:r>
              <a:rPr lang="en-GB" dirty="0"/>
              <a:t>Human perplexity: ~7</a:t>
            </a:r>
          </a:p>
        </p:txBody>
      </p:sp>
      <p:pic>
        <p:nvPicPr>
          <p:cNvPr id="3" name="Picture 2" descr="A blue and black sign&#10;&#10;AI-generated content may be incorrect.">
            <a:extLst>
              <a:ext uri="{FF2B5EF4-FFF2-40B4-BE49-F238E27FC236}">
                <a16:creationId xmlns:a16="http://schemas.microsoft.com/office/drawing/2014/main" id="{6A3DF528-1CAA-B004-062A-91B9E39496F8}"/>
              </a:ext>
            </a:extLst>
          </p:cNvPr>
          <p:cNvPicPr>
            <a:picLocks noChangeAspect="1"/>
          </p:cNvPicPr>
          <p:nvPr/>
        </p:nvPicPr>
        <p:blipFill>
          <a:blip r:embed="rId3"/>
          <a:stretch>
            <a:fillRect/>
          </a:stretch>
        </p:blipFill>
        <p:spPr>
          <a:xfrm>
            <a:off x="5390572" y="2333325"/>
            <a:ext cx="3595486" cy="605869"/>
          </a:xfrm>
          <a:prstGeom prst="rect">
            <a:avLst/>
          </a:prstGeom>
        </p:spPr>
      </p:pic>
    </p:spTree>
    <p:extLst>
      <p:ext uri="{BB962C8B-B14F-4D97-AF65-F5344CB8AC3E}">
        <p14:creationId xmlns:p14="http://schemas.microsoft.com/office/powerpoint/2010/main" val="44202511"/>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Shape 483">
          <a:extLst>
            <a:ext uri="{FF2B5EF4-FFF2-40B4-BE49-F238E27FC236}">
              <a16:creationId xmlns:a16="http://schemas.microsoft.com/office/drawing/2014/main" id="{3141397D-51E8-EF4D-5DB7-BF9EE03CC0D9}"/>
            </a:ext>
          </a:extLst>
        </p:cNvPr>
        <p:cNvGrpSpPr/>
        <p:nvPr/>
      </p:nvGrpSpPr>
      <p:grpSpPr>
        <a:xfrm>
          <a:off x="0" y="0"/>
          <a:ext cx="0" cy="0"/>
          <a:chOff x="0" y="0"/>
          <a:chExt cx="0" cy="0"/>
        </a:xfrm>
      </p:grpSpPr>
      <p:sp>
        <p:nvSpPr>
          <p:cNvPr id="484" name="Google Shape;484;p59">
            <a:extLst>
              <a:ext uri="{FF2B5EF4-FFF2-40B4-BE49-F238E27FC236}">
                <a16:creationId xmlns:a16="http://schemas.microsoft.com/office/drawing/2014/main" id="{36748070-8176-9EE0-98D5-A1EB6B436CA3}"/>
              </a:ext>
            </a:extLst>
          </p:cNvPr>
          <p:cNvSpPr txBox="1">
            <a:spLocks noGrp="1"/>
          </p:cNvSpPr>
          <p:nvPr>
            <p:ph type="title"/>
          </p:nvPr>
        </p:nvSpPr>
        <p:spPr>
          <a:xfrm>
            <a:off x="471488" y="205383"/>
            <a:ext cx="5915100" cy="7458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chemeClr val="dk1"/>
              </a:buClr>
              <a:buSzPts val="3300"/>
              <a:buFont typeface="Century Gothic"/>
              <a:buNone/>
            </a:pPr>
            <a:r>
              <a:rPr lang="en-GB" dirty="0"/>
              <a:t>Some values of perplexity</a:t>
            </a:r>
            <a:endParaRPr dirty="0"/>
          </a:p>
        </p:txBody>
      </p:sp>
      <p:sp>
        <p:nvSpPr>
          <p:cNvPr id="485" name="Google Shape;485;p59">
            <a:extLst>
              <a:ext uri="{FF2B5EF4-FFF2-40B4-BE49-F238E27FC236}">
                <a16:creationId xmlns:a16="http://schemas.microsoft.com/office/drawing/2014/main" id="{3242A387-0938-77B6-D785-E70E1650CF9A}"/>
              </a:ext>
            </a:extLst>
          </p:cNvPr>
          <p:cNvSpPr txBox="1">
            <a:spLocks noGrp="1"/>
          </p:cNvSpPr>
          <p:nvPr>
            <p:ph type="body" idx="1"/>
          </p:nvPr>
        </p:nvSpPr>
        <p:spPr>
          <a:xfrm>
            <a:off x="330225" y="951183"/>
            <a:ext cx="8361000" cy="3698420"/>
          </a:xfrm>
          <a:prstGeom prst="rect">
            <a:avLst/>
          </a:prstGeom>
          <a:noFill/>
          <a:ln>
            <a:noFill/>
          </a:ln>
        </p:spPr>
        <p:txBody>
          <a:bodyPr spcFirstLastPara="1" wrap="square" lIns="68575" tIns="34275" rIns="68575" bIns="34275" anchor="t" anchorCtr="0">
            <a:normAutofit/>
          </a:bodyPr>
          <a:lstStyle/>
          <a:p>
            <a:pPr marL="457200" lvl="0" indent="-355600" algn="l" rtl="0">
              <a:lnSpc>
                <a:spcPct val="115000"/>
              </a:lnSpc>
              <a:spcBef>
                <a:spcPts val="0"/>
              </a:spcBef>
              <a:spcAft>
                <a:spcPts val="0"/>
              </a:spcAft>
              <a:buSzPts val="2000"/>
              <a:buChar char="●"/>
            </a:pPr>
            <a:r>
              <a:rPr lang="en-GB" dirty="0"/>
              <a:t>Perplexity is highly dependent on data and vocabulary </a:t>
            </a:r>
            <a:r>
              <a:rPr lang="en-GB" sz="1400" i="1" dirty="0"/>
              <a:t>(or tokenization)</a:t>
            </a:r>
          </a:p>
          <a:p>
            <a:pPr marL="457200" lvl="0" indent="-355600" algn="l" rtl="0">
              <a:lnSpc>
                <a:spcPct val="115000"/>
              </a:lnSpc>
              <a:spcBef>
                <a:spcPts val="0"/>
              </a:spcBef>
              <a:spcAft>
                <a:spcPts val="0"/>
              </a:spcAft>
              <a:buSzPts val="2000"/>
              <a:buChar char="●"/>
            </a:pPr>
            <a:r>
              <a:rPr lang="en-GB" dirty="0"/>
              <a:t>Still, some ballpark numbers:</a:t>
            </a:r>
          </a:p>
          <a:p>
            <a:pPr marL="457200" lvl="0" indent="-355600" algn="l" rtl="0">
              <a:lnSpc>
                <a:spcPct val="115000"/>
              </a:lnSpc>
              <a:spcBef>
                <a:spcPts val="0"/>
              </a:spcBef>
              <a:spcAft>
                <a:spcPts val="0"/>
              </a:spcAft>
              <a:buSzPts val="2000"/>
              <a:buChar char="●"/>
            </a:pPr>
            <a:endParaRPr lang="en-GB" sz="200" dirty="0"/>
          </a:p>
          <a:p>
            <a:pPr marL="457200" lvl="0" indent="-355600" algn="l" rtl="0">
              <a:lnSpc>
                <a:spcPct val="115000"/>
              </a:lnSpc>
              <a:spcBef>
                <a:spcPts val="0"/>
              </a:spcBef>
              <a:spcAft>
                <a:spcPts val="0"/>
              </a:spcAft>
              <a:buSzPts val="2000"/>
              <a:buChar char="●"/>
            </a:pPr>
            <a:r>
              <a:rPr lang="en-GB" dirty="0"/>
              <a:t>With |V| = 50000: </a:t>
            </a:r>
          </a:p>
          <a:p>
            <a:pPr lvl="1" indent="-355600">
              <a:lnSpc>
                <a:spcPct val="115000"/>
              </a:lnSpc>
              <a:spcBef>
                <a:spcPts val="0"/>
              </a:spcBef>
              <a:buSzPts val="2000"/>
              <a:buChar char="●"/>
            </a:pPr>
            <a:r>
              <a:rPr lang="en-GB" dirty="0"/>
              <a:t>Trigram perplexity: ~74, bigram: 137, unigram: 955 (still &lt;&lt; 50000 !)</a:t>
            </a:r>
          </a:p>
          <a:p>
            <a:pPr indent="-355600">
              <a:lnSpc>
                <a:spcPct val="115000"/>
              </a:lnSpc>
              <a:spcBef>
                <a:spcPts val="1000"/>
              </a:spcBef>
              <a:buSzPts val="2000"/>
              <a:buChar char="○"/>
            </a:pPr>
            <a:r>
              <a:rPr lang="en-GB" dirty="0"/>
              <a:t>On 38M words from the Wall Street Journal:</a:t>
            </a:r>
          </a:p>
          <a:p>
            <a:pPr indent="-355600">
              <a:lnSpc>
                <a:spcPct val="115000"/>
              </a:lnSpc>
              <a:spcBef>
                <a:spcPts val="1000"/>
              </a:spcBef>
              <a:buSzPts val="2000"/>
              <a:buChar char="○"/>
            </a:pPr>
            <a:r>
              <a:rPr lang="en-GB" dirty="0"/>
              <a:t>Human perplexity: ~7</a:t>
            </a:r>
          </a:p>
          <a:p>
            <a:pPr indent="-355600">
              <a:lnSpc>
                <a:spcPct val="115000"/>
              </a:lnSpc>
              <a:spcBef>
                <a:spcPts val="1000"/>
              </a:spcBef>
              <a:buSzPts val="2000"/>
              <a:buChar char="○"/>
            </a:pPr>
            <a:r>
              <a:rPr lang="en-GB" dirty="0"/>
              <a:t>Example of LLM – Llama</a:t>
            </a:r>
            <a:r>
              <a:rPr lang="he-IL" dirty="0"/>
              <a:t> :3</a:t>
            </a:r>
            <a:r>
              <a:rPr lang="en-GB" dirty="0"/>
              <a:t> </a:t>
            </a:r>
            <a:r>
              <a:rPr lang="en-GB" sz="1400" dirty="0"/>
              <a:t>(because it is open parameter)</a:t>
            </a:r>
            <a:endParaRPr lang="en-GB" dirty="0"/>
          </a:p>
        </p:txBody>
      </p:sp>
      <p:pic>
        <p:nvPicPr>
          <p:cNvPr id="3" name="Picture 2" descr="A blue and black sign&#10;&#10;AI-generated content may be incorrect.">
            <a:extLst>
              <a:ext uri="{FF2B5EF4-FFF2-40B4-BE49-F238E27FC236}">
                <a16:creationId xmlns:a16="http://schemas.microsoft.com/office/drawing/2014/main" id="{FA3F358B-F224-C317-065C-62046EADC5B1}"/>
              </a:ext>
            </a:extLst>
          </p:cNvPr>
          <p:cNvPicPr>
            <a:picLocks noChangeAspect="1"/>
          </p:cNvPicPr>
          <p:nvPr/>
        </p:nvPicPr>
        <p:blipFill>
          <a:blip r:embed="rId3"/>
          <a:stretch>
            <a:fillRect/>
          </a:stretch>
        </p:blipFill>
        <p:spPr>
          <a:xfrm>
            <a:off x="5390572" y="2333325"/>
            <a:ext cx="3595486" cy="605869"/>
          </a:xfrm>
          <a:prstGeom prst="rect">
            <a:avLst/>
          </a:prstGeom>
        </p:spPr>
      </p:pic>
      <p:graphicFrame>
        <p:nvGraphicFramePr>
          <p:cNvPr id="4" name="Table 3">
            <a:extLst>
              <a:ext uri="{FF2B5EF4-FFF2-40B4-BE49-F238E27FC236}">
                <a16:creationId xmlns:a16="http://schemas.microsoft.com/office/drawing/2014/main" id="{B3500FBC-CCC5-1C03-659C-5753AD2FCE25}"/>
              </a:ext>
            </a:extLst>
          </p:cNvPr>
          <p:cNvGraphicFramePr>
            <a:graphicFrameLocks noGrp="1"/>
          </p:cNvGraphicFramePr>
          <p:nvPr/>
        </p:nvGraphicFramePr>
        <p:xfrm>
          <a:off x="842356" y="3636057"/>
          <a:ext cx="6096000" cy="1112520"/>
        </p:xfrm>
        <a:graphic>
          <a:graphicData uri="http://schemas.openxmlformats.org/drawingml/2006/table">
            <a:tbl>
              <a:tblPr firstRow="1" bandRow="1"/>
              <a:tblGrid>
                <a:gridCol w="2032000">
                  <a:extLst>
                    <a:ext uri="{9D8B030D-6E8A-4147-A177-3AD203B41FA5}">
                      <a16:colId xmlns:a16="http://schemas.microsoft.com/office/drawing/2014/main" val="402302157"/>
                    </a:ext>
                  </a:extLst>
                </a:gridCol>
                <a:gridCol w="2032000">
                  <a:extLst>
                    <a:ext uri="{9D8B030D-6E8A-4147-A177-3AD203B41FA5}">
                      <a16:colId xmlns:a16="http://schemas.microsoft.com/office/drawing/2014/main" val="3424545633"/>
                    </a:ext>
                  </a:extLst>
                </a:gridCol>
                <a:gridCol w="2032000">
                  <a:extLst>
                    <a:ext uri="{9D8B030D-6E8A-4147-A177-3AD203B41FA5}">
                      <a16:colId xmlns:a16="http://schemas.microsoft.com/office/drawing/2014/main" val="3860485336"/>
                    </a:ext>
                  </a:extLst>
                </a:gridCol>
              </a:tblGrid>
              <a:tr h="370840">
                <a:tc>
                  <a:txBody>
                    <a:bodyPr/>
                    <a:lstStyle/>
                    <a:p>
                      <a:endParaRPr lang="en-US" dirty="0"/>
                    </a:p>
                  </a:txBody>
                  <a:tcPr/>
                </a:tc>
                <a:tc>
                  <a:txBody>
                    <a:bodyPr/>
                    <a:lstStyle/>
                    <a:p>
                      <a:r>
                        <a:rPr lang="en-US" dirty="0"/>
                        <a:t>WikiText-2</a:t>
                      </a:r>
                    </a:p>
                  </a:txBody>
                  <a:tcPr/>
                </a:tc>
                <a:tc>
                  <a:txBody>
                    <a:bodyPr/>
                    <a:lstStyle/>
                    <a:p>
                      <a:r>
                        <a:rPr lang="en-US" dirty="0"/>
                        <a:t>C4 (Common Crawl)</a:t>
                      </a:r>
                    </a:p>
                  </a:txBody>
                  <a:tcPr/>
                </a:tc>
                <a:extLst>
                  <a:ext uri="{0D108BD9-81ED-4DB2-BD59-A6C34878D82A}">
                    <a16:rowId xmlns:a16="http://schemas.microsoft.com/office/drawing/2014/main" val="1844225120"/>
                  </a:ext>
                </a:extLst>
              </a:tr>
              <a:tr h="370840">
                <a:tc>
                  <a:txBody>
                    <a:bodyPr/>
                    <a:lstStyle/>
                    <a:p>
                      <a:r>
                        <a:rPr lang="en-US" dirty="0"/>
                        <a:t>Llama-3-8B</a:t>
                      </a:r>
                    </a:p>
                  </a:txBody>
                  <a:tcPr/>
                </a:tc>
                <a:tc>
                  <a:txBody>
                    <a:bodyPr/>
                    <a:lstStyle/>
                    <a:p>
                      <a:r>
                        <a:rPr lang="en-US" dirty="0"/>
                        <a:t>6.14</a:t>
                      </a:r>
                    </a:p>
                  </a:txBody>
                  <a:tcPr/>
                </a:tc>
                <a:tc>
                  <a:txBody>
                    <a:bodyPr/>
                    <a:lstStyle/>
                    <a:p>
                      <a:r>
                        <a:rPr lang="en-US" dirty="0"/>
                        <a:t>8.88</a:t>
                      </a:r>
                    </a:p>
                  </a:txBody>
                  <a:tcPr/>
                </a:tc>
                <a:extLst>
                  <a:ext uri="{0D108BD9-81ED-4DB2-BD59-A6C34878D82A}">
                    <a16:rowId xmlns:a16="http://schemas.microsoft.com/office/drawing/2014/main" val="2625508222"/>
                  </a:ext>
                </a:extLst>
              </a:tr>
              <a:tr h="370840">
                <a:tc>
                  <a:txBody>
                    <a:bodyPr/>
                    <a:lstStyle/>
                    <a:p>
                      <a:r>
                        <a:rPr lang="en-US" dirty="0"/>
                        <a:t>Llama-3-70B</a:t>
                      </a:r>
                    </a:p>
                  </a:txBody>
                  <a:tcPr/>
                </a:tc>
                <a:tc>
                  <a:txBody>
                    <a:bodyPr/>
                    <a:lstStyle/>
                    <a:p>
                      <a:r>
                        <a:rPr lang="en-US" dirty="0"/>
                        <a:t>2.85</a:t>
                      </a:r>
                    </a:p>
                  </a:txBody>
                  <a:tcPr/>
                </a:tc>
                <a:tc>
                  <a:txBody>
                    <a:bodyPr/>
                    <a:lstStyle/>
                    <a:p>
                      <a:r>
                        <a:rPr lang="en-US" dirty="0"/>
                        <a:t>6.73</a:t>
                      </a:r>
                    </a:p>
                  </a:txBody>
                  <a:tcPr/>
                </a:tc>
                <a:extLst>
                  <a:ext uri="{0D108BD9-81ED-4DB2-BD59-A6C34878D82A}">
                    <a16:rowId xmlns:a16="http://schemas.microsoft.com/office/drawing/2014/main" val="2812735530"/>
                  </a:ext>
                </a:extLst>
              </a:tr>
            </a:tbl>
          </a:graphicData>
        </a:graphic>
      </p:graphicFrame>
      <p:sp>
        <p:nvSpPr>
          <p:cNvPr id="6" name="TextBox 5">
            <a:extLst>
              <a:ext uri="{FF2B5EF4-FFF2-40B4-BE49-F238E27FC236}">
                <a16:creationId xmlns:a16="http://schemas.microsoft.com/office/drawing/2014/main" id="{B13E0B68-9BA7-BDA8-B1EF-03D413559F86}"/>
              </a:ext>
            </a:extLst>
          </p:cNvPr>
          <p:cNvSpPr txBox="1"/>
          <p:nvPr/>
        </p:nvSpPr>
        <p:spPr>
          <a:xfrm>
            <a:off x="2115725" y="4773697"/>
            <a:ext cx="3341349" cy="307777"/>
          </a:xfrm>
          <a:prstGeom prst="rect">
            <a:avLst/>
          </a:prstGeom>
          <a:noFill/>
        </p:spPr>
        <p:txBody>
          <a:bodyPr wrap="square">
            <a:spAutoFit/>
          </a:bodyPr>
          <a:lstStyle/>
          <a:p>
            <a:r>
              <a:rPr lang="en-US" dirty="0">
                <a:solidFill>
                  <a:schemeClr val="accent1">
                    <a:lumMod val="50000"/>
                  </a:schemeClr>
                </a:solidFill>
              </a:rPr>
              <a:t>Source: https://</a:t>
            </a:r>
            <a:r>
              <a:rPr lang="en-US" dirty="0" err="1">
                <a:solidFill>
                  <a:schemeClr val="accent1">
                    <a:lumMod val="50000"/>
                  </a:schemeClr>
                </a:solidFill>
              </a:rPr>
              <a:t>arxiv.org</a:t>
            </a:r>
            <a:r>
              <a:rPr lang="en-US" dirty="0">
                <a:solidFill>
                  <a:schemeClr val="accent1">
                    <a:lumMod val="50000"/>
                  </a:schemeClr>
                </a:solidFill>
              </a:rPr>
              <a:t>/pdf/2407.11062</a:t>
            </a:r>
          </a:p>
        </p:txBody>
      </p:sp>
    </p:spTree>
    <p:extLst>
      <p:ext uri="{BB962C8B-B14F-4D97-AF65-F5344CB8AC3E}">
        <p14:creationId xmlns:p14="http://schemas.microsoft.com/office/powerpoint/2010/main" val="1646944668"/>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27A3EA-6C42-9BC5-EE49-D23E36C3CA56}"/>
              </a:ext>
            </a:extLst>
          </p:cNvPr>
          <p:cNvSpPr>
            <a:spLocks noGrp="1"/>
          </p:cNvSpPr>
          <p:nvPr>
            <p:ph type="title"/>
          </p:nvPr>
        </p:nvSpPr>
        <p:spPr/>
        <p:txBody>
          <a:bodyPr/>
          <a:lstStyle/>
          <a:p>
            <a:r>
              <a:rPr lang="en-US" dirty="0"/>
              <a:t>Perplexity: Demonstration</a:t>
            </a:r>
          </a:p>
        </p:txBody>
      </p:sp>
      <p:sp>
        <p:nvSpPr>
          <p:cNvPr id="3" name="Text Placeholder 2">
            <a:extLst>
              <a:ext uri="{FF2B5EF4-FFF2-40B4-BE49-F238E27FC236}">
                <a16:creationId xmlns:a16="http://schemas.microsoft.com/office/drawing/2014/main" id="{A3D1B53C-B0DE-69EE-23A8-7195FD6BFEE4}"/>
              </a:ext>
            </a:extLst>
          </p:cNvPr>
          <p:cNvSpPr>
            <a:spLocks noGrp="1"/>
          </p:cNvSpPr>
          <p:nvPr>
            <p:ph type="body" idx="1"/>
          </p:nvPr>
        </p:nvSpPr>
        <p:spPr/>
        <p:txBody>
          <a:bodyPr/>
          <a:lstStyle/>
          <a:p>
            <a:r>
              <a:rPr lang="en-US" dirty="0">
                <a:hlinkClick r:id="rId2"/>
              </a:rPr>
              <a:t>https://talwagner.github.io/teaching/perplexity.html</a:t>
            </a:r>
            <a:endParaRPr lang="en-US" dirty="0"/>
          </a:p>
          <a:p>
            <a:endParaRPr lang="en-US" dirty="0"/>
          </a:p>
        </p:txBody>
      </p:sp>
    </p:spTree>
    <p:extLst>
      <p:ext uri="{BB962C8B-B14F-4D97-AF65-F5344CB8AC3E}">
        <p14:creationId xmlns:p14="http://schemas.microsoft.com/office/powerpoint/2010/main" val="2893799991"/>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C301C4-6FE6-FE05-41B8-4AB835783063}"/>
              </a:ext>
            </a:extLst>
          </p:cNvPr>
          <p:cNvSpPr>
            <a:spLocks noGrp="1"/>
          </p:cNvSpPr>
          <p:nvPr>
            <p:ph type="title"/>
          </p:nvPr>
        </p:nvSpPr>
        <p:spPr/>
        <p:txBody>
          <a:bodyPr/>
          <a:lstStyle/>
          <a:p>
            <a:r>
              <a:rPr lang="en-US" dirty="0"/>
              <a:t>Extrinsic Evaluation</a:t>
            </a:r>
          </a:p>
        </p:txBody>
      </p:sp>
      <p:sp>
        <p:nvSpPr>
          <p:cNvPr id="3" name="Text Placeholder 2">
            <a:extLst>
              <a:ext uri="{FF2B5EF4-FFF2-40B4-BE49-F238E27FC236}">
                <a16:creationId xmlns:a16="http://schemas.microsoft.com/office/drawing/2014/main" id="{B6BF7F62-C890-55B9-01C8-95BA18201BF9}"/>
              </a:ext>
            </a:extLst>
          </p:cNvPr>
          <p:cNvSpPr>
            <a:spLocks noGrp="1"/>
          </p:cNvSpPr>
          <p:nvPr>
            <p:ph type="body" idx="1"/>
          </p:nvPr>
        </p:nvSpPr>
        <p:spPr/>
        <p:txBody>
          <a:bodyPr/>
          <a:lstStyle/>
          <a:p>
            <a:r>
              <a:rPr lang="en-US" dirty="0"/>
              <a:t>Perplexity is an example of </a:t>
            </a:r>
            <a:r>
              <a:rPr lang="en-US" b="1" dirty="0"/>
              <a:t>intrinsic</a:t>
            </a:r>
            <a:r>
              <a:rPr lang="en-US" dirty="0"/>
              <a:t> evaluation</a:t>
            </a:r>
          </a:p>
          <a:p>
            <a:r>
              <a:rPr lang="en-US" dirty="0"/>
              <a:t>What about </a:t>
            </a:r>
            <a:r>
              <a:rPr lang="en-US" b="1" dirty="0"/>
              <a:t>extrinsic</a:t>
            </a:r>
            <a:r>
              <a:rPr lang="en-US" dirty="0"/>
              <a:t> evaluation?</a:t>
            </a:r>
          </a:p>
          <a:p>
            <a:pPr lvl="1"/>
            <a:r>
              <a:rPr lang="en-US" dirty="0"/>
              <a:t>Auto-completion</a:t>
            </a:r>
          </a:p>
          <a:p>
            <a:pPr lvl="1"/>
            <a:r>
              <a:rPr lang="en-US" dirty="0"/>
              <a:t>Machine translation</a:t>
            </a:r>
          </a:p>
          <a:p>
            <a:pPr lvl="1"/>
            <a:r>
              <a:rPr lang="en-US" dirty="0" err="1"/>
              <a:t>Etc</a:t>
            </a:r>
            <a:r>
              <a:rPr lang="en-US" dirty="0"/>
              <a:t>…</a:t>
            </a:r>
          </a:p>
          <a:p>
            <a:r>
              <a:rPr lang="en-US" dirty="0"/>
              <a:t>Often requires </a:t>
            </a:r>
            <a:r>
              <a:rPr lang="en-US" b="1" dirty="0"/>
              <a:t>generation</a:t>
            </a:r>
          </a:p>
        </p:txBody>
      </p:sp>
    </p:spTree>
    <p:extLst>
      <p:ext uri="{BB962C8B-B14F-4D97-AF65-F5344CB8AC3E}">
        <p14:creationId xmlns:p14="http://schemas.microsoft.com/office/powerpoint/2010/main" val="3531162110"/>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Shape 497"/>
        <p:cNvGrpSpPr/>
        <p:nvPr/>
      </p:nvGrpSpPr>
      <p:grpSpPr>
        <a:xfrm>
          <a:off x="0" y="0"/>
          <a:ext cx="0" cy="0"/>
          <a:chOff x="0" y="0"/>
          <a:chExt cx="0" cy="0"/>
        </a:xfrm>
      </p:grpSpPr>
      <p:sp>
        <p:nvSpPr>
          <p:cNvPr id="498" name="Google Shape;498;p61"/>
          <p:cNvSpPr txBox="1">
            <a:spLocks noGrp="1"/>
          </p:cNvSpPr>
          <p:nvPr>
            <p:ph type="title"/>
          </p:nvPr>
        </p:nvSpPr>
        <p:spPr>
          <a:xfrm>
            <a:off x="471488" y="205383"/>
            <a:ext cx="5915100" cy="7458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chemeClr val="dk1"/>
              </a:buClr>
              <a:buSzPts val="3300"/>
              <a:buFont typeface="Century Gothic"/>
              <a:buNone/>
            </a:pPr>
            <a:r>
              <a:rPr lang="en-GB"/>
              <a:t>Seq2Seq (structured prediction)</a:t>
            </a:r>
            <a:endParaRPr/>
          </a:p>
        </p:txBody>
      </p:sp>
      <p:sp>
        <p:nvSpPr>
          <p:cNvPr id="499" name="Google Shape;499;p61"/>
          <p:cNvSpPr txBox="1"/>
          <p:nvPr/>
        </p:nvSpPr>
        <p:spPr>
          <a:xfrm>
            <a:off x="497350" y="1063525"/>
            <a:ext cx="7917300" cy="26166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GB" sz="2000">
                <a:solidFill>
                  <a:schemeClr val="dk2"/>
                </a:solidFill>
              </a:rPr>
              <a:t>Binary classification</a:t>
            </a:r>
            <a:endParaRPr sz="2000">
              <a:solidFill>
                <a:schemeClr val="dk2"/>
              </a:solidFill>
            </a:endParaRPr>
          </a:p>
          <a:p>
            <a:pPr marL="0" lvl="0" indent="0" algn="l" rtl="0">
              <a:lnSpc>
                <a:spcPct val="115000"/>
              </a:lnSpc>
              <a:spcBef>
                <a:spcPts val="0"/>
              </a:spcBef>
              <a:spcAft>
                <a:spcPts val="0"/>
              </a:spcAft>
              <a:buNone/>
            </a:pPr>
            <a:r>
              <a:rPr lang="en-GB" sz="2000">
                <a:solidFill>
                  <a:schemeClr val="dk2"/>
                </a:solidFill>
              </a:rPr>
              <a:t>Multi-class classification</a:t>
            </a:r>
            <a:endParaRPr sz="2000">
              <a:solidFill>
                <a:schemeClr val="dk2"/>
              </a:solidFill>
            </a:endParaRPr>
          </a:p>
          <a:p>
            <a:pPr marL="0" lvl="0" indent="0" algn="l" rtl="0">
              <a:lnSpc>
                <a:spcPct val="115000"/>
              </a:lnSpc>
              <a:spcBef>
                <a:spcPts val="0"/>
              </a:spcBef>
              <a:spcAft>
                <a:spcPts val="0"/>
              </a:spcAft>
              <a:buNone/>
            </a:pPr>
            <a:r>
              <a:rPr lang="en-GB" sz="2000">
                <a:solidFill>
                  <a:schemeClr val="dk2"/>
                </a:solidFill>
              </a:rPr>
              <a:t>Regression</a:t>
            </a:r>
            <a:endParaRPr sz="2000">
              <a:solidFill>
                <a:schemeClr val="dk2"/>
              </a:solidFill>
            </a:endParaRPr>
          </a:p>
          <a:p>
            <a:pPr marL="0" lvl="0" indent="0" algn="l" rtl="0">
              <a:lnSpc>
                <a:spcPct val="115000"/>
              </a:lnSpc>
              <a:spcBef>
                <a:spcPts val="0"/>
              </a:spcBef>
              <a:spcAft>
                <a:spcPts val="0"/>
              </a:spcAft>
              <a:buNone/>
            </a:pPr>
            <a:r>
              <a:rPr lang="en-GB" sz="2000">
                <a:solidFill>
                  <a:schemeClr val="dk2"/>
                </a:solidFill>
              </a:rPr>
              <a:t>Ordinal regression</a:t>
            </a:r>
            <a:endParaRPr sz="2000">
              <a:solidFill>
                <a:schemeClr val="dk2"/>
              </a:solidFill>
            </a:endParaRPr>
          </a:p>
          <a:p>
            <a:pPr marL="0" lvl="0" indent="0" algn="l" rtl="0">
              <a:lnSpc>
                <a:spcPct val="115000"/>
              </a:lnSpc>
              <a:spcBef>
                <a:spcPts val="0"/>
              </a:spcBef>
              <a:spcAft>
                <a:spcPts val="0"/>
              </a:spcAft>
              <a:buNone/>
            </a:pPr>
            <a:r>
              <a:rPr lang="en-GB" sz="2000">
                <a:solidFill>
                  <a:schemeClr val="dk2"/>
                </a:solidFill>
              </a:rPr>
              <a:t>Multi-target regression</a:t>
            </a:r>
            <a:br>
              <a:rPr lang="en-GB" sz="2000">
                <a:solidFill>
                  <a:schemeClr val="dk2"/>
                </a:solidFill>
              </a:rPr>
            </a:br>
            <a:endParaRPr sz="2000">
              <a:solidFill>
                <a:schemeClr val="dk2"/>
              </a:solidFill>
            </a:endParaRPr>
          </a:p>
          <a:p>
            <a:pPr marL="0" lvl="0" indent="0" algn="l" rtl="0">
              <a:lnSpc>
                <a:spcPct val="115000"/>
              </a:lnSpc>
              <a:spcBef>
                <a:spcPts val="0"/>
              </a:spcBef>
              <a:spcAft>
                <a:spcPts val="1000"/>
              </a:spcAft>
              <a:buNone/>
            </a:pPr>
            <a:endParaRPr sz="2000">
              <a:solidFill>
                <a:schemeClr val="dk2"/>
              </a:solidFill>
            </a:endParaRPr>
          </a:p>
        </p:txBody>
      </p:sp>
      <p:pic>
        <p:nvPicPr>
          <p:cNvPr id="500" name="Google Shape;500;p61"/>
          <p:cNvPicPr preferRelativeResize="0"/>
          <p:nvPr/>
        </p:nvPicPr>
        <p:blipFill>
          <a:blip r:embed="rId3">
            <a:alphaModFix/>
          </a:blip>
          <a:stretch>
            <a:fillRect/>
          </a:stretch>
        </p:blipFill>
        <p:spPr>
          <a:xfrm>
            <a:off x="3466328" y="1143820"/>
            <a:ext cx="3146051" cy="1772700"/>
          </a:xfrm>
          <a:prstGeom prst="rect">
            <a:avLst/>
          </a:prstGeom>
          <a:noFill/>
          <a:ln>
            <a:noFill/>
          </a:ln>
        </p:spPr>
      </p:pic>
    </p:spTree>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Shape 505"/>
        <p:cNvGrpSpPr/>
        <p:nvPr/>
      </p:nvGrpSpPr>
      <p:grpSpPr>
        <a:xfrm>
          <a:off x="0" y="0"/>
          <a:ext cx="0" cy="0"/>
          <a:chOff x="0" y="0"/>
          <a:chExt cx="0" cy="0"/>
        </a:xfrm>
      </p:grpSpPr>
      <p:sp>
        <p:nvSpPr>
          <p:cNvPr id="506" name="Google Shape;506;p62"/>
          <p:cNvSpPr txBox="1">
            <a:spLocks noGrp="1"/>
          </p:cNvSpPr>
          <p:nvPr>
            <p:ph type="title"/>
          </p:nvPr>
        </p:nvSpPr>
        <p:spPr>
          <a:xfrm>
            <a:off x="471488" y="205383"/>
            <a:ext cx="5915100" cy="7458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chemeClr val="dk1"/>
              </a:buClr>
              <a:buSzPts val="3300"/>
              <a:buFont typeface="Century Gothic"/>
              <a:buNone/>
            </a:pPr>
            <a:r>
              <a:rPr lang="en-GB"/>
              <a:t>Seq2Seq (structured prediction)</a:t>
            </a:r>
            <a:endParaRPr/>
          </a:p>
        </p:txBody>
      </p:sp>
      <p:sp>
        <p:nvSpPr>
          <p:cNvPr id="507" name="Google Shape;507;p62"/>
          <p:cNvSpPr txBox="1"/>
          <p:nvPr/>
        </p:nvSpPr>
        <p:spPr>
          <a:xfrm>
            <a:off x="497350" y="1063525"/>
            <a:ext cx="7917300" cy="36789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GB" sz="2000">
                <a:solidFill>
                  <a:schemeClr val="dk2"/>
                </a:solidFill>
              </a:rPr>
              <a:t>Binary classification</a:t>
            </a:r>
            <a:endParaRPr sz="2000">
              <a:solidFill>
                <a:schemeClr val="dk2"/>
              </a:solidFill>
            </a:endParaRPr>
          </a:p>
          <a:p>
            <a:pPr marL="0" lvl="0" indent="0" algn="l" rtl="0">
              <a:lnSpc>
                <a:spcPct val="115000"/>
              </a:lnSpc>
              <a:spcBef>
                <a:spcPts val="0"/>
              </a:spcBef>
              <a:spcAft>
                <a:spcPts val="0"/>
              </a:spcAft>
              <a:buNone/>
            </a:pPr>
            <a:r>
              <a:rPr lang="en-GB" sz="2000">
                <a:solidFill>
                  <a:schemeClr val="dk2"/>
                </a:solidFill>
              </a:rPr>
              <a:t>Multi-class classification</a:t>
            </a:r>
            <a:endParaRPr sz="2000">
              <a:solidFill>
                <a:schemeClr val="dk2"/>
              </a:solidFill>
            </a:endParaRPr>
          </a:p>
          <a:p>
            <a:pPr marL="0" lvl="0" indent="0" algn="l" rtl="0">
              <a:lnSpc>
                <a:spcPct val="115000"/>
              </a:lnSpc>
              <a:spcBef>
                <a:spcPts val="0"/>
              </a:spcBef>
              <a:spcAft>
                <a:spcPts val="0"/>
              </a:spcAft>
              <a:buNone/>
            </a:pPr>
            <a:r>
              <a:rPr lang="en-GB" sz="2000">
                <a:solidFill>
                  <a:schemeClr val="dk2"/>
                </a:solidFill>
              </a:rPr>
              <a:t>Regression</a:t>
            </a:r>
            <a:endParaRPr sz="2000">
              <a:solidFill>
                <a:schemeClr val="dk2"/>
              </a:solidFill>
            </a:endParaRPr>
          </a:p>
          <a:p>
            <a:pPr marL="0" lvl="0" indent="0" algn="l" rtl="0">
              <a:lnSpc>
                <a:spcPct val="115000"/>
              </a:lnSpc>
              <a:spcBef>
                <a:spcPts val="0"/>
              </a:spcBef>
              <a:spcAft>
                <a:spcPts val="0"/>
              </a:spcAft>
              <a:buNone/>
            </a:pPr>
            <a:r>
              <a:rPr lang="en-GB" sz="2000">
                <a:solidFill>
                  <a:schemeClr val="dk2"/>
                </a:solidFill>
              </a:rPr>
              <a:t>Ordinal regression</a:t>
            </a:r>
            <a:endParaRPr sz="2000">
              <a:solidFill>
                <a:schemeClr val="dk2"/>
              </a:solidFill>
            </a:endParaRPr>
          </a:p>
          <a:p>
            <a:pPr marL="0" lvl="0" indent="0" algn="l" rtl="0">
              <a:lnSpc>
                <a:spcPct val="115000"/>
              </a:lnSpc>
              <a:spcBef>
                <a:spcPts val="0"/>
              </a:spcBef>
              <a:spcAft>
                <a:spcPts val="0"/>
              </a:spcAft>
              <a:buNone/>
            </a:pPr>
            <a:r>
              <a:rPr lang="en-GB" sz="2000">
                <a:solidFill>
                  <a:schemeClr val="dk2"/>
                </a:solidFill>
              </a:rPr>
              <a:t>Multi-target regression</a:t>
            </a:r>
            <a:br>
              <a:rPr lang="en-GB" sz="2000">
                <a:solidFill>
                  <a:schemeClr val="dk2"/>
                </a:solidFill>
              </a:rPr>
            </a:br>
            <a:endParaRPr sz="2000">
              <a:solidFill>
                <a:schemeClr val="dk2"/>
              </a:solidFill>
            </a:endParaRPr>
          </a:p>
          <a:p>
            <a:pPr marL="0" lvl="0" indent="0" algn="l" rtl="0">
              <a:lnSpc>
                <a:spcPct val="115000"/>
              </a:lnSpc>
              <a:spcBef>
                <a:spcPts val="0"/>
              </a:spcBef>
              <a:spcAft>
                <a:spcPts val="0"/>
              </a:spcAft>
              <a:buNone/>
            </a:pPr>
            <a:r>
              <a:rPr lang="en-GB" sz="2000">
                <a:solidFill>
                  <a:srgbClr val="00B0F0"/>
                </a:solidFill>
              </a:rPr>
              <a:t>Structured prediction</a:t>
            </a:r>
            <a:r>
              <a:rPr lang="en-GB" sz="2000">
                <a:solidFill>
                  <a:schemeClr val="dk2"/>
                </a:solidFill>
              </a:rPr>
              <a:t> – predicting structured objects</a:t>
            </a:r>
            <a:endParaRPr sz="2000">
              <a:solidFill>
                <a:schemeClr val="dk2"/>
              </a:solidFill>
            </a:endParaRPr>
          </a:p>
          <a:p>
            <a:pPr marL="457200" lvl="0" indent="-355600" algn="l" rtl="0">
              <a:lnSpc>
                <a:spcPct val="115000"/>
              </a:lnSpc>
              <a:spcBef>
                <a:spcPts val="0"/>
              </a:spcBef>
              <a:spcAft>
                <a:spcPts val="0"/>
              </a:spcAft>
              <a:buClr>
                <a:schemeClr val="dk2"/>
              </a:buClr>
              <a:buSzPts val="2000"/>
              <a:buChar char="●"/>
            </a:pPr>
            <a:r>
              <a:rPr lang="en-GB" sz="2000">
                <a:solidFill>
                  <a:schemeClr val="dk2"/>
                </a:solidFill>
              </a:rPr>
              <a:t>The output is a </a:t>
            </a:r>
            <a:r>
              <a:rPr lang="en-GB" sz="2000">
                <a:solidFill>
                  <a:srgbClr val="00B0F0"/>
                </a:solidFill>
              </a:rPr>
              <a:t>sequence from a given set</a:t>
            </a:r>
            <a:r>
              <a:rPr lang="en-GB" sz="2000">
                <a:solidFill>
                  <a:schemeClr val="dk2"/>
                </a:solidFill>
              </a:rPr>
              <a:t> (trees, sentences)</a:t>
            </a:r>
            <a:endParaRPr sz="2000">
              <a:solidFill>
                <a:schemeClr val="dk2"/>
              </a:solidFill>
            </a:endParaRPr>
          </a:p>
          <a:p>
            <a:pPr marL="457200" lvl="0" indent="-355600" algn="l" rtl="0">
              <a:lnSpc>
                <a:spcPct val="115000"/>
              </a:lnSpc>
              <a:spcBef>
                <a:spcPts val="0"/>
              </a:spcBef>
              <a:spcAft>
                <a:spcPts val="0"/>
              </a:spcAft>
              <a:buClr>
                <a:schemeClr val="dk2"/>
              </a:buClr>
              <a:buSzPts val="2000"/>
              <a:buChar char="●"/>
            </a:pPr>
            <a:r>
              <a:rPr lang="en-GB" sz="2000">
                <a:solidFill>
                  <a:schemeClr val="dk2"/>
                </a:solidFill>
              </a:rPr>
              <a:t>The input can be a single object (e.g., image captioning)</a:t>
            </a:r>
            <a:endParaRPr sz="2000">
              <a:solidFill>
                <a:schemeClr val="dk2"/>
              </a:solidFill>
            </a:endParaRPr>
          </a:p>
          <a:p>
            <a:pPr marL="457200" lvl="0" indent="-355600" algn="l" rtl="0">
              <a:lnSpc>
                <a:spcPct val="115000"/>
              </a:lnSpc>
              <a:spcBef>
                <a:spcPts val="0"/>
              </a:spcBef>
              <a:spcAft>
                <a:spcPts val="0"/>
              </a:spcAft>
              <a:buClr>
                <a:schemeClr val="dk2"/>
              </a:buClr>
              <a:buSzPts val="2000"/>
              <a:buChar char="●"/>
            </a:pPr>
            <a:r>
              <a:rPr lang="en-GB" sz="2000">
                <a:solidFill>
                  <a:schemeClr val="dk2"/>
                </a:solidFill>
              </a:rPr>
              <a:t>Or it can be a </a:t>
            </a:r>
            <a:r>
              <a:rPr lang="en-GB" sz="2000">
                <a:solidFill>
                  <a:srgbClr val="00B0F0"/>
                </a:solidFill>
              </a:rPr>
              <a:t>variable length sequence</a:t>
            </a:r>
            <a:r>
              <a:rPr lang="en-GB" sz="2000">
                <a:solidFill>
                  <a:schemeClr val="dk2"/>
                </a:solidFill>
              </a:rPr>
              <a:t> (e.g., MT, NER)</a:t>
            </a:r>
            <a:endParaRPr sz="2000">
              <a:solidFill>
                <a:schemeClr val="dk2"/>
              </a:solidFill>
            </a:endParaRPr>
          </a:p>
        </p:txBody>
      </p:sp>
      <p:pic>
        <p:nvPicPr>
          <p:cNvPr id="508" name="Google Shape;508;p62"/>
          <p:cNvPicPr preferRelativeResize="0"/>
          <p:nvPr/>
        </p:nvPicPr>
        <p:blipFill>
          <a:blip r:embed="rId3">
            <a:alphaModFix/>
          </a:blip>
          <a:stretch>
            <a:fillRect/>
          </a:stretch>
        </p:blipFill>
        <p:spPr>
          <a:xfrm>
            <a:off x="3466328" y="1143820"/>
            <a:ext cx="3146051" cy="1772700"/>
          </a:xfrm>
          <a:prstGeom prst="rect">
            <a:avLst/>
          </a:prstGeom>
          <a:noFill/>
          <a:ln>
            <a:noFill/>
          </a:ln>
        </p:spPr>
      </p:pic>
    </p:spTree>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Shape 512"/>
        <p:cNvGrpSpPr/>
        <p:nvPr/>
      </p:nvGrpSpPr>
      <p:grpSpPr>
        <a:xfrm>
          <a:off x="0" y="0"/>
          <a:ext cx="0" cy="0"/>
          <a:chOff x="0" y="0"/>
          <a:chExt cx="0" cy="0"/>
        </a:xfrm>
      </p:grpSpPr>
      <p:sp>
        <p:nvSpPr>
          <p:cNvPr id="513" name="Google Shape;513;p63"/>
          <p:cNvSpPr txBox="1">
            <a:spLocks noGrp="1"/>
          </p:cNvSpPr>
          <p:nvPr>
            <p:ph type="title"/>
          </p:nvPr>
        </p:nvSpPr>
        <p:spPr>
          <a:xfrm>
            <a:off x="471488" y="205383"/>
            <a:ext cx="5915100" cy="7458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chemeClr val="dk1"/>
              </a:buClr>
              <a:buSzPts val="3300"/>
              <a:buFont typeface="Century Gothic"/>
              <a:buNone/>
            </a:pPr>
            <a:r>
              <a:rPr lang="en-GB"/>
              <a:t>Generating text with an n-gram LM</a:t>
            </a:r>
            <a:endParaRPr/>
          </a:p>
        </p:txBody>
      </p:sp>
      <p:sp>
        <p:nvSpPr>
          <p:cNvPr id="515" name="Google Shape;515;p63"/>
          <p:cNvSpPr txBox="1"/>
          <p:nvPr/>
        </p:nvSpPr>
        <p:spPr>
          <a:xfrm>
            <a:off x="1510904" y="2548418"/>
            <a:ext cx="1596600" cy="3924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GB" sz="2100" i="1">
                <a:solidFill>
                  <a:schemeClr val="dk1"/>
                </a:solidFill>
                <a:latin typeface="Century Gothic"/>
                <a:ea typeface="Century Gothic"/>
                <a:cs typeface="Century Gothic"/>
                <a:sym typeface="Century Gothic"/>
              </a:rPr>
              <a:t>Today the</a:t>
            </a:r>
            <a:endParaRPr sz="1100"/>
          </a:p>
        </p:txBody>
      </p:sp>
      <p:sp>
        <p:nvSpPr>
          <p:cNvPr id="516" name="Google Shape;516;p63"/>
          <p:cNvSpPr/>
          <p:nvPr/>
        </p:nvSpPr>
        <p:spPr>
          <a:xfrm rot="5400000">
            <a:off x="2057355" y="1701110"/>
            <a:ext cx="342900" cy="1217400"/>
          </a:xfrm>
          <a:prstGeom prst="leftBrace">
            <a:avLst>
              <a:gd name="adj1" fmla="val 70833"/>
              <a:gd name="adj2" fmla="val 50000"/>
            </a:avLst>
          </a:prstGeom>
          <a:noFill/>
          <a:ln w="38100" cap="flat" cmpd="sng">
            <a:solidFill>
              <a:srgbClr val="00B0F0"/>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dk1"/>
              </a:solidFill>
              <a:latin typeface="Century Gothic"/>
              <a:ea typeface="Century Gothic"/>
              <a:cs typeface="Century Gothic"/>
              <a:sym typeface="Century Gothic"/>
            </a:endParaRPr>
          </a:p>
        </p:txBody>
      </p:sp>
      <p:sp>
        <p:nvSpPr>
          <p:cNvPr id="517" name="Google Shape;517;p63"/>
          <p:cNvSpPr txBox="1"/>
          <p:nvPr/>
        </p:nvSpPr>
        <p:spPr>
          <a:xfrm>
            <a:off x="1251049" y="1424637"/>
            <a:ext cx="2116500" cy="623400"/>
          </a:xfrm>
          <a:prstGeom prst="rect">
            <a:avLst/>
          </a:prstGeom>
          <a:noFill/>
          <a:ln>
            <a:noFill/>
          </a:ln>
        </p:spPr>
        <p:txBody>
          <a:bodyPr spcFirstLastPara="1" wrap="square" lIns="68575" tIns="34275" rIns="68575" bIns="34275" anchor="t" anchorCtr="0">
            <a:spAutoFit/>
          </a:bodyPr>
          <a:lstStyle/>
          <a:p>
            <a:pPr marL="0" marR="0" lvl="0" indent="0" algn="ctr" rtl="0">
              <a:spcBef>
                <a:spcPts val="0"/>
              </a:spcBef>
              <a:spcAft>
                <a:spcPts val="0"/>
              </a:spcAft>
              <a:buNone/>
            </a:pPr>
            <a:r>
              <a:rPr lang="en-GB" sz="1800">
                <a:solidFill>
                  <a:schemeClr val="dk1"/>
                </a:solidFill>
                <a:latin typeface="Century Gothic"/>
                <a:ea typeface="Century Gothic"/>
                <a:cs typeface="Century Gothic"/>
                <a:sym typeface="Century Gothic"/>
              </a:rPr>
              <a:t>Condition on this </a:t>
            </a:r>
            <a:r>
              <a:rPr lang="en-GB" sz="1800">
                <a:solidFill>
                  <a:srgbClr val="00B0F0"/>
                </a:solidFill>
                <a:latin typeface="Century Gothic"/>
                <a:ea typeface="Century Gothic"/>
                <a:cs typeface="Century Gothic"/>
                <a:sym typeface="Century Gothic"/>
              </a:rPr>
              <a:t>prompt</a:t>
            </a:r>
            <a:endParaRPr sz="1800">
              <a:solidFill>
                <a:srgbClr val="00B0F0"/>
              </a:solidFill>
              <a:latin typeface="Century Gothic"/>
              <a:ea typeface="Century Gothic"/>
              <a:cs typeface="Century Gothic"/>
              <a:sym typeface="Century Gothic"/>
            </a:endParaRPr>
          </a:p>
        </p:txBody>
      </p:sp>
      <p:sp>
        <p:nvSpPr>
          <p:cNvPr id="518" name="Google Shape;518;p63"/>
          <p:cNvSpPr txBox="1"/>
          <p:nvPr/>
        </p:nvSpPr>
        <p:spPr>
          <a:xfrm>
            <a:off x="2702124" y="3441365"/>
            <a:ext cx="2061000" cy="1223700"/>
          </a:xfrm>
          <a:prstGeom prst="rect">
            <a:avLst/>
          </a:prstGeom>
          <a:noFill/>
          <a:ln w="28575" cap="flat" cmpd="sng">
            <a:solidFill>
              <a:srgbClr val="00B0F0"/>
            </a:solidFill>
            <a:prstDash val="solid"/>
            <a:round/>
            <a:headEnd type="none" w="sm" len="sm"/>
            <a:tailEnd type="none" w="sm" len="sm"/>
          </a:ln>
        </p:spPr>
        <p:txBody>
          <a:bodyPr spcFirstLastPara="1" wrap="square" lIns="68575" tIns="34275" rIns="68575" bIns="34275" anchor="t" anchorCtr="0">
            <a:spAutoFit/>
          </a:bodyPr>
          <a:lstStyle/>
          <a:p>
            <a:pPr marL="0" marR="0" lvl="0" indent="0" algn="l" rtl="0">
              <a:spcBef>
                <a:spcPts val="0"/>
              </a:spcBef>
              <a:spcAft>
                <a:spcPts val="0"/>
              </a:spcAft>
              <a:buNone/>
            </a:pPr>
            <a:r>
              <a:rPr lang="en-GB" sz="1500" dirty="0">
                <a:solidFill>
                  <a:schemeClr val="dk1"/>
                </a:solidFill>
                <a:latin typeface="Century Gothic"/>
                <a:ea typeface="Century Gothic"/>
                <a:cs typeface="Century Gothic"/>
                <a:sym typeface="Century Gothic"/>
              </a:rPr>
              <a:t>company		0.193</a:t>
            </a:r>
            <a:endParaRPr sz="1100" dirty="0"/>
          </a:p>
          <a:p>
            <a:pPr marL="0" marR="0" lvl="0" indent="0" algn="l" rtl="0">
              <a:spcBef>
                <a:spcPts val="0"/>
              </a:spcBef>
              <a:spcAft>
                <a:spcPts val="0"/>
              </a:spcAft>
              <a:buNone/>
            </a:pPr>
            <a:r>
              <a:rPr lang="en-GB" sz="1500" dirty="0">
                <a:solidFill>
                  <a:schemeClr val="dk1"/>
                </a:solidFill>
                <a:latin typeface="Century Gothic"/>
                <a:ea typeface="Century Gothic"/>
                <a:cs typeface="Century Gothic"/>
                <a:sym typeface="Century Gothic"/>
              </a:rPr>
              <a:t>bank 		0.141</a:t>
            </a:r>
            <a:br>
              <a:rPr lang="en-GB" sz="1500" dirty="0">
                <a:solidFill>
                  <a:schemeClr val="dk1"/>
                </a:solidFill>
                <a:latin typeface="Century Gothic"/>
                <a:ea typeface="Century Gothic"/>
                <a:cs typeface="Century Gothic"/>
                <a:sym typeface="Century Gothic"/>
              </a:rPr>
            </a:br>
            <a:r>
              <a:rPr lang="en-GB" sz="1500" dirty="0">
                <a:solidFill>
                  <a:schemeClr val="dk1"/>
                </a:solidFill>
                <a:latin typeface="Century Gothic"/>
                <a:ea typeface="Century Gothic"/>
                <a:cs typeface="Century Gothic"/>
                <a:sym typeface="Century Gothic"/>
              </a:rPr>
              <a:t>price 		0.098</a:t>
            </a:r>
            <a:br>
              <a:rPr lang="en-GB" sz="1500" dirty="0">
                <a:solidFill>
                  <a:schemeClr val="dk1"/>
                </a:solidFill>
                <a:latin typeface="Century Gothic"/>
                <a:ea typeface="Century Gothic"/>
                <a:cs typeface="Century Gothic"/>
                <a:sym typeface="Century Gothic"/>
              </a:rPr>
            </a:br>
            <a:r>
              <a:rPr lang="en-GB" sz="1500" dirty="0">
                <a:solidFill>
                  <a:schemeClr val="dk1"/>
                </a:solidFill>
                <a:latin typeface="Century Gothic"/>
                <a:ea typeface="Century Gothic"/>
                <a:cs typeface="Century Gothic"/>
                <a:sym typeface="Century Gothic"/>
              </a:rPr>
              <a:t>prince 		0.077</a:t>
            </a:r>
            <a:br>
              <a:rPr lang="en-GB" sz="1500" dirty="0">
                <a:solidFill>
                  <a:schemeClr val="dk1"/>
                </a:solidFill>
                <a:latin typeface="Century Gothic"/>
                <a:ea typeface="Century Gothic"/>
                <a:cs typeface="Century Gothic"/>
                <a:sym typeface="Century Gothic"/>
              </a:rPr>
            </a:br>
            <a:r>
              <a:rPr lang="en-GB" sz="1500" dirty="0">
                <a:solidFill>
                  <a:schemeClr val="dk1"/>
                </a:solidFill>
                <a:latin typeface="Century Gothic"/>
                <a:ea typeface="Century Gothic"/>
                <a:cs typeface="Century Gothic"/>
                <a:sym typeface="Century Gothic"/>
              </a:rPr>
              <a:t>….	</a:t>
            </a:r>
            <a:endParaRPr sz="1500" dirty="0">
              <a:solidFill>
                <a:schemeClr val="dk1"/>
              </a:solidFill>
              <a:latin typeface="Century Gothic"/>
              <a:ea typeface="Century Gothic"/>
              <a:cs typeface="Century Gothic"/>
              <a:sym typeface="Century Gothic"/>
            </a:endParaRPr>
          </a:p>
        </p:txBody>
      </p:sp>
      <p:sp>
        <p:nvSpPr>
          <p:cNvPr id="519" name="Google Shape;519;p63"/>
          <p:cNvSpPr txBox="1"/>
          <p:nvPr/>
        </p:nvSpPr>
        <p:spPr>
          <a:xfrm>
            <a:off x="3107531" y="2548418"/>
            <a:ext cx="1596600" cy="3924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GB" sz="2100" i="1">
                <a:solidFill>
                  <a:schemeClr val="dk1"/>
                </a:solidFill>
                <a:latin typeface="Century Gothic"/>
                <a:ea typeface="Century Gothic"/>
                <a:cs typeface="Century Gothic"/>
                <a:sym typeface="Century Gothic"/>
              </a:rPr>
              <a:t>________</a:t>
            </a:r>
            <a:endParaRPr sz="2100" i="1">
              <a:solidFill>
                <a:schemeClr val="dk1"/>
              </a:solidFill>
              <a:latin typeface="Century Gothic"/>
              <a:ea typeface="Century Gothic"/>
              <a:cs typeface="Century Gothic"/>
              <a:sym typeface="Century Gothic"/>
            </a:endParaRPr>
          </a:p>
        </p:txBody>
      </p:sp>
      <p:cxnSp>
        <p:nvCxnSpPr>
          <p:cNvPr id="520" name="Google Shape;520;p63"/>
          <p:cNvCxnSpPr>
            <a:stCxn id="515" idx="2"/>
            <a:endCxn id="518" idx="1"/>
          </p:cNvCxnSpPr>
          <p:nvPr/>
        </p:nvCxnSpPr>
        <p:spPr>
          <a:xfrm rot="-5400000" flipH="1">
            <a:off x="1949503" y="3300518"/>
            <a:ext cx="1112400" cy="393000"/>
          </a:xfrm>
          <a:prstGeom prst="bentConnector2">
            <a:avLst/>
          </a:prstGeom>
          <a:noFill/>
          <a:ln w="38100" cap="flat" cmpd="sng">
            <a:solidFill>
              <a:srgbClr val="00B0F0"/>
            </a:solidFill>
            <a:prstDash val="solid"/>
            <a:miter lim="800000"/>
            <a:headEnd type="none" w="sm" len="sm"/>
            <a:tailEnd type="triangle" w="med" len="med"/>
          </a:ln>
        </p:spPr>
      </p:cxnSp>
    </p:spTree>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Shape 525"/>
        <p:cNvGrpSpPr/>
        <p:nvPr/>
      </p:nvGrpSpPr>
      <p:grpSpPr>
        <a:xfrm>
          <a:off x="0" y="0"/>
          <a:ext cx="0" cy="0"/>
          <a:chOff x="0" y="0"/>
          <a:chExt cx="0" cy="0"/>
        </a:xfrm>
      </p:grpSpPr>
      <p:sp>
        <p:nvSpPr>
          <p:cNvPr id="526" name="Google Shape;526;p64"/>
          <p:cNvSpPr txBox="1">
            <a:spLocks noGrp="1"/>
          </p:cNvSpPr>
          <p:nvPr>
            <p:ph type="title"/>
          </p:nvPr>
        </p:nvSpPr>
        <p:spPr>
          <a:xfrm>
            <a:off x="471488" y="205383"/>
            <a:ext cx="5915100" cy="7458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chemeClr val="dk1"/>
              </a:buClr>
              <a:buSzPts val="3300"/>
              <a:buFont typeface="Century Gothic"/>
              <a:buNone/>
            </a:pPr>
            <a:r>
              <a:rPr lang="en-GB"/>
              <a:t>Generating text with an n-gram LM</a:t>
            </a:r>
            <a:endParaRPr/>
          </a:p>
        </p:txBody>
      </p:sp>
      <p:sp>
        <p:nvSpPr>
          <p:cNvPr id="528" name="Google Shape;528;p64"/>
          <p:cNvSpPr txBox="1"/>
          <p:nvPr/>
        </p:nvSpPr>
        <p:spPr>
          <a:xfrm>
            <a:off x="1510904" y="2548418"/>
            <a:ext cx="1596600" cy="3924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GB" sz="2100" i="1">
                <a:solidFill>
                  <a:schemeClr val="dk1"/>
                </a:solidFill>
                <a:latin typeface="Century Gothic"/>
                <a:ea typeface="Century Gothic"/>
                <a:cs typeface="Century Gothic"/>
                <a:sym typeface="Century Gothic"/>
              </a:rPr>
              <a:t>Today the</a:t>
            </a:r>
            <a:endParaRPr sz="1100"/>
          </a:p>
        </p:txBody>
      </p:sp>
      <p:sp>
        <p:nvSpPr>
          <p:cNvPr id="529" name="Google Shape;529;p64"/>
          <p:cNvSpPr/>
          <p:nvPr/>
        </p:nvSpPr>
        <p:spPr>
          <a:xfrm rot="5400000">
            <a:off x="2057355" y="1701110"/>
            <a:ext cx="342900" cy="1217400"/>
          </a:xfrm>
          <a:prstGeom prst="leftBrace">
            <a:avLst>
              <a:gd name="adj1" fmla="val 70833"/>
              <a:gd name="adj2" fmla="val 50000"/>
            </a:avLst>
          </a:prstGeom>
          <a:noFill/>
          <a:ln w="38100" cap="flat" cmpd="sng">
            <a:solidFill>
              <a:srgbClr val="00B0F0"/>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dk1"/>
              </a:solidFill>
              <a:latin typeface="Century Gothic"/>
              <a:ea typeface="Century Gothic"/>
              <a:cs typeface="Century Gothic"/>
              <a:sym typeface="Century Gothic"/>
            </a:endParaRPr>
          </a:p>
        </p:txBody>
      </p:sp>
      <p:sp>
        <p:nvSpPr>
          <p:cNvPr id="530" name="Google Shape;530;p64"/>
          <p:cNvSpPr txBox="1"/>
          <p:nvPr/>
        </p:nvSpPr>
        <p:spPr>
          <a:xfrm>
            <a:off x="1251049" y="1424637"/>
            <a:ext cx="2116500" cy="623400"/>
          </a:xfrm>
          <a:prstGeom prst="rect">
            <a:avLst/>
          </a:prstGeom>
          <a:noFill/>
          <a:ln>
            <a:noFill/>
          </a:ln>
        </p:spPr>
        <p:txBody>
          <a:bodyPr spcFirstLastPara="1" wrap="square" lIns="68575" tIns="34275" rIns="68575" bIns="34275" anchor="t" anchorCtr="0">
            <a:spAutoFit/>
          </a:bodyPr>
          <a:lstStyle/>
          <a:p>
            <a:pPr marL="0" marR="0" lvl="0" indent="0" algn="ctr" rtl="0">
              <a:spcBef>
                <a:spcPts val="0"/>
              </a:spcBef>
              <a:spcAft>
                <a:spcPts val="0"/>
              </a:spcAft>
              <a:buNone/>
            </a:pPr>
            <a:r>
              <a:rPr lang="en-GB" sz="1800">
                <a:solidFill>
                  <a:schemeClr val="dk1"/>
                </a:solidFill>
                <a:latin typeface="Century Gothic"/>
                <a:ea typeface="Century Gothic"/>
                <a:cs typeface="Century Gothic"/>
                <a:sym typeface="Century Gothic"/>
              </a:rPr>
              <a:t>Condition on this </a:t>
            </a:r>
            <a:r>
              <a:rPr lang="en-GB" sz="1800">
                <a:solidFill>
                  <a:srgbClr val="00B0F0"/>
                </a:solidFill>
                <a:latin typeface="Century Gothic"/>
                <a:ea typeface="Century Gothic"/>
                <a:cs typeface="Century Gothic"/>
                <a:sym typeface="Century Gothic"/>
              </a:rPr>
              <a:t>prompt</a:t>
            </a:r>
            <a:endParaRPr sz="1800">
              <a:solidFill>
                <a:srgbClr val="00B0F0"/>
              </a:solidFill>
              <a:latin typeface="Century Gothic"/>
              <a:ea typeface="Century Gothic"/>
              <a:cs typeface="Century Gothic"/>
              <a:sym typeface="Century Gothic"/>
            </a:endParaRPr>
          </a:p>
        </p:txBody>
      </p:sp>
      <p:sp>
        <p:nvSpPr>
          <p:cNvPr id="531" name="Google Shape;531;p64"/>
          <p:cNvSpPr txBox="1"/>
          <p:nvPr/>
        </p:nvSpPr>
        <p:spPr>
          <a:xfrm>
            <a:off x="2702124" y="3441365"/>
            <a:ext cx="2061000" cy="1223700"/>
          </a:xfrm>
          <a:prstGeom prst="rect">
            <a:avLst/>
          </a:prstGeom>
          <a:noFill/>
          <a:ln w="28575" cap="flat" cmpd="sng">
            <a:solidFill>
              <a:srgbClr val="00B0F0"/>
            </a:solidFill>
            <a:prstDash val="solid"/>
            <a:round/>
            <a:headEnd type="none" w="sm" len="sm"/>
            <a:tailEnd type="none" w="sm" len="sm"/>
          </a:ln>
        </p:spPr>
        <p:txBody>
          <a:bodyPr spcFirstLastPara="1" wrap="square" lIns="68575" tIns="34275" rIns="68575" bIns="34275" anchor="t" anchorCtr="0">
            <a:spAutoFit/>
          </a:bodyPr>
          <a:lstStyle/>
          <a:p>
            <a:pPr marL="0" marR="0" lvl="0" indent="0" algn="l" rtl="0">
              <a:spcBef>
                <a:spcPts val="0"/>
              </a:spcBef>
              <a:spcAft>
                <a:spcPts val="0"/>
              </a:spcAft>
              <a:buNone/>
            </a:pPr>
            <a:r>
              <a:rPr lang="en-GB" sz="1500">
                <a:solidFill>
                  <a:schemeClr val="dk1"/>
                </a:solidFill>
                <a:latin typeface="Century Gothic"/>
                <a:ea typeface="Century Gothic"/>
                <a:cs typeface="Century Gothic"/>
                <a:sym typeface="Century Gothic"/>
              </a:rPr>
              <a:t>company		0.193</a:t>
            </a:r>
            <a:endParaRPr sz="1100"/>
          </a:p>
          <a:p>
            <a:pPr marL="0" marR="0" lvl="0" indent="0" algn="l" rtl="0">
              <a:spcBef>
                <a:spcPts val="0"/>
              </a:spcBef>
              <a:spcAft>
                <a:spcPts val="0"/>
              </a:spcAft>
              <a:buNone/>
            </a:pPr>
            <a:r>
              <a:rPr lang="en-GB" sz="1500">
                <a:solidFill>
                  <a:schemeClr val="dk1"/>
                </a:solidFill>
                <a:latin typeface="Century Gothic"/>
                <a:ea typeface="Century Gothic"/>
                <a:cs typeface="Century Gothic"/>
                <a:sym typeface="Century Gothic"/>
              </a:rPr>
              <a:t>bank 		0.141</a:t>
            </a:r>
            <a:br>
              <a:rPr lang="en-GB" sz="1500">
                <a:solidFill>
                  <a:schemeClr val="dk1"/>
                </a:solidFill>
                <a:latin typeface="Century Gothic"/>
                <a:ea typeface="Century Gothic"/>
                <a:cs typeface="Century Gothic"/>
                <a:sym typeface="Century Gothic"/>
              </a:rPr>
            </a:br>
            <a:r>
              <a:rPr lang="en-GB" sz="1500">
                <a:solidFill>
                  <a:schemeClr val="dk1"/>
                </a:solidFill>
                <a:latin typeface="Century Gothic"/>
                <a:ea typeface="Century Gothic"/>
                <a:cs typeface="Century Gothic"/>
                <a:sym typeface="Century Gothic"/>
              </a:rPr>
              <a:t>price 		0.098</a:t>
            </a:r>
            <a:br>
              <a:rPr lang="en-GB" sz="1500">
                <a:solidFill>
                  <a:schemeClr val="dk1"/>
                </a:solidFill>
                <a:latin typeface="Century Gothic"/>
                <a:ea typeface="Century Gothic"/>
                <a:cs typeface="Century Gothic"/>
                <a:sym typeface="Century Gothic"/>
              </a:rPr>
            </a:br>
            <a:r>
              <a:rPr lang="en-GB" sz="1500">
                <a:solidFill>
                  <a:schemeClr val="dk1"/>
                </a:solidFill>
                <a:latin typeface="Century Gothic"/>
                <a:ea typeface="Century Gothic"/>
                <a:cs typeface="Century Gothic"/>
                <a:sym typeface="Century Gothic"/>
              </a:rPr>
              <a:t>prince 		0.077</a:t>
            </a:r>
            <a:br>
              <a:rPr lang="en-GB" sz="1500">
                <a:solidFill>
                  <a:schemeClr val="dk1"/>
                </a:solidFill>
                <a:latin typeface="Century Gothic"/>
                <a:ea typeface="Century Gothic"/>
                <a:cs typeface="Century Gothic"/>
                <a:sym typeface="Century Gothic"/>
              </a:rPr>
            </a:br>
            <a:r>
              <a:rPr lang="en-GB" sz="1500">
                <a:solidFill>
                  <a:schemeClr val="dk1"/>
                </a:solidFill>
                <a:latin typeface="Century Gothic"/>
                <a:ea typeface="Century Gothic"/>
                <a:cs typeface="Century Gothic"/>
                <a:sym typeface="Century Gothic"/>
              </a:rPr>
              <a:t>….	</a:t>
            </a:r>
            <a:endParaRPr sz="1500">
              <a:solidFill>
                <a:schemeClr val="dk1"/>
              </a:solidFill>
              <a:latin typeface="Century Gothic"/>
              <a:ea typeface="Century Gothic"/>
              <a:cs typeface="Century Gothic"/>
              <a:sym typeface="Century Gothic"/>
            </a:endParaRPr>
          </a:p>
        </p:txBody>
      </p:sp>
      <p:sp>
        <p:nvSpPr>
          <p:cNvPr id="532" name="Google Shape;532;p64"/>
          <p:cNvSpPr txBox="1"/>
          <p:nvPr/>
        </p:nvSpPr>
        <p:spPr>
          <a:xfrm>
            <a:off x="3367385" y="2548418"/>
            <a:ext cx="1596600" cy="3924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GB" sz="2100" i="1">
                <a:solidFill>
                  <a:schemeClr val="dk1"/>
                </a:solidFill>
                <a:latin typeface="Century Gothic"/>
                <a:ea typeface="Century Gothic"/>
                <a:cs typeface="Century Gothic"/>
                <a:sym typeface="Century Gothic"/>
              </a:rPr>
              <a:t>bank</a:t>
            </a:r>
            <a:endParaRPr sz="2100" i="1">
              <a:solidFill>
                <a:schemeClr val="dk1"/>
              </a:solidFill>
              <a:latin typeface="Century Gothic"/>
              <a:ea typeface="Century Gothic"/>
              <a:cs typeface="Century Gothic"/>
              <a:sym typeface="Century Gothic"/>
            </a:endParaRPr>
          </a:p>
        </p:txBody>
      </p:sp>
      <p:cxnSp>
        <p:nvCxnSpPr>
          <p:cNvPr id="533" name="Google Shape;533;p64"/>
          <p:cNvCxnSpPr>
            <a:stCxn id="528" idx="2"/>
            <a:endCxn id="531" idx="1"/>
          </p:cNvCxnSpPr>
          <p:nvPr/>
        </p:nvCxnSpPr>
        <p:spPr>
          <a:xfrm rot="-5400000" flipH="1">
            <a:off x="1949503" y="3300518"/>
            <a:ext cx="1112400" cy="393000"/>
          </a:xfrm>
          <a:prstGeom prst="bentConnector2">
            <a:avLst/>
          </a:prstGeom>
          <a:noFill/>
          <a:ln w="38100" cap="flat" cmpd="sng">
            <a:solidFill>
              <a:srgbClr val="00B0F0"/>
            </a:solidFill>
            <a:prstDash val="solid"/>
            <a:miter lim="800000"/>
            <a:headEnd type="none" w="sm" len="sm"/>
            <a:tailEnd type="triangle" w="med" len="med"/>
          </a:ln>
        </p:spPr>
      </p:cxnSp>
      <p:sp>
        <p:nvSpPr>
          <p:cNvPr id="534" name="Google Shape;534;p64"/>
          <p:cNvSpPr txBox="1"/>
          <p:nvPr/>
        </p:nvSpPr>
        <p:spPr>
          <a:xfrm>
            <a:off x="192881" y="3333248"/>
            <a:ext cx="2116500" cy="623400"/>
          </a:xfrm>
          <a:prstGeom prst="rect">
            <a:avLst/>
          </a:prstGeom>
          <a:blipFill rotWithShape="1">
            <a:blip r:embed="rId3">
              <a:alphaModFix/>
            </a:blip>
            <a:stretch>
              <a:fillRect l="-1339" t="-4479" r="-4039" b="-14918"/>
            </a:stretch>
          </a:blipFill>
          <a:ln>
            <a:noFill/>
          </a:ln>
        </p:spPr>
        <p:txBody>
          <a:bodyPr spcFirstLastPara="1" wrap="square" lIns="68575" tIns="34275" rIns="68575" bIns="34275" anchor="t" anchorCtr="0">
            <a:noAutofit/>
          </a:bodyPr>
          <a:lstStyle/>
          <a:p>
            <a:pPr marL="0" marR="0" lvl="0" indent="0" algn="l" rtl="0">
              <a:spcBef>
                <a:spcPts val="0"/>
              </a:spcBef>
              <a:spcAft>
                <a:spcPts val="0"/>
              </a:spcAft>
              <a:buNone/>
            </a:pPr>
            <a:r>
              <a:rPr lang="en-GB" sz="1400">
                <a:latin typeface="Century Gothic"/>
                <a:ea typeface="Century Gothic"/>
                <a:cs typeface="Century Gothic"/>
                <a:sym typeface="Century Gothic"/>
              </a:rPr>
              <a:t> </a:t>
            </a:r>
            <a:endParaRPr sz="1100"/>
          </a:p>
        </p:txBody>
      </p:sp>
      <p:cxnSp>
        <p:nvCxnSpPr>
          <p:cNvPr id="535" name="Google Shape;535;p64"/>
          <p:cNvCxnSpPr>
            <a:stCxn id="531" idx="0"/>
          </p:cNvCxnSpPr>
          <p:nvPr/>
        </p:nvCxnSpPr>
        <p:spPr>
          <a:xfrm rot="10800000">
            <a:off x="3732624" y="2940665"/>
            <a:ext cx="0" cy="500700"/>
          </a:xfrm>
          <a:prstGeom prst="straightConnector1">
            <a:avLst/>
          </a:prstGeom>
          <a:noFill/>
          <a:ln w="38100" cap="flat" cmpd="sng">
            <a:solidFill>
              <a:srgbClr val="00B0F0"/>
            </a:solidFill>
            <a:prstDash val="solid"/>
            <a:miter lim="800000"/>
            <a:headEnd type="none" w="sm" len="sm"/>
            <a:tailEnd type="triangle" w="med" len="med"/>
          </a:ln>
        </p:spPr>
      </p:cxnSp>
      <p:sp>
        <p:nvSpPr>
          <p:cNvPr id="536" name="Google Shape;536;p64"/>
          <p:cNvSpPr txBox="1"/>
          <p:nvPr/>
        </p:nvSpPr>
        <p:spPr>
          <a:xfrm>
            <a:off x="3239691" y="3017974"/>
            <a:ext cx="2116500" cy="346200"/>
          </a:xfrm>
          <a:prstGeom prst="rect">
            <a:avLst/>
          </a:prstGeom>
          <a:noFill/>
          <a:ln>
            <a:noFill/>
          </a:ln>
        </p:spPr>
        <p:txBody>
          <a:bodyPr spcFirstLastPara="1" wrap="square" lIns="68575" tIns="34275" rIns="68575" bIns="34275" anchor="t" anchorCtr="0">
            <a:spAutoFit/>
          </a:bodyPr>
          <a:lstStyle/>
          <a:p>
            <a:pPr marL="0" marR="0" lvl="0" indent="0" algn="ctr" rtl="0">
              <a:spcBef>
                <a:spcPts val="0"/>
              </a:spcBef>
              <a:spcAft>
                <a:spcPts val="0"/>
              </a:spcAft>
              <a:buNone/>
            </a:pPr>
            <a:r>
              <a:rPr lang="en-GB" sz="1800">
                <a:solidFill>
                  <a:schemeClr val="dk1"/>
                </a:solidFill>
                <a:latin typeface="Century Gothic"/>
                <a:ea typeface="Century Gothic"/>
                <a:cs typeface="Century Gothic"/>
                <a:sym typeface="Century Gothic"/>
              </a:rPr>
              <a:t>Sample</a:t>
            </a:r>
            <a:endParaRPr sz="1800">
              <a:solidFill>
                <a:srgbClr val="00B0F0"/>
              </a:solidFill>
              <a:latin typeface="Century Gothic"/>
              <a:ea typeface="Century Gothic"/>
              <a:cs typeface="Century Gothic"/>
              <a:sym typeface="Century Gothic"/>
            </a:endParaRPr>
          </a:p>
        </p:txBody>
      </p:sp>
    </p:spTree>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Shape 540"/>
        <p:cNvGrpSpPr/>
        <p:nvPr/>
      </p:nvGrpSpPr>
      <p:grpSpPr>
        <a:xfrm>
          <a:off x="0" y="0"/>
          <a:ext cx="0" cy="0"/>
          <a:chOff x="0" y="0"/>
          <a:chExt cx="0" cy="0"/>
        </a:xfrm>
      </p:grpSpPr>
      <p:sp>
        <p:nvSpPr>
          <p:cNvPr id="541" name="Google Shape;541;p65"/>
          <p:cNvSpPr txBox="1">
            <a:spLocks noGrp="1"/>
          </p:cNvSpPr>
          <p:nvPr>
            <p:ph type="title"/>
          </p:nvPr>
        </p:nvSpPr>
        <p:spPr>
          <a:xfrm>
            <a:off x="471488" y="205383"/>
            <a:ext cx="5915100" cy="7458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chemeClr val="dk1"/>
              </a:buClr>
              <a:buSzPts val="3300"/>
              <a:buFont typeface="Century Gothic"/>
              <a:buNone/>
            </a:pPr>
            <a:r>
              <a:rPr lang="en-GB"/>
              <a:t>Generating text with an n-gram LM</a:t>
            </a:r>
            <a:endParaRPr/>
          </a:p>
        </p:txBody>
      </p:sp>
      <p:sp>
        <p:nvSpPr>
          <p:cNvPr id="543" name="Google Shape;543;p65"/>
          <p:cNvSpPr txBox="1"/>
          <p:nvPr/>
        </p:nvSpPr>
        <p:spPr>
          <a:xfrm>
            <a:off x="1510904" y="2548418"/>
            <a:ext cx="1596600" cy="3924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GB" sz="2100" i="1">
                <a:solidFill>
                  <a:schemeClr val="dk1"/>
                </a:solidFill>
                <a:latin typeface="Century Gothic"/>
                <a:ea typeface="Century Gothic"/>
                <a:cs typeface="Century Gothic"/>
                <a:sym typeface="Century Gothic"/>
              </a:rPr>
              <a:t>Today the</a:t>
            </a:r>
            <a:endParaRPr sz="1100"/>
          </a:p>
        </p:txBody>
      </p:sp>
      <p:sp>
        <p:nvSpPr>
          <p:cNvPr id="544" name="Google Shape;544;p65"/>
          <p:cNvSpPr/>
          <p:nvPr/>
        </p:nvSpPr>
        <p:spPr>
          <a:xfrm rot="5400000">
            <a:off x="3125754" y="1540096"/>
            <a:ext cx="342900" cy="1596600"/>
          </a:xfrm>
          <a:prstGeom prst="leftBrace">
            <a:avLst>
              <a:gd name="adj1" fmla="val 70833"/>
              <a:gd name="adj2" fmla="val 50000"/>
            </a:avLst>
          </a:prstGeom>
          <a:noFill/>
          <a:ln w="38100" cap="flat" cmpd="sng">
            <a:solidFill>
              <a:srgbClr val="00B0F0"/>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dk1"/>
              </a:solidFill>
              <a:latin typeface="Century Gothic"/>
              <a:ea typeface="Century Gothic"/>
              <a:cs typeface="Century Gothic"/>
              <a:sym typeface="Century Gothic"/>
            </a:endParaRPr>
          </a:p>
        </p:txBody>
      </p:sp>
      <p:sp>
        <p:nvSpPr>
          <p:cNvPr id="545" name="Google Shape;545;p65"/>
          <p:cNvSpPr txBox="1"/>
          <p:nvPr/>
        </p:nvSpPr>
        <p:spPr>
          <a:xfrm>
            <a:off x="2309217" y="1456925"/>
            <a:ext cx="2116500" cy="623400"/>
          </a:xfrm>
          <a:prstGeom prst="rect">
            <a:avLst/>
          </a:prstGeom>
          <a:noFill/>
          <a:ln>
            <a:noFill/>
          </a:ln>
        </p:spPr>
        <p:txBody>
          <a:bodyPr spcFirstLastPara="1" wrap="square" lIns="68575" tIns="34275" rIns="68575" bIns="34275" anchor="t" anchorCtr="0">
            <a:spAutoFit/>
          </a:bodyPr>
          <a:lstStyle/>
          <a:p>
            <a:pPr marL="0" marR="0" lvl="0" indent="0" algn="ctr" rtl="0">
              <a:spcBef>
                <a:spcPts val="0"/>
              </a:spcBef>
              <a:spcAft>
                <a:spcPts val="0"/>
              </a:spcAft>
              <a:buNone/>
            </a:pPr>
            <a:r>
              <a:rPr lang="en-GB" sz="1800">
                <a:solidFill>
                  <a:schemeClr val="dk1"/>
                </a:solidFill>
                <a:latin typeface="Century Gothic"/>
                <a:ea typeface="Century Gothic"/>
                <a:cs typeface="Century Gothic"/>
                <a:sym typeface="Century Gothic"/>
              </a:rPr>
              <a:t>Condition on this </a:t>
            </a:r>
            <a:r>
              <a:rPr lang="en-GB" sz="1800">
                <a:solidFill>
                  <a:srgbClr val="00B0F0"/>
                </a:solidFill>
                <a:latin typeface="Century Gothic"/>
                <a:ea typeface="Century Gothic"/>
                <a:cs typeface="Century Gothic"/>
                <a:sym typeface="Century Gothic"/>
              </a:rPr>
              <a:t>prompt</a:t>
            </a:r>
            <a:endParaRPr sz="1800">
              <a:solidFill>
                <a:srgbClr val="00B0F0"/>
              </a:solidFill>
              <a:latin typeface="Century Gothic"/>
              <a:ea typeface="Century Gothic"/>
              <a:cs typeface="Century Gothic"/>
              <a:sym typeface="Century Gothic"/>
            </a:endParaRPr>
          </a:p>
        </p:txBody>
      </p:sp>
      <p:sp>
        <p:nvSpPr>
          <p:cNvPr id="546" name="Google Shape;546;p65"/>
          <p:cNvSpPr txBox="1"/>
          <p:nvPr/>
        </p:nvSpPr>
        <p:spPr>
          <a:xfrm>
            <a:off x="3762986" y="3441365"/>
            <a:ext cx="2061000" cy="1223700"/>
          </a:xfrm>
          <a:prstGeom prst="rect">
            <a:avLst/>
          </a:prstGeom>
          <a:noFill/>
          <a:ln w="28575" cap="flat" cmpd="sng">
            <a:solidFill>
              <a:srgbClr val="00B0F0"/>
            </a:solidFill>
            <a:prstDash val="solid"/>
            <a:round/>
            <a:headEnd type="none" w="sm" len="sm"/>
            <a:tailEnd type="none" w="sm" len="sm"/>
          </a:ln>
        </p:spPr>
        <p:txBody>
          <a:bodyPr spcFirstLastPara="1" wrap="square" lIns="68575" tIns="34275" rIns="68575" bIns="34275" anchor="t" anchorCtr="0">
            <a:spAutoFit/>
          </a:bodyPr>
          <a:lstStyle/>
          <a:p>
            <a:pPr marL="0" marR="0" lvl="0" indent="0" algn="l" rtl="0">
              <a:spcBef>
                <a:spcPts val="0"/>
              </a:spcBef>
              <a:spcAft>
                <a:spcPts val="0"/>
              </a:spcAft>
              <a:buNone/>
            </a:pPr>
            <a:r>
              <a:rPr lang="en-GB" sz="1500">
                <a:solidFill>
                  <a:schemeClr val="dk1"/>
                </a:solidFill>
                <a:latin typeface="Century Gothic"/>
                <a:ea typeface="Century Gothic"/>
                <a:cs typeface="Century Gothic"/>
                <a:sym typeface="Century Gothic"/>
              </a:rPr>
              <a:t>opened		0.463</a:t>
            </a:r>
            <a:endParaRPr sz="1100"/>
          </a:p>
          <a:p>
            <a:pPr marL="0" marR="0" lvl="0" indent="0" algn="l" rtl="0">
              <a:spcBef>
                <a:spcPts val="0"/>
              </a:spcBef>
              <a:spcAft>
                <a:spcPts val="0"/>
              </a:spcAft>
              <a:buNone/>
            </a:pPr>
            <a:r>
              <a:rPr lang="en-GB" sz="1500">
                <a:solidFill>
                  <a:schemeClr val="dk1"/>
                </a:solidFill>
                <a:latin typeface="Century Gothic"/>
                <a:ea typeface="Century Gothic"/>
                <a:cs typeface="Century Gothic"/>
                <a:sym typeface="Century Gothic"/>
              </a:rPr>
              <a:t>released		0.112</a:t>
            </a:r>
            <a:br>
              <a:rPr lang="en-GB" sz="1500">
                <a:solidFill>
                  <a:schemeClr val="dk1"/>
                </a:solidFill>
                <a:latin typeface="Century Gothic"/>
                <a:ea typeface="Century Gothic"/>
                <a:cs typeface="Century Gothic"/>
                <a:sym typeface="Century Gothic"/>
              </a:rPr>
            </a:br>
            <a:r>
              <a:rPr lang="en-GB" sz="1500">
                <a:solidFill>
                  <a:schemeClr val="dk1"/>
                </a:solidFill>
                <a:latin typeface="Century Gothic"/>
                <a:ea typeface="Century Gothic"/>
                <a:cs typeface="Century Gothic"/>
                <a:sym typeface="Century Gothic"/>
              </a:rPr>
              <a:t>bought 		0.109</a:t>
            </a:r>
            <a:br>
              <a:rPr lang="en-GB" sz="1500">
                <a:solidFill>
                  <a:schemeClr val="dk1"/>
                </a:solidFill>
                <a:latin typeface="Century Gothic"/>
                <a:ea typeface="Century Gothic"/>
                <a:cs typeface="Century Gothic"/>
                <a:sym typeface="Century Gothic"/>
              </a:rPr>
            </a:br>
            <a:r>
              <a:rPr lang="en-GB" sz="1500">
                <a:solidFill>
                  <a:schemeClr val="dk1"/>
                </a:solidFill>
                <a:latin typeface="Century Gothic"/>
                <a:ea typeface="Century Gothic"/>
                <a:cs typeface="Century Gothic"/>
                <a:sym typeface="Century Gothic"/>
              </a:rPr>
              <a:t>published 	0.097</a:t>
            </a:r>
            <a:br>
              <a:rPr lang="en-GB" sz="1500">
                <a:solidFill>
                  <a:schemeClr val="dk1"/>
                </a:solidFill>
                <a:latin typeface="Century Gothic"/>
                <a:ea typeface="Century Gothic"/>
                <a:cs typeface="Century Gothic"/>
                <a:sym typeface="Century Gothic"/>
              </a:rPr>
            </a:br>
            <a:r>
              <a:rPr lang="en-GB" sz="1500">
                <a:solidFill>
                  <a:schemeClr val="dk1"/>
                </a:solidFill>
                <a:latin typeface="Century Gothic"/>
                <a:ea typeface="Century Gothic"/>
                <a:cs typeface="Century Gothic"/>
                <a:sym typeface="Century Gothic"/>
              </a:rPr>
              <a:t>….	</a:t>
            </a:r>
            <a:endParaRPr sz="1500">
              <a:solidFill>
                <a:schemeClr val="dk1"/>
              </a:solidFill>
              <a:latin typeface="Century Gothic"/>
              <a:ea typeface="Century Gothic"/>
              <a:cs typeface="Century Gothic"/>
              <a:sym typeface="Century Gothic"/>
            </a:endParaRPr>
          </a:p>
        </p:txBody>
      </p:sp>
      <p:sp>
        <p:nvSpPr>
          <p:cNvPr id="547" name="Google Shape;547;p65"/>
          <p:cNvSpPr txBox="1"/>
          <p:nvPr/>
        </p:nvSpPr>
        <p:spPr>
          <a:xfrm>
            <a:off x="3367385" y="2548418"/>
            <a:ext cx="1596600" cy="3924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GB" sz="2100" i="1">
                <a:solidFill>
                  <a:schemeClr val="dk1"/>
                </a:solidFill>
                <a:latin typeface="Century Gothic"/>
                <a:ea typeface="Century Gothic"/>
                <a:cs typeface="Century Gothic"/>
                <a:sym typeface="Century Gothic"/>
              </a:rPr>
              <a:t>bank</a:t>
            </a:r>
            <a:endParaRPr sz="2100" i="1">
              <a:solidFill>
                <a:schemeClr val="dk1"/>
              </a:solidFill>
              <a:latin typeface="Century Gothic"/>
              <a:ea typeface="Century Gothic"/>
              <a:cs typeface="Century Gothic"/>
              <a:sym typeface="Century Gothic"/>
            </a:endParaRPr>
          </a:p>
        </p:txBody>
      </p:sp>
      <p:cxnSp>
        <p:nvCxnSpPr>
          <p:cNvPr id="548" name="Google Shape;548;p65"/>
          <p:cNvCxnSpPr>
            <a:endCxn id="546" idx="1"/>
          </p:cNvCxnSpPr>
          <p:nvPr/>
        </p:nvCxnSpPr>
        <p:spPr>
          <a:xfrm rot="-5400000" flipH="1">
            <a:off x="3010436" y="3300665"/>
            <a:ext cx="1112100" cy="393000"/>
          </a:xfrm>
          <a:prstGeom prst="bentConnector2">
            <a:avLst/>
          </a:prstGeom>
          <a:noFill/>
          <a:ln w="38100" cap="flat" cmpd="sng">
            <a:solidFill>
              <a:srgbClr val="00B0F0"/>
            </a:solidFill>
            <a:prstDash val="solid"/>
            <a:miter lim="800000"/>
            <a:headEnd type="none" w="sm" len="sm"/>
            <a:tailEnd type="triangle" w="med" len="med"/>
          </a:ln>
        </p:spPr>
      </p:cxnSp>
      <p:sp>
        <p:nvSpPr>
          <p:cNvPr id="549" name="Google Shape;549;p65"/>
          <p:cNvSpPr txBox="1"/>
          <p:nvPr/>
        </p:nvSpPr>
        <p:spPr>
          <a:xfrm>
            <a:off x="1253742" y="3333248"/>
            <a:ext cx="2116500" cy="623400"/>
          </a:xfrm>
          <a:prstGeom prst="rect">
            <a:avLst/>
          </a:prstGeom>
          <a:blipFill rotWithShape="1">
            <a:blip r:embed="rId3">
              <a:alphaModFix/>
            </a:blip>
            <a:stretch>
              <a:fillRect l="-899" t="-4479" r="-4029" b="-14918"/>
            </a:stretch>
          </a:blipFill>
          <a:ln>
            <a:noFill/>
          </a:ln>
        </p:spPr>
        <p:txBody>
          <a:bodyPr spcFirstLastPara="1" wrap="square" lIns="68575" tIns="34275" rIns="68575" bIns="34275" anchor="t" anchorCtr="0">
            <a:noAutofit/>
          </a:bodyPr>
          <a:lstStyle/>
          <a:p>
            <a:pPr marL="0" marR="0" lvl="0" indent="0" algn="l" rtl="0">
              <a:spcBef>
                <a:spcPts val="0"/>
              </a:spcBef>
              <a:spcAft>
                <a:spcPts val="0"/>
              </a:spcAft>
              <a:buNone/>
            </a:pPr>
            <a:r>
              <a:rPr lang="en-GB" sz="1400">
                <a:latin typeface="Century Gothic"/>
                <a:ea typeface="Century Gothic"/>
                <a:cs typeface="Century Gothic"/>
                <a:sym typeface="Century Gothic"/>
              </a:rPr>
              <a:t> </a:t>
            </a:r>
            <a:endParaRPr sz="1100"/>
          </a:p>
        </p:txBody>
      </p:sp>
      <p:cxnSp>
        <p:nvCxnSpPr>
          <p:cNvPr id="550" name="Google Shape;550;p65"/>
          <p:cNvCxnSpPr>
            <a:stCxn id="546" idx="0"/>
          </p:cNvCxnSpPr>
          <p:nvPr/>
        </p:nvCxnSpPr>
        <p:spPr>
          <a:xfrm rot="10800000">
            <a:off x="4793486" y="2940665"/>
            <a:ext cx="0" cy="500700"/>
          </a:xfrm>
          <a:prstGeom prst="straightConnector1">
            <a:avLst/>
          </a:prstGeom>
          <a:noFill/>
          <a:ln w="38100" cap="flat" cmpd="sng">
            <a:solidFill>
              <a:srgbClr val="00B0F0"/>
            </a:solidFill>
            <a:prstDash val="solid"/>
            <a:miter lim="800000"/>
            <a:headEnd type="none" w="sm" len="sm"/>
            <a:tailEnd type="triangle" w="med" len="med"/>
          </a:ln>
        </p:spPr>
      </p:cxnSp>
      <p:sp>
        <p:nvSpPr>
          <p:cNvPr id="551" name="Google Shape;551;p65"/>
          <p:cNvSpPr txBox="1"/>
          <p:nvPr/>
        </p:nvSpPr>
        <p:spPr>
          <a:xfrm>
            <a:off x="4300553" y="3017974"/>
            <a:ext cx="2116500" cy="346200"/>
          </a:xfrm>
          <a:prstGeom prst="rect">
            <a:avLst/>
          </a:prstGeom>
          <a:noFill/>
          <a:ln>
            <a:noFill/>
          </a:ln>
        </p:spPr>
        <p:txBody>
          <a:bodyPr spcFirstLastPara="1" wrap="square" lIns="68575" tIns="34275" rIns="68575" bIns="34275" anchor="t" anchorCtr="0">
            <a:spAutoFit/>
          </a:bodyPr>
          <a:lstStyle/>
          <a:p>
            <a:pPr marL="0" marR="0" lvl="0" indent="0" algn="ctr" rtl="0">
              <a:spcBef>
                <a:spcPts val="0"/>
              </a:spcBef>
              <a:spcAft>
                <a:spcPts val="0"/>
              </a:spcAft>
              <a:buNone/>
            </a:pPr>
            <a:r>
              <a:rPr lang="en-GB" sz="1800">
                <a:solidFill>
                  <a:schemeClr val="dk1"/>
                </a:solidFill>
                <a:latin typeface="Century Gothic"/>
                <a:ea typeface="Century Gothic"/>
                <a:cs typeface="Century Gothic"/>
                <a:sym typeface="Century Gothic"/>
              </a:rPr>
              <a:t>Sample</a:t>
            </a:r>
            <a:endParaRPr sz="1800">
              <a:solidFill>
                <a:srgbClr val="00B0F0"/>
              </a:solidFill>
              <a:latin typeface="Century Gothic"/>
              <a:ea typeface="Century Gothic"/>
              <a:cs typeface="Century Gothic"/>
              <a:sym typeface="Century Gothic"/>
            </a:endParaRPr>
          </a:p>
        </p:txBody>
      </p:sp>
      <p:sp>
        <p:nvSpPr>
          <p:cNvPr id="552" name="Google Shape;552;p65"/>
          <p:cNvSpPr txBox="1"/>
          <p:nvPr/>
        </p:nvSpPr>
        <p:spPr>
          <a:xfrm>
            <a:off x="4313941" y="2548416"/>
            <a:ext cx="1596600" cy="3924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GB" sz="2100" i="1">
                <a:solidFill>
                  <a:schemeClr val="dk1"/>
                </a:solidFill>
                <a:latin typeface="Century Gothic"/>
                <a:ea typeface="Century Gothic"/>
                <a:cs typeface="Century Gothic"/>
                <a:sym typeface="Century Gothic"/>
              </a:rPr>
              <a:t>opened</a:t>
            </a:r>
            <a:endParaRPr sz="2100" i="1">
              <a:solidFill>
                <a:schemeClr val="dk1"/>
              </a:solidFill>
              <a:latin typeface="Century Gothic"/>
              <a:ea typeface="Century Gothic"/>
              <a:cs typeface="Century Gothic"/>
              <a:sym typeface="Century Gothic"/>
            </a:endParaRPr>
          </a:p>
        </p:txBody>
      </p:sp>
    </p:spTree>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Shape 556"/>
        <p:cNvGrpSpPr/>
        <p:nvPr/>
      </p:nvGrpSpPr>
      <p:grpSpPr>
        <a:xfrm>
          <a:off x="0" y="0"/>
          <a:ext cx="0" cy="0"/>
          <a:chOff x="0" y="0"/>
          <a:chExt cx="0" cy="0"/>
        </a:xfrm>
      </p:grpSpPr>
      <p:sp>
        <p:nvSpPr>
          <p:cNvPr id="557" name="Google Shape;557;p66"/>
          <p:cNvSpPr txBox="1">
            <a:spLocks noGrp="1"/>
          </p:cNvSpPr>
          <p:nvPr>
            <p:ph type="title"/>
          </p:nvPr>
        </p:nvSpPr>
        <p:spPr>
          <a:xfrm>
            <a:off x="471488" y="205383"/>
            <a:ext cx="5915100" cy="7458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chemeClr val="dk1"/>
              </a:buClr>
              <a:buSzPts val="3300"/>
              <a:buFont typeface="Century Gothic"/>
              <a:buNone/>
            </a:pPr>
            <a:r>
              <a:rPr lang="en-GB"/>
              <a:t>Generating text with an n-gram LM</a:t>
            </a:r>
            <a:endParaRPr/>
          </a:p>
        </p:txBody>
      </p:sp>
      <p:sp>
        <p:nvSpPr>
          <p:cNvPr id="559" name="Google Shape;559;p66"/>
          <p:cNvSpPr txBox="1"/>
          <p:nvPr/>
        </p:nvSpPr>
        <p:spPr>
          <a:xfrm>
            <a:off x="1510904" y="2548418"/>
            <a:ext cx="1596600" cy="3924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GB" sz="2100" i="1">
                <a:solidFill>
                  <a:schemeClr val="dk1"/>
                </a:solidFill>
                <a:latin typeface="Century Gothic"/>
                <a:ea typeface="Century Gothic"/>
                <a:cs typeface="Century Gothic"/>
                <a:sym typeface="Century Gothic"/>
              </a:rPr>
              <a:t>Today the</a:t>
            </a:r>
            <a:endParaRPr sz="1100"/>
          </a:p>
        </p:txBody>
      </p:sp>
      <p:sp>
        <p:nvSpPr>
          <p:cNvPr id="560" name="Google Shape;560;p66"/>
          <p:cNvSpPr/>
          <p:nvPr/>
        </p:nvSpPr>
        <p:spPr>
          <a:xfrm rot="5400000">
            <a:off x="4218753" y="1540096"/>
            <a:ext cx="342900" cy="1596600"/>
          </a:xfrm>
          <a:prstGeom prst="leftBrace">
            <a:avLst>
              <a:gd name="adj1" fmla="val 70833"/>
              <a:gd name="adj2" fmla="val 50000"/>
            </a:avLst>
          </a:prstGeom>
          <a:noFill/>
          <a:ln w="38100" cap="flat" cmpd="sng">
            <a:solidFill>
              <a:srgbClr val="00B0F0"/>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dk1"/>
              </a:solidFill>
              <a:latin typeface="Century Gothic"/>
              <a:ea typeface="Century Gothic"/>
              <a:cs typeface="Century Gothic"/>
              <a:sym typeface="Century Gothic"/>
            </a:endParaRPr>
          </a:p>
        </p:txBody>
      </p:sp>
      <p:sp>
        <p:nvSpPr>
          <p:cNvPr id="561" name="Google Shape;561;p66"/>
          <p:cNvSpPr txBox="1"/>
          <p:nvPr/>
        </p:nvSpPr>
        <p:spPr>
          <a:xfrm>
            <a:off x="3402216" y="1456925"/>
            <a:ext cx="2116500" cy="623400"/>
          </a:xfrm>
          <a:prstGeom prst="rect">
            <a:avLst/>
          </a:prstGeom>
          <a:noFill/>
          <a:ln>
            <a:noFill/>
          </a:ln>
        </p:spPr>
        <p:txBody>
          <a:bodyPr spcFirstLastPara="1" wrap="square" lIns="68575" tIns="34275" rIns="68575" bIns="34275" anchor="t" anchorCtr="0">
            <a:spAutoFit/>
          </a:bodyPr>
          <a:lstStyle/>
          <a:p>
            <a:pPr marL="0" marR="0" lvl="0" indent="0" algn="ctr" rtl="0">
              <a:spcBef>
                <a:spcPts val="0"/>
              </a:spcBef>
              <a:spcAft>
                <a:spcPts val="0"/>
              </a:spcAft>
              <a:buNone/>
            </a:pPr>
            <a:r>
              <a:rPr lang="en-GB" sz="1800">
                <a:solidFill>
                  <a:schemeClr val="dk1"/>
                </a:solidFill>
                <a:latin typeface="Century Gothic"/>
                <a:ea typeface="Century Gothic"/>
                <a:cs typeface="Century Gothic"/>
                <a:sym typeface="Century Gothic"/>
              </a:rPr>
              <a:t>Condition on this </a:t>
            </a:r>
            <a:r>
              <a:rPr lang="en-GB" sz="1800">
                <a:solidFill>
                  <a:srgbClr val="00B0F0"/>
                </a:solidFill>
                <a:latin typeface="Century Gothic"/>
                <a:ea typeface="Century Gothic"/>
                <a:cs typeface="Century Gothic"/>
                <a:sym typeface="Century Gothic"/>
              </a:rPr>
              <a:t>prompt</a:t>
            </a:r>
            <a:endParaRPr sz="1800">
              <a:solidFill>
                <a:srgbClr val="00B0F0"/>
              </a:solidFill>
              <a:latin typeface="Century Gothic"/>
              <a:ea typeface="Century Gothic"/>
              <a:cs typeface="Century Gothic"/>
              <a:sym typeface="Century Gothic"/>
            </a:endParaRPr>
          </a:p>
        </p:txBody>
      </p:sp>
      <p:sp>
        <p:nvSpPr>
          <p:cNvPr id="562" name="Google Shape;562;p66"/>
          <p:cNvSpPr txBox="1"/>
          <p:nvPr/>
        </p:nvSpPr>
        <p:spPr>
          <a:xfrm>
            <a:off x="4855985" y="3441365"/>
            <a:ext cx="2061000" cy="1223700"/>
          </a:xfrm>
          <a:prstGeom prst="rect">
            <a:avLst/>
          </a:prstGeom>
          <a:noFill/>
          <a:ln w="28575" cap="flat" cmpd="sng">
            <a:solidFill>
              <a:srgbClr val="00B0F0"/>
            </a:solidFill>
            <a:prstDash val="solid"/>
            <a:round/>
            <a:headEnd type="none" w="sm" len="sm"/>
            <a:tailEnd type="none" w="sm" len="sm"/>
          </a:ln>
        </p:spPr>
        <p:txBody>
          <a:bodyPr spcFirstLastPara="1" wrap="square" lIns="68575" tIns="34275" rIns="68575" bIns="34275" anchor="t" anchorCtr="0">
            <a:spAutoFit/>
          </a:bodyPr>
          <a:lstStyle/>
          <a:p>
            <a:pPr marL="0" marR="0" lvl="0" indent="0" algn="l" rtl="0">
              <a:spcBef>
                <a:spcPts val="0"/>
              </a:spcBef>
              <a:spcAft>
                <a:spcPts val="0"/>
              </a:spcAft>
              <a:buNone/>
            </a:pPr>
            <a:r>
              <a:rPr lang="en-GB" sz="1500">
                <a:solidFill>
                  <a:schemeClr val="dk1"/>
                </a:solidFill>
                <a:latin typeface="Century Gothic"/>
                <a:ea typeface="Century Gothic"/>
                <a:cs typeface="Century Gothic"/>
                <a:sym typeface="Century Gothic"/>
              </a:rPr>
              <a:t>on			0.363</a:t>
            </a:r>
            <a:endParaRPr sz="1100"/>
          </a:p>
          <a:p>
            <a:pPr marL="0" marR="0" lvl="0" indent="0" algn="l" rtl="0">
              <a:spcBef>
                <a:spcPts val="0"/>
              </a:spcBef>
              <a:spcAft>
                <a:spcPts val="0"/>
              </a:spcAft>
              <a:buNone/>
            </a:pPr>
            <a:r>
              <a:rPr lang="en-GB" sz="1500">
                <a:solidFill>
                  <a:schemeClr val="dk1"/>
                </a:solidFill>
                <a:latin typeface="Century Gothic"/>
                <a:ea typeface="Century Gothic"/>
                <a:cs typeface="Century Gothic"/>
                <a:sym typeface="Century Gothic"/>
              </a:rPr>
              <a:t>early			0.212</a:t>
            </a:r>
            <a:br>
              <a:rPr lang="en-GB" sz="1500">
                <a:solidFill>
                  <a:schemeClr val="dk1"/>
                </a:solidFill>
                <a:latin typeface="Century Gothic"/>
                <a:ea typeface="Century Gothic"/>
                <a:cs typeface="Century Gothic"/>
                <a:sym typeface="Century Gothic"/>
              </a:rPr>
            </a:br>
            <a:r>
              <a:rPr lang="en-GB" sz="1500">
                <a:solidFill>
                  <a:schemeClr val="dk1"/>
                </a:solidFill>
                <a:latin typeface="Century Gothic"/>
                <a:ea typeface="Century Gothic"/>
                <a:cs typeface="Century Gothic"/>
                <a:sym typeface="Century Gothic"/>
              </a:rPr>
              <a:t>especially 	0.209</a:t>
            </a:r>
            <a:br>
              <a:rPr lang="en-GB" sz="1500">
                <a:solidFill>
                  <a:schemeClr val="dk1"/>
                </a:solidFill>
                <a:latin typeface="Century Gothic"/>
                <a:ea typeface="Century Gothic"/>
                <a:cs typeface="Century Gothic"/>
                <a:sym typeface="Century Gothic"/>
              </a:rPr>
            </a:br>
            <a:r>
              <a:rPr lang="en-GB" sz="1500">
                <a:solidFill>
                  <a:schemeClr val="dk1"/>
                </a:solidFill>
                <a:latin typeface="Century Gothic"/>
                <a:ea typeface="Century Gothic"/>
                <a:cs typeface="Century Gothic"/>
                <a:sym typeface="Century Gothic"/>
              </a:rPr>
              <a:t>late	 		0.157</a:t>
            </a:r>
            <a:br>
              <a:rPr lang="en-GB" sz="1500">
                <a:solidFill>
                  <a:schemeClr val="dk1"/>
                </a:solidFill>
                <a:latin typeface="Century Gothic"/>
                <a:ea typeface="Century Gothic"/>
                <a:cs typeface="Century Gothic"/>
                <a:sym typeface="Century Gothic"/>
              </a:rPr>
            </a:br>
            <a:r>
              <a:rPr lang="en-GB" sz="1500">
                <a:solidFill>
                  <a:schemeClr val="dk1"/>
                </a:solidFill>
                <a:latin typeface="Century Gothic"/>
                <a:ea typeface="Century Gothic"/>
                <a:cs typeface="Century Gothic"/>
                <a:sym typeface="Century Gothic"/>
              </a:rPr>
              <a:t>….	</a:t>
            </a:r>
            <a:endParaRPr sz="1500">
              <a:solidFill>
                <a:schemeClr val="dk1"/>
              </a:solidFill>
              <a:latin typeface="Century Gothic"/>
              <a:ea typeface="Century Gothic"/>
              <a:cs typeface="Century Gothic"/>
              <a:sym typeface="Century Gothic"/>
            </a:endParaRPr>
          </a:p>
        </p:txBody>
      </p:sp>
      <p:sp>
        <p:nvSpPr>
          <p:cNvPr id="563" name="Google Shape;563;p66"/>
          <p:cNvSpPr txBox="1"/>
          <p:nvPr/>
        </p:nvSpPr>
        <p:spPr>
          <a:xfrm>
            <a:off x="3367385" y="2548418"/>
            <a:ext cx="1596600" cy="3924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GB" sz="2100" i="1">
                <a:solidFill>
                  <a:schemeClr val="dk1"/>
                </a:solidFill>
                <a:latin typeface="Century Gothic"/>
                <a:ea typeface="Century Gothic"/>
                <a:cs typeface="Century Gothic"/>
                <a:sym typeface="Century Gothic"/>
              </a:rPr>
              <a:t>bank</a:t>
            </a:r>
            <a:endParaRPr sz="2100" i="1">
              <a:solidFill>
                <a:schemeClr val="dk1"/>
              </a:solidFill>
              <a:latin typeface="Century Gothic"/>
              <a:ea typeface="Century Gothic"/>
              <a:cs typeface="Century Gothic"/>
              <a:sym typeface="Century Gothic"/>
            </a:endParaRPr>
          </a:p>
        </p:txBody>
      </p:sp>
      <p:cxnSp>
        <p:nvCxnSpPr>
          <p:cNvPr id="564" name="Google Shape;564;p66"/>
          <p:cNvCxnSpPr>
            <a:endCxn id="562" idx="1"/>
          </p:cNvCxnSpPr>
          <p:nvPr/>
        </p:nvCxnSpPr>
        <p:spPr>
          <a:xfrm rot="-5400000" flipH="1">
            <a:off x="4103435" y="3300665"/>
            <a:ext cx="1112100" cy="393000"/>
          </a:xfrm>
          <a:prstGeom prst="bentConnector2">
            <a:avLst/>
          </a:prstGeom>
          <a:noFill/>
          <a:ln w="38100" cap="flat" cmpd="sng">
            <a:solidFill>
              <a:srgbClr val="00B0F0"/>
            </a:solidFill>
            <a:prstDash val="solid"/>
            <a:miter lim="800000"/>
            <a:headEnd type="none" w="sm" len="sm"/>
            <a:tailEnd type="triangle" w="med" len="med"/>
          </a:ln>
        </p:spPr>
      </p:cxnSp>
      <p:sp>
        <p:nvSpPr>
          <p:cNvPr id="565" name="Google Shape;565;p66"/>
          <p:cNvSpPr txBox="1"/>
          <p:nvPr/>
        </p:nvSpPr>
        <p:spPr>
          <a:xfrm>
            <a:off x="2346741" y="3333248"/>
            <a:ext cx="2116500" cy="623400"/>
          </a:xfrm>
          <a:prstGeom prst="rect">
            <a:avLst/>
          </a:prstGeom>
          <a:blipFill rotWithShape="1">
            <a:blip r:embed="rId3">
              <a:alphaModFix/>
            </a:blip>
            <a:stretch>
              <a:fillRect l="-1339" t="-4479" r="-4039" b="-14918"/>
            </a:stretch>
          </a:blipFill>
          <a:ln>
            <a:noFill/>
          </a:ln>
        </p:spPr>
        <p:txBody>
          <a:bodyPr spcFirstLastPara="1" wrap="square" lIns="68575" tIns="34275" rIns="68575" bIns="34275" anchor="t" anchorCtr="0">
            <a:noAutofit/>
          </a:bodyPr>
          <a:lstStyle/>
          <a:p>
            <a:pPr marL="0" marR="0" lvl="0" indent="0" algn="l" rtl="0">
              <a:spcBef>
                <a:spcPts val="0"/>
              </a:spcBef>
              <a:spcAft>
                <a:spcPts val="0"/>
              </a:spcAft>
              <a:buNone/>
            </a:pPr>
            <a:r>
              <a:rPr lang="en-GB" sz="1400">
                <a:latin typeface="Century Gothic"/>
                <a:ea typeface="Century Gothic"/>
                <a:cs typeface="Century Gothic"/>
                <a:sym typeface="Century Gothic"/>
              </a:rPr>
              <a:t> </a:t>
            </a:r>
            <a:endParaRPr sz="1100"/>
          </a:p>
        </p:txBody>
      </p:sp>
      <p:cxnSp>
        <p:nvCxnSpPr>
          <p:cNvPr id="566" name="Google Shape;566;p66"/>
          <p:cNvCxnSpPr>
            <a:stCxn id="562" idx="0"/>
          </p:cNvCxnSpPr>
          <p:nvPr/>
        </p:nvCxnSpPr>
        <p:spPr>
          <a:xfrm rot="10800000">
            <a:off x="5886485" y="2940665"/>
            <a:ext cx="0" cy="500700"/>
          </a:xfrm>
          <a:prstGeom prst="straightConnector1">
            <a:avLst/>
          </a:prstGeom>
          <a:noFill/>
          <a:ln w="38100" cap="flat" cmpd="sng">
            <a:solidFill>
              <a:srgbClr val="00B0F0"/>
            </a:solidFill>
            <a:prstDash val="solid"/>
            <a:miter lim="800000"/>
            <a:headEnd type="none" w="sm" len="sm"/>
            <a:tailEnd type="triangle" w="med" len="med"/>
          </a:ln>
        </p:spPr>
      </p:cxnSp>
      <p:sp>
        <p:nvSpPr>
          <p:cNvPr id="567" name="Google Shape;567;p66"/>
          <p:cNvSpPr txBox="1"/>
          <p:nvPr/>
        </p:nvSpPr>
        <p:spPr>
          <a:xfrm>
            <a:off x="5393552" y="3017974"/>
            <a:ext cx="2116500" cy="346200"/>
          </a:xfrm>
          <a:prstGeom prst="rect">
            <a:avLst/>
          </a:prstGeom>
          <a:noFill/>
          <a:ln>
            <a:noFill/>
          </a:ln>
        </p:spPr>
        <p:txBody>
          <a:bodyPr spcFirstLastPara="1" wrap="square" lIns="68575" tIns="34275" rIns="68575" bIns="34275" anchor="t" anchorCtr="0">
            <a:spAutoFit/>
          </a:bodyPr>
          <a:lstStyle/>
          <a:p>
            <a:pPr marL="0" marR="0" lvl="0" indent="0" algn="ctr" rtl="0">
              <a:spcBef>
                <a:spcPts val="0"/>
              </a:spcBef>
              <a:spcAft>
                <a:spcPts val="0"/>
              </a:spcAft>
              <a:buNone/>
            </a:pPr>
            <a:r>
              <a:rPr lang="en-GB" sz="1800">
                <a:solidFill>
                  <a:schemeClr val="dk1"/>
                </a:solidFill>
                <a:latin typeface="Century Gothic"/>
                <a:ea typeface="Century Gothic"/>
                <a:cs typeface="Century Gothic"/>
                <a:sym typeface="Century Gothic"/>
              </a:rPr>
              <a:t>Sample</a:t>
            </a:r>
            <a:endParaRPr sz="1800">
              <a:solidFill>
                <a:srgbClr val="00B0F0"/>
              </a:solidFill>
              <a:latin typeface="Century Gothic"/>
              <a:ea typeface="Century Gothic"/>
              <a:cs typeface="Century Gothic"/>
              <a:sym typeface="Century Gothic"/>
            </a:endParaRPr>
          </a:p>
        </p:txBody>
      </p:sp>
      <p:sp>
        <p:nvSpPr>
          <p:cNvPr id="568" name="Google Shape;568;p66"/>
          <p:cNvSpPr txBox="1"/>
          <p:nvPr/>
        </p:nvSpPr>
        <p:spPr>
          <a:xfrm>
            <a:off x="4313941" y="2548416"/>
            <a:ext cx="1596600" cy="3924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GB" sz="2100" i="1">
                <a:solidFill>
                  <a:schemeClr val="dk1"/>
                </a:solidFill>
                <a:latin typeface="Century Gothic"/>
                <a:ea typeface="Century Gothic"/>
                <a:cs typeface="Century Gothic"/>
                <a:sym typeface="Century Gothic"/>
              </a:rPr>
              <a:t>opened</a:t>
            </a:r>
            <a:endParaRPr sz="2100" i="1">
              <a:solidFill>
                <a:schemeClr val="dk1"/>
              </a:solidFill>
              <a:latin typeface="Century Gothic"/>
              <a:ea typeface="Century Gothic"/>
              <a:cs typeface="Century Gothic"/>
              <a:sym typeface="Century Gothic"/>
            </a:endParaRPr>
          </a:p>
        </p:txBody>
      </p:sp>
      <p:sp>
        <p:nvSpPr>
          <p:cNvPr id="569" name="Google Shape;569;p66"/>
          <p:cNvSpPr txBox="1"/>
          <p:nvPr/>
        </p:nvSpPr>
        <p:spPr>
          <a:xfrm>
            <a:off x="5627497" y="2548415"/>
            <a:ext cx="1596600" cy="3924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GB" sz="2100" i="1">
                <a:solidFill>
                  <a:schemeClr val="dk1"/>
                </a:solidFill>
                <a:latin typeface="Century Gothic"/>
                <a:ea typeface="Century Gothic"/>
                <a:cs typeface="Century Gothic"/>
                <a:sym typeface="Century Gothic"/>
              </a:rPr>
              <a:t>late</a:t>
            </a:r>
            <a:endParaRPr sz="2100" i="1">
              <a:solidFill>
                <a:schemeClr val="dk1"/>
              </a:solidFill>
              <a:latin typeface="Century Gothic"/>
              <a:ea typeface="Century Gothic"/>
              <a:cs typeface="Century Gothic"/>
              <a:sym typeface="Century Gothic"/>
            </a:endParaRPr>
          </a:p>
        </p:txBody>
      </p:sp>
    </p:spTree>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A9AE86-2C8F-4D2D-590D-922633A123B8}"/>
              </a:ext>
            </a:extLst>
          </p:cNvPr>
          <p:cNvSpPr>
            <a:spLocks noGrp="1"/>
          </p:cNvSpPr>
          <p:nvPr>
            <p:ph type="title"/>
          </p:nvPr>
        </p:nvSpPr>
        <p:spPr/>
        <p:txBody>
          <a:bodyPr/>
          <a:lstStyle/>
          <a:p>
            <a:r>
              <a:rPr lang="en-US" dirty="0"/>
              <a:t>Generation by Next Token Prediction</a:t>
            </a:r>
          </a:p>
        </p:txBody>
      </p:sp>
      <p:sp>
        <p:nvSpPr>
          <p:cNvPr id="3" name="Text Placeholder 2">
            <a:extLst>
              <a:ext uri="{FF2B5EF4-FFF2-40B4-BE49-F238E27FC236}">
                <a16:creationId xmlns:a16="http://schemas.microsoft.com/office/drawing/2014/main" id="{346DDAD4-918E-0025-5B3B-1908856512DD}"/>
              </a:ext>
            </a:extLst>
          </p:cNvPr>
          <p:cNvSpPr>
            <a:spLocks noGrp="1"/>
          </p:cNvSpPr>
          <p:nvPr>
            <p:ph type="body" idx="1"/>
          </p:nvPr>
        </p:nvSpPr>
        <p:spPr>
          <a:xfrm>
            <a:off x="628650" y="1214364"/>
            <a:ext cx="7886700" cy="3263400"/>
          </a:xfrm>
        </p:spPr>
        <p:txBody>
          <a:bodyPr/>
          <a:lstStyle/>
          <a:p>
            <a:r>
              <a:rPr lang="en-US" dirty="0"/>
              <a:t>Is it good enough?</a:t>
            </a:r>
          </a:p>
          <a:p>
            <a:r>
              <a:rPr lang="en-US" dirty="0"/>
              <a:t>How good does it get as we increase the context length?</a:t>
            </a:r>
          </a:p>
          <a:p>
            <a:pPr lvl="1"/>
            <a:r>
              <a:rPr lang="en-US" dirty="0"/>
              <a:t>1-grams -&gt; 2-grams -&gt; 3-grams …</a:t>
            </a:r>
          </a:p>
          <a:p>
            <a:pPr lvl="1"/>
            <a:r>
              <a:rPr lang="en-US" dirty="0"/>
              <a:t>More complex models (neural networks, transformers)</a:t>
            </a:r>
          </a:p>
          <a:p>
            <a:r>
              <a:rPr lang="en-US" dirty="0"/>
              <a:t>What is the main “bottleneck” – </a:t>
            </a:r>
          </a:p>
          <a:p>
            <a:pPr lvl="1"/>
            <a:r>
              <a:rPr lang="en-US" dirty="0"/>
              <a:t>Limited context length (Markov assumption?)</a:t>
            </a:r>
          </a:p>
          <a:p>
            <a:pPr lvl="1"/>
            <a:r>
              <a:rPr lang="en-US" dirty="0"/>
              <a:t>Or the inherent limitations of next-token-prediction?</a:t>
            </a:r>
          </a:p>
        </p:txBody>
      </p:sp>
      <p:pic>
        <p:nvPicPr>
          <p:cNvPr id="7" name="Picture 6" descr="A person in a red shirt&#10;&#10;AI-generated content may be incorrect.">
            <a:extLst>
              <a:ext uri="{FF2B5EF4-FFF2-40B4-BE49-F238E27FC236}">
                <a16:creationId xmlns:a16="http://schemas.microsoft.com/office/drawing/2014/main" id="{80339EB8-7B60-51FD-DF1B-DBF8AF5F1BA6}"/>
              </a:ext>
            </a:extLst>
          </p:cNvPr>
          <p:cNvPicPr>
            <a:picLocks noChangeAspect="1"/>
          </p:cNvPicPr>
          <p:nvPr/>
        </p:nvPicPr>
        <p:blipFill>
          <a:blip r:embed="rId2"/>
          <a:stretch>
            <a:fillRect/>
          </a:stretch>
        </p:blipFill>
        <p:spPr>
          <a:xfrm>
            <a:off x="7355032" y="3187068"/>
            <a:ext cx="1473085" cy="1445551"/>
          </a:xfrm>
          <a:prstGeom prst="rect">
            <a:avLst/>
          </a:prstGeom>
        </p:spPr>
      </p:pic>
    </p:spTree>
    <p:extLst>
      <p:ext uri="{BB962C8B-B14F-4D97-AF65-F5344CB8AC3E}">
        <p14:creationId xmlns:p14="http://schemas.microsoft.com/office/powerpoint/2010/main" val="3958807881"/>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Shape 593"/>
        <p:cNvGrpSpPr/>
        <p:nvPr/>
      </p:nvGrpSpPr>
      <p:grpSpPr>
        <a:xfrm>
          <a:off x="0" y="0"/>
          <a:ext cx="0" cy="0"/>
          <a:chOff x="0" y="0"/>
          <a:chExt cx="0" cy="0"/>
        </a:xfrm>
      </p:grpSpPr>
      <p:sp>
        <p:nvSpPr>
          <p:cNvPr id="594" name="Google Shape;594;p68"/>
          <p:cNvSpPr txBox="1">
            <a:spLocks noGrp="1"/>
          </p:cNvSpPr>
          <p:nvPr>
            <p:ph type="body" idx="2"/>
          </p:nvPr>
        </p:nvSpPr>
        <p:spPr>
          <a:xfrm>
            <a:off x="0" y="3575447"/>
            <a:ext cx="2799600" cy="282300"/>
          </a:xfrm>
          <a:prstGeom prst="rect">
            <a:avLst/>
          </a:prstGeom>
          <a:noFill/>
          <a:ln>
            <a:noFill/>
          </a:ln>
        </p:spPr>
        <p:txBody>
          <a:bodyPr spcFirstLastPara="1" wrap="square" lIns="68575" tIns="34275" rIns="68575" bIns="34275" anchor="t" anchorCtr="0">
            <a:normAutofit fontScale="25000" lnSpcReduction="20000"/>
          </a:bodyPr>
          <a:lstStyle/>
          <a:p>
            <a:pPr marL="0" lvl="0" indent="0" algn="l" rtl="0">
              <a:lnSpc>
                <a:spcPct val="90000"/>
              </a:lnSpc>
              <a:spcBef>
                <a:spcPts val="0"/>
              </a:spcBef>
              <a:spcAft>
                <a:spcPts val="1200"/>
              </a:spcAft>
              <a:buClr>
                <a:schemeClr val="lt1"/>
              </a:buClr>
              <a:buSzPts val="2100"/>
              <a:buNone/>
            </a:pPr>
            <a:endParaRPr/>
          </a:p>
        </p:txBody>
      </p:sp>
      <p:pic>
        <p:nvPicPr>
          <p:cNvPr id="595" name="Google Shape;595;p68"/>
          <p:cNvPicPr preferRelativeResize="0"/>
          <p:nvPr/>
        </p:nvPicPr>
        <p:blipFill rotWithShape="1">
          <a:blip r:embed="rId3">
            <a:alphaModFix/>
          </a:blip>
          <a:srcRect/>
          <a:stretch/>
        </p:blipFill>
        <p:spPr>
          <a:xfrm>
            <a:off x="0" y="76200"/>
            <a:ext cx="9144002" cy="4604147"/>
          </a:xfrm>
          <a:prstGeom prst="rect">
            <a:avLst/>
          </a:prstGeom>
          <a:noFill/>
          <a:ln>
            <a:noFill/>
          </a:ln>
        </p:spPr>
      </p:pic>
      <p:sp>
        <p:nvSpPr>
          <p:cNvPr id="2" name="TextBox 1">
            <a:extLst>
              <a:ext uri="{FF2B5EF4-FFF2-40B4-BE49-F238E27FC236}">
                <a16:creationId xmlns:a16="http://schemas.microsoft.com/office/drawing/2014/main" id="{FEAC048E-165F-FFFD-21DD-A7561BB248EA}"/>
              </a:ext>
            </a:extLst>
          </p:cNvPr>
          <p:cNvSpPr txBox="1"/>
          <p:nvPr/>
        </p:nvSpPr>
        <p:spPr>
          <a:xfrm>
            <a:off x="1862050" y="4680347"/>
            <a:ext cx="5893724" cy="307777"/>
          </a:xfrm>
          <a:prstGeom prst="rect">
            <a:avLst/>
          </a:prstGeom>
          <a:noFill/>
        </p:spPr>
        <p:txBody>
          <a:bodyPr wrap="square" rtlCol="0">
            <a:spAutoFit/>
          </a:bodyPr>
          <a:lstStyle/>
          <a:p>
            <a:r>
              <a:rPr lang="en-US" b="1" dirty="0">
                <a:solidFill>
                  <a:schemeClr val="accent1">
                    <a:lumMod val="50000"/>
                  </a:schemeClr>
                </a:solidFill>
              </a:rPr>
              <a:t>N-gram models trained on the corpus of Shakespeare’s works</a:t>
            </a:r>
          </a:p>
        </p:txBody>
      </p:sp>
    </p:spTree>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Shape 593">
          <a:extLst>
            <a:ext uri="{FF2B5EF4-FFF2-40B4-BE49-F238E27FC236}">
              <a16:creationId xmlns:a16="http://schemas.microsoft.com/office/drawing/2014/main" id="{1B34E6A2-E34C-90D9-A50E-BCF165F47DA6}"/>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AA3B8291-D2B4-8461-38B2-5C5925920DF9}"/>
              </a:ext>
            </a:extLst>
          </p:cNvPr>
          <p:cNvSpPr txBox="1"/>
          <p:nvPr/>
        </p:nvSpPr>
        <p:spPr>
          <a:xfrm>
            <a:off x="1837112" y="3749322"/>
            <a:ext cx="5893724" cy="307777"/>
          </a:xfrm>
          <a:prstGeom prst="rect">
            <a:avLst/>
          </a:prstGeom>
          <a:noFill/>
        </p:spPr>
        <p:txBody>
          <a:bodyPr wrap="square" rtlCol="0">
            <a:spAutoFit/>
          </a:bodyPr>
          <a:lstStyle/>
          <a:p>
            <a:r>
              <a:rPr lang="en-US" b="1" dirty="0">
                <a:solidFill>
                  <a:schemeClr val="accent1">
                    <a:lumMod val="50000"/>
                  </a:schemeClr>
                </a:solidFill>
              </a:rPr>
              <a:t>N-gram models trained on a corpus of Wall Street Journal articles</a:t>
            </a:r>
          </a:p>
        </p:txBody>
      </p:sp>
      <p:pic>
        <p:nvPicPr>
          <p:cNvPr id="4" name="Picture 3" descr="A blue text on a blue background&#10;&#10;AI-generated content may be incorrect.">
            <a:extLst>
              <a:ext uri="{FF2B5EF4-FFF2-40B4-BE49-F238E27FC236}">
                <a16:creationId xmlns:a16="http://schemas.microsoft.com/office/drawing/2014/main" id="{AEFDE96D-58AB-791F-F0A3-6CBE2AFE0FEF}"/>
              </a:ext>
            </a:extLst>
          </p:cNvPr>
          <p:cNvPicPr>
            <a:picLocks noChangeAspect="1"/>
          </p:cNvPicPr>
          <p:nvPr/>
        </p:nvPicPr>
        <p:blipFill>
          <a:blip r:embed="rId3"/>
          <a:stretch>
            <a:fillRect/>
          </a:stretch>
        </p:blipFill>
        <p:spPr>
          <a:xfrm>
            <a:off x="315882" y="731830"/>
            <a:ext cx="8323127" cy="2925769"/>
          </a:xfrm>
          <a:prstGeom prst="rect">
            <a:avLst/>
          </a:prstGeom>
        </p:spPr>
      </p:pic>
    </p:spTree>
    <p:extLst>
      <p:ext uri="{BB962C8B-B14F-4D97-AF65-F5344CB8AC3E}">
        <p14:creationId xmlns:p14="http://schemas.microsoft.com/office/powerpoint/2010/main" val="205813354"/>
      </p:ext>
    </p:extLst>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Shape 600"/>
        <p:cNvGrpSpPr/>
        <p:nvPr/>
      </p:nvGrpSpPr>
      <p:grpSpPr>
        <a:xfrm>
          <a:off x="0" y="0"/>
          <a:ext cx="0" cy="0"/>
          <a:chOff x="0" y="0"/>
          <a:chExt cx="0" cy="0"/>
        </a:xfrm>
      </p:grpSpPr>
      <p:pic>
        <p:nvPicPr>
          <p:cNvPr id="601" name="Google Shape;601;p69"/>
          <p:cNvPicPr preferRelativeResize="0"/>
          <p:nvPr/>
        </p:nvPicPr>
        <p:blipFill rotWithShape="1">
          <a:blip r:embed="rId3">
            <a:alphaModFix/>
          </a:blip>
          <a:srcRect b="39183"/>
          <a:stretch/>
        </p:blipFill>
        <p:spPr>
          <a:xfrm>
            <a:off x="2504" y="0"/>
            <a:ext cx="9089225" cy="3769243"/>
          </a:xfrm>
          <a:prstGeom prst="rect">
            <a:avLst/>
          </a:prstGeom>
          <a:noFill/>
          <a:ln>
            <a:noFill/>
          </a:ln>
        </p:spPr>
      </p:pic>
      <p:sp>
        <p:nvSpPr>
          <p:cNvPr id="602" name="Google Shape;602;p69"/>
          <p:cNvSpPr txBox="1">
            <a:spLocks noGrp="1"/>
          </p:cNvSpPr>
          <p:nvPr>
            <p:ph type="body" idx="1"/>
          </p:nvPr>
        </p:nvSpPr>
        <p:spPr>
          <a:xfrm>
            <a:off x="6204346" y="4820513"/>
            <a:ext cx="3732600" cy="376200"/>
          </a:xfrm>
          <a:prstGeom prst="rect">
            <a:avLst/>
          </a:prstGeom>
          <a:noFill/>
          <a:ln>
            <a:noFill/>
          </a:ln>
        </p:spPr>
        <p:txBody>
          <a:bodyPr spcFirstLastPara="1" wrap="square" lIns="68575" tIns="34275" rIns="68575" bIns="34275" anchor="t" anchorCtr="0">
            <a:normAutofit fontScale="77500" lnSpcReduction="20000"/>
          </a:bodyPr>
          <a:lstStyle/>
          <a:p>
            <a:pPr marL="0" lvl="0" indent="0" algn="l" rtl="0">
              <a:lnSpc>
                <a:spcPct val="90000"/>
              </a:lnSpc>
              <a:spcBef>
                <a:spcPts val="0"/>
              </a:spcBef>
              <a:spcAft>
                <a:spcPts val="1200"/>
              </a:spcAft>
              <a:buClr>
                <a:schemeClr val="lt1"/>
              </a:buClr>
              <a:buSzPts val="2100"/>
              <a:buNone/>
            </a:pPr>
            <a:r>
              <a:rPr lang="en-GB" u="sng">
                <a:solidFill>
                  <a:schemeClr val="hlink"/>
                </a:solidFill>
                <a:hlinkClick r:id="rId4"/>
              </a:rPr>
              <a:t>OpenAI playground</a:t>
            </a:r>
            <a:endParaRPr/>
          </a:p>
        </p:txBody>
      </p:sp>
      <p:sp>
        <p:nvSpPr>
          <p:cNvPr id="603" name="Google Shape;603;p69"/>
          <p:cNvSpPr txBox="1"/>
          <p:nvPr/>
        </p:nvSpPr>
        <p:spPr>
          <a:xfrm>
            <a:off x="1" y="4870133"/>
            <a:ext cx="4189800" cy="2847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GB" sz="1400" u="sng">
                <a:solidFill>
                  <a:schemeClr val="dk1"/>
                </a:solidFill>
                <a:hlinkClick r:id="rId5">
                  <a:extLst>
                    <a:ext uri="{A12FA001-AC4F-418D-AE19-62706E023703}">
                      <ahyp:hlinkClr xmlns:ahyp="http://schemas.microsoft.com/office/drawing/2018/hyperlinkcolor" val="tx"/>
                    </a:ext>
                  </a:extLst>
                </a:hlinkClick>
              </a:rPr>
              <a:t>Radford et al, 2019</a:t>
            </a:r>
            <a:r>
              <a:rPr lang="en-GB" sz="1400" u="sng">
                <a:solidFill>
                  <a:schemeClr val="dk1"/>
                </a:solidFill>
                <a:hlinkClick r:id="rId6">
                  <a:extLst>
                    <a:ext uri="{A12FA001-AC4F-418D-AE19-62706E023703}">
                      <ahyp:hlinkClr xmlns:ahyp="http://schemas.microsoft.com/office/drawing/2018/hyperlinkcolor" val="tx"/>
                    </a:ext>
                  </a:extLst>
                </a:hlinkClick>
              </a:rPr>
              <a:t>, Brown et al., 2020</a:t>
            </a:r>
            <a:r>
              <a:rPr lang="en-GB" sz="1400">
                <a:solidFill>
                  <a:schemeClr val="dk1"/>
                </a:solidFill>
              </a:rPr>
              <a:t> </a:t>
            </a:r>
            <a:endParaRPr sz="1400">
              <a:solidFill>
                <a:schemeClr val="dk1"/>
              </a:solidFill>
            </a:endParaRPr>
          </a:p>
        </p:txBody>
      </p:sp>
    </p:spTree>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Shape 600">
          <a:extLst>
            <a:ext uri="{FF2B5EF4-FFF2-40B4-BE49-F238E27FC236}">
              <a16:creationId xmlns:a16="http://schemas.microsoft.com/office/drawing/2014/main" id="{F1961B85-57AE-3519-8162-4B49C8561086}"/>
            </a:ext>
          </a:extLst>
        </p:cNvPr>
        <p:cNvGrpSpPr/>
        <p:nvPr/>
      </p:nvGrpSpPr>
      <p:grpSpPr>
        <a:xfrm>
          <a:off x="0" y="0"/>
          <a:ext cx="0" cy="0"/>
          <a:chOff x="0" y="0"/>
          <a:chExt cx="0" cy="0"/>
        </a:xfrm>
      </p:grpSpPr>
      <p:pic>
        <p:nvPicPr>
          <p:cNvPr id="601" name="Google Shape;601;p69">
            <a:extLst>
              <a:ext uri="{FF2B5EF4-FFF2-40B4-BE49-F238E27FC236}">
                <a16:creationId xmlns:a16="http://schemas.microsoft.com/office/drawing/2014/main" id="{253DFC6A-3E44-A420-8117-56BED7A382BC}"/>
              </a:ext>
            </a:extLst>
          </p:cNvPr>
          <p:cNvPicPr preferRelativeResize="0"/>
          <p:nvPr/>
        </p:nvPicPr>
        <p:blipFill rotWithShape="1">
          <a:blip r:embed="rId3">
            <a:alphaModFix/>
          </a:blip>
          <a:srcRect b="39183"/>
          <a:stretch/>
        </p:blipFill>
        <p:spPr>
          <a:xfrm>
            <a:off x="2504" y="0"/>
            <a:ext cx="9089225" cy="3769243"/>
          </a:xfrm>
          <a:prstGeom prst="rect">
            <a:avLst/>
          </a:prstGeom>
          <a:noFill/>
          <a:ln>
            <a:noFill/>
          </a:ln>
        </p:spPr>
      </p:pic>
      <p:sp>
        <p:nvSpPr>
          <p:cNvPr id="602" name="Google Shape;602;p69">
            <a:extLst>
              <a:ext uri="{FF2B5EF4-FFF2-40B4-BE49-F238E27FC236}">
                <a16:creationId xmlns:a16="http://schemas.microsoft.com/office/drawing/2014/main" id="{F50DC983-DBD7-17D4-F4C3-42970D2C93BE}"/>
              </a:ext>
            </a:extLst>
          </p:cNvPr>
          <p:cNvSpPr txBox="1">
            <a:spLocks noGrp="1"/>
          </p:cNvSpPr>
          <p:nvPr>
            <p:ph type="body" idx="1"/>
          </p:nvPr>
        </p:nvSpPr>
        <p:spPr>
          <a:xfrm>
            <a:off x="6204346" y="4820513"/>
            <a:ext cx="3732600" cy="376200"/>
          </a:xfrm>
          <a:prstGeom prst="rect">
            <a:avLst/>
          </a:prstGeom>
          <a:noFill/>
          <a:ln>
            <a:noFill/>
          </a:ln>
        </p:spPr>
        <p:txBody>
          <a:bodyPr spcFirstLastPara="1" wrap="square" lIns="68575" tIns="34275" rIns="68575" bIns="34275" anchor="t" anchorCtr="0">
            <a:normAutofit fontScale="77500" lnSpcReduction="20000"/>
          </a:bodyPr>
          <a:lstStyle/>
          <a:p>
            <a:pPr marL="0" lvl="0" indent="0" algn="l" rtl="0">
              <a:lnSpc>
                <a:spcPct val="90000"/>
              </a:lnSpc>
              <a:spcBef>
                <a:spcPts val="0"/>
              </a:spcBef>
              <a:spcAft>
                <a:spcPts val="1200"/>
              </a:spcAft>
              <a:buClr>
                <a:schemeClr val="lt1"/>
              </a:buClr>
              <a:buSzPts val="2100"/>
              <a:buNone/>
            </a:pPr>
            <a:r>
              <a:rPr lang="en-GB" u="sng">
                <a:solidFill>
                  <a:schemeClr val="hlink"/>
                </a:solidFill>
                <a:hlinkClick r:id="rId4"/>
              </a:rPr>
              <a:t>OpenAI playground</a:t>
            </a:r>
            <a:endParaRPr/>
          </a:p>
        </p:txBody>
      </p:sp>
      <p:sp>
        <p:nvSpPr>
          <p:cNvPr id="3" name="Rectangle 2">
            <a:extLst>
              <a:ext uri="{FF2B5EF4-FFF2-40B4-BE49-F238E27FC236}">
                <a16:creationId xmlns:a16="http://schemas.microsoft.com/office/drawing/2014/main" id="{8AFEF9FC-75C9-01EB-4B96-ED72780833AE}"/>
              </a:ext>
            </a:extLst>
          </p:cNvPr>
          <p:cNvSpPr/>
          <p:nvPr/>
        </p:nvSpPr>
        <p:spPr>
          <a:xfrm>
            <a:off x="174567" y="673331"/>
            <a:ext cx="7232073" cy="3915294"/>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extBox 3">
            <a:extLst>
              <a:ext uri="{FF2B5EF4-FFF2-40B4-BE49-F238E27FC236}">
                <a16:creationId xmlns:a16="http://schemas.microsoft.com/office/drawing/2014/main" id="{051F3BD7-83BB-FA06-53D5-E675EC1D79A1}"/>
              </a:ext>
            </a:extLst>
          </p:cNvPr>
          <p:cNvSpPr txBox="1"/>
          <p:nvPr/>
        </p:nvSpPr>
        <p:spPr>
          <a:xfrm>
            <a:off x="253537" y="892588"/>
            <a:ext cx="7074131" cy="3539430"/>
          </a:xfrm>
          <a:prstGeom prst="rect">
            <a:avLst/>
          </a:prstGeom>
          <a:noFill/>
        </p:spPr>
        <p:txBody>
          <a:bodyPr wrap="square" rtlCol="0">
            <a:spAutoFit/>
          </a:bodyPr>
          <a:lstStyle/>
          <a:p>
            <a:r>
              <a:rPr lang="en-US" dirty="0"/>
              <a:t>[Conversation with OpenAI GPT3 playground, June 2022</a:t>
            </a:r>
            <a:r>
              <a:rPr lang="en-US" dirty="0">
                <a:sym typeface="Wingdings" pitchFamily="2" charset="2"/>
              </a:rPr>
              <a:t>:]</a:t>
            </a:r>
            <a:endParaRPr lang="en-US" dirty="0"/>
          </a:p>
          <a:p>
            <a:endParaRPr lang="en-US" dirty="0"/>
          </a:p>
          <a:p>
            <a:r>
              <a:rPr lang="en-US" dirty="0">
                <a:solidFill>
                  <a:srgbClr val="C00000"/>
                </a:solidFill>
              </a:rPr>
              <a:t>LM: These numbers come from my own personal experience and research.</a:t>
            </a:r>
            <a:br>
              <a:rPr lang="en-US" dirty="0"/>
            </a:br>
            <a:br>
              <a:rPr lang="en-US" dirty="0"/>
            </a:br>
            <a:r>
              <a:rPr lang="en-US" dirty="0">
                <a:solidFill>
                  <a:schemeClr val="accent1">
                    <a:lumMod val="75000"/>
                  </a:schemeClr>
                </a:solidFill>
              </a:rPr>
              <a:t>Me: How can you have personal experience if you're an automated language model?</a:t>
            </a:r>
            <a:br>
              <a:rPr lang="en-US" dirty="0">
                <a:solidFill>
                  <a:schemeClr val="accent1">
                    <a:lumMod val="75000"/>
                  </a:schemeClr>
                </a:solidFill>
              </a:rPr>
            </a:br>
            <a:br>
              <a:rPr lang="en-US" dirty="0">
                <a:solidFill>
                  <a:schemeClr val="accent1">
                    <a:lumMod val="75000"/>
                  </a:schemeClr>
                </a:solidFill>
              </a:rPr>
            </a:br>
            <a:r>
              <a:rPr lang="en-US" dirty="0">
                <a:solidFill>
                  <a:srgbClr val="C00000"/>
                </a:solidFill>
              </a:rPr>
              <a:t>LM: I'm not an automated language model.</a:t>
            </a:r>
            <a:br>
              <a:rPr lang="en-US" dirty="0">
                <a:solidFill>
                  <a:srgbClr val="C00000"/>
                </a:solidFill>
              </a:rPr>
            </a:br>
            <a:br>
              <a:rPr lang="en-US" dirty="0"/>
            </a:br>
            <a:r>
              <a:rPr lang="en-US" dirty="0">
                <a:solidFill>
                  <a:schemeClr val="accent1">
                    <a:lumMod val="75000"/>
                  </a:schemeClr>
                </a:solidFill>
              </a:rPr>
              <a:t>Me: Then what are you?</a:t>
            </a:r>
            <a:br>
              <a:rPr lang="en-US" dirty="0"/>
            </a:br>
            <a:br>
              <a:rPr lang="en-US" dirty="0"/>
            </a:br>
            <a:r>
              <a:rPr lang="en-US" dirty="0">
                <a:solidFill>
                  <a:srgbClr val="C00000"/>
                </a:solidFill>
              </a:rPr>
              <a:t>LM: I'm a person.</a:t>
            </a:r>
            <a:br>
              <a:rPr lang="en-US" dirty="0">
                <a:solidFill>
                  <a:srgbClr val="C00000"/>
                </a:solidFill>
              </a:rPr>
            </a:br>
            <a:br>
              <a:rPr lang="en-US" dirty="0"/>
            </a:br>
            <a:r>
              <a:rPr lang="en-US" dirty="0">
                <a:solidFill>
                  <a:schemeClr val="accent1">
                    <a:lumMod val="75000"/>
                  </a:schemeClr>
                </a:solidFill>
              </a:rPr>
              <a:t>Me: I thought you were a trained artificial neural network</a:t>
            </a:r>
            <a:br>
              <a:rPr lang="en-US" dirty="0"/>
            </a:br>
            <a:br>
              <a:rPr lang="en-US" dirty="0"/>
            </a:br>
            <a:r>
              <a:rPr lang="en-US" dirty="0">
                <a:solidFill>
                  <a:srgbClr val="C00000"/>
                </a:solidFill>
              </a:rPr>
              <a:t>LM: No, I'm not an artificial neural network.</a:t>
            </a:r>
            <a:br>
              <a:rPr lang="en-US" dirty="0">
                <a:solidFill>
                  <a:srgbClr val="C00000"/>
                </a:solidFill>
              </a:rPr>
            </a:br>
            <a:endParaRPr lang="en-US" dirty="0">
              <a:solidFill>
                <a:srgbClr val="C00000"/>
              </a:solidFill>
            </a:endParaRPr>
          </a:p>
        </p:txBody>
      </p:sp>
    </p:spTree>
    <p:extLst>
      <p:ext uri="{BB962C8B-B14F-4D97-AF65-F5344CB8AC3E}">
        <p14:creationId xmlns:p14="http://schemas.microsoft.com/office/powerpoint/2010/main" val="296555491"/>
      </p:ext>
    </p:extLst>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Shape 608"/>
        <p:cNvGrpSpPr/>
        <p:nvPr/>
      </p:nvGrpSpPr>
      <p:grpSpPr>
        <a:xfrm>
          <a:off x="0" y="0"/>
          <a:ext cx="0" cy="0"/>
          <a:chOff x="0" y="0"/>
          <a:chExt cx="0" cy="0"/>
        </a:xfrm>
      </p:grpSpPr>
      <p:sp>
        <p:nvSpPr>
          <p:cNvPr id="609" name="Google Shape;609;p70"/>
          <p:cNvSpPr txBox="1">
            <a:spLocks noGrp="1"/>
          </p:cNvSpPr>
          <p:nvPr>
            <p:ph type="title"/>
          </p:nvPr>
        </p:nvSpPr>
        <p:spPr>
          <a:xfrm>
            <a:off x="471488" y="205383"/>
            <a:ext cx="5915100" cy="7458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chemeClr val="dk1"/>
              </a:buClr>
              <a:buSzPts val="3300"/>
              <a:buFont typeface="Century Gothic"/>
              <a:buNone/>
            </a:pPr>
            <a:r>
              <a:rPr lang="en-GB"/>
              <a:t>Plan</a:t>
            </a:r>
            <a:endParaRPr/>
          </a:p>
        </p:txBody>
      </p:sp>
      <p:sp>
        <p:nvSpPr>
          <p:cNvPr id="610" name="Google Shape;610;p70"/>
          <p:cNvSpPr txBox="1">
            <a:spLocks noGrp="1"/>
          </p:cNvSpPr>
          <p:nvPr>
            <p:ph type="body" idx="1"/>
          </p:nvPr>
        </p:nvSpPr>
        <p:spPr>
          <a:xfrm>
            <a:off x="471500" y="1103125"/>
            <a:ext cx="5915100" cy="3204000"/>
          </a:xfrm>
          <a:prstGeom prst="rect">
            <a:avLst/>
          </a:prstGeom>
          <a:noFill/>
          <a:ln>
            <a:noFill/>
          </a:ln>
        </p:spPr>
        <p:txBody>
          <a:bodyPr spcFirstLastPara="1" wrap="square" lIns="68575" tIns="34275" rIns="68575" bIns="34275" anchor="t" anchorCtr="0">
            <a:normAutofit/>
          </a:bodyPr>
          <a:lstStyle/>
          <a:p>
            <a:pPr marL="457200" lvl="0" indent="-342900" algn="l" rtl="0">
              <a:lnSpc>
                <a:spcPct val="150000"/>
              </a:lnSpc>
              <a:spcBef>
                <a:spcPts val="0"/>
              </a:spcBef>
              <a:spcAft>
                <a:spcPts val="0"/>
              </a:spcAft>
              <a:buSzPts val="1800"/>
              <a:buChar char="●"/>
            </a:pPr>
            <a:r>
              <a:rPr lang="en-GB"/>
              <a:t>Motivation</a:t>
            </a:r>
            <a:endParaRPr/>
          </a:p>
          <a:p>
            <a:pPr marL="457200" lvl="0" indent="-342900" algn="l" rtl="0">
              <a:lnSpc>
                <a:spcPct val="150000"/>
              </a:lnSpc>
              <a:spcBef>
                <a:spcPts val="0"/>
              </a:spcBef>
              <a:spcAft>
                <a:spcPts val="0"/>
              </a:spcAft>
              <a:buSzPts val="1800"/>
              <a:buChar char="●"/>
            </a:pPr>
            <a:r>
              <a:rPr lang="en-GB"/>
              <a:t>Problem deﬁnition</a:t>
            </a:r>
            <a:endParaRPr/>
          </a:p>
          <a:p>
            <a:pPr marL="457200" lvl="0" indent="-342900" algn="l" rtl="0">
              <a:lnSpc>
                <a:spcPct val="150000"/>
              </a:lnSpc>
              <a:spcBef>
                <a:spcPts val="0"/>
              </a:spcBef>
              <a:spcAft>
                <a:spcPts val="0"/>
              </a:spcAft>
              <a:buSzPts val="1800"/>
              <a:buChar char="●"/>
            </a:pPr>
            <a:r>
              <a:rPr lang="en-GB"/>
              <a:t>N-gram models</a:t>
            </a:r>
            <a:endParaRPr/>
          </a:p>
          <a:p>
            <a:pPr marL="457200" lvl="0" indent="-342900" algn="l" rtl="0">
              <a:lnSpc>
                <a:spcPct val="150000"/>
              </a:lnSpc>
              <a:spcBef>
                <a:spcPts val="0"/>
              </a:spcBef>
              <a:spcAft>
                <a:spcPts val="0"/>
              </a:spcAft>
              <a:buSzPts val="1800"/>
              <a:buChar char="●"/>
            </a:pPr>
            <a:r>
              <a:rPr lang="en-GB"/>
              <a:t>Evaluation</a:t>
            </a:r>
            <a:endParaRPr/>
          </a:p>
          <a:p>
            <a:pPr marL="457200" lvl="0" indent="-342900" algn="l" rtl="0">
              <a:lnSpc>
                <a:spcPct val="150000"/>
              </a:lnSpc>
              <a:spcBef>
                <a:spcPts val="0"/>
              </a:spcBef>
              <a:spcAft>
                <a:spcPts val="0"/>
              </a:spcAft>
              <a:buSzPts val="1800"/>
              <a:buChar char="●"/>
            </a:pPr>
            <a:r>
              <a:rPr lang="en-GB" b="1"/>
              <a:t>Estimation</a:t>
            </a:r>
            <a:endParaRPr b="1"/>
          </a:p>
          <a:p>
            <a:pPr marL="914400" lvl="1" indent="-342900" algn="l" rtl="0">
              <a:lnSpc>
                <a:spcPct val="150000"/>
              </a:lnSpc>
              <a:spcBef>
                <a:spcPts val="0"/>
              </a:spcBef>
              <a:spcAft>
                <a:spcPts val="0"/>
              </a:spcAft>
              <a:buSzPts val="1800"/>
              <a:buChar char="○"/>
            </a:pPr>
            <a:r>
              <a:rPr lang="en-GB"/>
              <a:t>Interpolation</a:t>
            </a:r>
            <a:endParaRPr/>
          </a:p>
          <a:p>
            <a:pPr marL="457200" lvl="0" indent="-342900" algn="l" rtl="0">
              <a:lnSpc>
                <a:spcPct val="150000"/>
              </a:lnSpc>
              <a:spcBef>
                <a:spcPts val="0"/>
              </a:spcBef>
              <a:spcAft>
                <a:spcPts val="0"/>
              </a:spcAft>
              <a:buSzPts val="1800"/>
              <a:buChar char="●"/>
            </a:pPr>
            <a:r>
              <a:rPr lang="en-GB"/>
              <a:t>Neural language models</a:t>
            </a:r>
            <a:endParaRPr/>
          </a:p>
        </p:txBody>
      </p:sp>
    </p:spTree>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Shape 615"/>
        <p:cNvGrpSpPr/>
        <p:nvPr/>
      </p:nvGrpSpPr>
      <p:grpSpPr>
        <a:xfrm>
          <a:off x="0" y="0"/>
          <a:ext cx="0" cy="0"/>
          <a:chOff x="0" y="0"/>
          <a:chExt cx="0" cy="0"/>
        </a:xfrm>
      </p:grpSpPr>
      <p:sp>
        <p:nvSpPr>
          <p:cNvPr id="616" name="Google Shape;616;p71"/>
          <p:cNvSpPr txBox="1">
            <a:spLocks noGrp="1"/>
          </p:cNvSpPr>
          <p:nvPr>
            <p:ph type="title"/>
          </p:nvPr>
        </p:nvSpPr>
        <p:spPr>
          <a:xfrm>
            <a:off x="471488" y="205383"/>
            <a:ext cx="5915100" cy="7458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chemeClr val="dk1"/>
              </a:buClr>
              <a:buSzPts val="3300"/>
              <a:buFont typeface="Century Gothic"/>
              <a:buNone/>
            </a:pPr>
            <a:r>
              <a:rPr lang="en-GB"/>
              <a:t>Estimating parameters</a:t>
            </a:r>
            <a:endParaRPr/>
          </a:p>
        </p:txBody>
      </p:sp>
      <p:sp>
        <p:nvSpPr>
          <p:cNvPr id="617" name="Google Shape;617;p71"/>
          <p:cNvSpPr txBox="1"/>
          <p:nvPr/>
        </p:nvSpPr>
        <p:spPr>
          <a:xfrm>
            <a:off x="497347" y="1066800"/>
            <a:ext cx="7272900" cy="1708500"/>
          </a:xfrm>
          <a:prstGeom prst="rect">
            <a:avLst/>
          </a:prstGeom>
          <a:noFill/>
          <a:ln>
            <a:noFill/>
          </a:ln>
        </p:spPr>
        <p:txBody>
          <a:bodyPr spcFirstLastPara="1" wrap="square" lIns="91425" tIns="91425" rIns="91425" bIns="91425" anchor="t" anchorCtr="0">
            <a:spAutoFit/>
          </a:bodyPr>
          <a:lstStyle/>
          <a:p>
            <a:pPr marL="0" lvl="0" indent="0" algn="l" rtl="0">
              <a:lnSpc>
                <a:spcPct val="150000"/>
              </a:lnSpc>
              <a:spcBef>
                <a:spcPts val="0"/>
              </a:spcBef>
              <a:spcAft>
                <a:spcPts val="0"/>
              </a:spcAft>
              <a:buNone/>
            </a:pPr>
            <a:r>
              <a:rPr lang="en-GB" sz="1800">
                <a:solidFill>
                  <a:schemeClr val="dk2"/>
                </a:solidFill>
              </a:rPr>
              <a:t>Recall that the number of parameters for a trigram model with |V|=20000 is 8x10</a:t>
            </a:r>
            <a:r>
              <a:rPr lang="en-GB" sz="1800" baseline="30000">
                <a:solidFill>
                  <a:schemeClr val="dk2"/>
                </a:solidFill>
              </a:rPr>
              <a:t>12</a:t>
            </a:r>
            <a:r>
              <a:rPr lang="en-GB" sz="1800">
                <a:solidFill>
                  <a:schemeClr val="dk2"/>
                </a:solidFill>
              </a:rPr>
              <a:t> so estimation is sparse</a:t>
            </a:r>
            <a:endParaRPr sz="1800">
              <a:solidFill>
                <a:schemeClr val="dk2"/>
              </a:solidFill>
            </a:endParaRPr>
          </a:p>
          <a:p>
            <a:pPr marL="457200" lvl="0" indent="-342900" algn="l" rtl="0">
              <a:lnSpc>
                <a:spcPct val="150000"/>
              </a:lnSpc>
              <a:spcBef>
                <a:spcPts val="0"/>
              </a:spcBef>
              <a:spcAft>
                <a:spcPts val="0"/>
              </a:spcAft>
              <a:buClr>
                <a:schemeClr val="dk2"/>
              </a:buClr>
              <a:buSzPts val="1800"/>
              <a:buChar char="●"/>
            </a:pPr>
            <a:r>
              <a:rPr lang="en-GB" sz="1800">
                <a:solidFill>
                  <a:srgbClr val="C55A11"/>
                </a:solidFill>
              </a:rPr>
              <a:t>Zero probabilities</a:t>
            </a:r>
            <a:r>
              <a:rPr lang="en-GB" sz="1800">
                <a:solidFill>
                  <a:schemeClr val="dk2"/>
                </a:solidFill>
              </a:rPr>
              <a:t> at best – why is that a problem?</a:t>
            </a:r>
            <a:endParaRPr sz="1800">
              <a:solidFill>
                <a:schemeClr val="dk2"/>
              </a:solidFill>
            </a:endParaRPr>
          </a:p>
          <a:p>
            <a:pPr marL="457200" lvl="0" indent="-342900" algn="l" rtl="0">
              <a:lnSpc>
                <a:spcPct val="150000"/>
              </a:lnSpc>
              <a:spcBef>
                <a:spcPts val="0"/>
              </a:spcBef>
              <a:spcAft>
                <a:spcPts val="0"/>
              </a:spcAft>
              <a:buClr>
                <a:schemeClr val="dk2"/>
              </a:buClr>
              <a:buSzPts val="1800"/>
              <a:buChar char="●"/>
            </a:pPr>
            <a:r>
              <a:rPr lang="en-GB" sz="1800">
                <a:solidFill>
                  <a:srgbClr val="C55A11"/>
                </a:solidFill>
              </a:rPr>
              <a:t>Undefined probabilities</a:t>
            </a:r>
            <a:r>
              <a:rPr lang="en-GB" sz="1800">
                <a:solidFill>
                  <a:schemeClr val="dk2"/>
                </a:solidFill>
              </a:rPr>
              <a:t> at worst</a:t>
            </a:r>
            <a:endParaRPr sz="1800">
              <a:solidFill>
                <a:schemeClr val="dk2"/>
              </a:solidFill>
            </a:endParaRPr>
          </a:p>
        </p:txBody>
      </p:sp>
      <p:pic>
        <p:nvPicPr>
          <p:cNvPr id="618" name="Google Shape;618;p71"/>
          <p:cNvPicPr preferRelativeResize="0"/>
          <p:nvPr/>
        </p:nvPicPr>
        <p:blipFill>
          <a:blip r:embed="rId3">
            <a:alphaModFix/>
          </a:blip>
          <a:stretch>
            <a:fillRect/>
          </a:stretch>
        </p:blipFill>
        <p:spPr>
          <a:xfrm>
            <a:off x="4755896" y="2774401"/>
            <a:ext cx="3710975" cy="623975"/>
          </a:xfrm>
          <a:prstGeom prst="rect">
            <a:avLst/>
          </a:prstGeom>
          <a:noFill/>
          <a:ln>
            <a:noFill/>
          </a:ln>
        </p:spPr>
      </p:pic>
      <p:sp>
        <p:nvSpPr>
          <p:cNvPr id="619" name="Google Shape;619;p71"/>
          <p:cNvSpPr txBox="1"/>
          <p:nvPr/>
        </p:nvSpPr>
        <p:spPr>
          <a:xfrm>
            <a:off x="497347" y="3327370"/>
            <a:ext cx="7272900" cy="461700"/>
          </a:xfrm>
          <a:prstGeom prst="rect">
            <a:avLst/>
          </a:prstGeom>
          <a:noFill/>
          <a:ln>
            <a:noFill/>
          </a:ln>
        </p:spPr>
        <p:txBody>
          <a:bodyPr spcFirstLastPara="1" wrap="square" lIns="91425" tIns="91425" rIns="91425" bIns="91425" anchor="t" anchorCtr="0">
            <a:spAutoFit/>
          </a:bodyPr>
          <a:lstStyle/>
          <a:p>
            <a:pPr marL="0" lvl="0" indent="0" algn="l" rtl="0">
              <a:lnSpc>
                <a:spcPct val="150000"/>
              </a:lnSpc>
              <a:spcBef>
                <a:spcPts val="0"/>
              </a:spcBef>
              <a:spcAft>
                <a:spcPts val="1000"/>
              </a:spcAft>
              <a:buNone/>
            </a:pPr>
            <a:r>
              <a:rPr lang="en-GB" sz="1800">
                <a:solidFill>
                  <a:schemeClr val="dk2"/>
                </a:solidFill>
              </a:rPr>
              <a:t>Are we likely to get </a:t>
            </a:r>
            <a:r>
              <a:rPr lang="en-GB" sz="1800">
                <a:solidFill>
                  <a:srgbClr val="00B0F0"/>
                </a:solidFill>
              </a:rPr>
              <a:t>over/under fitting</a:t>
            </a:r>
            <a:r>
              <a:rPr lang="en-GB" sz="1800">
                <a:solidFill>
                  <a:schemeClr val="dk2"/>
                </a:solidFill>
              </a:rPr>
              <a:t>? </a:t>
            </a:r>
            <a:endParaRPr sz="1800">
              <a:solidFill>
                <a:schemeClr val="dk2"/>
              </a:solidFill>
            </a:endParaRPr>
          </a:p>
        </p:txBody>
      </p:sp>
    </p:spTree>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Shape 624"/>
        <p:cNvGrpSpPr/>
        <p:nvPr/>
      </p:nvGrpSpPr>
      <p:grpSpPr>
        <a:xfrm>
          <a:off x="0" y="0"/>
          <a:ext cx="0" cy="0"/>
          <a:chOff x="0" y="0"/>
          <a:chExt cx="0" cy="0"/>
        </a:xfrm>
      </p:grpSpPr>
      <p:sp>
        <p:nvSpPr>
          <p:cNvPr id="625" name="Google Shape;625;p72"/>
          <p:cNvSpPr txBox="1">
            <a:spLocks noGrp="1"/>
          </p:cNvSpPr>
          <p:nvPr>
            <p:ph type="title"/>
          </p:nvPr>
        </p:nvSpPr>
        <p:spPr>
          <a:xfrm>
            <a:off x="471488" y="205383"/>
            <a:ext cx="5915100" cy="7458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chemeClr val="dk1"/>
              </a:buClr>
              <a:buSzPts val="3300"/>
              <a:buFont typeface="Century Gothic"/>
              <a:buNone/>
            </a:pPr>
            <a:r>
              <a:rPr lang="en-GB"/>
              <a:t>Estimating parameters</a:t>
            </a:r>
            <a:endParaRPr/>
          </a:p>
        </p:txBody>
      </p:sp>
      <p:sp>
        <p:nvSpPr>
          <p:cNvPr id="626" name="Google Shape;626;p72"/>
          <p:cNvSpPr txBox="1"/>
          <p:nvPr/>
        </p:nvSpPr>
        <p:spPr>
          <a:xfrm>
            <a:off x="497347" y="1066800"/>
            <a:ext cx="7272900" cy="1708500"/>
          </a:xfrm>
          <a:prstGeom prst="rect">
            <a:avLst/>
          </a:prstGeom>
          <a:noFill/>
          <a:ln>
            <a:noFill/>
          </a:ln>
        </p:spPr>
        <p:txBody>
          <a:bodyPr spcFirstLastPara="1" wrap="square" lIns="91425" tIns="91425" rIns="91425" bIns="91425" anchor="t" anchorCtr="0">
            <a:spAutoFit/>
          </a:bodyPr>
          <a:lstStyle/>
          <a:p>
            <a:pPr marL="0" lvl="0" indent="0" algn="l" rtl="0">
              <a:lnSpc>
                <a:spcPct val="150000"/>
              </a:lnSpc>
              <a:spcBef>
                <a:spcPts val="0"/>
              </a:spcBef>
              <a:spcAft>
                <a:spcPts val="0"/>
              </a:spcAft>
              <a:buNone/>
            </a:pPr>
            <a:r>
              <a:rPr lang="en-GB" sz="1800">
                <a:solidFill>
                  <a:schemeClr val="dk2"/>
                </a:solidFill>
              </a:rPr>
              <a:t>Recall that the number of parameters for a trigram model with |V|=20000 is 8x10</a:t>
            </a:r>
            <a:r>
              <a:rPr lang="en-GB" sz="1800" baseline="30000">
                <a:solidFill>
                  <a:schemeClr val="dk2"/>
                </a:solidFill>
              </a:rPr>
              <a:t>12</a:t>
            </a:r>
            <a:r>
              <a:rPr lang="en-GB" sz="1800">
                <a:solidFill>
                  <a:schemeClr val="dk2"/>
                </a:solidFill>
              </a:rPr>
              <a:t> so estimation is sparse</a:t>
            </a:r>
            <a:endParaRPr sz="1800">
              <a:solidFill>
                <a:schemeClr val="dk2"/>
              </a:solidFill>
            </a:endParaRPr>
          </a:p>
          <a:p>
            <a:pPr marL="457200" lvl="0" indent="-342900" algn="l" rtl="0">
              <a:lnSpc>
                <a:spcPct val="150000"/>
              </a:lnSpc>
              <a:spcBef>
                <a:spcPts val="0"/>
              </a:spcBef>
              <a:spcAft>
                <a:spcPts val="0"/>
              </a:spcAft>
              <a:buClr>
                <a:schemeClr val="dk2"/>
              </a:buClr>
              <a:buSzPts val="1800"/>
              <a:buChar char="●"/>
            </a:pPr>
            <a:r>
              <a:rPr lang="en-GB" sz="1800">
                <a:solidFill>
                  <a:srgbClr val="C55A11"/>
                </a:solidFill>
              </a:rPr>
              <a:t>Zero probabilities</a:t>
            </a:r>
            <a:r>
              <a:rPr lang="en-GB" sz="1800">
                <a:solidFill>
                  <a:schemeClr val="dk2"/>
                </a:solidFill>
              </a:rPr>
              <a:t> at best – why is that a problem?</a:t>
            </a:r>
            <a:endParaRPr sz="1800">
              <a:solidFill>
                <a:schemeClr val="dk2"/>
              </a:solidFill>
            </a:endParaRPr>
          </a:p>
          <a:p>
            <a:pPr marL="457200" lvl="0" indent="-342900" algn="l" rtl="0">
              <a:lnSpc>
                <a:spcPct val="150000"/>
              </a:lnSpc>
              <a:spcBef>
                <a:spcPts val="0"/>
              </a:spcBef>
              <a:spcAft>
                <a:spcPts val="0"/>
              </a:spcAft>
              <a:buClr>
                <a:schemeClr val="dk2"/>
              </a:buClr>
              <a:buSzPts val="1800"/>
              <a:buChar char="●"/>
            </a:pPr>
            <a:r>
              <a:rPr lang="en-GB" sz="1800">
                <a:solidFill>
                  <a:srgbClr val="C55A11"/>
                </a:solidFill>
              </a:rPr>
              <a:t>Undefined probabilities</a:t>
            </a:r>
            <a:r>
              <a:rPr lang="en-GB" sz="1800">
                <a:solidFill>
                  <a:schemeClr val="dk2"/>
                </a:solidFill>
              </a:rPr>
              <a:t> at worst</a:t>
            </a:r>
            <a:endParaRPr sz="1800">
              <a:solidFill>
                <a:schemeClr val="dk2"/>
              </a:solidFill>
            </a:endParaRPr>
          </a:p>
        </p:txBody>
      </p:sp>
      <p:pic>
        <p:nvPicPr>
          <p:cNvPr id="627" name="Google Shape;627;p72"/>
          <p:cNvPicPr preferRelativeResize="0"/>
          <p:nvPr/>
        </p:nvPicPr>
        <p:blipFill>
          <a:blip r:embed="rId3">
            <a:alphaModFix/>
          </a:blip>
          <a:stretch>
            <a:fillRect/>
          </a:stretch>
        </p:blipFill>
        <p:spPr>
          <a:xfrm>
            <a:off x="4755896" y="2774401"/>
            <a:ext cx="3710975" cy="623975"/>
          </a:xfrm>
          <a:prstGeom prst="rect">
            <a:avLst/>
          </a:prstGeom>
          <a:noFill/>
          <a:ln>
            <a:noFill/>
          </a:ln>
        </p:spPr>
      </p:pic>
      <p:sp>
        <p:nvSpPr>
          <p:cNvPr id="628" name="Google Shape;628;p72"/>
          <p:cNvSpPr txBox="1"/>
          <p:nvPr/>
        </p:nvSpPr>
        <p:spPr>
          <a:xfrm>
            <a:off x="497347" y="3327370"/>
            <a:ext cx="7272900" cy="461700"/>
          </a:xfrm>
          <a:prstGeom prst="rect">
            <a:avLst/>
          </a:prstGeom>
          <a:noFill/>
          <a:ln>
            <a:noFill/>
          </a:ln>
        </p:spPr>
        <p:txBody>
          <a:bodyPr spcFirstLastPara="1" wrap="square" lIns="91425" tIns="91425" rIns="91425" bIns="91425" anchor="t" anchorCtr="0">
            <a:spAutoFit/>
          </a:bodyPr>
          <a:lstStyle/>
          <a:p>
            <a:pPr marL="0" lvl="0" indent="0" algn="l" rtl="0">
              <a:lnSpc>
                <a:spcPct val="150000"/>
              </a:lnSpc>
              <a:spcBef>
                <a:spcPts val="0"/>
              </a:spcBef>
              <a:spcAft>
                <a:spcPts val="1000"/>
              </a:spcAft>
              <a:buNone/>
            </a:pPr>
            <a:r>
              <a:rPr lang="en-GB" sz="1800">
                <a:solidFill>
                  <a:schemeClr val="dk2"/>
                </a:solidFill>
              </a:rPr>
              <a:t>Are we likely to get </a:t>
            </a:r>
            <a:r>
              <a:rPr lang="en-GB" sz="1800">
                <a:solidFill>
                  <a:srgbClr val="00B0F0"/>
                </a:solidFill>
              </a:rPr>
              <a:t>over/under fitting</a:t>
            </a:r>
            <a:r>
              <a:rPr lang="en-GB" sz="1800">
                <a:solidFill>
                  <a:schemeClr val="dk2"/>
                </a:solidFill>
              </a:rPr>
              <a:t>? </a:t>
            </a:r>
            <a:endParaRPr sz="1800">
              <a:solidFill>
                <a:schemeClr val="dk2"/>
              </a:solidFill>
            </a:endParaRPr>
          </a:p>
        </p:txBody>
      </p:sp>
      <p:sp>
        <p:nvSpPr>
          <p:cNvPr id="629" name="Google Shape;629;p72"/>
          <p:cNvSpPr txBox="1"/>
          <p:nvPr/>
        </p:nvSpPr>
        <p:spPr>
          <a:xfrm>
            <a:off x="497349" y="3749946"/>
            <a:ext cx="4805100" cy="1015632"/>
          </a:xfrm>
          <a:prstGeom prst="rect">
            <a:avLst/>
          </a:prstGeom>
          <a:noFill/>
          <a:ln>
            <a:noFill/>
          </a:ln>
        </p:spPr>
        <p:txBody>
          <a:bodyPr spcFirstLastPara="1" wrap="square" lIns="91425" tIns="91425" rIns="91425" bIns="91425" anchor="t" anchorCtr="0">
            <a:spAutoFit/>
          </a:bodyPr>
          <a:lstStyle/>
          <a:p>
            <a:pPr marL="0" lvl="0" indent="0" algn="l" rtl="0">
              <a:lnSpc>
                <a:spcPct val="150000"/>
              </a:lnSpc>
              <a:spcBef>
                <a:spcPts val="0"/>
              </a:spcBef>
              <a:spcAft>
                <a:spcPts val="0"/>
              </a:spcAft>
              <a:buNone/>
            </a:pPr>
            <a:r>
              <a:rPr lang="en-GB" sz="1800" dirty="0">
                <a:solidFill>
                  <a:schemeClr val="dk2"/>
                </a:solidFill>
              </a:rPr>
              <a:t>What about for unigram models?</a:t>
            </a:r>
            <a:endParaRPr sz="1800" dirty="0">
              <a:solidFill>
                <a:schemeClr val="dk2"/>
              </a:solidFill>
            </a:endParaRPr>
          </a:p>
          <a:p>
            <a:pPr marL="0" lvl="0" indent="0" algn="l" rtl="0">
              <a:lnSpc>
                <a:spcPct val="150000"/>
              </a:lnSpc>
              <a:spcBef>
                <a:spcPts val="0"/>
              </a:spcBef>
              <a:spcAft>
                <a:spcPts val="0"/>
              </a:spcAft>
              <a:buNone/>
            </a:pPr>
            <a:r>
              <a:rPr lang="en-GB" sz="1800" dirty="0">
                <a:solidFill>
                  <a:schemeClr val="dk2"/>
                </a:solidFill>
              </a:rPr>
              <a:t>and bigram models?</a:t>
            </a:r>
            <a:endParaRPr sz="1800" dirty="0">
              <a:solidFill>
                <a:schemeClr val="dk2"/>
              </a:solidFill>
            </a:endParaRPr>
          </a:p>
        </p:txBody>
      </p:sp>
      <p:pic>
        <p:nvPicPr>
          <p:cNvPr id="630" name="Google Shape;630;p72"/>
          <p:cNvPicPr preferRelativeResize="0"/>
          <p:nvPr/>
        </p:nvPicPr>
        <p:blipFill rotWithShape="1">
          <a:blip r:embed="rId4">
            <a:alphaModFix/>
          </a:blip>
          <a:srcRect l="4665" t="42574" r="16532" b="4688"/>
          <a:stretch/>
        </p:blipFill>
        <p:spPr>
          <a:xfrm>
            <a:off x="4776809" y="4173446"/>
            <a:ext cx="2155325" cy="428975"/>
          </a:xfrm>
          <a:prstGeom prst="rect">
            <a:avLst/>
          </a:prstGeom>
          <a:noFill/>
          <a:ln>
            <a:noFill/>
          </a:ln>
        </p:spPr>
      </p:pic>
      <p:grpSp>
        <p:nvGrpSpPr>
          <p:cNvPr id="631" name="Google Shape;631;p72"/>
          <p:cNvGrpSpPr/>
          <p:nvPr/>
        </p:nvGrpSpPr>
        <p:grpSpPr>
          <a:xfrm>
            <a:off x="4776800" y="3765116"/>
            <a:ext cx="1275400" cy="429196"/>
            <a:chOff x="3299025" y="3872679"/>
            <a:chExt cx="1275400" cy="429196"/>
          </a:xfrm>
        </p:grpSpPr>
        <p:pic>
          <p:nvPicPr>
            <p:cNvPr id="632" name="Google Shape;632;p72"/>
            <p:cNvPicPr preferRelativeResize="0"/>
            <p:nvPr/>
          </p:nvPicPr>
          <p:blipFill rotWithShape="1">
            <a:blip r:embed="rId4">
              <a:alphaModFix/>
            </a:blip>
            <a:srcRect l="51949" r="1422" b="52269"/>
            <a:stretch/>
          </p:blipFill>
          <p:spPr>
            <a:xfrm>
              <a:off x="3299025" y="3872679"/>
              <a:ext cx="1275400" cy="388250"/>
            </a:xfrm>
            <a:prstGeom prst="rect">
              <a:avLst/>
            </a:prstGeom>
            <a:noFill/>
            <a:ln>
              <a:noFill/>
            </a:ln>
          </p:spPr>
        </p:pic>
        <p:sp>
          <p:nvSpPr>
            <p:cNvPr id="633" name="Google Shape;633;p72"/>
            <p:cNvSpPr/>
            <p:nvPr/>
          </p:nvSpPr>
          <p:spPr>
            <a:xfrm>
              <a:off x="3440600" y="4228675"/>
              <a:ext cx="78600" cy="73200"/>
            </a:xfrm>
            <a:prstGeom prst="rect">
              <a:avLst/>
            </a:pr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34" name="Google Shape;634;p72"/>
            <p:cNvSpPr/>
            <p:nvPr/>
          </p:nvSpPr>
          <p:spPr>
            <a:xfrm>
              <a:off x="4047700" y="4228675"/>
              <a:ext cx="78600" cy="73200"/>
            </a:xfrm>
            <a:prstGeom prst="rect">
              <a:avLst/>
            </a:pr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spTree>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Shape 639"/>
        <p:cNvGrpSpPr/>
        <p:nvPr/>
      </p:nvGrpSpPr>
      <p:grpSpPr>
        <a:xfrm>
          <a:off x="0" y="0"/>
          <a:ext cx="0" cy="0"/>
          <a:chOff x="0" y="0"/>
          <a:chExt cx="0" cy="0"/>
        </a:xfrm>
      </p:grpSpPr>
      <p:sp>
        <p:nvSpPr>
          <p:cNvPr id="640" name="Google Shape;640;p73"/>
          <p:cNvSpPr txBox="1">
            <a:spLocks noGrp="1"/>
          </p:cNvSpPr>
          <p:nvPr>
            <p:ph type="title"/>
          </p:nvPr>
        </p:nvSpPr>
        <p:spPr>
          <a:xfrm>
            <a:off x="471488" y="205383"/>
            <a:ext cx="5915100" cy="745800"/>
          </a:xfrm>
          <a:prstGeom prst="rect">
            <a:avLst/>
          </a:prstGeom>
          <a:noFill/>
          <a:ln>
            <a:noFill/>
          </a:ln>
        </p:spPr>
        <p:txBody>
          <a:bodyPr spcFirstLastPara="1" wrap="square" lIns="68575" tIns="34275" rIns="68575" bIns="34275" anchor="ctr" anchorCtr="0">
            <a:normAutofit fontScale="90000"/>
          </a:bodyPr>
          <a:lstStyle/>
          <a:p>
            <a:pPr marL="0" lvl="0" indent="0" algn="l" rtl="0">
              <a:spcBef>
                <a:spcPts val="0"/>
              </a:spcBef>
              <a:spcAft>
                <a:spcPts val="0"/>
              </a:spcAft>
              <a:buClr>
                <a:schemeClr val="dk1"/>
              </a:buClr>
              <a:buSzPct val="117857"/>
              <a:buFont typeface="Century Gothic"/>
              <a:buNone/>
            </a:pPr>
            <a:r>
              <a:rPr lang="en-GB"/>
              <a:t>Linear interpolation – best of all worlds</a:t>
            </a:r>
            <a:endParaRPr/>
          </a:p>
        </p:txBody>
      </p:sp>
      <p:sp>
        <p:nvSpPr>
          <p:cNvPr id="641" name="Google Shape;641;p73"/>
          <p:cNvSpPr txBox="1"/>
          <p:nvPr/>
        </p:nvSpPr>
        <p:spPr>
          <a:xfrm>
            <a:off x="497347" y="1143000"/>
            <a:ext cx="7272900" cy="2124000"/>
          </a:xfrm>
          <a:prstGeom prst="rect">
            <a:avLst/>
          </a:prstGeom>
          <a:noFill/>
          <a:ln>
            <a:noFill/>
          </a:ln>
        </p:spPr>
        <p:txBody>
          <a:bodyPr spcFirstLastPara="1" wrap="square" lIns="91425" tIns="91425" rIns="91425" bIns="91425" anchor="t" anchorCtr="0">
            <a:spAutoFit/>
          </a:bodyPr>
          <a:lstStyle/>
          <a:p>
            <a:pPr marL="457200" lvl="0" indent="-342900" algn="l" rtl="0">
              <a:lnSpc>
                <a:spcPct val="150000"/>
              </a:lnSpc>
              <a:spcBef>
                <a:spcPts val="0"/>
              </a:spcBef>
              <a:spcAft>
                <a:spcPts val="0"/>
              </a:spcAft>
              <a:buClr>
                <a:schemeClr val="dk2"/>
              </a:buClr>
              <a:buSzPts val="1800"/>
              <a:buChar char="●"/>
            </a:pPr>
            <a:r>
              <a:rPr lang="en-GB" sz="1800">
                <a:solidFill>
                  <a:schemeClr val="dk2"/>
                </a:solidFill>
              </a:rPr>
              <a:t>Idea: estimate multiple words and combine them</a:t>
            </a:r>
            <a:br>
              <a:rPr lang="en-GB" sz="1800">
                <a:solidFill>
                  <a:schemeClr val="dk2"/>
                </a:solidFill>
              </a:rPr>
            </a:br>
            <a:br>
              <a:rPr lang="en-GB" sz="1800">
                <a:solidFill>
                  <a:schemeClr val="dk2"/>
                </a:solidFill>
              </a:rPr>
            </a:br>
            <a:br>
              <a:rPr lang="en-GB" sz="1800">
                <a:solidFill>
                  <a:schemeClr val="dk2"/>
                </a:solidFill>
              </a:rPr>
            </a:br>
            <a:br>
              <a:rPr lang="en-GB" sz="1800">
                <a:solidFill>
                  <a:schemeClr val="dk2"/>
                </a:solidFill>
              </a:rPr>
            </a:br>
            <a:endParaRPr sz="1800">
              <a:solidFill>
                <a:schemeClr val="dk2"/>
              </a:solidFill>
            </a:endParaRPr>
          </a:p>
        </p:txBody>
      </p:sp>
      <p:pic>
        <p:nvPicPr>
          <p:cNvPr id="642" name="Google Shape;642;p73"/>
          <p:cNvPicPr preferRelativeResize="0"/>
          <p:nvPr/>
        </p:nvPicPr>
        <p:blipFill>
          <a:blip r:embed="rId3">
            <a:alphaModFix/>
          </a:blip>
          <a:stretch>
            <a:fillRect/>
          </a:stretch>
        </p:blipFill>
        <p:spPr>
          <a:xfrm>
            <a:off x="2071788" y="1718458"/>
            <a:ext cx="3971626" cy="1392975"/>
          </a:xfrm>
          <a:prstGeom prst="rect">
            <a:avLst/>
          </a:prstGeom>
          <a:noFill/>
          <a:ln>
            <a:noFill/>
          </a:ln>
        </p:spPr>
      </p:pic>
      <p:sp>
        <p:nvSpPr>
          <p:cNvPr id="643" name="Google Shape;643;p73"/>
          <p:cNvSpPr txBox="1"/>
          <p:nvPr/>
        </p:nvSpPr>
        <p:spPr>
          <a:xfrm>
            <a:off x="497349" y="3878700"/>
            <a:ext cx="3295200" cy="461700"/>
          </a:xfrm>
          <a:prstGeom prst="rect">
            <a:avLst/>
          </a:prstGeom>
          <a:noFill/>
          <a:ln>
            <a:noFill/>
          </a:ln>
        </p:spPr>
        <p:txBody>
          <a:bodyPr spcFirstLastPara="1" wrap="square" lIns="91425" tIns="91425" rIns="91425" bIns="91425" anchor="t" anchorCtr="0">
            <a:spAutoFit/>
          </a:bodyPr>
          <a:lstStyle/>
          <a:p>
            <a:pPr marL="0" lvl="0" indent="0" algn="l" rtl="0">
              <a:lnSpc>
                <a:spcPct val="150000"/>
              </a:lnSpc>
              <a:spcBef>
                <a:spcPts val="0"/>
              </a:spcBef>
              <a:spcAft>
                <a:spcPts val="1000"/>
              </a:spcAft>
              <a:buNone/>
            </a:pPr>
            <a:r>
              <a:rPr lang="en-GB" sz="1800">
                <a:solidFill>
                  <a:srgbClr val="EE7F32"/>
                </a:solidFill>
              </a:rPr>
              <a:t>How to choose the lambdas?</a:t>
            </a:r>
            <a:endParaRPr sz="1800">
              <a:solidFill>
                <a:srgbClr val="EE7F32"/>
              </a:solidFill>
            </a:endParaRPr>
          </a:p>
        </p:txBody>
      </p:sp>
    </p:spTree>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Shape 648"/>
        <p:cNvGrpSpPr/>
        <p:nvPr/>
      </p:nvGrpSpPr>
      <p:grpSpPr>
        <a:xfrm>
          <a:off x="0" y="0"/>
          <a:ext cx="0" cy="0"/>
          <a:chOff x="0" y="0"/>
          <a:chExt cx="0" cy="0"/>
        </a:xfrm>
      </p:grpSpPr>
      <p:sp>
        <p:nvSpPr>
          <p:cNvPr id="649" name="Google Shape;649;p74"/>
          <p:cNvSpPr txBox="1">
            <a:spLocks noGrp="1"/>
          </p:cNvSpPr>
          <p:nvPr>
            <p:ph type="title"/>
          </p:nvPr>
        </p:nvSpPr>
        <p:spPr>
          <a:xfrm>
            <a:off x="471488" y="205383"/>
            <a:ext cx="5915100" cy="745800"/>
          </a:xfrm>
          <a:prstGeom prst="rect">
            <a:avLst/>
          </a:prstGeom>
          <a:noFill/>
          <a:ln>
            <a:noFill/>
          </a:ln>
        </p:spPr>
        <p:txBody>
          <a:bodyPr spcFirstLastPara="1" wrap="square" lIns="68575" tIns="34275" rIns="68575" bIns="34275" anchor="ctr" anchorCtr="0">
            <a:normAutofit fontScale="90000"/>
          </a:bodyPr>
          <a:lstStyle/>
          <a:p>
            <a:pPr marL="0" lvl="0" indent="0" algn="l" rtl="0">
              <a:spcBef>
                <a:spcPts val="0"/>
              </a:spcBef>
              <a:spcAft>
                <a:spcPts val="0"/>
              </a:spcAft>
              <a:buClr>
                <a:schemeClr val="dk1"/>
              </a:buClr>
              <a:buSzPct val="117857"/>
              <a:buFont typeface="Century Gothic"/>
              <a:buNone/>
            </a:pPr>
            <a:r>
              <a:rPr lang="en-GB"/>
              <a:t>Linear interpolation – best of all worlds</a:t>
            </a:r>
            <a:endParaRPr/>
          </a:p>
        </p:txBody>
      </p:sp>
      <p:sp>
        <p:nvSpPr>
          <p:cNvPr id="650" name="Google Shape;650;p74"/>
          <p:cNvSpPr txBox="1"/>
          <p:nvPr/>
        </p:nvSpPr>
        <p:spPr>
          <a:xfrm>
            <a:off x="497347" y="1143000"/>
            <a:ext cx="7272900" cy="3370800"/>
          </a:xfrm>
          <a:prstGeom prst="rect">
            <a:avLst/>
          </a:prstGeom>
          <a:noFill/>
          <a:ln>
            <a:noFill/>
          </a:ln>
        </p:spPr>
        <p:txBody>
          <a:bodyPr spcFirstLastPara="1" wrap="square" lIns="91425" tIns="91425" rIns="91425" bIns="91425" anchor="t" anchorCtr="0">
            <a:spAutoFit/>
          </a:bodyPr>
          <a:lstStyle/>
          <a:p>
            <a:pPr marL="457200" lvl="0" indent="-342900" algn="l" rtl="0">
              <a:lnSpc>
                <a:spcPct val="150000"/>
              </a:lnSpc>
              <a:spcBef>
                <a:spcPts val="0"/>
              </a:spcBef>
              <a:spcAft>
                <a:spcPts val="0"/>
              </a:spcAft>
              <a:buClr>
                <a:schemeClr val="dk2"/>
              </a:buClr>
              <a:buSzPts val="1800"/>
              <a:buChar char="●"/>
            </a:pPr>
            <a:r>
              <a:rPr lang="en-GB" sz="1800">
                <a:solidFill>
                  <a:schemeClr val="dk2"/>
                </a:solidFill>
              </a:rPr>
              <a:t>Idea: estimate multiple words and combine them</a:t>
            </a:r>
            <a:br>
              <a:rPr lang="en-GB" sz="1800">
                <a:solidFill>
                  <a:schemeClr val="dk2"/>
                </a:solidFill>
              </a:rPr>
            </a:br>
            <a:br>
              <a:rPr lang="en-GB" sz="1800">
                <a:solidFill>
                  <a:schemeClr val="dk2"/>
                </a:solidFill>
              </a:rPr>
            </a:br>
            <a:br>
              <a:rPr lang="en-GB" sz="1800">
                <a:solidFill>
                  <a:schemeClr val="dk2"/>
                </a:solidFill>
              </a:rPr>
            </a:br>
            <a:br>
              <a:rPr lang="en-GB" sz="1800">
                <a:solidFill>
                  <a:schemeClr val="dk2"/>
                </a:solidFill>
              </a:rPr>
            </a:br>
            <a:endParaRPr sz="1800">
              <a:solidFill>
                <a:schemeClr val="dk2"/>
              </a:solidFill>
            </a:endParaRPr>
          </a:p>
          <a:p>
            <a:pPr marL="457200" lvl="0" indent="-342900" algn="l" rtl="0">
              <a:lnSpc>
                <a:spcPct val="150000"/>
              </a:lnSpc>
              <a:spcBef>
                <a:spcPts val="0"/>
              </a:spcBef>
              <a:spcAft>
                <a:spcPts val="0"/>
              </a:spcAft>
              <a:buClr>
                <a:schemeClr val="dk2"/>
              </a:buClr>
              <a:buSzPts val="1800"/>
              <a:buChar char="●"/>
            </a:pPr>
            <a:r>
              <a:rPr lang="en-GB" sz="1800">
                <a:solidFill>
                  <a:schemeClr val="dk2"/>
                </a:solidFill>
              </a:rPr>
              <a:t>Use validation/development set to optimize the coefficients and minimize the perplexity</a:t>
            </a:r>
            <a:endParaRPr sz="1800">
              <a:solidFill>
                <a:schemeClr val="dk2"/>
              </a:solidFill>
            </a:endParaRPr>
          </a:p>
          <a:p>
            <a:pPr marL="457200" lvl="0" indent="-342900" algn="l" rtl="0">
              <a:lnSpc>
                <a:spcPct val="150000"/>
              </a:lnSpc>
              <a:spcBef>
                <a:spcPts val="0"/>
              </a:spcBef>
              <a:spcAft>
                <a:spcPts val="0"/>
              </a:spcAft>
              <a:buClr>
                <a:schemeClr val="dk2"/>
              </a:buClr>
              <a:buSzPts val="1800"/>
              <a:buChar char="●"/>
            </a:pPr>
            <a:r>
              <a:rPr lang="en-GB" sz="1800">
                <a:solidFill>
                  <a:schemeClr val="dk2"/>
                </a:solidFill>
              </a:rPr>
              <a:t>What about rare/unknown n-grams?</a:t>
            </a:r>
            <a:endParaRPr sz="1800">
              <a:solidFill>
                <a:schemeClr val="dk2"/>
              </a:solidFill>
            </a:endParaRPr>
          </a:p>
        </p:txBody>
      </p:sp>
      <p:pic>
        <p:nvPicPr>
          <p:cNvPr id="651" name="Google Shape;651;p74"/>
          <p:cNvPicPr preferRelativeResize="0"/>
          <p:nvPr/>
        </p:nvPicPr>
        <p:blipFill>
          <a:blip r:embed="rId3">
            <a:alphaModFix/>
          </a:blip>
          <a:stretch>
            <a:fillRect/>
          </a:stretch>
        </p:blipFill>
        <p:spPr>
          <a:xfrm>
            <a:off x="2071788" y="1718458"/>
            <a:ext cx="3971626" cy="1392975"/>
          </a:xfrm>
          <a:prstGeom prst="rect">
            <a:avLst/>
          </a:prstGeom>
          <a:noFill/>
          <a:ln>
            <a:noFill/>
          </a:ln>
        </p:spPr>
      </p:pic>
    </p:spTree>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Shape 655"/>
        <p:cNvGrpSpPr/>
        <p:nvPr/>
      </p:nvGrpSpPr>
      <p:grpSpPr>
        <a:xfrm>
          <a:off x="0" y="0"/>
          <a:ext cx="0" cy="0"/>
          <a:chOff x="0" y="0"/>
          <a:chExt cx="0" cy="0"/>
        </a:xfrm>
      </p:grpSpPr>
      <p:sp>
        <p:nvSpPr>
          <p:cNvPr id="656" name="Google Shape;656;p75"/>
          <p:cNvSpPr txBox="1">
            <a:spLocks noGrp="1"/>
          </p:cNvSpPr>
          <p:nvPr>
            <p:ph type="title"/>
          </p:nvPr>
        </p:nvSpPr>
        <p:spPr>
          <a:xfrm>
            <a:off x="471488" y="205383"/>
            <a:ext cx="5915100" cy="7458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chemeClr val="dk1"/>
              </a:buClr>
              <a:buSzPts val="3300"/>
              <a:buFont typeface="Century Gothic"/>
              <a:buNone/>
            </a:pPr>
            <a:r>
              <a:rPr lang="en-GB"/>
              <a:t>Better linear interpolation</a:t>
            </a:r>
            <a:endParaRPr/>
          </a:p>
        </p:txBody>
      </p:sp>
      <p:pic>
        <p:nvPicPr>
          <p:cNvPr id="657" name="Google Shape;657;p75"/>
          <p:cNvPicPr preferRelativeResize="0"/>
          <p:nvPr/>
        </p:nvPicPr>
        <p:blipFill>
          <a:blip r:embed="rId3">
            <a:alphaModFix/>
          </a:blip>
          <a:stretch>
            <a:fillRect/>
          </a:stretch>
        </p:blipFill>
        <p:spPr>
          <a:xfrm>
            <a:off x="3670150" y="1156798"/>
            <a:ext cx="5299150" cy="3758400"/>
          </a:xfrm>
          <a:prstGeom prst="rect">
            <a:avLst/>
          </a:prstGeom>
          <a:noFill/>
          <a:ln>
            <a:noFill/>
          </a:ln>
        </p:spPr>
      </p:pic>
      <p:sp>
        <p:nvSpPr>
          <p:cNvPr id="658" name="Google Shape;658;p75"/>
          <p:cNvSpPr txBox="1"/>
          <p:nvPr/>
        </p:nvSpPr>
        <p:spPr>
          <a:xfrm>
            <a:off x="497350" y="1143000"/>
            <a:ext cx="3277800" cy="877200"/>
          </a:xfrm>
          <a:prstGeom prst="rect">
            <a:avLst/>
          </a:prstGeom>
          <a:noFill/>
          <a:ln>
            <a:noFill/>
          </a:ln>
        </p:spPr>
        <p:txBody>
          <a:bodyPr spcFirstLastPara="1" wrap="square" lIns="91425" tIns="91425" rIns="91425" bIns="91425" anchor="t" anchorCtr="0">
            <a:spAutoFit/>
          </a:bodyPr>
          <a:lstStyle/>
          <a:p>
            <a:pPr marL="0" lvl="0" indent="0" algn="l" rtl="0">
              <a:lnSpc>
                <a:spcPct val="150000"/>
              </a:lnSpc>
              <a:spcBef>
                <a:spcPts val="0"/>
              </a:spcBef>
              <a:spcAft>
                <a:spcPts val="1000"/>
              </a:spcAft>
              <a:buNone/>
            </a:pPr>
            <a:r>
              <a:rPr lang="en-GB" sz="1800">
                <a:solidFill>
                  <a:schemeClr val="dk2"/>
                </a:solidFill>
              </a:rPr>
              <a:t>Idea: use different coefficients for rare/frequent n-grams</a:t>
            </a:r>
            <a:endParaRPr sz="1800">
              <a:solidFill>
                <a:schemeClr val="dk2"/>
              </a:solidFill>
            </a:endParaRPr>
          </a:p>
        </p:txBody>
      </p:sp>
      <p:sp>
        <p:nvSpPr>
          <p:cNvPr id="659" name="Google Shape;659;p75"/>
          <p:cNvSpPr/>
          <p:nvPr/>
        </p:nvSpPr>
        <p:spPr>
          <a:xfrm>
            <a:off x="3466800" y="2412950"/>
            <a:ext cx="5577300" cy="2627400"/>
          </a:xfrm>
          <a:prstGeom prst="rect">
            <a:avLst/>
          </a:pr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Tree>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Shape 663"/>
        <p:cNvGrpSpPr/>
        <p:nvPr/>
      </p:nvGrpSpPr>
      <p:grpSpPr>
        <a:xfrm>
          <a:off x="0" y="0"/>
          <a:ext cx="0" cy="0"/>
          <a:chOff x="0" y="0"/>
          <a:chExt cx="0" cy="0"/>
        </a:xfrm>
      </p:grpSpPr>
      <p:sp>
        <p:nvSpPr>
          <p:cNvPr id="664" name="Google Shape;664;p76"/>
          <p:cNvSpPr txBox="1">
            <a:spLocks noGrp="1"/>
          </p:cNvSpPr>
          <p:nvPr>
            <p:ph type="title"/>
          </p:nvPr>
        </p:nvSpPr>
        <p:spPr>
          <a:xfrm>
            <a:off x="471488" y="205383"/>
            <a:ext cx="5915100" cy="7458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chemeClr val="dk1"/>
              </a:buClr>
              <a:buSzPts val="3300"/>
              <a:buFont typeface="Century Gothic"/>
              <a:buNone/>
            </a:pPr>
            <a:r>
              <a:rPr lang="en-GB"/>
              <a:t>Better linear interpolation</a:t>
            </a:r>
            <a:endParaRPr/>
          </a:p>
        </p:txBody>
      </p:sp>
      <p:pic>
        <p:nvPicPr>
          <p:cNvPr id="665" name="Google Shape;665;p76"/>
          <p:cNvPicPr preferRelativeResize="0"/>
          <p:nvPr/>
        </p:nvPicPr>
        <p:blipFill>
          <a:blip r:embed="rId3">
            <a:alphaModFix/>
          </a:blip>
          <a:stretch>
            <a:fillRect/>
          </a:stretch>
        </p:blipFill>
        <p:spPr>
          <a:xfrm>
            <a:off x="3670150" y="1156798"/>
            <a:ext cx="5299150" cy="3758400"/>
          </a:xfrm>
          <a:prstGeom prst="rect">
            <a:avLst/>
          </a:prstGeom>
          <a:noFill/>
          <a:ln>
            <a:noFill/>
          </a:ln>
        </p:spPr>
      </p:pic>
      <p:sp>
        <p:nvSpPr>
          <p:cNvPr id="666" name="Google Shape;666;p76"/>
          <p:cNvSpPr txBox="1"/>
          <p:nvPr/>
        </p:nvSpPr>
        <p:spPr>
          <a:xfrm>
            <a:off x="497350" y="1143000"/>
            <a:ext cx="3277800" cy="877200"/>
          </a:xfrm>
          <a:prstGeom prst="rect">
            <a:avLst/>
          </a:prstGeom>
          <a:noFill/>
          <a:ln>
            <a:noFill/>
          </a:ln>
        </p:spPr>
        <p:txBody>
          <a:bodyPr spcFirstLastPara="1" wrap="square" lIns="91425" tIns="91425" rIns="91425" bIns="91425" anchor="t" anchorCtr="0">
            <a:spAutoFit/>
          </a:bodyPr>
          <a:lstStyle/>
          <a:p>
            <a:pPr marL="0" lvl="0" indent="0" algn="l" rtl="0">
              <a:lnSpc>
                <a:spcPct val="150000"/>
              </a:lnSpc>
              <a:spcBef>
                <a:spcPts val="0"/>
              </a:spcBef>
              <a:spcAft>
                <a:spcPts val="1000"/>
              </a:spcAft>
              <a:buNone/>
            </a:pPr>
            <a:r>
              <a:rPr lang="en-GB" sz="1800">
                <a:solidFill>
                  <a:schemeClr val="dk2"/>
                </a:solidFill>
              </a:rPr>
              <a:t>Idea: use different coefficients for rare/frequent n-grams</a:t>
            </a:r>
            <a:endParaRPr sz="1800">
              <a:solidFill>
                <a:schemeClr val="dk2"/>
              </a:solidFill>
            </a:endParaRPr>
          </a:p>
        </p:txBody>
      </p:sp>
    </p:spTree>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Shape 670"/>
        <p:cNvGrpSpPr/>
        <p:nvPr/>
      </p:nvGrpSpPr>
      <p:grpSpPr>
        <a:xfrm>
          <a:off x="0" y="0"/>
          <a:ext cx="0" cy="0"/>
          <a:chOff x="0" y="0"/>
          <a:chExt cx="0" cy="0"/>
        </a:xfrm>
      </p:grpSpPr>
      <p:sp>
        <p:nvSpPr>
          <p:cNvPr id="671" name="Google Shape;671;p77"/>
          <p:cNvSpPr txBox="1">
            <a:spLocks noGrp="1"/>
          </p:cNvSpPr>
          <p:nvPr>
            <p:ph type="title"/>
          </p:nvPr>
        </p:nvSpPr>
        <p:spPr>
          <a:xfrm>
            <a:off x="471488" y="205383"/>
            <a:ext cx="5915100" cy="7458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chemeClr val="dk1"/>
              </a:buClr>
              <a:buSzPts val="3300"/>
              <a:buFont typeface="Century Gothic"/>
              <a:buNone/>
            </a:pPr>
            <a:r>
              <a:rPr lang="en-GB"/>
              <a:t>Better linear interpolation</a:t>
            </a:r>
            <a:endParaRPr/>
          </a:p>
        </p:txBody>
      </p:sp>
      <p:pic>
        <p:nvPicPr>
          <p:cNvPr id="672" name="Google Shape;672;p77"/>
          <p:cNvPicPr preferRelativeResize="0"/>
          <p:nvPr/>
        </p:nvPicPr>
        <p:blipFill>
          <a:blip r:embed="rId3">
            <a:alphaModFix/>
          </a:blip>
          <a:stretch>
            <a:fillRect/>
          </a:stretch>
        </p:blipFill>
        <p:spPr>
          <a:xfrm>
            <a:off x="3670150" y="1156798"/>
            <a:ext cx="5299150" cy="3758400"/>
          </a:xfrm>
          <a:prstGeom prst="rect">
            <a:avLst/>
          </a:prstGeom>
          <a:noFill/>
          <a:ln>
            <a:noFill/>
          </a:ln>
        </p:spPr>
      </p:pic>
      <p:sp>
        <p:nvSpPr>
          <p:cNvPr id="673" name="Google Shape;673;p77"/>
          <p:cNvSpPr txBox="1"/>
          <p:nvPr/>
        </p:nvSpPr>
        <p:spPr>
          <a:xfrm>
            <a:off x="497350" y="1143000"/>
            <a:ext cx="3277800" cy="877200"/>
          </a:xfrm>
          <a:prstGeom prst="rect">
            <a:avLst/>
          </a:prstGeom>
          <a:noFill/>
          <a:ln>
            <a:noFill/>
          </a:ln>
        </p:spPr>
        <p:txBody>
          <a:bodyPr spcFirstLastPara="1" wrap="square" lIns="91425" tIns="91425" rIns="91425" bIns="91425" anchor="t" anchorCtr="0">
            <a:spAutoFit/>
          </a:bodyPr>
          <a:lstStyle/>
          <a:p>
            <a:pPr marL="0" lvl="0" indent="0" algn="l" rtl="0">
              <a:lnSpc>
                <a:spcPct val="150000"/>
              </a:lnSpc>
              <a:spcBef>
                <a:spcPts val="0"/>
              </a:spcBef>
              <a:spcAft>
                <a:spcPts val="1000"/>
              </a:spcAft>
              <a:buNone/>
            </a:pPr>
            <a:r>
              <a:rPr lang="en-GB" sz="1800">
                <a:solidFill>
                  <a:schemeClr val="dk2"/>
                </a:solidFill>
              </a:rPr>
              <a:t>Idea: use different coefficients for rare/frequent n-grams</a:t>
            </a:r>
            <a:endParaRPr sz="1800">
              <a:solidFill>
                <a:schemeClr val="dk2"/>
              </a:solidFill>
            </a:endParaRPr>
          </a:p>
        </p:txBody>
      </p:sp>
      <p:pic>
        <p:nvPicPr>
          <p:cNvPr id="674" name="Google Shape;674;p77"/>
          <p:cNvPicPr preferRelativeResize="0"/>
          <p:nvPr/>
        </p:nvPicPr>
        <p:blipFill>
          <a:blip r:embed="rId4">
            <a:alphaModFix/>
          </a:blip>
          <a:stretch>
            <a:fillRect/>
          </a:stretch>
        </p:blipFill>
        <p:spPr>
          <a:xfrm>
            <a:off x="381000" y="3270782"/>
            <a:ext cx="3775151" cy="1872718"/>
          </a:xfrm>
          <a:prstGeom prst="rect">
            <a:avLst/>
          </a:prstGeom>
          <a:noFill/>
          <a:ln>
            <a:noFill/>
          </a:ln>
        </p:spPr>
      </p:pic>
      <p:sp>
        <p:nvSpPr>
          <p:cNvPr id="675" name="Google Shape;675;p77"/>
          <p:cNvSpPr/>
          <p:nvPr/>
        </p:nvSpPr>
        <p:spPr>
          <a:xfrm>
            <a:off x="1777300" y="3919150"/>
            <a:ext cx="666900" cy="12243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76" name="Google Shape;676;p77"/>
          <p:cNvSpPr/>
          <p:nvPr/>
        </p:nvSpPr>
        <p:spPr>
          <a:xfrm>
            <a:off x="2607368" y="3919150"/>
            <a:ext cx="666900" cy="12243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77" name="Google Shape;677;p77"/>
          <p:cNvSpPr/>
          <p:nvPr/>
        </p:nvSpPr>
        <p:spPr>
          <a:xfrm>
            <a:off x="3446954" y="3919150"/>
            <a:ext cx="666900" cy="12243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Tree>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Shape 670">
          <a:extLst>
            <a:ext uri="{FF2B5EF4-FFF2-40B4-BE49-F238E27FC236}">
              <a16:creationId xmlns:a16="http://schemas.microsoft.com/office/drawing/2014/main" id="{6613E2FD-C7F3-FF63-565B-AA40B5C972D3}"/>
            </a:ext>
          </a:extLst>
        </p:cNvPr>
        <p:cNvGrpSpPr/>
        <p:nvPr/>
      </p:nvGrpSpPr>
      <p:grpSpPr>
        <a:xfrm>
          <a:off x="0" y="0"/>
          <a:ext cx="0" cy="0"/>
          <a:chOff x="0" y="0"/>
          <a:chExt cx="0" cy="0"/>
        </a:xfrm>
      </p:grpSpPr>
      <p:sp>
        <p:nvSpPr>
          <p:cNvPr id="671" name="Google Shape;671;p77">
            <a:extLst>
              <a:ext uri="{FF2B5EF4-FFF2-40B4-BE49-F238E27FC236}">
                <a16:creationId xmlns:a16="http://schemas.microsoft.com/office/drawing/2014/main" id="{EF106F66-FECE-B99D-05C6-973FE15A69FE}"/>
              </a:ext>
            </a:extLst>
          </p:cNvPr>
          <p:cNvSpPr txBox="1">
            <a:spLocks noGrp="1"/>
          </p:cNvSpPr>
          <p:nvPr>
            <p:ph type="title"/>
          </p:nvPr>
        </p:nvSpPr>
        <p:spPr>
          <a:xfrm>
            <a:off x="471488" y="205383"/>
            <a:ext cx="5915100" cy="7458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chemeClr val="dk1"/>
              </a:buClr>
              <a:buSzPts val="3300"/>
              <a:buFont typeface="Century Gothic"/>
              <a:buNone/>
            </a:pPr>
            <a:r>
              <a:rPr lang="en-GB"/>
              <a:t>Better linear interpolation</a:t>
            </a:r>
            <a:endParaRPr/>
          </a:p>
        </p:txBody>
      </p:sp>
      <p:pic>
        <p:nvPicPr>
          <p:cNvPr id="672" name="Google Shape;672;p77">
            <a:extLst>
              <a:ext uri="{FF2B5EF4-FFF2-40B4-BE49-F238E27FC236}">
                <a16:creationId xmlns:a16="http://schemas.microsoft.com/office/drawing/2014/main" id="{6EFC3EB6-726E-AF99-75A2-B5E8FA5A9F79}"/>
              </a:ext>
            </a:extLst>
          </p:cNvPr>
          <p:cNvPicPr preferRelativeResize="0"/>
          <p:nvPr/>
        </p:nvPicPr>
        <p:blipFill>
          <a:blip r:embed="rId3">
            <a:alphaModFix/>
          </a:blip>
          <a:stretch>
            <a:fillRect/>
          </a:stretch>
        </p:blipFill>
        <p:spPr>
          <a:xfrm>
            <a:off x="3670150" y="1156798"/>
            <a:ext cx="5299150" cy="3758400"/>
          </a:xfrm>
          <a:prstGeom prst="rect">
            <a:avLst/>
          </a:prstGeom>
          <a:noFill/>
          <a:ln>
            <a:noFill/>
          </a:ln>
        </p:spPr>
      </p:pic>
      <p:sp>
        <p:nvSpPr>
          <p:cNvPr id="673" name="Google Shape;673;p77">
            <a:extLst>
              <a:ext uri="{FF2B5EF4-FFF2-40B4-BE49-F238E27FC236}">
                <a16:creationId xmlns:a16="http://schemas.microsoft.com/office/drawing/2014/main" id="{1D5AA3A5-A915-ABF4-BD72-A03E46D1322C}"/>
              </a:ext>
            </a:extLst>
          </p:cNvPr>
          <p:cNvSpPr txBox="1"/>
          <p:nvPr/>
        </p:nvSpPr>
        <p:spPr>
          <a:xfrm>
            <a:off x="497350" y="1143000"/>
            <a:ext cx="3277800" cy="877200"/>
          </a:xfrm>
          <a:prstGeom prst="rect">
            <a:avLst/>
          </a:prstGeom>
          <a:noFill/>
          <a:ln>
            <a:noFill/>
          </a:ln>
        </p:spPr>
        <p:txBody>
          <a:bodyPr spcFirstLastPara="1" wrap="square" lIns="91425" tIns="91425" rIns="91425" bIns="91425" anchor="t" anchorCtr="0">
            <a:spAutoFit/>
          </a:bodyPr>
          <a:lstStyle/>
          <a:p>
            <a:pPr marL="0" lvl="0" indent="0" algn="l" rtl="0">
              <a:lnSpc>
                <a:spcPct val="150000"/>
              </a:lnSpc>
              <a:spcBef>
                <a:spcPts val="0"/>
              </a:spcBef>
              <a:spcAft>
                <a:spcPts val="1000"/>
              </a:spcAft>
              <a:buNone/>
            </a:pPr>
            <a:r>
              <a:rPr lang="en-GB" sz="1800">
                <a:solidFill>
                  <a:schemeClr val="dk2"/>
                </a:solidFill>
              </a:rPr>
              <a:t>Idea: use different coefficients for rare/frequent n-grams</a:t>
            </a:r>
            <a:endParaRPr sz="1800">
              <a:solidFill>
                <a:schemeClr val="dk2"/>
              </a:solidFill>
            </a:endParaRPr>
          </a:p>
        </p:txBody>
      </p:sp>
      <p:pic>
        <p:nvPicPr>
          <p:cNvPr id="674" name="Google Shape;674;p77">
            <a:extLst>
              <a:ext uri="{FF2B5EF4-FFF2-40B4-BE49-F238E27FC236}">
                <a16:creationId xmlns:a16="http://schemas.microsoft.com/office/drawing/2014/main" id="{CB38B79E-C986-488F-455E-C9132389CEEB}"/>
              </a:ext>
            </a:extLst>
          </p:cNvPr>
          <p:cNvPicPr preferRelativeResize="0"/>
          <p:nvPr/>
        </p:nvPicPr>
        <p:blipFill>
          <a:blip r:embed="rId4">
            <a:alphaModFix/>
          </a:blip>
          <a:stretch>
            <a:fillRect/>
          </a:stretch>
        </p:blipFill>
        <p:spPr>
          <a:xfrm>
            <a:off x="381000" y="3270782"/>
            <a:ext cx="3775151" cy="1872718"/>
          </a:xfrm>
          <a:prstGeom prst="rect">
            <a:avLst/>
          </a:prstGeom>
          <a:noFill/>
          <a:ln>
            <a:noFill/>
          </a:ln>
        </p:spPr>
      </p:pic>
      <p:sp>
        <p:nvSpPr>
          <p:cNvPr id="2" name="Rectangle 1">
            <a:extLst>
              <a:ext uri="{FF2B5EF4-FFF2-40B4-BE49-F238E27FC236}">
                <a16:creationId xmlns:a16="http://schemas.microsoft.com/office/drawing/2014/main" id="{4F9E5214-B2A0-DECF-4BED-43BB0B533578}"/>
              </a:ext>
            </a:extLst>
          </p:cNvPr>
          <p:cNvSpPr/>
          <p:nvPr/>
        </p:nvSpPr>
        <p:spPr>
          <a:xfrm>
            <a:off x="1859622" y="3945276"/>
            <a:ext cx="195209" cy="277403"/>
          </a:xfrm>
          <a:prstGeom prst="rect">
            <a:avLst/>
          </a:prstGeom>
          <a:solidFill>
            <a:srgbClr val="CFD6E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05025145-68EC-876A-D41E-5DAD09FE8EE4}"/>
              </a:ext>
            </a:extLst>
          </p:cNvPr>
          <p:cNvSpPr/>
          <p:nvPr/>
        </p:nvSpPr>
        <p:spPr>
          <a:xfrm>
            <a:off x="2186680" y="3943565"/>
            <a:ext cx="195209" cy="277403"/>
          </a:xfrm>
          <a:prstGeom prst="rect">
            <a:avLst/>
          </a:prstGeom>
          <a:solidFill>
            <a:srgbClr val="CFD6E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Google Shape;676;p77">
            <a:extLst>
              <a:ext uri="{FF2B5EF4-FFF2-40B4-BE49-F238E27FC236}">
                <a16:creationId xmlns:a16="http://schemas.microsoft.com/office/drawing/2014/main" id="{1A6B1A75-D5F4-D7D6-3421-D698691DF914}"/>
              </a:ext>
            </a:extLst>
          </p:cNvPr>
          <p:cNvSpPr/>
          <p:nvPr/>
        </p:nvSpPr>
        <p:spPr>
          <a:xfrm>
            <a:off x="2607368" y="3919150"/>
            <a:ext cx="666900" cy="12243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 name="Google Shape;677;p77">
            <a:extLst>
              <a:ext uri="{FF2B5EF4-FFF2-40B4-BE49-F238E27FC236}">
                <a16:creationId xmlns:a16="http://schemas.microsoft.com/office/drawing/2014/main" id="{A6A60557-097D-B736-EBD4-937AA32149C7}"/>
              </a:ext>
            </a:extLst>
          </p:cNvPr>
          <p:cNvSpPr/>
          <p:nvPr/>
        </p:nvSpPr>
        <p:spPr>
          <a:xfrm>
            <a:off x="3446954" y="3919150"/>
            <a:ext cx="666900" cy="12243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Tree>
    <p:extLst>
      <p:ext uri="{BB962C8B-B14F-4D97-AF65-F5344CB8AC3E}">
        <p14:creationId xmlns:p14="http://schemas.microsoft.com/office/powerpoint/2010/main" val="539908355"/>
      </p:ext>
    </p:extLst>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Shape 670">
          <a:extLst>
            <a:ext uri="{FF2B5EF4-FFF2-40B4-BE49-F238E27FC236}">
              <a16:creationId xmlns:a16="http://schemas.microsoft.com/office/drawing/2014/main" id="{791D91D1-ACD9-A987-326E-295425E48E57}"/>
            </a:ext>
          </a:extLst>
        </p:cNvPr>
        <p:cNvGrpSpPr/>
        <p:nvPr/>
      </p:nvGrpSpPr>
      <p:grpSpPr>
        <a:xfrm>
          <a:off x="0" y="0"/>
          <a:ext cx="0" cy="0"/>
          <a:chOff x="0" y="0"/>
          <a:chExt cx="0" cy="0"/>
        </a:xfrm>
      </p:grpSpPr>
      <p:sp>
        <p:nvSpPr>
          <p:cNvPr id="671" name="Google Shape;671;p77">
            <a:extLst>
              <a:ext uri="{FF2B5EF4-FFF2-40B4-BE49-F238E27FC236}">
                <a16:creationId xmlns:a16="http://schemas.microsoft.com/office/drawing/2014/main" id="{CDE325C2-F72D-7ACC-A923-8D5792C2197B}"/>
              </a:ext>
            </a:extLst>
          </p:cNvPr>
          <p:cNvSpPr txBox="1">
            <a:spLocks noGrp="1"/>
          </p:cNvSpPr>
          <p:nvPr>
            <p:ph type="title"/>
          </p:nvPr>
        </p:nvSpPr>
        <p:spPr>
          <a:xfrm>
            <a:off x="471488" y="205383"/>
            <a:ext cx="5915100" cy="7458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chemeClr val="dk1"/>
              </a:buClr>
              <a:buSzPts val="3300"/>
              <a:buFont typeface="Century Gothic"/>
              <a:buNone/>
            </a:pPr>
            <a:r>
              <a:rPr lang="en-GB"/>
              <a:t>Better linear interpolation</a:t>
            </a:r>
            <a:endParaRPr/>
          </a:p>
        </p:txBody>
      </p:sp>
      <p:pic>
        <p:nvPicPr>
          <p:cNvPr id="672" name="Google Shape;672;p77">
            <a:extLst>
              <a:ext uri="{FF2B5EF4-FFF2-40B4-BE49-F238E27FC236}">
                <a16:creationId xmlns:a16="http://schemas.microsoft.com/office/drawing/2014/main" id="{AC623C56-BF6D-4ADC-4E2F-F89D31555CD3}"/>
              </a:ext>
            </a:extLst>
          </p:cNvPr>
          <p:cNvPicPr preferRelativeResize="0"/>
          <p:nvPr/>
        </p:nvPicPr>
        <p:blipFill>
          <a:blip r:embed="rId3">
            <a:alphaModFix/>
          </a:blip>
          <a:stretch>
            <a:fillRect/>
          </a:stretch>
        </p:blipFill>
        <p:spPr>
          <a:xfrm>
            <a:off x="3670150" y="1156798"/>
            <a:ext cx="5299150" cy="3758400"/>
          </a:xfrm>
          <a:prstGeom prst="rect">
            <a:avLst/>
          </a:prstGeom>
          <a:noFill/>
          <a:ln>
            <a:noFill/>
          </a:ln>
        </p:spPr>
      </p:pic>
      <p:sp>
        <p:nvSpPr>
          <p:cNvPr id="673" name="Google Shape;673;p77">
            <a:extLst>
              <a:ext uri="{FF2B5EF4-FFF2-40B4-BE49-F238E27FC236}">
                <a16:creationId xmlns:a16="http://schemas.microsoft.com/office/drawing/2014/main" id="{5EA672FE-8CC5-0A32-BC0E-806EE552FBBC}"/>
              </a:ext>
            </a:extLst>
          </p:cNvPr>
          <p:cNvSpPr txBox="1"/>
          <p:nvPr/>
        </p:nvSpPr>
        <p:spPr>
          <a:xfrm>
            <a:off x="497350" y="1143000"/>
            <a:ext cx="3277800" cy="877200"/>
          </a:xfrm>
          <a:prstGeom prst="rect">
            <a:avLst/>
          </a:prstGeom>
          <a:noFill/>
          <a:ln>
            <a:noFill/>
          </a:ln>
        </p:spPr>
        <p:txBody>
          <a:bodyPr spcFirstLastPara="1" wrap="square" lIns="91425" tIns="91425" rIns="91425" bIns="91425" anchor="t" anchorCtr="0">
            <a:spAutoFit/>
          </a:bodyPr>
          <a:lstStyle/>
          <a:p>
            <a:pPr marL="0" lvl="0" indent="0" algn="l" rtl="0">
              <a:lnSpc>
                <a:spcPct val="150000"/>
              </a:lnSpc>
              <a:spcBef>
                <a:spcPts val="0"/>
              </a:spcBef>
              <a:spcAft>
                <a:spcPts val="1000"/>
              </a:spcAft>
              <a:buNone/>
            </a:pPr>
            <a:r>
              <a:rPr lang="en-GB" sz="1800">
                <a:solidFill>
                  <a:schemeClr val="dk2"/>
                </a:solidFill>
              </a:rPr>
              <a:t>Idea: use different coefficients for rare/frequent n-grams</a:t>
            </a:r>
            <a:endParaRPr sz="1800">
              <a:solidFill>
                <a:schemeClr val="dk2"/>
              </a:solidFill>
            </a:endParaRPr>
          </a:p>
        </p:txBody>
      </p:sp>
      <p:pic>
        <p:nvPicPr>
          <p:cNvPr id="674" name="Google Shape;674;p77">
            <a:extLst>
              <a:ext uri="{FF2B5EF4-FFF2-40B4-BE49-F238E27FC236}">
                <a16:creationId xmlns:a16="http://schemas.microsoft.com/office/drawing/2014/main" id="{62B35C8A-FA04-86EB-95FD-3C8B72B73476}"/>
              </a:ext>
            </a:extLst>
          </p:cNvPr>
          <p:cNvPicPr preferRelativeResize="0"/>
          <p:nvPr/>
        </p:nvPicPr>
        <p:blipFill>
          <a:blip r:embed="rId4">
            <a:alphaModFix/>
          </a:blip>
          <a:stretch>
            <a:fillRect/>
          </a:stretch>
        </p:blipFill>
        <p:spPr>
          <a:xfrm>
            <a:off x="381000" y="3270782"/>
            <a:ext cx="3775151" cy="1872718"/>
          </a:xfrm>
          <a:prstGeom prst="rect">
            <a:avLst/>
          </a:prstGeom>
          <a:noFill/>
          <a:ln>
            <a:noFill/>
          </a:ln>
        </p:spPr>
      </p:pic>
      <p:sp>
        <p:nvSpPr>
          <p:cNvPr id="2" name="Rectangle 1">
            <a:extLst>
              <a:ext uri="{FF2B5EF4-FFF2-40B4-BE49-F238E27FC236}">
                <a16:creationId xmlns:a16="http://schemas.microsoft.com/office/drawing/2014/main" id="{6330CFBD-00A6-FE67-EB6C-444C2F7A4A65}"/>
              </a:ext>
            </a:extLst>
          </p:cNvPr>
          <p:cNvSpPr/>
          <p:nvPr/>
        </p:nvSpPr>
        <p:spPr>
          <a:xfrm>
            <a:off x="1859622" y="3945276"/>
            <a:ext cx="195209" cy="277403"/>
          </a:xfrm>
          <a:prstGeom prst="rect">
            <a:avLst/>
          </a:prstGeom>
          <a:solidFill>
            <a:srgbClr val="CFD6E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8ED0015A-14E7-5A6D-3298-32E2A9352F27}"/>
              </a:ext>
            </a:extLst>
          </p:cNvPr>
          <p:cNvSpPr/>
          <p:nvPr/>
        </p:nvSpPr>
        <p:spPr>
          <a:xfrm>
            <a:off x="2186680" y="3943565"/>
            <a:ext cx="195209" cy="277403"/>
          </a:xfrm>
          <a:prstGeom prst="rect">
            <a:avLst/>
          </a:prstGeom>
          <a:solidFill>
            <a:srgbClr val="CFD6E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Google Shape;676;p77">
            <a:extLst>
              <a:ext uri="{FF2B5EF4-FFF2-40B4-BE49-F238E27FC236}">
                <a16:creationId xmlns:a16="http://schemas.microsoft.com/office/drawing/2014/main" id="{79532861-D7F7-8024-308F-B6CB4538CADD}"/>
              </a:ext>
            </a:extLst>
          </p:cNvPr>
          <p:cNvSpPr/>
          <p:nvPr/>
        </p:nvSpPr>
        <p:spPr>
          <a:xfrm>
            <a:off x="2607368" y="3919150"/>
            <a:ext cx="666900" cy="12243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Tree>
    <p:extLst>
      <p:ext uri="{BB962C8B-B14F-4D97-AF65-F5344CB8AC3E}">
        <p14:creationId xmlns:p14="http://schemas.microsoft.com/office/powerpoint/2010/main" val="1050931711"/>
      </p:ext>
    </p:extLst>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Shape 670">
          <a:extLst>
            <a:ext uri="{FF2B5EF4-FFF2-40B4-BE49-F238E27FC236}">
              <a16:creationId xmlns:a16="http://schemas.microsoft.com/office/drawing/2014/main" id="{2C7203C3-88A1-A99F-0512-5C5118E6BD32}"/>
            </a:ext>
          </a:extLst>
        </p:cNvPr>
        <p:cNvGrpSpPr/>
        <p:nvPr/>
      </p:nvGrpSpPr>
      <p:grpSpPr>
        <a:xfrm>
          <a:off x="0" y="0"/>
          <a:ext cx="0" cy="0"/>
          <a:chOff x="0" y="0"/>
          <a:chExt cx="0" cy="0"/>
        </a:xfrm>
      </p:grpSpPr>
      <p:sp>
        <p:nvSpPr>
          <p:cNvPr id="671" name="Google Shape;671;p77">
            <a:extLst>
              <a:ext uri="{FF2B5EF4-FFF2-40B4-BE49-F238E27FC236}">
                <a16:creationId xmlns:a16="http://schemas.microsoft.com/office/drawing/2014/main" id="{BDAD5D84-C7C2-12A7-BA7F-7C64D1D80A61}"/>
              </a:ext>
            </a:extLst>
          </p:cNvPr>
          <p:cNvSpPr txBox="1">
            <a:spLocks noGrp="1"/>
          </p:cNvSpPr>
          <p:nvPr>
            <p:ph type="title"/>
          </p:nvPr>
        </p:nvSpPr>
        <p:spPr>
          <a:xfrm>
            <a:off x="471488" y="205383"/>
            <a:ext cx="5915100" cy="7458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chemeClr val="dk1"/>
              </a:buClr>
              <a:buSzPts val="3300"/>
              <a:buFont typeface="Century Gothic"/>
              <a:buNone/>
            </a:pPr>
            <a:r>
              <a:rPr lang="en-GB"/>
              <a:t>Better linear interpolation</a:t>
            </a:r>
            <a:endParaRPr/>
          </a:p>
        </p:txBody>
      </p:sp>
      <p:pic>
        <p:nvPicPr>
          <p:cNvPr id="672" name="Google Shape;672;p77">
            <a:extLst>
              <a:ext uri="{FF2B5EF4-FFF2-40B4-BE49-F238E27FC236}">
                <a16:creationId xmlns:a16="http://schemas.microsoft.com/office/drawing/2014/main" id="{A29C4E22-0F55-124A-DAA9-6E9F755B29A2}"/>
              </a:ext>
            </a:extLst>
          </p:cNvPr>
          <p:cNvPicPr preferRelativeResize="0"/>
          <p:nvPr/>
        </p:nvPicPr>
        <p:blipFill>
          <a:blip r:embed="rId3">
            <a:alphaModFix/>
          </a:blip>
          <a:stretch>
            <a:fillRect/>
          </a:stretch>
        </p:blipFill>
        <p:spPr>
          <a:xfrm>
            <a:off x="3670150" y="1156798"/>
            <a:ext cx="5299150" cy="3758400"/>
          </a:xfrm>
          <a:prstGeom prst="rect">
            <a:avLst/>
          </a:prstGeom>
          <a:noFill/>
          <a:ln>
            <a:noFill/>
          </a:ln>
        </p:spPr>
      </p:pic>
      <p:sp>
        <p:nvSpPr>
          <p:cNvPr id="673" name="Google Shape;673;p77">
            <a:extLst>
              <a:ext uri="{FF2B5EF4-FFF2-40B4-BE49-F238E27FC236}">
                <a16:creationId xmlns:a16="http://schemas.microsoft.com/office/drawing/2014/main" id="{71BB1726-380C-FDC4-5BAB-2B721DA54BE1}"/>
              </a:ext>
            </a:extLst>
          </p:cNvPr>
          <p:cNvSpPr txBox="1"/>
          <p:nvPr/>
        </p:nvSpPr>
        <p:spPr>
          <a:xfrm>
            <a:off x="497350" y="1143000"/>
            <a:ext cx="3277800" cy="877200"/>
          </a:xfrm>
          <a:prstGeom prst="rect">
            <a:avLst/>
          </a:prstGeom>
          <a:noFill/>
          <a:ln>
            <a:noFill/>
          </a:ln>
        </p:spPr>
        <p:txBody>
          <a:bodyPr spcFirstLastPara="1" wrap="square" lIns="91425" tIns="91425" rIns="91425" bIns="91425" anchor="t" anchorCtr="0">
            <a:spAutoFit/>
          </a:bodyPr>
          <a:lstStyle/>
          <a:p>
            <a:pPr marL="0" lvl="0" indent="0" algn="l" rtl="0">
              <a:lnSpc>
                <a:spcPct val="150000"/>
              </a:lnSpc>
              <a:spcBef>
                <a:spcPts val="0"/>
              </a:spcBef>
              <a:spcAft>
                <a:spcPts val="1000"/>
              </a:spcAft>
              <a:buNone/>
            </a:pPr>
            <a:r>
              <a:rPr lang="en-GB" sz="1800">
                <a:solidFill>
                  <a:schemeClr val="dk2"/>
                </a:solidFill>
              </a:rPr>
              <a:t>Idea: use different coefficients for rare/frequent n-grams</a:t>
            </a:r>
            <a:endParaRPr sz="1800">
              <a:solidFill>
                <a:schemeClr val="dk2"/>
              </a:solidFill>
            </a:endParaRPr>
          </a:p>
        </p:txBody>
      </p:sp>
      <p:pic>
        <p:nvPicPr>
          <p:cNvPr id="674" name="Google Shape;674;p77">
            <a:extLst>
              <a:ext uri="{FF2B5EF4-FFF2-40B4-BE49-F238E27FC236}">
                <a16:creationId xmlns:a16="http://schemas.microsoft.com/office/drawing/2014/main" id="{1AED6F34-C6DF-373C-C6E9-8F8E1A6FE063}"/>
              </a:ext>
            </a:extLst>
          </p:cNvPr>
          <p:cNvPicPr preferRelativeResize="0"/>
          <p:nvPr/>
        </p:nvPicPr>
        <p:blipFill>
          <a:blip r:embed="rId4">
            <a:alphaModFix/>
          </a:blip>
          <a:stretch>
            <a:fillRect/>
          </a:stretch>
        </p:blipFill>
        <p:spPr>
          <a:xfrm>
            <a:off x="381000" y="3270782"/>
            <a:ext cx="3775151" cy="1872718"/>
          </a:xfrm>
          <a:prstGeom prst="rect">
            <a:avLst/>
          </a:prstGeom>
          <a:noFill/>
          <a:ln>
            <a:noFill/>
          </a:ln>
        </p:spPr>
      </p:pic>
      <p:sp>
        <p:nvSpPr>
          <p:cNvPr id="2" name="Rectangle 1">
            <a:extLst>
              <a:ext uri="{FF2B5EF4-FFF2-40B4-BE49-F238E27FC236}">
                <a16:creationId xmlns:a16="http://schemas.microsoft.com/office/drawing/2014/main" id="{A57321DC-62BE-BFA2-0F1E-1AFB2D7DAA43}"/>
              </a:ext>
            </a:extLst>
          </p:cNvPr>
          <p:cNvSpPr/>
          <p:nvPr/>
        </p:nvSpPr>
        <p:spPr>
          <a:xfrm>
            <a:off x="1859622" y="3945276"/>
            <a:ext cx="195209" cy="277403"/>
          </a:xfrm>
          <a:prstGeom prst="rect">
            <a:avLst/>
          </a:prstGeom>
          <a:solidFill>
            <a:srgbClr val="CFD6E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CD3EB24D-9E76-003E-54AA-B2F7748F08F1}"/>
              </a:ext>
            </a:extLst>
          </p:cNvPr>
          <p:cNvSpPr/>
          <p:nvPr/>
        </p:nvSpPr>
        <p:spPr>
          <a:xfrm>
            <a:off x="2186680" y="3943565"/>
            <a:ext cx="195209" cy="277403"/>
          </a:xfrm>
          <a:prstGeom prst="rect">
            <a:avLst/>
          </a:prstGeom>
          <a:solidFill>
            <a:srgbClr val="CFD6E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04632267"/>
      </p:ext>
    </p:extLst>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Shape 682"/>
        <p:cNvGrpSpPr/>
        <p:nvPr/>
      </p:nvGrpSpPr>
      <p:grpSpPr>
        <a:xfrm>
          <a:off x="0" y="0"/>
          <a:ext cx="0" cy="0"/>
          <a:chOff x="0" y="0"/>
          <a:chExt cx="0" cy="0"/>
        </a:xfrm>
      </p:grpSpPr>
      <p:sp>
        <p:nvSpPr>
          <p:cNvPr id="683" name="Google Shape;683;p78"/>
          <p:cNvSpPr txBox="1">
            <a:spLocks noGrp="1"/>
          </p:cNvSpPr>
          <p:nvPr>
            <p:ph type="title"/>
          </p:nvPr>
        </p:nvSpPr>
        <p:spPr>
          <a:xfrm>
            <a:off x="471488" y="205383"/>
            <a:ext cx="5915100" cy="7458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chemeClr val="dk1"/>
              </a:buClr>
              <a:buSzPts val="3300"/>
              <a:buFont typeface="Century Gothic"/>
              <a:buNone/>
            </a:pPr>
            <a:r>
              <a:rPr lang="en-GB"/>
              <a:t>Unknown words</a:t>
            </a:r>
            <a:endParaRPr/>
          </a:p>
        </p:txBody>
      </p:sp>
      <p:sp>
        <p:nvSpPr>
          <p:cNvPr id="685" name="Google Shape;685;p78"/>
          <p:cNvSpPr txBox="1"/>
          <p:nvPr/>
        </p:nvSpPr>
        <p:spPr>
          <a:xfrm>
            <a:off x="497350" y="1143000"/>
            <a:ext cx="8150400" cy="877200"/>
          </a:xfrm>
          <a:prstGeom prst="rect">
            <a:avLst/>
          </a:prstGeom>
          <a:noFill/>
          <a:ln>
            <a:noFill/>
          </a:ln>
        </p:spPr>
        <p:txBody>
          <a:bodyPr spcFirstLastPara="1" wrap="square" lIns="91425" tIns="91425" rIns="91425" bIns="91425" anchor="t" anchorCtr="0">
            <a:spAutoFit/>
          </a:bodyPr>
          <a:lstStyle/>
          <a:p>
            <a:pPr marL="457200" lvl="0" indent="-342900" algn="l" rtl="0">
              <a:lnSpc>
                <a:spcPct val="150000"/>
              </a:lnSpc>
              <a:spcBef>
                <a:spcPts val="0"/>
              </a:spcBef>
              <a:spcAft>
                <a:spcPts val="0"/>
              </a:spcAft>
              <a:buClr>
                <a:schemeClr val="dk2"/>
              </a:buClr>
              <a:buSzPts val="1800"/>
              <a:buChar char="●"/>
            </a:pPr>
            <a:r>
              <a:rPr lang="en-GB" sz="1800">
                <a:solidFill>
                  <a:schemeClr val="dk2"/>
                </a:solidFill>
              </a:rPr>
              <a:t>What about unknown words at test time?</a:t>
            </a:r>
            <a:br>
              <a:rPr lang="en-GB" sz="1800">
                <a:solidFill>
                  <a:schemeClr val="dk2"/>
                </a:solidFill>
              </a:rPr>
            </a:br>
            <a:endParaRPr sz="1800">
              <a:solidFill>
                <a:schemeClr val="dk2"/>
              </a:solidFill>
            </a:endParaRPr>
          </a:p>
        </p:txBody>
      </p:sp>
      <p:pic>
        <p:nvPicPr>
          <p:cNvPr id="686" name="Google Shape;686;p78"/>
          <p:cNvPicPr preferRelativeResize="0"/>
          <p:nvPr/>
        </p:nvPicPr>
        <p:blipFill>
          <a:blip r:embed="rId3">
            <a:alphaModFix/>
          </a:blip>
          <a:stretch>
            <a:fillRect/>
          </a:stretch>
        </p:blipFill>
        <p:spPr>
          <a:xfrm>
            <a:off x="2637538" y="1603700"/>
            <a:ext cx="3868926" cy="390525"/>
          </a:xfrm>
          <a:prstGeom prst="rect">
            <a:avLst/>
          </a:prstGeom>
          <a:noFill/>
          <a:ln>
            <a:noFill/>
          </a:ln>
        </p:spPr>
      </p:pic>
    </p:spTree>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Shape 691"/>
        <p:cNvGrpSpPr/>
        <p:nvPr/>
      </p:nvGrpSpPr>
      <p:grpSpPr>
        <a:xfrm>
          <a:off x="0" y="0"/>
          <a:ext cx="0" cy="0"/>
          <a:chOff x="0" y="0"/>
          <a:chExt cx="0" cy="0"/>
        </a:xfrm>
      </p:grpSpPr>
      <p:sp>
        <p:nvSpPr>
          <p:cNvPr id="692" name="Google Shape;692;p79"/>
          <p:cNvSpPr txBox="1">
            <a:spLocks noGrp="1"/>
          </p:cNvSpPr>
          <p:nvPr>
            <p:ph type="title"/>
          </p:nvPr>
        </p:nvSpPr>
        <p:spPr>
          <a:xfrm>
            <a:off x="471488" y="205383"/>
            <a:ext cx="5915100" cy="7458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chemeClr val="dk1"/>
              </a:buClr>
              <a:buSzPts val="3300"/>
              <a:buFont typeface="Century Gothic"/>
              <a:buNone/>
            </a:pPr>
            <a:r>
              <a:rPr lang="en-GB"/>
              <a:t>Unknown words</a:t>
            </a:r>
            <a:endParaRPr/>
          </a:p>
        </p:txBody>
      </p:sp>
      <p:sp>
        <p:nvSpPr>
          <p:cNvPr id="693" name="Google Shape;693;p79"/>
          <p:cNvSpPr txBox="1"/>
          <p:nvPr/>
        </p:nvSpPr>
        <p:spPr>
          <a:xfrm>
            <a:off x="497350" y="1143000"/>
            <a:ext cx="8150400" cy="461700"/>
          </a:xfrm>
          <a:prstGeom prst="rect">
            <a:avLst/>
          </a:prstGeom>
          <a:noFill/>
          <a:ln>
            <a:noFill/>
          </a:ln>
        </p:spPr>
        <p:txBody>
          <a:bodyPr spcFirstLastPara="1" wrap="square" lIns="91425" tIns="91425" rIns="91425" bIns="91425" anchor="t" anchorCtr="0">
            <a:spAutoFit/>
          </a:bodyPr>
          <a:lstStyle/>
          <a:p>
            <a:pPr marL="457200" lvl="0" indent="-342900" algn="l" rtl="0">
              <a:lnSpc>
                <a:spcPct val="150000"/>
              </a:lnSpc>
              <a:spcBef>
                <a:spcPts val="0"/>
              </a:spcBef>
              <a:spcAft>
                <a:spcPts val="0"/>
              </a:spcAft>
              <a:buClr>
                <a:schemeClr val="dk2"/>
              </a:buClr>
              <a:buSzPts val="1800"/>
              <a:buChar char="●"/>
            </a:pPr>
            <a:r>
              <a:rPr lang="en-GB" sz="1800">
                <a:solidFill>
                  <a:schemeClr val="dk2"/>
                </a:solidFill>
              </a:rPr>
              <a:t>What about unknown words at test time?</a:t>
            </a:r>
            <a:endParaRPr sz="1800">
              <a:solidFill>
                <a:schemeClr val="dk2"/>
              </a:solidFill>
            </a:endParaRPr>
          </a:p>
        </p:txBody>
      </p:sp>
      <p:pic>
        <p:nvPicPr>
          <p:cNvPr id="694" name="Google Shape;694;p79"/>
          <p:cNvPicPr preferRelativeResize="0"/>
          <p:nvPr/>
        </p:nvPicPr>
        <p:blipFill>
          <a:blip r:embed="rId3">
            <a:alphaModFix/>
          </a:blip>
          <a:stretch>
            <a:fillRect/>
          </a:stretch>
        </p:blipFill>
        <p:spPr>
          <a:xfrm>
            <a:off x="2637538" y="1603700"/>
            <a:ext cx="3868926" cy="390525"/>
          </a:xfrm>
          <a:prstGeom prst="rect">
            <a:avLst/>
          </a:prstGeom>
          <a:noFill/>
          <a:ln>
            <a:noFill/>
          </a:ln>
        </p:spPr>
      </p:pic>
      <p:sp>
        <p:nvSpPr>
          <p:cNvPr id="695" name="Google Shape;695;p79"/>
          <p:cNvSpPr txBox="1"/>
          <p:nvPr/>
        </p:nvSpPr>
        <p:spPr>
          <a:xfrm>
            <a:off x="497350" y="1967716"/>
            <a:ext cx="8150400" cy="2955300"/>
          </a:xfrm>
          <a:prstGeom prst="rect">
            <a:avLst/>
          </a:prstGeom>
          <a:noFill/>
          <a:ln>
            <a:noFill/>
          </a:ln>
        </p:spPr>
        <p:txBody>
          <a:bodyPr spcFirstLastPara="1" wrap="square" lIns="91425" tIns="91425" rIns="91425" bIns="91425" anchor="t" anchorCtr="0">
            <a:spAutoFit/>
          </a:bodyPr>
          <a:lstStyle/>
          <a:p>
            <a:pPr marL="457200" lvl="0" indent="-342900" algn="l" rtl="0">
              <a:lnSpc>
                <a:spcPct val="150000"/>
              </a:lnSpc>
              <a:spcBef>
                <a:spcPts val="0"/>
              </a:spcBef>
              <a:spcAft>
                <a:spcPts val="0"/>
              </a:spcAft>
              <a:buClr>
                <a:schemeClr val="dk2"/>
              </a:buClr>
              <a:buSzPts val="1800"/>
              <a:buChar char="●"/>
            </a:pPr>
            <a:r>
              <a:rPr lang="en-GB" sz="1800">
                <a:solidFill>
                  <a:schemeClr val="dk2"/>
                </a:solidFill>
              </a:rPr>
              <a:t>Solution: use a special token </a:t>
            </a:r>
            <a:r>
              <a:rPr lang="en-GB" sz="1800">
                <a:solidFill>
                  <a:srgbClr val="00B0F0"/>
                </a:solidFill>
              </a:rPr>
              <a:t>&lt;UNK&gt;</a:t>
            </a:r>
            <a:endParaRPr sz="1800">
              <a:solidFill>
                <a:srgbClr val="00B0F0"/>
              </a:solidFill>
            </a:endParaRPr>
          </a:p>
          <a:p>
            <a:pPr marL="914400" lvl="1" indent="-342900" algn="l" rtl="0">
              <a:lnSpc>
                <a:spcPct val="150000"/>
              </a:lnSpc>
              <a:spcBef>
                <a:spcPts val="0"/>
              </a:spcBef>
              <a:spcAft>
                <a:spcPts val="0"/>
              </a:spcAft>
              <a:buClr>
                <a:schemeClr val="dk2"/>
              </a:buClr>
              <a:buSzPts val="1800"/>
              <a:buChar char="○"/>
            </a:pPr>
            <a:r>
              <a:rPr lang="en-GB" sz="1800">
                <a:solidFill>
                  <a:schemeClr val="dk2"/>
                </a:solidFill>
              </a:rPr>
              <a:t>Fix the vocabulary only with words appearing more than </a:t>
            </a:r>
            <a:r>
              <a:rPr lang="en-GB" sz="1800" i="1">
                <a:solidFill>
                  <a:schemeClr val="dk2"/>
                </a:solidFill>
                <a:latin typeface="Times New Roman"/>
                <a:ea typeface="Times New Roman"/>
                <a:cs typeface="Times New Roman"/>
                <a:sym typeface="Times New Roman"/>
              </a:rPr>
              <a:t>k</a:t>
            </a:r>
            <a:r>
              <a:rPr lang="en-GB" sz="1800">
                <a:solidFill>
                  <a:schemeClr val="dk2"/>
                </a:solidFill>
              </a:rPr>
              <a:t> times </a:t>
            </a:r>
            <a:endParaRPr sz="1800">
              <a:solidFill>
                <a:schemeClr val="dk2"/>
              </a:solidFill>
            </a:endParaRPr>
          </a:p>
          <a:p>
            <a:pPr marL="914400" lvl="1" indent="-342900" algn="l" rtl="0">
              <a:lnSpc>
                <a:spcPct val="150000"/>
              </a:lnSpc>
              <a:spcBef>
                <a:spcPts val="0"/>
              </a:spcBef>
              <a:spcAft>
                <a:spcPts val="0"/>
              </a:spcAft>
              <a:buClr>
                <a:schemeClr val="dk2"/>
              </a:buClr>
              <a:buSzPts val="1800"/>
              <a:buChar char="○"/>
            </a:pPr>
            <a:r>
              <a:rPr lang="en-GB" sz="1800">
                <a:solidFill>
                  <a:schemeClr val="dk2"/>
                </a:solidFill>
              </a:rPr>
              <a:t>Replace the rest with &lt;UNK&gt; and train</a:t>
            </a:r>
            <a:endParaRPr sz="1800">
              <a:solidFill>
                <a:schemeClr val="dk2"/>
              </a:solidFill>
            </a:endParaRPr>
          </a:p>
          <a:p>
            <a:pPr marL="914400" lvl="1" indent="-342900" algn="l" rtl="0">
              <a:lnSpc>
                <a:spcPct val="150000"/>
              </a:lnSpc>
              <a:spcBef>
                <a:spcPts val="0"/>
              </a:spcBef>
              <a:spcAft>
                <a:spcPts val="0"/>
              </a:spcAft>
              <a:buClr>
                <a:schemeClr val="dk2"/>
              </a:buClr>
              <a:buSzPts val="1800"/>
              <a:buChar char="○"/>
            </a:pPr>
            <a:r>
              <a:rPr lang="en-GB" sz="1800">
                <a:solidFill>
                  <a:schemeClr val="dk2"/>
                </a:solidFill>
              </a:rPr>
              <a:t>At test time, replace with &lt;UNK&gt; any word that is not in V</a:t>
            </a:r>
            <a:endParaRPr sz="1800">
              <a:solidFill>
                <a:schemeClr val="dk2"/>
              </a:solidFill>
            </a:endParaRPr>
          </a:p>
          <a:p>
            <a:pPr marL="457200" lvl="0" indent="-342900" algn="l" rtl="0">
              <a:lnSpc>
                <a:spcPct val="150000"/>
              </a:lnSpc>
              <a:spcBef>
                <a:spcPts val="0"/>
              </a:spcBef>
              <a:spcAft>
                <a:spcPts val="0"/>
              </a:spcAft>
              <a:buClr>
                <a:schemeClr val="dk2"/>
              </a:buClr>
              <a:buSzPts val="1800"/>
              <a:buChar char="●"/>
            </a:pPr>
            <a:r>
              <a:rPr lang="en-GB" sz="1800">
                <a:solidFill>
                  <a:schemeClr val="dk2"/>
                </a:solidFill>
              </a:rPr>
              <a:t>Advanced solutions</a:t>
            </a:r>
            <a:endParaRPr sz="1800">
              <a:solidFill>
                <a:schemeClr val="dk2"/>
              </a:solidFill>
            </a:endParaRPr>
          </a:p>
          <a:p>
            <a:pPr marL="914400" lvl="1" indent="-342900" algn="l" rtl="0">
              <a:lnSpc>
                <a:spcPct val="150000"/>
              </a:lnSpc>
              <a:spcBef>
                <a:spcPts val="0"/>
              </a:spcBef>
              <a:spcAft>
                <a:spcPts val="0"/>
              </a:spcAft>
              <a:buClr>
                <a:schemeClr val="dk2"/>
              </a:buClr>
              <a:buSzPts val="1800"/>
              <a:buChar char="○"/>
            </a:pPr>
            <a:r>
              <a:rPr lang="en-GB" sz="1800">
                <a:solidFill>
                  <a:schemeClr val="dk2"/>
                </a:solidFill>
              </a:rPr>
              <a:t>Backoff methods (use progressively shorter histories)</a:t>
            </a:r>
            <a:endParaRPr sz="1800">
              <a:solidFill>
                <a:schemeClr val="dk2"/>
              </a:solidFill>
            </a:endParaRPr>
          </a:p>
          <a:p>
            <a:pPr marL="914400" lvl="1" indent="-342900" algn="l" rtl="0">
              <a:lnSpc>
                <a:spcPct val="150000"/>
              </a:lnSpc>
              <a:spcBef>
                <a:spcPts val="0"/>
              </a:spcBef>
              <a:spcAft>
                <a:spcPts val="0"/>
              </a:spcAft>
              <a:buClr>
                <a:schemeClr val="dk2"/>
              </a:buClr>
              <a:buSzPts val="1800"/>
              <a:buChar char="○"/>
            </a:pPr>
            <a:r>
              <a:rPr lang="en-GB" sz="1800">
                <a:solidFill>
                  <a:schemeClr val="dk2"/>
                </a:solidFill>
              </a:rPr>
              <a:t>Smoothing (“free-up” probability mass for unknown words)</a:t>
            </a:r>
            <a:endParaRPr sz="1800">
              <a:solidFill>
                <a:schemeClr val="dk2"/>
              </a:solidFill>
            </a:endParaRPr>
          </a:p>
        </p:txBody>
      </p:sp>
    </p:spTree>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C354EA-491F-6900-C5ED-02887DA5B7CE}"/>
              </a:ext>
            </a:extLst>
          </p:cNvPr>
          <p:cNvSpPr>
            <a:spLocks noGrp="1"/>
          </p:cNvSpPr>
          <p:nvPr>
            <p:ph type="title"/>
          </p:nvPr>
        </p:nvSpPr>
        <p:spPr/>
        <p:txBody>
          <a:bodyPr/>
          <a:lstStyle/>
          <a:p>
            <a:r>
              <a:rPr lang="en-US" dirty="0"/>
              <a:t>Language Modeling: Summary So Far</a:t>
            </a:r>
          </a:p>
        </p:txBody>
      </p:sp>
      <p:sp>
        <p:nvSpPr>
          <p:cNvPr id="3" name="Text Placeholder 2">
            <a:extLst>
              <a:ext uri="{FF2B5EF4-FFF2-40B4-BE49-F238E27FC236}">
                <a16:creationId xmlns:a16="http://schemas.microsoft.com/office/drawing/2014/main" id="{08AD3CB6-1F4F-C072-F8DD-11E48BB27B61}"/>
              </a:ext>
            </a:extLst>
          </p:cNvPr>
          <p:cNvSpPr>
            <a:spLocks noGrp="1"/>
          </p:cNvSpPr>
          <p:nvPr>
            <p:ph type="body" idx="1"/>
          </p:nvPr>
        </p:nvSpPr>
        <p:spPr>
          <a:xfrm>
            <a:off x="628650" y="1268044"/>
            <a:ext cx="7886700" cy="3447794"/>
          </a:xfrm>
        </p:spPr>
        <p:txBody>
          <a:bodyPr/>
          <a:lstStyle/>
          <a:p>
            <a:r>
              <a:rPr lang="en-US" b="1" dirty="0"/>
              <a:t>Language model</a:t>
            </a:r>
            <a:r>
              <a:rPr lang="en-US" dirty="0"/>
              <a:t>:</a:t>
            </a:r>
            <a:r>
              <a:rPr lang="en-US" b="1" dirty="0"/>
              <a:t> </a:t>
            </a:r>
            <a:r>
              <a:rPr lang="en-US" dirty="0"/>
              <a:t>assigns a probability to every sentence</a:t>
            </a:r>
          </a:p>
          <a:p>
            <a:r>
              <a:rPr lang="en-US" b="1" dirty="0"/>
              <a:t>Generation</a:t>
            </a:r>
            <a:r>
              <a:rPr lang="en-US" dirty="0"/>
              <a:t>: next-token-prediction using conditional model probabilities</a:t>
            </a:r>
          </a:p>
          <a:p>
            <a:r>
              <a:rPr lang="en-US" b="1" dirty="0"/>
              <a:t>Evaluation</a:t>
            </a:r>
            <a:r>
              <a:rPr lang="en-US" dirty="0"/>
              <a:t>: perplexity -- intrinsic evaluation</a:t>
            </a:r>
          </a:p>
          <a:p>
            <a:r>
              <a:rPr lang="en-US" b="1" dirty="0"/>
              <a:t>N-gram models</a:t>
            </a:r>
            <a:r>
              <a:rPr lang="en-US" dirty="0"/>
              <a:t>:</a:t>
            </a:r>
          </a:p>
          <a:p>
            <a:pPr lvl="1"/>
            <a:r>
              <a:rPr lang="en-US" dirty="0"/>
              <a:t>Based on a Markov assumption: limited ”memory”</a:t>
            </a:r>
          </a:p>
          <a:p>
            <a:pPr lvl="1"/>
            <a:r>
              <a:rPr lang="en-US" dirty="0"/>
              <a:t>Work surprisingly okay but leave a lot to be desired</a:t>
            </a:r>
          </a:p>
          <a:p>
            <a:pPr lvl="1"/>
            <a:r>
              <a:rPr lang="en-US" dirty="0"/>
              <a:t>Many improvements: interpolation, supporting unknown words, …</a:t>
            </a:r>
          </a:p>
        </p:txBody>
      </p:sp>
    </p:spTree>
    <p:extLst>
      <p:ext uri="{BB962C8B-B14F-4D97-AF65-F5344CB8AC3E}">
        <p14:creationId xmlns:p14="http://schemas.microsoft.com/office/powerpoint/2010/main" val="4288267559"/>
      </p:ext>
    </p:extLst>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0DDBFE-770F-FDDD-9D2D-6A2DE5CC775E}"/>
            </a:ext>
          </a:extLst>
        </p:cNvPr>
        <p:cNvGrpSpPr/>
        <p:nvPr/>
      </p:nvGrpSpPr>
      <p:grpSpPr>
        <a:xfrm>
          <a:off x="0" y="0"/>
          <a:ext cx="0" cy="0"/>
          <a:chOff x="0" y="0"/>
          <a:chExt cx="0" cy="0"/>
        </a:xfrm>
      </p:grpSpPr>
      <p:pic>
        <p:nvPicPr>
          <p:cNvPr id="5" name="Picture 4" descr="A circle of letters and numbers&#10;&#10;AI-generated content may be incorrect.">
            <a:extLst>
              <a:ext uri="{FF2B5EF4-FFF2-40B4-BE49-F238E27FC236}">
                <a16:creationId xmlns:a16="http://schemas.microsoft.com/office/drawing/2014/main" id="{E7282A8C-0BCA-8CC5-0A74-894ACF254136}"/>
              </a:ext>
            </a:extLst>
          </p:cNvPr>
          <p:cNvPicPr>
            <a:picLocks noChangeAspect="1"/>
          </p:cNvPicPr>
          <p:nvPr/>
        </p:nvPicPr>
        <p:blipFill>
          <a:blip r:embed="rId2">
            <a:duotone>
              <a:schemeClr val="accent4">
                <a:shade val="45000"/>
                <a:satMod val="135000"/>
              </a:schemeClr>
              <a:prstClr val="white"/>
            </a:duotone>
          </a:blip>
          <a:stretch>
            <a:fillRect/>
          </a:stretch>
        </p:blipFill>
        <p:spPr>
          <a:xfrm>
            <a:off x="7089418" y="132539"/>
            <a:ext cx="1871702" cy="1942097"/>
          </a:xfrm>
          <a:prstGeom prst="rect">
            <a:avLst/>
          </a:prstGeom>
        </p:spPr>
      </p:pic>
      <p:sp>
        <p:nvSpPr>
          <p:cNvPr id="2" name="Title 1">
            <a:extLst>
              <a:ext uri="{FF2B5EF4-FFF2-40B4-BE49-F238E27FC236}">
                <a16:creationId xmlns:a16="http://schemas.microsoft.com/office/drawing/2014/main" id="{9B2F1136-00FF-80FA-874E-1086B01C4D98}"/>
              </a:ext>
            </a:extLst>
          </p:cNvPr>
          <p:cNvSpPr>
            <a:spLocks noGrp="1"/>
          </p:cNvSpPr>
          <p:nvPr>
            <p:ph type="title"/>
          </p:nvPr>
        </p:nvSpPr>
        <p:spPr/>
        <p:txBody>
          <a:bodyPr/>
          <a:lstStyle/>
          <a:p>
            <a:r>
              <a:rPr lang="en-US" dirty="0"/>
              <a:t>In-class exercise: </a:t>
            </a:r>
            <a:r>
              <a:rPr lang="en-US" dirty="0" err="1"/>
              <a:t>CircuLanguage</a:t>
            </a:r>
            <a:endParaRPr lang="en-US" dirty="0"/>
          </a:p>
        </p:txBody>
      </p:sp>
      <p:sp>
        <p:nvSpPr>
          <p:cNvPr id="3" name="Text Placeholder 2">
            <a:extLst>
              <a:ext uri="{FF2B5EF4-FFF2-40B4-BE49-F238E27FC236}">
                <a16:creationId xmlns:a16="http://schemas.microsoft.com/office/drawing/2014/main" id="{9CBA4F93-EE6F-9EBE-9612-A4AF4D94B2CD}"/>
              </a:ext>
            </a:extLst>
          </p:cNvPr>
          <p:cNvSpPr>
            <a:spLocks noGrp="1"/>
          </p:cNvSpPr>
          <p:nvPr>
            <p:ph type="body" idx="1"/>
          </p:nvPr>
        </p:nvSpPr>
        <p:spPr>
          <a:xfrm>
            <a:off x="628650" y="1103588"/>
            <a:ext cx="7886700" cy="3263400"/>
          </a:xfrm>
        </p:spPr>
        <p:txBody>
          <a:bodyPr>
            <a:noAutofit/>
          </a:bodyPr>
          <a:lstStyle/>
          <a:p>
            <a:r>
              <a:rPr lang="en-US" b="1" dirty="0" err="1">
                <a:solidFill>
                  <a:schemeClr val="accent1">
                    <a:lumMod val="50000"/>
                  </a:schemeClr>
                </a:solidFill>
              </a:rPr>
              <a:t>CircuLanguage</a:t>
            </a:r>
            <a:r>
              <a:rPr lang="en-US" dirty="0"/>
              <a:t> </a:t>
            </a:r>
            <a:r>
              <a:rPr lang="en-US" dirty="0">
                <a:solidFill>
                  <a:schemeClr val="tx1"/>
                </a:solidFill>
              </a:rPr>
              <a:t>is defined as:</a:t>
            </a:r>
          </a:p>
          <a:p>
            <a:pPr lvl="1"/>
            <a:r>
              <a:rPr lang="en-US" dirty="0">
                <a:solidFill>
                  <a:schemeClr val="tx1"/>
                </a:solidFill>
              </a:rPr>
              <a:t>Vocabulary: A, B, … Z, and the end-of-sequence sign #</a:t>
            </a:r>
          </a:p>
          <a:p>
            <a:pPr lvl="1"/>
            <a:r>
              <a:rPr lang="en-US" dirty="0">
                <a:solidFill>
                  <a:schemeClr val="tx1"/>
                </a:solidFill>
              </a:rPr>
              <a:t>Valid sequences:</a:t>
            </a:r>
          </a:p>
          <a:p>
            <a:pPr lvl="2"/>
            <a:r>
              <a:rPr lang="en-US" dirty="0">
                <a:solidFill>
                  <a:schemeClr val="tx1"/>
                </a:solidFill>
              </a:rPr>
              <a:t>Start with A</a:t>
            </a:r>
          </a:p>
          <a:p>
            <a:pPr lvl="2"/>
            <a:r>
              <a:rPr lang="en-US" dirty="0">
                <a:solidFill>
                  <a:schemeClr val="tx1"/>
                </a:solidFill>
              </a:rPr>
              <a:t>Each letter is either the one alphabetically </a:t>
            </a:r>
            <a:r>
              <a:rPr lang="en-US" dirty="0">
                <a:solidFill>
                  <a:schemeClr val="accent1">
                    <a:lumMod val="50000"/>
                  </a:schemeClr>
                </a:solidFill>
              </a:rPr>
              <a:t>before</a:t>
            </a:r>
            <a:r>
              <a:rPr lang="en-US" dirty="0">
                <a:solidFill>
                  <a:schemeClr val="tx1"/>
                </a:solidFill>
              </a:rPr>
              <a:t> or </a:t>
            </a:r>
            <a:r>
              <a:rPr lang="en-US" dirty="0">
                <a:solidFill>
                  <a:schemeClr val="accent1">
                    <a:lumMod val="50000"/>
                  </a:schemeClr>
                </a:solidFill>
              </a:rPr>
              <a:t>after</a:t>
            </a:r>
            <a:r>
              <a:rPr lang="en-US" dirty="0">
                <a:solidFill>
                  <a:schemeClr val="tx1"/>
                </a:solidFill>
              </a:rPr>
              <a:t> the previous letter</a:t>
            </a:r>
          </a:p>
          <a:p>
            <a:pPr lvl="2"/>
            <a:r>
              <a:rPr lang="en-US" dirty="0">
                <a:solidFill>
                  <a:schemeClr val="tx1"/>
                </a:solidFill>
              </a:rPr>
              <a:t>The vocabulary is circular, so Z comes alphabetically before A</a:t>
            </a:r>
          </a:p>
          <a:p>
            <a:pPr lvl="2"/>
            <a:r>
              <a:rPr lang="en-US" dirty="0">
                <a:solidFill>
                  <a:schemeClr val="tx1"/>
                </a:solidFill>
              </a:rPr>
              <a:t>Sequences can have any length</a:t>
            </a:r>
          </a:p>
          <a:p>
            <a:pPr lvl="1"/>
            <a:r>
              <a:rPr lang="en-US" dirty="0">
                <a:solidFill>
                  <a:schemeClr val="tx1"/>
                </a:solidFill>
              </a:rPr>
              <a:t>Examples: </a:t>
            </a:r>
            <a:r>
              <a:rPr lang="en-US" dirty="0">
                <a:solidFill>
                  <a:schemeClr val="accent1">
                    <a:lumMod val="50000"/>
                  </a:schemeClr>
                </a:solidFill>
              </a:rPr>
              <a:t>ABCD#, ABABC#, AZ#, AZAZABCBAZYX#, …</a:t>
            </a:r>
          </a:p>
        </p:txBody>
      </p:sp>
    </p:spTree>
    <p:extLst>
      <p:ext uri="{BB962C8B-B14F-4D97-AF65-F5344CB8AC3E}">
        <p14:creationId xmlns:p14="http://schemas.microsoft.com/office/powerpoint/2010/main" val="3796276787"/>
      </p:ext>
    </p:extLst>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FBB6A4-443E-B05B-C110-3BBD6C372051}"/>
              </a:ext>
            </a:extLst>
          </p:cNvPr>
          <p:cNvSpPr>
            <a:spLocks noGrp="1"/>
          </p:cNvSpPr>
          <p:nvPr>
            <p:ph type="title"/>
          </p:nvPr>
        </p:nvSpPr>
        <p:spPr/>
        <p:txBody>
          <a:bodyPr/>
          <a:lstStyle/>
          <a:p>
            <a:r>
              <a:rPr lang="en-US" dirty="0"/>
              <a:t>Interactive Questions Time</a:t>
            </a:r>
          </a:p>
        </p:txBody>
      </p:sp>
      <p:sp>
        <p:nvSpPr>
          <p:cNvPr id="3" name="Text Placeholder 2">
            <a:extLst>
              <a:ext uri="{FF2B5EF4-FFF2-40B4-BE49-F238E27FC236}">
                <a16:creationId xmlns:a16="http://schemas.microsoft.com/office/drawing/2014/main" id="{E50CAB25-48AE-2D30-876E-BD899F71864B}"/>
              </a:ext>
            </a:extLst>
          </p:cNvPr>
          <p:cNvSpPr>
            <a:spLocks noGrp="1"/>
          </p:cNvSpPr>
          <p:nvPr>
            <p:ph type="body" idx="1"/>
          </p:nvPr>
        </p:nvSpPr>
        <p:spPr/>
        <p:txBody>
          <a:bodyPr/>
          <a:lstStyle/>
          <a:p>
            <a:endParaRPr lang="en-US" dirty="0"/>
          </a:p>
          <a:p>
            <a:r>
              <a:rPr lang="en-US" b="1" dirty="0" err="1">
                <a:solidFill>
                  <a:schemeClr val="accent1">
                    <a:lumMod val="50000"/>
                  </a:schemeClr>
                </a:solidFill>
              </a:rPr>
              <a:t>pe.app</a:t>
            </a:r>
            <a:r>
              <a:rPr lang="en-US" b="1" dirty="0">
                <a:solidFill>
                  <a:schemeClr val="accent1">
                    <a:lumMod val="50000"/>
                  </a:schemeClr>
                </a:solidFill>
              </a:rPr>
              <a:t>/</a:t>
            </a:r>
            <a:r>
              <a:rPr lang="en-US" b="1" dirty="0" err="1">
                <a:solidFill>
                  <a:schemeClr val="accent1">
                    <a:lumMod val="50000"/>
                  </a:schemeClr>
                </a:solidFill>
              </a:rPr>
              <a:t>talwagner</a:t>
            </a:r>
            <a:endParaRPr lang="en-US" b="1" dirty="0">
              <a:solidFill>
                <a:schemeClr val="accent1">
                  <a:lumMod val="50000"/>
                </a:schemeClr>
              </a:solidFill>
            </a:endParaRPr>
          </a:p>
        </p:txBody>
      </p:sp>
      <p:pic>
        <p:nvPicPr>
          <p:cNvPr id="7" name="Picture 6" descr="A qr code with circles and circles&#10;&#10;AI-generated content may be incorrect.">
            <a:extLst>
              <a:ext uri="{FF2B5EF4-FFF2-40B4-BE49-F238E27FC236}">
                <a16:creationId xmlns:a16="http://schemas.microsoft.com/office/drawing/2014/main" id="{8A6DE80C-703A-1FF9-F16D-A24846225C40}"/>
              </a:ext>
            </a:extLst>
          </p:cNvPr>
          <p:cNvPicPr>
            <a:picLocks noChangeAspect="1"/>
          </p:cNvPicPr>
          <p:nvPr/>
        </p:nvPicPr>
        <p:blipFill>
          <a:blip r:embed="rId2"/>
          <a:stretch>
            <a:fillRect/>
          </a:stretch>
        </p:blipFill>
        <p:spPr>
          <a:xfrm>
            <a:off x="5276850" y="1369219"/>
            <a:ext cx="3238500" cy="3238500"/>
          </a:xfrm>
          <a:prstGeom prst="rect">
            <a:avLst/>
          </a:prstGeom>
        </p:spPr>
      </p:pic>
    </p:spTree>
    <p:extLst>
      <p:ext uri="{BB962C8B-B14F-4D97-AF65-F5344CB8AC3E}">
        <p14:creationId xmlns:p14="http://schemas.microsoft.com/office/powerpoint/2010/main" val="3057114247"/>
      </p:ext>
    </p:extLst>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F4A204-8EF1-90D0-34C8-B7030936BFBF}"/>
              </a:ext>
            </a:extLst>
          </p:cNvPr>
          <p:cNvSpPr>
            <a:spLocks noGrp="1"/>
          </p:cNvSpPr>
          <p:nvPr>
            <p:ph type="title"/>
          </p:nvPr>
        </p:nvSpPr>
        <p:spPr/>
        <p:txBody>
          <a:bodyPr/>
          <a:lstStyle/>
          <a:p>
            <a:r>
              <a:rPr lang="en-US" dirty="0"/>
              <a:t>In-class exercise: </a:t>
            </a:r>
            <a:r>
              <a:rPr lang="en-US" dirty="0" err="1"/>
              <a:t>CircuModel</a:t>
            </a:r>
            <a:endParaRPr lang="en-US" dirty="0"/>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345A257D-E906-ABF7-535E-C428BE128304}"/>
                  </a:ext>
                </a:extLst>
              </p:cNvPr>
              <p:cNvSpPr>
                <a:spLocks noGrp="1"/>
              </p:cNvSpPr>
              <p:nvPr>
                <p:ph type="body" idx="1"/>
              </p:nvPr>
            </p:nvSpPr>
            <p:spPr>
              <a:xfrm>
                <a:off x="457200" y="1268044"/>
                <a:ext cx="8058150" cy="3511773"/>
              </a:xfrm>
            </p:spPr>
            <p:txBody>
              <a:bodyPr>
                <a:normAutofit/>
              </a:bodyPr>
              <a:lstStyle/>
              <a:p>
                <a:r>
                  <a:rPr lang="en-US" b="1" dirty="0">
                    <a:solidFill>
                      <a:srgbClr val="C00000"/>
                    </a:solidFill>
                  </a:rPr>
                  <a:t>CircuModel</a:t>
                </a:r>
                <a:r>
                  <a:rPr lang="en-US" dirty="0"/>
                  <a:t> is a language model for </a:t>
                </a:r>
                <a:r>
                  <a:rPr lang="en-US" b="1" dirty="0" err="1">
                    <a:solidFill>
                      <a:schemeClr val="accent1">
                        <a:lumMod val="50000"/>
                      </a:schemeClr>
                    </a:solidFill>
                  </a:rPr>
                  <a:t>CircuLanguage</a:t>
                </a:r>
                <a:r>
                  <a:rPr lang="en-US" dirty="0"/>
                  <a:t>, defined as follows:</a:t>
                </a:r>
              </a:p>
              <a:p>
                <a:pPr lvl="1"/>
                <a:r>
                  <a:rPr lang="en-US" dirty="0"/>
                  <a:t>For every vocabulary letter </a:t>
                </a:r>
                <a14:m>
                  <m:oMath xmlns:m="http://schemas.openxmlformats.org/officeDocument/2006/math">
                    <m:r>
                      <m:rPr>
                        <m:sty m:val="p"/>
                      </m:rPr>
                      <a:rPr lang="en-US" b="0" i="0" smtClean="0">
                        <a:latin typeface="Cambria Math" panose="02040503050406030204" pitchFamily="18" charset="0"/>
                      </a:rPr>
                      <m:t>Λ</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r>
                          <a:rPr lang="en-US" b="0" i="1" smtClean="0">
                            <a:latin typeface="Cambria Math" panose="02040503050406030204" pitchFamily="18" charset="0"/>
                          </a:rPr>
                          <m:t>𝑍</m:t>
                        </m:r>
                      </m:e>
                    </m:d>
                  </m:oMath>
                </a14:m>
                <a:r>
                  <a:rPr lang="en-US" dirty="0"/>
                  <a:t> we have 3 parameters:</a:t>
                </a:r>
              </a:p>
              <a:p>
                <a:pPr lvl="2"/>
                <a14:m>
                  <m:oMath xmlns:m="http://schemas.openxmlformats.org/officeDocument/2006/math">
                    <m:r>
                      <a:rPr lang="en-US" b="0" i="1" smtClean="0">
                        <a:solidFill>
                          <a:srgbClr val="7030A0"/>
                        </a:solidFill>
                        <a:latin typeface="Cambria Math" panose="02040503050406030204" pitchFamily="18" charset="0"/>
                      </a:rPr>
                      <m:t>𝑞</m:t>
                    </m:r>
                    <m:d>
                      <m:dPr>
                        <m:ctrlPr>
                          <a:rPr lang="en-US" b="0" i="1" smtClean="0">
                            <a:solidFill>
                              <a:srgbClr val="7030A0"/>
                            </a:solidFill>
                            <a:latin typeface="Cambria Math" panose="02040503050406030204" pitchFamily="18" charset="0"/>
                          </a:rPr>
                        </m:ctrlPr>
                      </m:dPr>
                      <m:e>
                        <m:r>
                          <m:rPr>
                            <m:sty m:val="p"/>
                          </m:rPr>
                          <a:rPr lang="en-US" b="0" i="0" smtClean="0">
                            <a:solidFill>
                              <a:srgbClr val="7030A0"/>
                            </a:solidFill>
                            <a:latin typeface="Cambria Math" panose="02040503050406030204" pitchFamily="18" charset="0"/>
                          </a:rPr>
                          <m:t>Λ</m:t>
                        </m:r>
                      </m:e>
                    </m:d>
                    <m:r>
                      <a:rPr lang="en-US" b="0" i="1" smtClean="0">
                        <a:latin typeface="Cambria Math" panose="02040503050406030204" pitchFamily="18" charset="0"/>
                      </a:rPr>
                      <m:t>=</m:t>
                    </m:r>
                  </m:oMath>
                </a14:m>
                <a:r>
                  <a:rPr lang="en-US" dirty="0"/>
                  <a:t> probability that the letter after </a:t>
                </a:r>
                <a14:m>
                  <m:oMath xmlns:m="http://schemas.openxmlformats.org/officeDocument/2006/math">
                    <m:r>
                      <m:rPr>
                        <m:sty m:val="p"/>
                      </m:rPr>
                      <a:rPr lang="en-US" b="0" i="0" smtClean="0">
                        <a:latin typeface="Cambria Math" panose="02040503050406030204" pitchFamily="18" charset="0"/>
                      </a:rPr>
                      <m:t>Λ</m:t>
                    </m:r>
                  </m:oMath>
                </a14:m>
                <a:r>
                  <a:rPr lang="en-US" dirty="0"/>
                  <a:t> is the </a:t>
                </a:r>
                <a:r>
                  <a:rPr lang="en-US" b="1" dirty="0"/>
                  <a:t>next</a:t>
                </a:r>
                <a:r>
                  <a:rPr lang="en-US" dirty="0"/>
                  <a:t> letter alphabetically</a:t>
                </a:r>
              </a:p>
              <a:p>
                <a:pPr lvl="2"/>
                <a14:m>
                  <m:oMath xmlns:m="http://schemas.openxmlformats.org/officeDocument/2006/math">
                    <m:r>
                      <a:rPr lang="en-US" b="0" i="1" smtClean="0">
                        <a:solidFill>
                          <a:srgbClr val="7030A0"/>
                        </a:solidFill>
                        <a:latin typeface="Cambria Math" panose="02040503050406030204" pitchFamily="18" charset="0"/>
                      </a:rPr>
                      <m:t>𝑟</m:t>
                    </m:r>
                    <m:d>
                      <m:dPr>
                        <m:ctrlPr>
                          <a:rPr lang="en-US" i="1">
                            <a:solidFill>
                              <a:srgbClr val="7030A0"/>
                            </a:solidFill>
                            <a:latin typeface="Cambria Math" panose="02040503050406030204" pitchFamily="18" charset="0"/>
                          </a:rPr>
                        </m:ctrlPr>
                      </m:dPr>
                      <m:e>
                        <m:r>
                          <m:rPr>
                            <m:sty m:val="p"/>
                          </m:rPr>
                          <a:rPr lang="en-US">
                            <a:solidFill>
                              <a:srgbClr val="7030A0"/>
                            </a:solidFill>
                            <a:latin typeface="Cambria Math" panose="02040503050406030204" pitchFamily="18" charset="0"/>
                          </a:rPr>
                          <m:t>Λ</m:t>
                        </m:r>
                      </m:e>
                    </m:d>
                    <m:r>
                      <a:rPr lang="en-US" i="1">
                        <a:latin typeface="Cambria Math" panose="02040503050406030204" pitchFamily="18" charset="0"/>
                      </a:rPr>
                      <m:t>=</m:t>
                    </m:r>
                  </m:oMath>
                </a14:m>
                <a:r>
                  <a:rPr lang="en-US" dirty="0"/>
                  <a:t> probability that the letter after </a:t>
                </a:r>
                <a14:m>
                  <m:oMath xmlns:m="http://schemas.openxmlformats.org/officeDocument/2006/math">
                    <m:r>
                      <m:rPr>
                        <m:sty m:val="p"/>
                      </m:rPr>
                      <a:rPr lang="en-US">
                        <a:latin typeface="Cambria Math" panose="02040503050406030204" pitchFamily="18" charset="0"/>
                      </a:rPr>
                      <m:t>Λ</m:t>
                    </m:r>
                  </m:oMath>
                </a14:m>
                <a:r>
                  <a:rPr lang="en-US" dirty="0"/>
                  <a:t> is the </a:t>
                </a:r>
                <a:r>
                  <a:rPr lang="en-US" b="1" dirty="0"/>
                  <a:t>previous</a:t>
                </a:r>
                <a:r>
                  <a:rPr lang="en-US" dirty="0"/>
                  <a:t> letter alphabetically</a:t>
                </a:r>
              </a:p>
              <a:p>
                <a:pPr lvl="2"/>
                <a14:m>
                  <m:oMath xmlns:m="http://schemas.openxmlformats.org/officeDocument/2006/math">
                    <m:r>
                      <a:rPr lang="en-US" b="0" i="1" smtClean="0">
                        <a:solidFill>
                          <a:srgbClr val="7030A0"/>
                        </a:solidFill>
                        <a:latin typeface="Cambria Math" panose="02040503050406030204" pitchFamily="18" charset="0"/>
                      </a:rPr>
                      <m:t>𝑠</m:t>
                    </m:r>
                    <m:d>
                      <m:dPr>
                        <m:ctrlPr>
                          <a:rPr lang="en-US" i="1">
                            <a:solidFill>
                              <a:srgbClr val="7030A0"/>
                            </a:solidFill>
                            <a:latin typeface="Cambria Math" panose="02040503050406030204" pitchFamily="18" charset="0"/>
                          </a:rPr>
                        </m:ctrlPr>
                      </m:dPr>
                      <m:e>
                        <m:r>
                          <m:rPr>
                            <m:sty m:val="p"/>
                          </m:rPr>
                          <a:rPr lang="en-US">
                            <a:solidFill>
                              <a:srgbClr val="7030A0"/>
                            </a:solidFill>
                            <a:latin typeface="Cambria Math" panose="02040503050406030204" pitchFamily="18" charset="0"/>
                          </a:rPr>
                          <m:t>Λ</m:t>
                        </m:r>
                      </m:e>
                    </m:d>
                    <m:r>
                      <a:rPr lang="en-US" i="1">
                        <a:latin typeface="Cambria Math" panose="02040503050406030204" pitchFamily="18" charset="0"/>
                      </a:rPr>
                      <m:t>=</m:t>
                    </m:r>
                  </m:oMath>
                </a14:m>
                <a:r>
                  <a:rPr lang="en-US" dirty="0"/>
                  <a:t> probability that the letter after </a:t>
                </a:r>
                <a14:m>
                  <m:oMath xmlns:m="http://schemas.openxmlformats.org/officeDocument/2006/math">
                    <m:r>
                      <m:rPr>
                        <m:sty m:val="p"/>
                      </m:rPr>
                      <a:rPr lang="en-US">
                        <a:latin typeface="Cambria Math" panose="02040503050406030204" pitchFamily="18" charset="0"/>
                      </a:rPr>
                      <m:t>Λ</m:t>
                    </m:r>
                  </m:oMath>
                </a14:m>
                <a:r>
                  <a:rPr lang="en-US" dirty="0"/>
                  <a:t> is </a:t>
                </a:r>
                <a:r>
                  <a:rPr lang="en-US" b="1" dirty="0"/>
                  <a:t>#</a:t>
                </a:r>
              </a:p>
              <a:p>
                <a:pPr lvl="1"/>
                <a:r>
                  <a:rPr lang="en-US" b="1" dirty="0"/>
                  <a:t>E.g.: </a:t>
                </a:r>
                <a:r>
                  <a:rPr lang="en-US" dirty="0"/>
                  <a:t>If </a:t>
                </a:r>
                <a14:m>
                  <m:oMath xmlns:m="http://schemas.openxmlformats.org/officeDocument/2006/math">
                    <m:r>
                      <a:rPr lang="en-US" b="0" i="1" smtClean="0">
                        <a:latin typeface="Cambria Math" panose="02040503050406030204" pitchFamily="18" charset="0"/>
                      </a:rPr>
                      <m:t>𝑞</m:t>
                    </m:r>
                    <m:d>
                      <m:dPr>
                        <m:ctrlPr>
                          <a:rPr lang="en-US" b="0" i="1" smtClean="0">
                            <a:latin typeface="Cambria Math" panose="02040503050406030204" pitchFamily="18" charset="0"/>
                          </a:rPr>
                        </m:ctrlPr>
                      </m:dPr>
                      <m:e>
                        <m:r>
                          <a:rPr lang="en-US" b="0" i="1" smtClean="0">
                            <a:latin typeface="Cambria Math" panose="02040503050406030204" pitchFamily="18" charset="0"/>
                          </a:rPr>
                          <m:t>𝐴</m:t>
                        </m:r>
                      </m:e>
                    </m:d>
                    <m:r>
                      <a:rPr lang="en-US" b="0" i="1" smtClean="0">
                        <a:latin typeface="Cambria Math" panose="02040503050406030204" pitchFamily="18" charset="0"/>
                      </a:rPr>
                      <m:t>=0.5</m:t>
                    </m:r>
                  </m:oMath>
                </a14:m>
                <a:r>
                  <a:rPr lang="en-US" b="1" dirty="0"/>
                  <a:t>, </a:t>
                </a:r>
                <a14:m>
                  <m:oMath xmlns:m="http://schemas.openxmlformats.org/officeDocument/2006/math">
                    <m:r>
                      <a:rPr lang="en-US" b="0" i="1" smtClean="0">
                        <a:latin typeface="Cambria Math" panose="02040503050406030204" pitchFamily="18" charset="0"/>
                      </a:rPr>
                      <m:t>𝑟</m:t>
                    </m:r>
                    <m:d>
                      <m:dPr>
                        <m:ctrlPr>
                          <a:rPr lang="en-US" b="0" i="1" smtClean="0">
                            <a:latin typeface="Cambria Math" panose="02040503050406030204" pitchFamily="18" charset="0"/>
                          </a:rPr>
                        </m:ctrlPr>
                      </m:dPr>
                      <m:e>
                        <m:r>
                          <a:rPr lang="en-US" b="0" i="1" smtClean="0">
                            <a:latin typeface="Cambria Math" panose="02040503050406030204" pitchFamily="18" charset="0"/>
                          </a:rPr>
                          <m:t>𝐴</m:t>
                        </m:r>
                      </m:e>
                    </m:d>
                    <m:r>
                      <a:rPr lang="en-US" b="0" i="1" smtClean="0">
                        <a:latin typeface="Cambria Math" panose="02040503050406030204" pitchFamily="18" charset="0"/>
                      </a:rPr>
                      <m:t>=0.4</m:t>
                    </m:r>
                  </m:oMath>
                </a14:m>
                <a:r>
                  <a:rPr lang="en-US" dirty="0"/>
                  <a:t>, </a:t>
                </a:r>
                <a14:m>
                  <m:oMath xmlns:m="http://schemas.openxmlformats.org/officeDocument/2006/math">
                    <m:r>
                      <a:rPr lang="en-US" b="0" i="1" smtClean="0">
                        <a:latin typeface="Cambria Math" panose="02040503050406030204" pitchFamily="18" charset="0"/>
                      </a:rPr>
                      <m:t>𝑠</m:t>
                    </m:r>
                    <m:d>
                      <m:dPr>
                        <m:ctrlPr>
                          <a:rPr lang="en-US" i="1">
                            <a:latin typeface="Cambria Math" panose="02040503050406030204" pitchFamily="18" charset="0"/>
                          </a:rPr>
                        </m:ctrlPr>
                      </m:dPr>
                      <m:e>
                        <m:r>
                          <a:rPr lang="en-US" i="1">
                            <a:latin typeface="Cambria Math" panose="02040503050406030204" pitchFamily="18" charset="0"/>
                          </a:rPr>
                          <m:t>𝐴</m:t>
                        </m:r>
                      </m:e>
                    </m:d>
                    <m:r>
                      <a:rPr lang="en-US" i="1">
                        <a:latin typeface="Cambria Math" panose="02040503050406030204" pitchFamily="18" charset="0"/>
                      </a:rPr>
                      <m:t>=0.</m:t>
                    </m:r>
                    <m:r>
                      <a:rPr lang="en-US" b="0" i="1" smtClean="0">
                        <a:latin typeface="Cambria Math" panose="02040503050406030204" pitchFamily="18" charset="0"/>
                      </a:rPr>
                      <m:t>1</m:t>
                    </m:r>
                  </m:oMath>
                </a14:m>
                <a:r>
                  <a:rPr lang="en-US" dirty="0"/>
                  <a:t> then the model probability of B after A is 0.5, of Z after A is 0.4, and of # after A is 0.1</a:t>
                </a:r>
              </a:p>
              <a:p>
                <a:pPr marL="1028700" lvl="2" indent="0">
                  <a:buNone/>
                </a:pPr>
                <a:endParaRPr lang="en-US" dirty="0"/>
              </a:p>
            </p:txBody>
          </p:sp>
        </mc:Choice>
        <mc:Fallback xmlns="">
          <p:sp>
            <p:nvSpPr>
              <p:cNvPr id="3" name="Text Placeholder 2">
                <a:extLst>
                  <a:ext uri="{FF2B5EF4-FFF2-40B4-BE49-F238E27FC236}">
                    <a16:creationId xmlns:a16="http://schemas.microsoft.com/office/drawing/2014/main" id="{345A257D-E906-ABF7-535E-C428BE128304}"/>
                  </a:ext>
                </a:extLst>
              </p:cNvPr>
              <p:cNvSpPr>
                <a:spLocks noGrp="1" noRot="1" noChangeAspect="1" noMove="1" noResize="1" noEditPoints="1" noAdjustHandles="1" noChangeArrowheads="1" noChangeShapeType="1" noTextEdit="1"/>
              </p:cNvSpPr>
              <p:nvPr>
                <p:ph type="body" idx="1"/>
              </p:nvPr>
            </p:nvSpPr>
            <p:spPr>
              <a:xfrm>
                <a:off x="457200" y="1268044"/>
                <a:ext cx="8058150" cy="3511773"/>
              </a:xfrm>
              <a:blipFill>
                <a:blip r:embed="rId2"/>
                <a:stretch>
                  <a:fillRect r="-315"/>
                </a:stretch>
              </a:blipFill>
            </p:spPr>
            <p:txBody>
              <a:bodyPr/>
              <a:lstStyle/>
              <a:p>
                <a:r>
                  <a:rPr lang="en-US">
                    <a:noFill/>
                  </a:rPr>
                  <a:t> </a:t>
                </a:r>
              </a:p>
            </p:txBody>
          </p:sp>
        </mc:Fallback>
      </mc:AlternateContent>
      <p:pic>
        <p:nvPicPr>
          <p:cNvPr id="16" name="Picture 15" descr="A circle of letters and numbers&#10;&#10;AI-generated content may be incorrect.">
            <a:extLst>
              <a:ext uri="{FF2B5EF4-FFF2-40B4-BE49-F238E27FC236}">
                <a16:creationId xmlns:a16="http://schemas.microsoft.com/office/drawing/2014/main" id="{8E4662A5-86DC-4E59-496E-2E47FC630CE8}"/>
              </a:ext>
            </a:extLst>
          </p:cNvPr>
          <p:cNvPicPr>
            <a:picLocks noChangeAspect="1"/>
          </p:cNvPicPr>
          <p:nvPr/>
        </p:nvPicPr>
        <p:blipFill>
          <a:blip r:embed="rId3">
            <a:duotone>
              <a:schemeClr val="accent4">
                <a:shade val="45000"/>
                <a:satMod val="135000"/>
              </a:schemeClr>
              <a:prstClr val="white"/>
            </a:duotone>
          </a:blip>
          <a:stretch>
            <a:fillRect/>
          </a:stretch>
        </p:blipFill>
        <p:spPr>
          <a:xfrm>
            <a:off x="7687934" y="136793"/>
            <a:ext cx="1222329" cy="1268301"/>
          </a:xfrm>
          <a:prstGeom prst="rect">
            <a:avLst/>
          </a:prstGeom>
        </p:spPr>
      </p:pic>
    </p:spTree>
    <p:extLst>
      <p:ext uri="{BB962C8B-B14F-4D97-AF65-F5344CB8AC3E}">
        <p14:creationId xmlns:p14="http://schemas.microsoft.com/office/powerpoint/2010/main" val="4217013201"/>
      </p:ext>
    </p:extLst>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Shape 722"/>
        <p:cNvGrpSpPr/>
        <p:nvPr/>
      </p:nvGrpSpPr>
      <p:grpSpPr>
        <a:xfrm>
          <a:off x="0" y="0"/>
          <a:ext cx="0" cy="0"/>
          <a:chOff x="0" y="0"/>
          <a:chExt cx="0" cy="0"/>
        </a:xfrm>
      </p:grpSpPr>
      <p:sp>
        <p:nvSpPr>
          <p:cNvPr id="723" name="Google Shape;723;p83"/>
          <p:cNvSpPr txBox="1">
            <a:spLocks noGrp="1"/>
          </p:cNvSpPr>
          <p:nvPr>
            <p:ph type="title"/>
          </p:nvPr>
        </p:nvSpPr>
        <p:spPr>
          <a:xfrm>
            <a:off x="471488" y="205383"/>
            <a:ext cx="5915100" cy="7458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chemeClr val="dk1"/>
              </a:buClr>
              <a:buSzPts val="3300"/>
              <a:buFont typeface="Century Gothic"/>
              <a:buNone/>
            </a:pPr>
            <a:r>
              <a:rPr lang="en-GB"/>
              <a:t>Plan</a:t>
            </a:r>
            <a:endParaRPr/>
          </a:p>
        </p:txBody>
      </p:sp>
      <p:sp>
        <p:nvSpPr>
          <p:cNvPr id="724" name="Google Shape;724;p83"/>
          <p:cNvSpPr txBox="1">
            <a:spLocks noGrp="1"/>
          </p:cNvSpPr>
          <p:nvPr>
            <p:ph type="body" idx="1"/>
          </p:nvPr>
        </p:nvSpPr>
        <p:spPr>
          <a:xfrm>
            <a:off x="471500" y="1103125"/>
            <a:ext cx="5915100" cy="3204000"/>
          </a:xfrm>
          <a:prstGeom prst="rect">
            <a:avLst/>
          </a:prstGeom>
          <a:noFill/>
          <a:ln>
            <a:noFill/>
          </a:ln>
        </p:spPr>
        <p:txBody>
          <a:bodyPr spcFirstLastPara="1" wrap="square" lIns="68575" tIns="34275" rIns="68575" bIns="34275" anchor="t" anchorCtr="0">
            <a:normAutofit/>
          </a:bodyPr>
          <a:lstStyle/>
          <a:p>
            <a:pPr marL="457200" lvl="0" indent="-342900" algn="l" rtl="0">
              <a:lnSpc>
                <a:spcPct val="150000"/>
              </a:lnSpc>
              <a:spcBef>
                <a:spcPts val="0"/>
              </a:spcBef>
              <a:spcAft>
                <a:spcPts val="0"/>
              </a:spcAft>
              <a:buSzPts val="1800"/>
              <a:buChar char="●"/>
            </a:pPr>
            <a:r>
              <a:rPr lang="en-GB"/>
              <a:t>Motivation</a:t>
            </a:r>
            <a:endParaRPr/>
          </a:p>
          <a:p>
            <a:pPr marL="457200" lvl="0" indent="-342900" algn="l" rtl="0">
              <a:lnSpc>
                <a:spcPct val="150000"/>
              </a:lnSpc>
              <a:spcBef>
                <a:spcPts val="0"/>
              </a:spcBef>
              <a:spcAft>
                <a:spcPts val="0"/>
              </a:spcAft>
              <a:buSzPts val="1800"/>
              <a:buChar char="●"/>
            </a:pPr>
            <a:r>
              <a:rPr lang="en-GB"/>
              <a:t>Problem deﬁnition</a:t>
            </a:r>
            <a:endParaRPr/>
          </a:p>
          <a:p>
            <a:pPr marL="457200" lvl="0" indent="-342900" algn="l" rtl="0">
              <a:lnSpc>
                <a:spcPct val="150000"/>
              </a:lnSpc>
              <a:spcBef>
                <a:spcPts val="0"/>
              </a:spcBef>
              <a:spcAft>
                <a:spcPts val="0"/>
              </a:spcAft>
              <a:buSzPts val="1800"/>
              <a:buChar char="●"/>
            </a:pPr>
            <a:r>
              <a:rPr lang="en-GB"/>
              <a:t>N-gram models</a:t>
            </a:r>
            <a:endParaRPr/>
          </a:p>
          <a:p>
            <a:pPr marL="457200" lvl="0" indent="-342900" algn="l" rtl="0">
              <a:lnSpc>
                <a:spcPct val="150000"/>
              </a:lnSpc>
              <a:spcBef>
                <a:spcPts val="0"/>
              </a:spcBef>
              <a:spcAft>
                <a:spcPts val="0"/>
              </a:spcAft>
              <a:buSzPts val="1800"/>
              <a:buChar char="●"/>
            </a:pPr>
            <a:r>
              <a:rPr lang="en-GB"/>
              <a:t>Evaluation</a:t>
            </a:r>
            <a:endParaRPr/>
          </a:p>
          <a:p>
            <a:pPr marL="457200" lvl="0" indent="-342900" algn="l" rtl="0">
              <a:lnSpc>
                <a:spcPct val="150000"/>
              </a:lnSpc>
              <a:spcBef>
                <a:spcPts val="0"/>
              </a:spcBef>
              <a:spcAft>
                <a:spcPts val="0"/>
              </a:spcAft>
              <a:buSzPts val="1800"/>
              <a:buChar char="●"/>
            </a:pPr>
            <a:r>
              <a:rPr lang="en-GB"/>
              <a:t>Estimation</a:t>
            </a:r>
            <a:endParaRPr/>
          </a:p>
          <a:p>
            <a:pPr marL="914400" lvl="1" indent="-342900" algn="l" rtl="0">
              <a:lnSpc>
                <a:spcPct val="150000"/>
              </a:lnSpc>
              <a:spcBef>
                <a:spcPts val="0"/>
              </a:spcBef>
              <a:spcAft>
                <a:spcPts val="0"/>
              </a:spcAft>
              <a:buSzPts val="1800"/>
              <a:buChar char="○"/>
            </a:pPr>
            <a:r>
              <a:rPr lang="en-GB"/>
              <a:t>Interpolation</a:t>
            </a:r>
            <a:endParaRPr/>
          </a:p>
          <a:p>
            <a:pPr marL="457200" lvl="0" indent="-342900" algn="l" rtl="0">
              <a:lnSpc>
                <a:spcPct val="150000"/>
              </a:lnSpc>
              <a:spcBef>
                <a:spcPts val="0"/>
              </a:spcBef>
              <a:spcAft>
                <a:spcPts val="0"/>
              </a:spcAft>
              <a:buSzPts val="1800"/>
              <a:buChar char="●"/>
            </a:pPr>
            <a:r>
              <a:rPr lang="en-GB" b="1"/>
              <a:t>Neural language models</a:t>
            </a:r>
            <a:endParaRPr b="1"/>
          </a:p>
        </p:txBody>
      </p:sp>
    </p:spTree>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Shape 728"/>
        <p:cNvGrpSpPr/>
        <p:nvPr/>
      </p:nvGrpSpPr>
      <p:grpSpPr>
        <a:xfrm>
          <a:off x="0" y="0"/>
          <a:ext cx="0" cy="0"/>
          <a:chOff x="0" y="0"/>
          <a:chExt cx="0" cy="0"/>
        </a:xfrm>
      </p:grpSpPr>
      <p:sp>
        <p:nvSpPr>
          <p:cNvPr id="729" name="Google Shape;729;p84"/>
          <p:cNvSpPr txBox="1">
            <a:spLocks noGrp="1"/>
          </p:cNvSpPr>
          <p:nvPr>
            <p:ph type="title"/>
          </p:nvPr>
        </p:nvSpPr>
        <p:spPr>
          <a:xfrm>
            <a:off x="471488" y="205383"/>
            <a:ext cx="5915100" cy="7458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chemeClr val="dk1"/>
              </a:buClr>
              <a:buSzPts val="3300"/>
              <a:buFont typeface="Century Gothic"/>
              <a:buNone/>
            </a:pPr>
            <a:r>
              <a:rPr lang="en-GB"/>
              <a:t>Problem</a:t>
            </a:r>
            <a:endParaRPr/>
          </a:p>
        </p:txBody>
      </p:sp>
      <p:sp>
        <p:nvSpPr>
          <p:cNvPr id="730" name="Google Shape;730;p84"/>
          <p:cNvSpPr txBox="1">
            <a:spLocks noGrp="1"/>
          </p:cNvSpPr>
          <p:nvPr>
            <p:ph type="body" idx="1"/>
          </p:nvPr>
        </p:nvSpPr>
        <p:spPr>
          <a:xfrm>
            <a:off x="628650" y="1369222"/>
            <a:ext cx="8372400" cy="1802700"/>
          </a:xfrm>
          <a:prstGeom prst="rect">
            <a:avLst/>
          </a:prstGeom>
          <a:noFill/>
          <a:ln>
            <a:noFill/>
          </a:ln>
        </p:spPr>
        <p:txBody>
          <a:bodyPr spcFirstLastPara="1" wrap="square" lIns="68575" tIns="34275" rIns="68575" bIns="34275" anchor="t" anchorCtr="0">
            <a:normAutofit/>
          </a:bodyPr>
          <a:lstStyle/>
          <a:p>
            <a:pPr marL="457200" lvl="0" indent="-342900" algn="l" rtl="0">
              <a:lnSpc>
                <a:spcPct val="150000"/>
              </a:lnSpc>
              <a:spcBef>
                <a:spcPts val="0"/>
              </a:spcBef>
              <a:spcAft>
                <a:spcPts val="0"/>
              </a:spcAft>
              <a:buSzPts val="1800"/>
              <a:buChar char="●"/>
            </a:pPr>
            <a:r>
              <a:rPr lang="en-GB"/>
              <a:t>Our estimator is based on one-hot representations, which do not capture relations between words.</a:t>
            </a:r>
            <a:endParaRPr/>
          </a:p>
          <a:p>
            <a:pPr marL="914400" lvl="0" indent="0" algn="l" rtl="0">
              <a:lnSpc>
                <a:spcPct val="150000"/>
              </a:lnSpc>
              <a:spcBef>
                <a:spcPts val="0"/>
              </a:spcBef>
              <a:spcAft>
                <a:spcPts val="0"/>
              </a:spcAft>
              <a:buNone/>
            </a:pPr>
            <a:r>
              <a:rPr lang="en-GB">
                <a:solidFill>
                  <a:srgbClr val="00B0F0"/>
                </a:solidFill>
              </a:rPr>
              <a:t>p(played | the, actress)</a:t>
            </a:r>
            <a:endParaRPr>
              <a:solidFill>
                <a:srgbClr val="00B0F0"/>
              </a:solidFill>
            </a:endParaRPr>
          </a:p>
          <a:p>
            <a:pPr marL="914400" lvl="0" indent="0" algn="l" rtl="0">
              <a:spcBef>
                <a:spcPts val="0"/>
              </a:spcBef>
              <a:spcAft>
                <a:spcPts val="0"/>
              </a:spcAft>
              <a:buNone/>
            </a:pPr>
            <a:r>
              <a:rPr lang="en-GB">
                <a:solidFill>
                  <a:srgbClr val="00B0F0"/>
                </a:solidFill>
              </a:rPr>
              <a:t>p(played | the, actor)</a:t>
            </a:r>
            <a:endParaRPr/>
          </a:p>
        </p:txBody>
      </p:sp>
      <p:pic>
        <p:nvPicPr>
          <p:cNvPr id="731" name="Google Shape;731;p84"/>
          <p:cNvPicPr preferRelativeResize="0"/>
          <p:nvPr/>
        </p:nvPicPr>
        <p:blipFill>
          <a:blip r:embed="rId3">
            <a:alphaModFix/>
          </a:blip>
          <a:stretch>
            <a:fillRect/>
          </a:stretch>
        </p:blipFill>
        <p:spPr>
          <a:xfrm>
            <a:off x="4860446" y="2259751"/>
            <a:ext cx="3710975" cy="623975"/>
          </a:xfrm>
          <a:prstGeom prst="rect">
            <a:avLst/>
          </a:prstGeom>
          <a:noFill/>
          <a:ln>
            <a:noFill/>
          </a:ln>
        </p:spPr>
      </p:pic>
      <p:sp>
        <p:nvSpPr>
          <p:cNvPr id="732" name="Google Shape;732;p84"/>
          <p:cNvSpPr txBox="1">
            <a:spLocks noGrp="1"/>
          </p:cNvSpPr>
          <p:nvPr>
            <p:ph type="body" idx="1"/>
          </p:nvPr>
        </p:nvSpPr>
        <p:spPr>
          <a:xfrm>
            <a:off x="628650" y="3276345"/>
            <a:ext cx="8372400" cy="540900"/>
          </a:xfrm>
          <a:prstGeom prst="rect">
            <a:avLst/>
          </a:prstGeom>
          <a:noFill/>
          <a:ln>
            <a:noFill/>
          </a:ln>
        </p:spPr>
        <p:txBody>
          <a:bodyPr spcFirstLastPara="1" wrap="square" lIns="68575" tIns="34275" rIns="68575" bIns="34275" anchor="t" anchorCtr="0">
            <a:normAutofit/>
          </a:bodyPr>
          <a:lstStyle/>
          <a:p>
            <a:pPr marL="457200" lvl="0" indent="-342900" algn="l" rtl="0">
              <a:lnSpc>
                <a:spcPct val="150000"/>
              </a:lnSpc>
              <a:spcBef>
                <a:spcPts val="0"/>
              </a:spcBef>
              <a:spcAft>
                <a:spcPts val="0"/>
              </a:spcAft>
              <a:buSzPts val="1800"/>
              <a:buChar char="●"/>
            </a:pPr>
            <a:r>
              <a:rPr lang="en-GB" dirty="0"/>
              <a:t>Can we exploit semantic similarity between n-grams?</a:t>
            </a:r>
            <a:endParaRPr dirty="0"/>
          </a:p>
        </p:txBody>
      </p:sp>
    </p:spTree>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Shape 736"/>
        <p:cNvGrpSpPr/>
        <p:nvPr/>
      </p:nvGrpSpPr>
      <p:grpSpPr>
        <a:xfrm>
          <a:off x="0" y="0"/>
          <a:ext cx="0" cy="0"/>
          <a:chOff x="0" y="0"/>
          <a:chExt cx="0" cy="0"/>
        </a:xfrm>
      </p:grpSpPr>
      <p:sp>
        <p:nvSpPr>
          <p:cNvPr id="737" name="Google Shape;737;p85"/>
          <p:cNvSpPr txBox="1">
            <a:spLocks noGrp="1"/>
          </p:cNvSpPr>
          <p:nvPr>
            <p:ph type="title"/>
          </p:nvPr>
        </p:nvSpPr>
        <p:spPr>
          <a:xfrm>
            <a:off x="471488" y="205383"/>
            <a:ext cx="5915100" cy="7458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chemeClr val="dk1"/>
              </a:buClr>
              <a:buSzPts val="3300"/>
              <a:buFont typeface="Century Gothic"/>
              <a:buNone/>
            </a:pPr>
            <a:r>
              <a:rPr lang="en-GB"/>
              <a:t>Language modeling with NNs</a:t>
            </a:r>
            <a:endParaRPr/>
          </a:p>
        </p:txBody>
      </p:sp>
      <p:sp>
        <p:nvSpPr>
          <p:cNvPr id="738" name="Google Shape;738;p85"/>
          <p:cNvSpPr txBox="1">
            <a:spLocks noGrp="1"/>
          </p:cNvSpPr>
          <p:nvPr>
            <p:ph type="body" idx="1"/>
          </p:nvPr>
        </p:nvSpPr>
        <p:spPr>
          <a:xfrm>
            <a:off x="628650" y="1369219"/>
            <a:ext cx="8372400" cy="3263400"/>
          </a:xfrm>
          <a:prstGeom prst="rect">
            <a:avLst/>
          </a:prstGeom>
          <a:noFill/>
          <a:ln>
            <a:noFill/>
          </a:ln>
        </p:spPr>
        <p:txBody>
          <a:bodyPr spcFirstLastPara="1" wrap="square" lIns="68575" tIns="34275" rIns="68575" bIns="34275" anchor="t" anchorCtr="0">
            <a:normAutofit fontScale="92500" lnSpcReduction="20000"/>
          </a:bodyPr>
          <a:lstStyle/>
          <a:p>
            <a:pPr marL="457200" lvl="0" indent="-342900" algn="l" rtl="0">
              <a:lnSpc>
                <a:spcPct val="150000"/>
              </a:lnSpc>
              <a:spcBef>
                <a:spcPts val="0"/>
              </a:spcBef>
              <a:spcAft>
                <a:spcPts val="0"/>
              </a:spcAft>
              <a:buSzPts val="1800"/>
              <a:buChar char="●"/>
            </a:pPr>
            <a:r>
              <a:rPr lang="en-GB"/>
              <a:t>Idea: use distributed representations</a:t>
            </a:r>
            <a:endParaRPr/>
          </a:p>
          <a:p>
            <a:pPr marL="914400" lvl="1" indent="-342900" algn="l" rtl="0">
              <a:lnSpc>
                <a:spcPct val="150000"/>
              </a:lnSpc>
              <a:spcBef>
                <a:spcPts val="0"/>
              </a:spcBef>
              <a:spcAft>
                <a:spcPts val="0"/>
              </a:spcAft>
              <a:buSzPts val="1800"/>
              <a:buChar char="○"/>
            </a:pPr>
            <a:r>
              <a:rPr lang="en-GB">
                <a:solidFill>
                  <a:srgbClr val="00B0F0"/>
                </a:solidFill>
              </a:rPr>
              <a:t>Feed-forward</a:t>
            </a:r>
            <a:r>
              <a:rPr lang="en-GB"/>
              <a:t> NNs for language modeling (predetermined horizon)</a:t>
            </a:r>
            <a:endParaRPr/>
          </a:p>
          <a:p>
            <a:pPr marL="914400" lvl="1" indent="-342900" algn="l" rtl="0">
              <a:lnSpc>
                <a:spcPct val="150000"/>
              </a:lnSpc>
              <a:spcBef>
                <a:spcPts val="0"/>
              </a:spcBef>
              <a:spcAft>
                <a:spcPts val="0"/>
              </a:spcAft>
              <a:buSzPts val="1800"/>
              <a:buChar char="○"/>
            </a:pPr>
            <a:r>
              <a:rPr lang="en-GB">
                <a:solidFill>
                  <a:srgbClr val="00B0F0"/>
                </a:solidFill>
              </a:rPr>
              <a:t>Recurrent neural networks </a:t>
            </a:r>
            <a:r>
              <a:rPr lang="en-GB"/>
              <a:t>(infinite horizon) - later</a:t>
            </a:r>
            <a:endParaRPr/>
          </a:p>
          <a:p>
            <a:pPr marL="0" lvl="0" indent="0" algn="l" rtl="0">
              <a:lnSpc>
                <a:spcPct val="150000"/>
              </a:lnSpc>
              <a:spcBef>
                <a:spcPts val="0"/>
              </a:spcBef>
              <a:spcAft>
                <a:spcPts val="0"/>
              </a:spcAft>
              <a:buNone/>
            </a:pPr>
            <a:endParaRPr/>
          </a:p>
          <a:p>
            <a:pPr marL="457200" lvl="0" indent="-342900" algn="l" rtl="0">
              <a:lnSpc>
                <a:spcPct val="150000"/>
              </a:lnSpc>
              <a:spcBef>
                <a:spcPts val="0"/>
              </a:spcBef>
              <a:spcAft>
                <a:spcPts val="0"/>
              </a:spcAft>
              <a:buSzPts val="1800"/>
              <a:buChar char="●"/>
            </a:pPr>
            <a:r>
              <a:rPr lang="en-GB"/>
              <a:t>Learn good representation as a side effect! </a:t>
            </a:r>
            <a:br>
              <a:rPr lang="en-GB"/>
            </a:br>
            <a:r>
              <a:rPr lang="en-GB"/>
              <a:t>	</a:t>
            </a:r>
            <a:r>
              <a:rPr lang="en-GB">
                <a:solidFill>
                  <a:schemeClr val="accent2"/>
                </a:solidFill>
              </a:rPr>
              <a:t>remember self-supervision</a:t>
            </a:r>
            <a:r>
              <a:rPr lang="en-GB"/>
              <a:t>?</a:t>
            </a:r>
            <a:endParaRPr/>
          </a:p>
          <a:p>
            <a:pPr marL="0" lvl="0" indent="0" algn="l" rtl="0">
              <a:lnSpc>
                <a:spcPct val="150000"/>
              </a:lnSpc>
              <a:spcBef>
                <a:spcPts val="800"/>
              </a:spcBef>
              <a:spcAft>
                <a:spcPts val="0"/>
              </a:spcAft>
              <a:buClr>
                <a:schemeClr val="dk1"/>
              </a:buClr>
              <a:buSzPts val="2100"/>
              <a:buNone/>
            </a:pPr>
            <a:endParaRPr/>
          </a:p>
          <a:p>
            <a:pPr marL="0" lvl="0" indent="0" algn="ctr" rtl="0">
              <a:lnSpc>
                <a:spcPct val="150000"/>
              </a:lnSpc>
              <a:spcBef>
                <a:spcPts val="800"/>
              </a:spcBef>
              <a:spcAft>
                <a:spcPts val="1200"/>
              </a:spcAft>
              <a:buClr>
                <a:srgbClr val="00B0F0"/>
              </a:buClr>
              <a:buSzPts val="2100"/>
              <a:buNone/>
            </a:pPr>
            <a:r>
              <a:rPr lang="en-GB" b="1">
                <a:solidFill>
                  <a:srgbClr val="00B0F0"/>
                </a:solidFill>
              </a:rPr>
              <a:t>The prominent approach today!</a:t>
            </a:r>
            <a:endParaRPr/>
          </a:p>
        </p:txBody>
      </p:sp>
    </p:spTree>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Shape 742"/>
        <p:cNvGrpSpPr/>
        <p:nvPr/>
      </p:nvGrpSpPr>
      <p:grpSpPr>
        <a:xfrm>
          <a:off x="0" y="0"/>
          <a:ext cx="0" cy="0"/>
          <a:chOff x="0" y="0"/>
          <a:chExt cx="0" cy="0"/>
        </a:xfrm>
      </p:grpSpPr>
      <p:sp>
        <p:nvSpPr>
          <p:cNvPr id="743" name="Google Shape;743;p86"/>
          <p:cNvSpPr txBox="1">
            <a:spLocks noGrp="1"/>
          </p:cNvSpPr>
          <p:nvPr>
            <p:ph type="title"/>
          </p:nvPr>
        </p:nvSpPr>
        <p:spPr>
          <a:xfrm>
            <a:off x="471488" y="205383"/>
            <a:ext cx="5915100" cy="7458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chemeClr val="dk1"/>
              </a:buClr>
              <a:buSzPts val="3300"/>
              <a:buFont typeface="Century Gothic"/>
              <a:buNone/>
            </a:pPr>
            <a:r>
              <a:rPr lang="en-GB"/>
              <a:t>NN motivation 1</a:t>
            </a:r>
            <a:endParaRPr/>
          </a:p>
        </p:txBody>
      </p:sp>
      <p:pic>
        <p:nvPicPr>
          <p:cNvPr id="745" name="Google Shape;745;p86"/>
          <p:cNvPicPr preferRelativeResize="0">
            <a:picLocks noGrp="1"/>
          </p:cNvPicPr>
          <p:nvPr>
            <p:ph type="body" idx="1"/>
          </p:nvPr>
        </p:nvPicPr>
        <p:blipFill rotWithShape="1">
          <a:blip r:embed="rId3">
            <a:alphaModFix/>
          </a:blip>
          <a:srcRect/>
          <a:stretch/>
        </p:blipFill>
        <p:spPr>
          <a:xfrm>
            <a:off x="2521725" y="951175"/>
            <a:ext cx="4100400" cy="3315900"/>
          </a:xfrm>
          <a:prstGeom prst="rect">
            <a:avLst/>
          </a:prstGeom>
          <a:noFill/>
          <a:ln>
            <a:noFill/>
          </a:ln>
        </p:spPr>
      </p:pic>
      <p:sp>
        <p:nvSpPr>
          <p:cNvPr id="746" name="Google Shape;746;p86"/>
          <p:cNvSpPr txBox="1"/>
          <p:nvPr/>
        </p:nvSpPr>
        <p:spPr>
          <a:xfrm>
            <a:off x="1558433" y="4473399"/>
            <a:ext cx="6027000" cy="392400"/>
          </a:xfrm>
          <a:prstGeom prst="rect">
            <a:avLst/>
          </a:prstGeom>
          <a:noFill/>
          <a:ln>
            <a:noFill/>
          </a:ln>
        </p:spPr>
        <p:txBody>
          <a:bodyPr spcFirstLastPara="1" wrap="square" lIns="68575" tIns="34275" rIns="68575" bIns="34275" anchor="t" anchorCtr="0">
            <a:spAutoFit/>
          </a:bodyPr>
          <a:lstStyle/>
          <a:p>
            <a:pPr marL="0" marR="0" lvl="0" indent="0" algn="ctr" rtl="0">
              <a:spcBef>
                <a:spcPts val="0"/>
              </a:spcBef>
              <a:spcAft>
                <a:spcPts val="0"/>
              </a:spcAft>
              <a:buNone/>
            </a:pPr>
            <a:r>
              <a:rPr lang="en-GB" sz="2100">
                <a:solidFill>
                  <a:srgbClr val="C55A11"/>
                </a:solidFill>
              </a:rPr>
              <a:t>Can we learn representations from raw data?</a:t>
            </a:r>
            <a:endParaRPr sz="2100">
              <a:solidFill>
                <a:srgbClr val="C55A1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4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Shape 750"/>
        <p:cNvGrpSpPr/>
        <p:nvPr/>
      </p:nvGrpSpPr>
      <p:grpSpPr>
        <a:xfrm>
          <a:off x="0" y="0"/>
          <a:ext cx="0" cy="0"/>
          <a:chOff x="0" y="0"/>
          <a:chExt cx="0" cy="0"/>
        </a:xfrm>
      </p:grpSpPr>
      <p:sp>
        <p:nvSpPr>
          <p:cNvPr id="751" name="Google Shape;751;p87"/>
          <p:cNvSpPr txBox="1">
            <a:spLocks noGrp="1"/>
          </p:cNvSpPr>
          <p:nvPr>
            <p:ph type="title"/>
          </p:nvPr>
        </p:nvSpPr>
        <p:spPr>
          <a:xfrm>
            <a:off x="471488" y="205383"/>
            <a:ext cx="5915100" cy="7458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chemeClr val="dk1"/>
              </a:buClr>
              <a:buSzPts val="3300"/>
              <a:buFont typeface="Century Gothic"/>
              <a:buNone/>
            </a:pPr>
            <a:r>
              <a:rPr lang="en-GB"/>
              <a:t>NN motivation 2</a:t>
            </a:r>
            <a:endParaRPr/>
          </a:p>
        </p:txBody>
      </p:sp>
      <p:pic>
        <p:nvPicPr>
          <p:cNvPr id="752" name="Google Shape;752;p87"/>
          <p:cNvPicPr preferRelativeResize="0">
            <a:picLocks noGrp="1"/>
          </p:cNvPicPr>
          <p:nvPr>
            <p:ph type="body" idx="1"/>
          </p:nvPr>
        </p:nvPicPr>
        <p:blipFill rotWithShape="1">
          <a:blip r:embed="rId3">
            <a:alphaModFix/>
          </a:blip>
          <a:srcRect/>
          <a:stretch/>
        </p:blipFill>
        <p:spPr>
          <a:xfrm>
            <a:off x="1745808" y="1521619"/>
            <a:ext cx="5652600" cy="2690700"/>
          </a:xfrm>
          <a:prstGeom prst="rect">
            <a:avLst/>
          </a:prstGeom>
          <a:noFill/>
          <a:ln>
            <a:noFill/>
          </a:ln>
        </p:spPr>
      </p:pic>
      <p:sp>
        <p:nvSpPr>
          <p:cNvPr id="753" name="Google Shape;753;p87"/>
          <p:cNvSpPr txBox="1"/>
          <p:nvPr/>
        </p:nvSpPr>
        <p:spPr>
          <a:xfrm>
            <a:off x="1558433" y="4473399"/>
            <a:ext cx="6174900" cy="392400"/>
          </a:xfrm>
          <a:prstGeom prst="rect">
            <a:avLst/>
          </a:prstGeom>
          <a:noFill/>
          <a:ln>
            <a:noFill/>
          </a:ln>
        </p:spPr>
        <p:txBody>
          <a:bodyPr spcFirstLastPara="1" wrap="square" lIns="68575" tIns="34275" rIns="68575" bIns="34275" anchor="t" anchorCtr="0">
            <a:spAutoFit/>
          </a:bodyPr>
          <a:lstStyle/>
          <a:p>
            <a:pPr marL="0" marR="0" lvl="0" indent="0" algn="ctr" rtl="0">
              <a:spcBef>
                <a:spcPts val="0"/>
              </a:spcBef>
              <a:spcAft>
                <a:spcPts val="0"/>
              </a:spcAft>
              <a:buNone/>
            </a:pPr>
            <a:r>
              <a:rPr lang="en-GB" sz="2100">
                <a:solidFill>
                  <a:srgbClr val="C55A11"/>
                </a:solidFill>
              </a:rPr>
              <a:t>Can we learn non-linear decision boundaries?</a:t>
            </a:r>
            <a:endParaRPr sz="2100">
              <a:solidFill>
                <a:srgbClr val="C55A1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5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Shape 757"/>
        <p:cNvGrpSpPr/>
        <p:nvPr/>
      </p:nvGrpSpPr>
      <p:grpSpPr>
        <a:xfrm>
          <a:off x="0" y="0"/>
          <a:ext cx="0" cy="0"/>
          <a:chOff x="0" y="0"/>
          <a:chExt cx="0" cy="0"/>
        </a:xfrm>
      </p:grpSpPr>
      <p:sp>
        <p:nvSpPr>
          <p:cNvPr id="758" name="Google Shape;758;p88"/>
          <p:cNvSpPr txBox="1">
            <a:spLocks noGrp="1"/>
          </p:cNvSpPr>
          <p:nvPr>
            <p:ph type="title"/>
          </p:nvPr>
        </p:nvSpPr>
        <p:spPr>
          <a:xfrm>
            <a:off x="471488" y="205383"/>
            <a:ext cx="5915100" cy="7458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chemeClr val="dk1"/>
              </a:buClr>
              <a:buSzPts val="3300"/>
              <a:buFont typeface="Century Gothic"/>
              <a:buNone/>
            </a:pPr>
            <a:r>
              <a:rPr lang="en-GB"/>
              <a:t>NN reminder – single neuron</a:t>
            </a:r>
            <a:endParaRPr/>
          </a:p>
        </p:txBody>
      </p:sp>
      <p:pic>
        <p:nvPicPr>
          <p:cNvPr id="759" name="Google Shape;759;p88"/>
          <p:cNvPicPr preferRelativeResize="0">
            <a:picLocks noGrp="1"/>
          </p:cNvPicPr>
          <p:nvPr>
            <p:ph type="body" idx="1"/>
          </p:nvPr>
        </p:nvPicPr>
        <p:blipFill rotWithShape="1">
          <a:blip r:embed="rId3">
            <a:alphaModFix/>
          </a:blip>
          <a:srcRect/>
          <a:stretch/>
        </p:blipFill>
        <p:spPr>
          <a:xfrm>
            <a:off x="5620941" y="1268016"/>
            <a:ext cx="3123600" cy="3263400"/>
          </a:xfrm>
          <a:prstGeom prst="rect">
            <a:avLst/>
          </a:prstGeom>
          <a:noFill/>
          <a:ln>
            <a:noFill/>
          </a:ln>
        </p:spPr>
      </p:pic>
      <p:sp>
        <p:nvSpPr>
          <p:cNvPr id="760" name="Google Shape;760;p88"/>
          <p:cNvSpPr txBox="1">
            <a:spLocks noGrp="1"/>
          </p:cNvSpPr>
          <p:nvPr>
            <p:ph type="body" idx="2"/>
          </p:nvPr>
        </p:nvSpPr>
        <p:spPr>
          <a:xfrm>
            <a:off x="628649" y="1385888"/>
            <a:ext cx="4675500" cy="3263400"/>
          </a:xfrm>
          <a:prstGeom prst="rect">
            <a:avLst/>
          </a:prstGeom>
          <a:blipFill rotWithShape="1">
            <a:blip r:embed="rId4">
              <a:alphaModFix/>
            </a:blip>
            <a:stretch>
              <a:fillRect l="-809" t="-2909"/>
            </a:stretch>
          </a:blipFill>
          <a:ln>
            <a:noFill/>
          </a:ln>
        </p:spPr>
        <p:txBody>
          <a:bodyPr spcFirstLastPara="1" wrap="square" lIns="68575" tIns="34275" rIns="68575" bIns="34275" anchor="t" anchorCtr="0">
            <a:normAutofit/>
          </a:bodyPr>
          <a:lstStyle/>
          <a:p>
            <a:pPr marL="0" lvl="0" indent="0" algn="l" rtl="0">
              <a:lnSpc>
                <a:spcPct val="90000"/>
              </a:lnSpc>
              <a:spcBef>
                <a:spcPts val="0"/>
              </a:spcBef>
              <a:spcAft>
                <a:spcPts val="1200"/>
              </a:spcAft>
              <a:buNone/>
            </a:pPr>
            <a:r>
              <a:rPr lang="en-GB"/>
              <a:t> </a:t>
            </a:r>
            <a:endParaRPr/>
          </a:p>
        </p:txBody>
      </p:sp>
    </p:spTree>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Shape 766"/>
        <p:cNvGrpSpPr/>
        <p:nvPr/>
      </p:nvGrpSpPr>
      <p:grpSpPr>
        <a:xfrm>
          <a:off x="0" y="0"/>
          <a:ext cx="0" cy="0"/>
          <a:chOff x="0" y="0"/>
          <a:chExt cx="0" cy="0"/>
        </a:xfrm>
      </p:grpSpPr>
      <p:sp>
        <p:nvSpPr>
          <p:cNvPr id="767" name="Google Shape;767;p89"/>
          <p:cNvSpPr txBox="1">
            <a:spLocks noGrp="1"/>
          </p:cNvSpPr>
          <p:nvPr>
            <p:ph type="title"/>
          </p:nvPr>
        </p:nvSpPr>
        <p:spPr>
          <a:xfrm>
            <a:off x="628650" y="273844"/>
            <a:ext cx="7886700" cy="9942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chemeClr val="dk1"/>
              </a:buClr>
              <a:buSzPts val="3300"/>
              <a:buFont typeface="Century Gothic"/>
              <a:buNone/>
            </a:pPr>
            <a:endParaRPr/>
          </a:p>
        </p:txBody>
      </p:sp>
      <p:sp>
        <p:nvSpPr>
          <p:cNvPr id="768" name="Google Shape;768;p89"/>
          <p:cNvSpPr txBox="1">
            <a:spLocks noGrp="1"/>
          </p:cNvSpPr>
          <p:nvPr>
            <p:ph type="body" idx="1"/>
          </p:nvPr>
        </p:nvSpPr>
        <p:spPr>
          <a:xfrm>
            <a:off x="0" y="4767263"/>
            <a:ext cx="3732600" cy="376200"/>
          </a:xfrm>
          <a:prstGeom prst="rect">
            <a:avLst/>
          </a:prstGeom>
          <a:noFill/>
          <a:ln>
            <a:noFill/>
          </a:ln>
        </p:spPr>
        <p:txBody>
          <a:bodyPr spcFirstLastPara="1" wrap="square" lIns="68575" tIns="34275" rIns="68575" bIns="34275" anchor="t" anchorCtr="0">
            <a:normAutofit fontScale="77500" lnSpcReduction="20000"/>
          </a:bodyPr>
          <a:lstStyle/>
          <a:p>
            <a:pPr marL="0" lvl="0" indent="0" algn="l" rtl="0">
              <a:lnSpc>
                <a:spcPct val="90000"/>
              </a:lnSpc>
              <a:spcBef>
                <a:spcPts val="0"/>
              </a:spcBef>
              <a:spcAft>
                <a:spcPts val="1200"/>
              </a:spcAft>
              <a:buClr>
                <a:schemeClr val="lt1"/>
              </a:buClr>
              <a:buSzPts val="2100"/>
              <a:buNone/>
            </a:pPr>
            <a:r>
              <a:rPr lang="en-GB"/>
              <a:t>cs224n</a:t>
            </a:r>
            <a:endParaRPr/>
          </a:p>
        </p:txBody>
      </p:sp>
      <p:pic>
        <p:nvPicPr>
          <p:cNvPr id="769" name="Google Shape;769;p89"/>
          <p:cNvPicPr preferRelativeResize="0"/>
          <p:nvPr/>
        </p:nvPicPr>
        <p:blipFill rotWithShape="1">
          <a:blip r:embed="rId3">
            <a:alphaModFix/>
          </a:blip>
          <a:srcRect/>
          <a:stretch/>
        </p:blipFill>
        <p:spPr>
          <a:xfrm>
            <a:off x="0" y="0"/>
            <a:ext cx="9144002" cy="5127922"/>
          </a:xfrm>
          <a:prstGeom prst="rect">
            <a:avLst/>
          </a:prstGeom>
          <a:noFill/>
          <a:ln>
            <a:noFill/>
          </a:ln>
        </p:spPr>
      </p:pic>
      <p:pic>
        <p:nvPicPr>
          <p:cNvPr id="2" name="Google Shape;239;p29" descr="Slow sign (Provided by Getty Images)">
            <a:extLst>
              <a:ext uri="{FF2B5EF4-FFF2-40B4-BE49-F238E27FC236}">
                <a16:creationId xmlns:a16="http://schemas.microsoft.com/office/drawing/2014/main" id="{86D23D23-A83B-A78B-FDD7-13BDD3A2C775}"/>
              </a:ext>
            </a:extLst>
          </p:cNvPr>
          <p:cNvPicPr preferRelativeResize="0"/>
          <p:nvPr/>
        </p:nvPicPr>
        <p:blipFill>
          <a:blip r:embed="rId4">
            <a:alphaModFix/>
          </a:blip>
          <a:stretch>
            <a:fillRect/>
          </a:stretch>
        </p:blipFill>
        <p:spPr>
          <a:xfrm>
            <a:off x="8373439" y="4621"/>
            <a:ext cx="657603" cy="657603"/>
          </a:xfrm>
          <a:prstGeom prst="rect">
            <a:avLst/>
          </a:prstGeom>
          <a:noFill/>
          <a:ln>
            <a:noFill/>
          </a:ln>
        </p:spPr>
      </p:pic>
    </p:spTree>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Shape 774"/>
        <p:cNvGrpSpPr/>
        <p:nvPr/>
      </p:nvGrpSpPr>
      <p:grpSpPr>
        <a:xfrm>
          <a:off x="0" y="0"/>
          <a:ext cx="0" cy="0"/>
          <a:chOff x="0" y="0"/>
          <a:chExt cx="0" cy="0"/>
        </a:xfrm>
      </p:grpSpPr>
      <p:sp>
        <p:nvSpPr>
          <p:cNvPr id="775" name="Google Shape;775;p90"/>
          <p:cNvSpPr txBox="1">
            <a:spLocks noGrp="1"/>
          </p:cNvSpPr>
          <p:nvPr>
            <p:ph type="title"/>
          </p:nvPr>
        </p:nvSpPr>
        <p:spPr>
          <a:xfrm>
            <a:off x="471488" y="205383"/>
            <a:ext cx="5915100" cy="7458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chemeClr val="dk1"/>
              </a:buClr>
              <a:buSzPts val="3300"/>
              <a:buFont typeface="Century Gothic"/>
              <a:buNone/>
            </a:pPr>
            <a:r>
              <a:rPr lang="en-GB"/>
              <a:t>NN reminder – matrix notation</a:t>
            </a:r>
            <a:endParaRPr/>
          </a:p>
        </p:txBody>
      </p:sp>
      <p:pic>
        <p:nvPicPr>
          <p:cNvPr id="776" name="Google Shape;776;p90"/>
          <p:cNvPicPr preferRelativeResize="0">
            <a:picLocks noGrp="1"/>
          </p:cNvPicPr>
          <p:nvPr>
            <p:ph type="body" idx="2"/>
          </p:nvPr>
        </p:nvPicPr>
        <p:blipFill rotWithShape="1">
          <a:blip r:embed="rId3">
            <a:alphaModFix/>
          </a:blip>
          <a:srcRect/>
          <a:stretch/>
        </p:blipFill>
        <p:spPr>
          <a:xfrm>
            <a:off x="6743700" y="1384697"/>
            <a:ext cx="2143200" cy="3248100"/>
          </a:xfrm>
          <a:prstGeom prst="rect">
            <a:avLst/>
          </a:prstGeom>
          <a:noFill/>
          <a:ln>
            <a:noFill/>
          </a:ln>
        </p:spPr>
      </p:pic>
      <p:pic>
        <p:nvPicPr>
          <p:cNvPr id="778" name="Google Shape;778;p90"/>
          <p:cNvPicPr preferRelativeResize="0"/>
          <p:nvPr/>
        </p:nvPicPr>
        <p:blipFill>
          <a:blip r:embed="rId4">
            <a:alphaModFix/>
          </a:blip>
          <a:stretch>
            <a:fillRect/>
          </a:stretch>
        </p:blipFill>
        <p:spPr>
          <a:xfrm>
            <a:off x="471500" y="1369225"/>
            <a:ext cx="4875126" cy="1975275"/>
          </a:xfrm>
          <a:prstGeom prst="rect">
            <a:avLst/>
          </a:prstGeom>
          <a:noFill/>
          <a:ln>
            <a:noFill/>
          </a:ln>
        </p:spPr>
      </p:pic>
    </p:spTree>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Shape 782"/>
        <p:cNvGrpSpPr/>
        <p:nvPr/>
      </p:nvGrpSpPr>
      <p:grpSpPr>
        <a:xfrm>
          <a:off x="0" y="0"/>
          <a:ext cx="0" cy="0"/>
          <a:chOff x="0" y="0"/>
          <a:chExt cx="0" cy="0"/>
        </a:xfrm>
      </p:grpSpPr>
      <p:sp>
        <p:nvSpPr>
          <p:cNvPr id="783" name="Google Shape;783;p91"/>
          <p:cNvSpPr txBox="1">
            <a:spLocks noGrp="1"/>
          </p:cNvSpPr>
          <p:nvPr>
            <p:ph type="title"/>
          </p:nvPr>
        </p:nvSpPr>
        <p:spPr>
          <a:xfrm>
            <a:off x="471488" y="205383"/>
            <a:ext cx="5915100" cy="7458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chemeClr val="dk1"/>
              </a:buClr>
              <a:buSzPts val="3300"/>
              <a:buFont typeface="Century Gothic"/>
              <a:buNone/>
            </a:pPr>
            <a:r>
              <a:rPr lang="en-GB"/>
              <a:t>NN reminder – multi-layer network</a:t>
            </a:r>
            <a:endParaRPr/>
          </a:p>
        </p:txBody>
      </p:sp>
      <p:pic>
        <p:nvPicPr>
          <p:cNvPr id="784" name="Google Shape;784;p91"/>
          <p:cNvPicPr preferRelativeResize="0">
            <a:picLocks noGrp="1"/>
          </p:cNvPicPr>
          <p:nvPr>
            <p:ph type="body" idx="1"/>
          </p:nvPr>
        </p:nvPicPr>
        <p:blipFill rotWithShape="1">
          <a:blip r:embed="rId3">
            <a:alphaModFix/>
          </a:blip>
          <a:srcRect/>
          <a:stretch/>
        </p:blipFill>
        <p:spPr>
          <a:xfrm>
            <a:off x="1570300" y="1103525"/>
            <a:ext cx="6147600" cy="3708300"/>
          </a:xfrm>
          <a:prstGeom prst="rect">
            <a:avLst/>
          </a:prstGeom>
          <a:noFill/>
          <a:ln>
            <a:noFill/>
          </a:ln>
        </p:spPr>
      </p:pic>
    </p:spTree>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sp>
        <p:nvSpPr>
          <p:cNvPr id="221" name="Google Shape;221;p29"/>
          <p:cNvSpPr txBox="1">
            <a:spLocks noGrp="1"/>
          </p:cNvSpPr>
          <p:nvPr>
            <p:ph type="title"/>
          </p:nvPr>
        </p:nvSpPr>
        <p:spPr>
          <a:xfrm>
            <a:off x="628650" y="273844"/>
            <a:ext cx="7886700" cy="994200"/>
          </a:xfrm>
          <a:prstGeom prst="rect">
            <a:avLst/>
          </a:prstGeom>
        </p:spPr>
        <p:txBody>
          <a:bodyPr spcFirstLastPara="1" wrap="square" lIns="68575" tIns="34275" rIns="68575" bIns="34275" anchor="ctr" anchorCtr="0">
            <a:normAutofit/>
          </a:bodyPr>
          <a:lstStyle/>
          <a:p>
            <a:pPr marL="0" lvl="0" indent="0" algn="l" rtl="0">
              <a:spcBef>
                <a:spcPts val="0"/>
              </a:spcBef>
              <a:spcAft>
                <a:spcPts val="0"/>
              </a:spcAft>
              <a:buNone/>
            </a:pPr>
            <a:r>
              <a:rPr lang="en-GB" dirty="0">
                <a:solidFill>
                  <a:schemeClr val="accent1">
                    <a:lumMod val="75000"/>
                  </a:schemeClr>
                </a:solidFill>
              </a:rPr>
              <a:t>Reminder: </a:t>
            </a:r>
            <a:r>
              <a:rPr lang="en-GB" dirty="0" err="1"/>
              <a:t>Skipgram</a:t>
            </a:r>
            <a:r>
              <a:rPr lang="en-GB" dirty="0"/>
              <a:t>: Neural Network</a:t>
            </a:r>
            <a:endParaRPr dirty="0"/>
          </a:p>
        </p:txBody>
      </p:sp>
      <p:sp>
        <p:nvSpPr>
          <p:cNvPr id="222" name="Google Shape;222;p29"/>
          <p:cNvSpPr txBox="1">
            <a:spLocks noGrp="1"/>
          </p:cNvSpPr>
          <p:nvPr>
            <p:ph type="body" idx="1"/>
          </p:nvPr>
        </p:nvSpPr>
        <p:spPr>
          <a:xfrm>
            <a:off x="628650" y="1369219"/>
            <a:ext cx="7886700" cy="3263400"/>
          </a:xfrm>
          <a:prstGeom prst="rect">
            <a:avLst/>
          </a:prstGeom>
        </p:spPr>
        <p:txBody>
          <a:bodyPr spcFirstLastPara="1" wrap="square" lIns="68575" tIns="34275" rIns="68575" bIns="34275" anchor="t" anchorCtr="0">
            <a:normAutofit/>
          </a:bodyPr>
          <a:lstStyle/>
          <a:p>
            <a:pPr marL="0" lvl="0" indent="0" algn="l" rtl="0">
              <a:spcBef>
                <a:spcPts val="800"/>
              </a:spcBef>
              <a:spcAft>
                <a:spcPts val="0"/>
              </a:spcAft>
              <a:buNone/>
            </a:pPr>
            <a:r>
              <a:rPr lang="en-GB"/>
              <a:t>An equivalent way to look at the word2vec model:</a:t>
            </a:r>
            <a:endParaRPr/>
          </a:p>
          <a:p>
            <a:pPr marL="0" lvl="0" indent="0" algn="l" rtl="0">
              <a:spcBef>
                <a:spcPts val="1200"/>
              </a:spcBef>
              <a:spcAft>
                <a:spcPts val="1200"/>
              </a:spcAft>
              <a:buNone/>
            </a:pPr>
            <a:endParaRPr/>
          </a:p>
        </p:txBody>
      </p:sp>
      <p:sp>
        <p:nvSpPr>
          <p:cNvPr id="224" name="Google Shape;224;p29"/>
          <p:cNvSpPr/>
          <p:nvPr/>
        </p:nvSpPr>
        <p:spPr>
          <a:xfrm rot="5400000">
            <a:off x="1861725" y="1540325"/>
            <a:ext cx="920100" cy="1937400"/>
          </a:xfrm>
          <a:prstGeom prst="rect">
            <a:avLst/>
          </a:prstGeom>
          <a:solidFill>
            <a:srgbClr val="CFE2F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5" name="Google Shape;225;p29"/>
          <p:cNvSpPr/>
          <p:nvPr/>
        </p:nvSpPr>
        <p:spPr>
          <a:xfrm rot="10800000">
            <a:off x="3508375" y="2048963"/>
            <a:ext cx="920100" cy="1937400"/>
          </a:xfrm>
          <a:prstGeom prst="rect">
            <a:avLst/>
          </a:prstGeom>
          <a:solidFill>
            <a:srgbClr val="CFE2F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6" name="Google Shape;226;p29"/>
          <p:cNvSpPr/>
          <p:nvPr/>
        </p:nvSpPr>
        <p:spPr>
          <a:xfrm rot="10800000">
            <a:off x="952175" y="2048963"/>
            <a:ext cx="183000" cy="19374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7" name="Google Shape;227;p29"/>
          <p:cNvSpPr/>
          <p:nvPr/>
        </p:nvSpPr>
        <p:spPr>
          <a:xfrm rot="10800000">
            <a:off x="5886773" y="2048976"/>
            <a:ext cx="183000" cy="1937400"/>
          </a:xfrm>
          <a:prstGeom prst="rect">
            <a:avLst/>
          </a:prstGeom>
          <a:solidFill>
            <a:srgbClr val="FCE5CD"/>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8" name="Google Shape;228;p29"/>
          <p:cNvSpPr/>
          <p:nvPr/>
        </p:nvSpPr>
        <p:spPr>
          <a:xfrm>
            <a:off x="4697562" y="2619375"/>
            <a:ext cx="920100" cy="660250"/>
          </a:xfrm>
          <a:prstGeom prst="flowChartDecision">
            <a:avLst/>
          </a:prstGeom>
          <a:solidFill>
            <a:srgbClr val="D9D2E9"/>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9" name="Google Shape;229;p29"/>
          <p:cNvSpPr/>
          <p:nvPr/>
        </p:nvSpPr>
        <p:spPr>
          <a:xfrm>
            <a:off x="4481075" y="2933275"/>
            <a:ext cx="183000" cy="35700"/>
          </a:xfrm>
          <a:prstGeom prst="right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30" name="Google Shape;230;p29"/>
          <p:cNvSpPr/>
          <p:nvPr/>
        </p:nvSpPr>
        <p:spPr>
          <a:xfrm>
            <a:off x="5640094" y="2934141"/>
            <a:ext cx="183000" cy="35700"/>
          </a:xfrm>
          <a:prstGeom prst="right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31" name="Google Shape;231;p29"/>
          <p:cNvSpPr/>
          <p:nvPr/>
        </p:nvSpPr>
        <p:spPr>
          <a:xfrm rot="10800000">
            <a:off x="952175" y="2521870"/>
            <a:ext cx="183000" cy="165600"/>
          </a:xfrm>
          <a:prstGeom prst="rect">
            <a:avLst/>
          </a:prstGeom>
          <a:solidFill>
            <a:schemeClr val="dk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32" name="Google Shape;232;p29"/>
          <p:cNvSpPr txBox="1"/>
          <p:nvPr/>
        </p:nvSpPr>
        <p:spPr>
          <a:xfrm>
            <a:off x="1353075" y="2170475"/>
            <a:ext cx="1937400" cy="677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GB" sz="3200" i="1">
                <a:solidFill>
                  <a:srgbClr val="1155CC"/>
                </a:solidFill>
              </a:rPr>
              <a:t>V</a:t>
            </a:r>
            <a:endParaRPr sz="3200" i="1">
              <a:solidFill>
                <a:srgbClr val="1155CC"/>
              </a:solidFill>
            </a:endParaRPr>
          </a:p>
        </p:txBody>
      </p:sp>
      <p:sp>
        <p:nvSpPr>
          <p:cNvPr id="233" name="Google Shape;233;p29"/>
          <p:cNvSpPr txBox="1"/>
          <p:nvPr/>
        </p:nvSpPr>
        <p:spPr>
          <a:xfrm>
            <a:off x="3508375" y="2613450"/>
            <a:ext cx="920100" cy="677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GB" sz="3200" i="1">
                <a:solidFill>
                  <a:srgbClr val="1155CC"/>
                </a:solidFill>
              </a:rPr>
              <a:t>U</a:t>
            </a:r>
            <a:endParaRPr sz="3200" i="1">
              <a:solidFill>
                <a:srgbClr val="1155CC"/>
              </a:solidFill>
            </a:endParaRPr>
          </a:p>
        </p:txBody>
      </p:sp>
      <p:sp>
        <p:nvSpPr>
          <p:cNvPr id="234" name="Google Shape;234;p29"/>
          <p:cNvSpPr txBox="1"/>
          <p:nvPr/>
        </p:nvSpPr>
        <p:spPr>
          <a:xfrm>
            <a:off x="129875" y="4042100"/>
            <a:ext cx="1937400" cy="9234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GB" sz="1600" b="1" u="sng">
                <a:solidFill>
                  <a:schemeClr val="accent5"/>
                </a:solidFill>
              </a:rPr>
              <a:t>Input</a:t>
            </a:r>
            <a:r>
              <a:rPr lang="en-GB" sz="1600" b="1">
                <a:solidFill>
                  <a:schemeClr val="accent5"/>
                </a:solidFill>
              </a:rPr>
              <a:t>:</a:t>
            </a:r>
            <a:endParaRPr sz="1600" b="1">
              <a:solidFill>
                <a:schemeClr val="accent5"/>
              </a:solidFill>
            </a:endParaRPr>
          </a:p>
          <a:p>
            <a:pPr marL="0" lvl="0" indent="0" algn="ctr" rtl="0">
              <a:spcBef>
                <a:spcPts val="0"/>
              </a:spcBef>
              <a:spcAft>
                <a:spcPts val="0"/>
              </a:spcAft>
              <a:buNone/>
            </a:pPr>
            <a:r>
              <a:rPr lang="en-GB" sz="1600" b="1">
                <a:solidFill>
                  <a:schemeClr val="accent5"/>
                </a:solidFill>
              </a:rPr>
              <a:t>One-hot encoding of center word</a:t>
            </a:r>
            <a:endParaRPr sz="1600" b="1">
              <a:solidFill>
                <a:schemeClr val="accent5"/>
              </a:solidFill>
            </a:endParaRPr>
          </a:p>
        </p:txBody>
      </p:sp>
      <p:sp>
        <p:nvSpPr>
          <p:cNvPr id="235" name="Google Shape;235;p29"/>
          <p:cNvSpPr txBox="1"/>
          <p:nvPr/>
        </p:nvSpPr>
        <p:spPr>
          <a:xfrm>
            <a:off x="1353075" y="3062975"/>
            <a:ext cx="1937400" cy="431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GB" sz="1600" b="1">
                <a:solidFill>
                  <a:schemeClr val="accent5"/>
                </a:solidFill>
              </a:rPr>
              <a:t>First linear layer</a:t>
            </a:r>
            <a:endParaRPr sz="1600" b="1">
              <a:solidFill>
                <a:schemeClr val="accent5"/>
              </a:solidFill>
            </a:endParaRPr>
          </a:p>
        </p:txBody>
      </p:sp>
      <p:sp>
        <p:nvSpPr>
          <p:cNvPr id="236" name="Google Shape;236;p29"/>
          <p:cNvSpPr txBox="1"/>
          <p:nvPr/>
        </p:nvSpPr>
        <p:spPr>
          <a:xfrm>
            <a:off x="3173575" y="4038275"/>
            <a:ext cx="1589700" cy="677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GB" sz="1600" b="1">
                <a:solidFill>
                  <a:schemeClr val="accent5"/>
                </a:solidFill>
              </a:rPr>
              <a:t>Second linear layer</a:t>
            </a:r>
            <a:endParaRPr sz="1600" b="1">
              <a:solidFill>
                <a:schemeClr val="accent5"/>
              </a:solidFill>
            </a:endParaRPr>
          </a:p>
        </p:txBody>
      </p:sp>
      <p:sp>
        <p:nvSpPr>
          <p:cNvPr id="237" name="Google Shape;237;p29"/>
          <p:cNvSpPr txBox="1"/>
          <p:nvPr/>
        </p:nvSpPr>
        <p:spPr>
          <a:xfrm>
            <a:off x="4188900" y="3320400"/>
            <a:ext cx="1937400" cy="677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GB" sz="1600" b="1">
                <a:solidFill>
                  <a:schemeClr val="accent5"/>
                </a:solidFill>
              </a:rPr>
              <a:t>Softmax activation</a:t>
            </a:r>
            <a:endParaRPr sz="1600" b="1">
              <a:solidFill>
                <a:schemeClr val="accent5"/>
              </a:solidFill>
            </a:endParaRPr>
          </a:p>
        </p:txBody>
      </p:sp>
      <p:sp>
        <p:nvSpPr>
          <p:cNvPr id="238" name="Google Shape;238;p29"/>
          <p:cNvSpPr txBox="1"/>
          <p:nvPr/>
        </p:nvSpPr>
        <p:spPr>
          <a:xfrm>
            <a:off x="5009575" y="4038275"/>
            <a:ext cx="1937400" cy="9234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GB" sz="1600" b="1" u="sng">
                <a:solidFill>
                  <a:schemeClr val="accent5"/>
                </a:solidFill>
              </a:rPr>
              <a:t>Output</a:t>
            </a:r>
            <a:r>
              <a:rPr lang="en-GB" sz="1600" b="1">
                <a:solidFill>
                  <a:schemeClr val="accent5"/>
                </a:solidFill>
              </a:rPr>
              <a:t>:</a:t>
            </a:r>
            <a:endParaRPr sz="1600" b="1">
              <a:solidFill>
                <a:schemeClr val="accent5"/>
              </a:solidFill>
            </a:endParaRPr>
          </a:p>
          <a:p>
            <a:pPr marL="0" lvl="0" indent="0" algn="ctr" rtl="0">
              <a:spcBef>
                <a:spcPts val="0"/>
              </a:spcBef>
              <a:spcAft>
                <a:spcPts val="0"/>
              </a:spcAft>
              <a:buNone/>
            </a:pPr>
            <a:r>
              <a:rPr lang="en-GB" sz="1600" b="1">
                <a:solidFill>
                  <a:schemeClr val="accent5"/>
                </a:solidFill>
              </a:rPr>
              <a:t>Vector of outside word probabilities </a:t>
            </a:r>
            <a:endParaRPr sz="1600" b="1">
              <a:solidFill>
                <a:schemeClr val="accent5"/>
              </a:solidFill>
            </a:endParaRPr>
          </a:p>
        </p:txBody>
      </p:sp>
      <p:pic>
        <p:nvPicPr>
          <p:cNvPr id="2" name="Google Shape;239;p29" descr="Slow sign (Provided by Getty Images)">
            <a:extLst>
              <a:ext uri="{FF2B5EF4-FFF2-40B4-BE49-F238E27FC236}">
                <a16:creationId xmlns:a16="http://schemas.microsoft.com/office/drawing/2014/main" id="{3D057A09-919D-F65B-22CA-30B15B6A64B8}"/>
              </a:ext>
            </a:extLst>
          </p:cNvPr>
          <p:cNvPicPr preferRelativeResize="0"/>
          <p:nvPr/>
        </p:nvPicPr>
        <p:blipFill>
          <a:blip r:embed="rId3">
            <a:alphaModFix/>
          </a:blip>
          <a:stretch>
            <a:fillRect/>
          </a:stretch>
        </p:blipFill>
        <p:spPr>
          <a:xfrm>
            <a:off x="8373439" y="4621"/>
            <a:ext cx="657603" cy="657603"/>
          </a:xfrm>
          <a:prstGeom prst="rect">
            <a:avLst/>
          </a:prstGeom>
          <a:noFill/>
          <a:ln>
            <a:noFill/>
          </a:ln>
        </p:spPr>
      </p:pic>
    </p:spTree>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Shape 281"/>
        <p:cNvGrpSpPr/>
        <p:nvPr/>
      </p:nvGrpSpPr>
      <p:grpSpPr>
        <a:xfrm>
          <a:off x="0" y="0"/>
          <a:ext cx="0" cy="0"/>
          <a:chOff x="0" y="0"/>
          <a:chExt cx="0" cy="0"/>
        </a:xfrm>
      </p:grpSpPr>
      <p:sp>
        <p:nvSpPr>
          <p:cNvPr id="282" name="Google Shape;282;p32"/>
          <p:cNvSpPr txBox="1">
            <a:spLocks noGrp="1"/>
          </p:cNvSpPr>
          <p:nvPr>
            <p:ph type="title"/>
          </p:nvPr>
        </p:nvSpPr>
        <p:spPr>
          <a:xfrm>
            <a:off x="332509" y="273850"/>
            <a:ext cx="8298480" cy="994200"/>
          </a:xfrm>
          <a:prstGeom prst="rect">
            <a:avLst/>
          </a:prstGeom>
        </p:spPr>
        <p:txBody>
          <a:bodyPr spcFirstLastPara="1" wrap="square" lIns="68575" tIns="34275" rIns="68575" bIns="34275" anchor="ctr" anchorCtr="0">
            <a:normAutofit/>
          </a:bodyPr>
          <a:lstStyle/>
          <a:p>
            <a:pPr lvl="0"/>
            <a:r>
              <a:rPr lang="en-GB" dirty="0">
                <a:solidFill>
                  <a:schemeClr val="accent1">
                    <a:lumMod val="75000"/>
                  </a:schemeClr>
                </a:solidFill>
              </a:rPr>
              <a:t>Reminder: </a:t>
            </a:r>
            <a:br>
              <a:rPr lang="en-GB" dirty="0">
                <a:solidFill>
                  <a:schemeClr val="accent1">
                    <a:lumMod val="75000"/>
                  </a:schemeClr>
                </a:solidFill>
              </a:rPr>
            </a:br>
            <a:r>
              <a:rPr lang="en-GB" dirty="0" err="1"/>
              <a:t>Skipgram</a:t>
            </a:r>
            <a:r>
              <a:rPr lang="en-GB" dirty="0"/>
              <a:t> with Negative Sampling: Neural Network</a:t>
            </a:r>
            <a:endParaRPr dirty="0"/>
          </a:p>
        </p:txBody>
      </p:sp>
      <p:sp>
        <p:nvSpPr>
          <p:cNvPr id="283" name="Google Shape;283;p32"/>
          <p:cNvSpPr/>
          <p:nvPr/>
        </p:nvSpPr>
        <p:spPr>
          <a:xfrm rot="5400000">
            <a:off x="2095901" y="860101"/>
            <a:ext cx="920100" cy="1937400"/>
          </a:xfrm>
          <a:prstGeom prst="rect">
            <a:avLst/>
          </a:prstGeom>
          <a:solidFill>
            <a:srgbClr val="CFE2F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84" name="Google Shape;284;p32"/>
          <p:cNvSpPr/>
          <p:nvPr/>
        </p:nvSpPr>
        <p:spPr>
          <a:xfrm rot="10800000">
            <a:off x="1186351" y="1379889"/>
            <a:ext cx="183000" cy="19374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85" name="Google Shape;285;p32"/>
          <p:cNvSpPr/>
          <p:nvPr/>
        </p:nvSpPr>
        <p:spPr>
          <a:xfrm rot="10800000">
            <a:off x="7170726" y="2562562"/>
            <a:ext cx="157200" cy="181200"/>
          </a:xfrm>
          <a:prstGeom prst="rect">
            <a:avLst/>
          </a:prstGeom>
          <a:solidFill>
            <a:srgbClr val="FCE5CD"/>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86" name="Google Shape;286;p32"/>
          <p:cNvSpPr/>
          <p:nvPr/>
        </p:nvSpPr>
        <p:spPr>
          <a:xfrm rot="10800000">
            <a:off x="1186351" y="1852797"/>
            <a:ext cx="183000" cy="165600"/>
          </a:xfrm>
          <a:prstGeom prst="rect">
            <a:avLst/>
          </a:prstGeom>
          <a:solidFill>
            <a:srgbClr val="7030A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87" name="Google Shape;287;p32"/>
          <p:cNvSpPr txBox="1"/>
          <p:nvPr/>
        </p:nvSpPr>
        <p:spPr>
          <a:xfrm>
            <a:off x="1587251" y="1490251"/>
            <a:ext cx="1937400" cy="677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GB" sz="3200" i="1">
                <a:solidFill>
                  <a:srgbClr val="1155CC"/>
                </a:solidFill>
              </a:rPr>
              <a:t>V</a:t>
            </a:r>
            <a:endParaRPr sz="3200" i="1">
              <a:solidFill>
                <a:srgbClr val="1155CC"/>
              </a:solidFill>
            </a:endParaRPr>
          </a:p>
        </p:txBody>
      </p:sp>
      <p:sp>
        <p:nvSpPr>
          <p:cNvPr id="288" name="Google Shape;288;p32"/>
          <p:cNvSpPr txBox="1"/>
          <p:nvPr/>
        </p:nvSpPr>
        <p:spPr>
          <a:xfrm>
            <a:off x="3742551" y="2613450"/>
            <a:ext cx="920100" cy="677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endParaRPr sz="3200" i="1">
              <a:solidFill>
                <a:srgbClr val="1155CC"/>
              </a:solidFill>
            </a:endParaRPr>
          </a:p>
        </p:txBody>
      </p:sp>
      <p:sp>
        <p:nvSpPr>
          <p:cNvPr id="289" name="Google Shape;289;p32"/>
          <p:cNvSpPr txBox="1"/>
          <p:nvPr/>
        </p:nvSpPr>
        <p:spPr>
          <a:xfrm>
            <a:off x="44594" y="1997700"/>
            <a:ext cx="1156200" cy="19086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GB" sz="1600" b="1" u="sng">
                <a:solidFill>
                  <a:schemeClr val="accent5"/>
                </a:solidFill>
              </a:rPr>
              <a:t>Input</a:t>
            </a:r>
            <a:r>
              <a:rPr lang="en-GB" sz="1600" b="1">
                <a:solidFill>
                  <a:schemeClr val="accent5"/>
                </a:solidFill>
              </a:rPr>
              <a:t>:</a:t>
            </a:r>
            <a:endParaRPr sz="1600" b="1">
              <a:solidFill>
                <a:schemeClr val="accent5"/>
              </a:solidFill>
            </a:endParaRPr>
          </a:p>
          <a:p>
            <a:pPr marL="0" lvl="0" indent="0" algn="ctr" rtl="0">
              <a:spcBef>
                <a:spcPts val="0"/>
              </a:spcBef>
              <a:spcAft>
                <a:spcPts val="0"/>
              </a:spcAft>
              <a:buNone/>
            </a:pPr>
            <a:r>
              <a:rPr lang="en-GB" sz="1600" b="1">
                <a:solidFill>
                  <a:schemeClr val="accent5"/>
                </a:solidFill>
              </a:rPr>
              <a:t>One-hot encoding of </a:t>
            </a:r>
            <a:r>
              <a:rPr lang="en-GB" sz="1600" b="1">
                <a:solidFill>
                  <a:srgbClr val="7030A0"/>
                </a:solidFill>
              </a:rPr>
              <a:t>center</a:t>
            </a:r>
            <a:r>
              <a:rPr lang="en-GB" sz="1600" b="1">
                <a:solidFill>
                  <a:schemeClr val="accent5"/>
                </a:solidFill>
              </a:rPr>
              <a:t> word and </a:t>
            </a:r>
            <a:r>
              <a:rPr lang="en-GB" sz="1600" b="1">
                <a:solidFill>
                  <a:srgbClr val="C55A11"/>
                </a:solidFill>
              </a:rPr>
              <a:t>outside</a:t>
            </a:r>
            <a:r>
              <a:rPr lang="en-GB" sz="1600" b="1">
                <a:solidFill>
                  <a:schemeClr val="accent5"/>
                </a:solidFill>
              </a:rPr>
              <a:t> word pair</a:t>
            </a:r>
            <a:endParaRPr sz="1600" b="1">
              <a:solidFill>
                <a:schemeClr val="accent5"/>
              </a:solidFill>
            </a:endParaRPr>
          </a:p>
        </p:txBody>
      </p:sp>
      <p:sp>
        <p:nvSpPr>
          <p:cNvPr id="290" name="Google Shape;290;p32"/>
          <p:cNvSpPr txBox="1"/>
          <p:nvPr/>
        </p:nvSpPr>
        <p:spPr>
          <a:xfrm>
            <a:off x="1587251" y="2233094"/>
            <a:ext cx="1937400" cy="431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GB" sz="1600" b="1">
                <a:solidFill>
                  <a:schemeClr val="accent5"/>
                </a:solidFill>
              </a:rPr>
              <a:t>linear layer</a:t>
            </a:r>
            <a:endParaRPr sz="1600" b="1">
              <a:solidFill>
                <a:schemeClr val="accent5"/>
              </a:solidFill>
            </a:endParaRPr>
          </a:p>
        </p:txBody>
      </p:sp>
      <p:sp>
        <p:nvSpPr>
          <p:cNvPr id="291" name="Google Shape;291;p32"/>
          <p:cNvSpPr txBox="1"/>
          <p:nvPr/>
        </p:nvSpPr>
        <p:spPr>
          <a:xfrm>
            <a:off x="4083576" y="2917550"/>
            <a:ext cx="1231800" cy="9234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GB" sz="1600" b="1">
                <a:solidFill>
                  <a:schemeClr val="accent5"/>
                </a:solidFill>
              </a:rPr>
              <a:t>Inner product gate</a:t>
            </a:r>
            <a:endParaRPr sz="1600" b="1">
              <a:solidFill>
                <a:schemeClr val="accent5"/>
              </a:solidFill>
            </a:endParaRPr>
          </a:p>
        </p:txBody>
      </p:sp>
      <p:sp>
        <p:nvSpPr>
          <p:cNvPr id="292" name="Google Shape;292;p32"/>
          <p:cNvSpPr txBox="1"/>
          <p:nvPr/>
        </p:nvSpPr>
        <p:spPr>
          <a:xfrm>
            <a:off x="5108963" y="2917550"/>
            <a:ext cx="1937400" cy="677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GB" sz="1600" b="1">
                <a:solidFill>
                  <a:schemeClr val="accent5"/>
                </a:solidFill>
              </a:rPr>
              <a:t>Sigmoid activation</a:t>
            </a:r>
            <a:endParaRPr sz="1600" b="1">
              <a:solidFill>
                <a:schemeClr val="accent5"/>
              </a:solidFill>
            </a:endParaRPr>
          </a:p>
        </p:txBody>
      </p:sp>
      <p:sp>
        <p:nvSpPr>
          <p:cNvPr id="293" name="Google Shape;293;p32"/>
          <p:cNvSpPr txBox="1"/>
          <p:nvPr/>
        </p:nvSpPr>
        <p:spPr>
          <a:xfrm>
            <a:off x="7258901" y="2433334"/>
            <a:ext cx="1698900" cy="16623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GB" sz="1600" b="1" u="sng">
                <a:solidFill>
                  <a:schemeClr val="accent5"/>
                </a:solidFill>
              </a:rPr>
              <a:t>Output</a:t>
            </a:r>
            <a:r>
              <a:rPr lang="en-GB" sz="1600" b="1">
                <a:solidFill>
                  <a:schemeClr val="accent5"/>
                </a:solidFill>
              </a:rPr>
              <a:t>:</a:t>
            </a:r>
            <a:endParaRPr sz="1600" b="1">
              <a:solidFill>
                <a:schemeClr val="accent5"/>
              </a:solidFill>
            </a:endParaRPr>
          </a:p>
          <a:p>
            <a:pPr marL="0" lvl="0" indent="0" algn="ctr" rtl="0">
              <a:spcBef>
                <a:spcPts val="0"/>
              </a:spcBef>
              <a:spcAft>
                <a:spcPts val="0"/>
              </a:spcAft>
              <a:buNone/>
            </a:pPr>
            <a:r>
              <a:rPr lang="en-GB" sz="1600" b="1">
                <a:solidFill>
                  <a:schemeClr val="accent5"/>
                </a:solidFill>
              </a:rPr>
              <a:t>Probability of input pair appearing in the same window </a:t>
            </a:r>
            <a:endParaRPr sz="1600" b="1">
              <a:solidFill>
                <a:schemeClr val="accent5"/>
              </a:solidFill>
            </a:endParaRPr>
          </a:p>
        </p:txBody>
      </p:sp>
      <p:sp>
        <p:nvSpPr>
          <p:cNvPr id="294" name="Google Shape;294;p32"/>
          <p:cNvSpPr/>
          <p:nvPr/>
        </p:nvSpPr>
        <p:spPr>
          <a:xfrm rot="5400000">
            <a:off x="2162551" y="2504476"/>
            <a:ext cx="920100" cy="1937400"/>
          </a:xfrm>
          <a:prstGeom prst="rect">
            <a:avLst/>
          </a:prstGeom>
          <a:solidFill>
            <a:srgbClr val="CFE2F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95" name="Google Shape;295;p32"/>
          <p:cNvSpPr/>
          <p:nvPr/>
        </p:nvSpPr>
        <p:spPr>
          <a:xfrm rot="10800000">
            <a:off x="1253001" y="3024264"/>
            <a:ext cx="183000" cy="19374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96" name="Google Shape;296;p32"/>
          <p:cNvSpPr/>
          <p:nvPr/>
        </p:nvSpPr>
        <p:spPr>
          <a:xfrm rot="10800000">
            <a:off x="1253001" y="3497172"/>
            <a:ext cx="183000" cy="165600"/>
          </a:xfrm>
          <a:prstGeom prst="rect">
            <a:avLst/>
          </a:prstGeom>
          <a:solidFill>
            <a:srgbClr val="C55A1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97" name="Google Shape;297;p32"/>
          <p:cNvSpPr txBox="1"/>
          <p:nvPr/>
        </p:nvSpPr>
        <p:spPr>
          <a:xfrm>
            <a:off x="1653901" y="3134626"/>
            <a:ext cx="1937400" cy="677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GB" sz="3200" i="1">
                <a:solidFill>
                  <a:srgbClr val="1155CC"/>
                </a:solidFill>
              </a:rPr>
              <a:t>U</a:t>
            </a:r>
            <a:endParaRPr sz="3200" i="1">
              <a:solidFill>
                <a:srgbClr val="1155CC"/>
              </a:solidFill>
            </a:endParaRPr>
          </a:p>
        </p:txBody>
      </p:sp>
      <p:sp>
        <p:nvSpPr>
          <p:cNvPr id="298" name="Google Shape;298;p32"/>
          <p:cNvSpPr txBox="1"/>
          <p:nvPr/>
        </p:nvSpPr>
        <p:spPr>
          <a:xfrm>
            <a:off x="1653901" y="3877469"/>
            <a:ext cx="1937400" cy="431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GB" sz="1600" b="1">
                <a:solidFill>
                  <a:schemeClr val="accent5"/>
                </a:solidFill>
              </a:rPr>
              <a:t>linear layer</a:t>
            </a:r>
            <a:endParaRPr sz="1600" b="1">
              <a:solidFill>
                <a:schemeClr val="accent5"/>
              </a:solidFill>
            </a:endParaRPr>
          </a:p>
        </p:txBody>
      </p:sp>
      <p:sp>
        <p:nvSpPr>
          <p:cNvPr id="299" name="Google Shape;299;p32"/>
          <p:cNvSpPr/>
          <p:nvPr/>
        </p:nvSpPr>
        <p:spPr>
          <a:xfrm>
            <a:off x="4414313" y="2346563"/>
            <a:ext cx="570300" cy="613200"/>
          </a:xfrm>
          <a:prstGeom prst="ellipse">
            <a:avLst/>
          </a:prstGeom>
          <a:solidFill>
            <a:srgbClr val="FFF2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a:t>IP</a:t>
            </a:r>
            <a:endParaRPr/>
          </a:p>
        </p:txBody>
      </p:sp>
      <p:pic>
        <p:nvPicPr>
          <p:cNvPr id="300" name="Google Shape;300;p32" title="Screenshot 2025-10-27 at 11.29.07 AM.png"/>
          <p:cNvPicPr preferRelativeResize="0"/>
          <p:nvPr/>
        </p:nvPicPr>
        <p:blipFill>
          <a:blip r:embed="rId3">
            <a:alphaModFix/>
          </a:blip>
          <a:stretch>
            <a:fillRect/>
          </a:stretch>
        </p:blipFill>
        <p:spPr>
          <a:xfrm>
            <a:off x="5034476" y="2160500"/>
            <a:ext cx="612589" cy="376200"/>
          </a:xfrm>
          <a:prstGeom prst="rect">
            <a:avLst/>
          </a:prstGeom>
          <a:noFill/>
          <a:ln>
            <a:noFill/>
          </a:ln>
        </p:spPr>
      </p:pic>
      <p:pic>
        <p:nvPicPr>
          <p:cNvPr id="301" name="Google Shape;301;p32" title="Screenshot 2025-10-27 at 11.29.13 AM.png"/>
          <p:cNvPicPr preferRelativeResize="0"/>
          <p:nvPr/>
        </p:nvPicPr>
        <p:blipFill>
          <a:blip r:embed="rId4">
            <a:alphaModFix/>
          </a:blip>
          <a:stretch>
            <a:fillRect/>
          </a:stretch>
        </p:blipFill>
        <p:spPr>
          <a:xfrm>
            <a:off x="3966776" y="1692307"/>
            <a:ext cx="343325" cy="300418"/>
          </a:xfrm>
          <a:prstGeom prst="rect">
            <a:avLst/>
          </a:prstGeom>
          <a:noFill/>
          <a:ln>
            <a:noFill/>
          </a:ln>
        </p:spPr>
      </p:pic>
      <p:pic>
        <p:nvPicPr>
          <p:cNvPr id="302" name="Google Shape;302;p32" title="Screenshot 2025-10-27 at 11.29.18 AM.png"/>
          <p:cNvPicPr preferRelativeResize="0"/>
          <p:nvPr/>
        </p:nvPicPr>
        <p:blipFill>
          <a:blip r:embed="rId5">
            <a:alphaModFix/>
          </a:blip>
          <a:stretch>
            <a:fillRect/>
          </a:stretch>
        </p:blipFill>
        <p:spPr>
          <a:xfrm>
            <a:off x="3901913" y="3334925"/>
            <a:ext cx="408188" cy="327854"/>
          </a:xfrm>
          <a:prstGeom prst="rect">
            <a:avLst/>
          </a:prstGeom>
          <a:noFill/>
          <a:ln>
            <a:noFill/>
          </a:ln>
        </p:spPr>
      </p:pic>
      <p:sp>
        <p:nvSpPr>
          <p:cNvPr id="303" name="Google Shape;303;p32"/>
          <p:cNvSpPr/>
          <p:nvPr/>
        </p:nvSpPr>
        <p:spPr>
          <a:xfrm rot="1857663">
            <a:off x="3473880" y="1973847"/>
            <a:ext cx="1092223" cy="237903"/>
          </a:xfrm>
          <a:prstGeom prst="right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04" name="Google Shape;304;p32"/>
          <p:cNvSpPr/>
          <p:nvPr/>
        </p:nvSpPr>
        <p:spPr>
          <a:xfrm rot="-1781070">
            <a:off x="3555579" y="3086229"/>
            <a:ext cx="988644" cy="193346"/>
          </a:xfrm>
          <a:prstGeom prst="right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05" name="Google Shape;305;p32"/>
          <p:cNvSpPr/>
          <p:nvPr/>
        </p:nvSpPr>
        <p:spPr>
          <a:xfrm>
            <a:off x="4158326" y="3334225"/>
            <a:ext cx="157200" cy="891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06" name="Google Shape;306;p32"/>
          <p:cNvSpPr/>
          <p:nvPr/>
        </p:nvSpPr>
        <p:spPr>
          <a:xfrm>
            <a:off x="5034477" y="2535863"/>
            <a:ext cx="714600" cy="234600"/>
          </a:xfrm>
          <a:prstGeom prst="right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07" name="Google Shape;307;p32"/>
          <p:cNvSpPr/>
          <p:nvPr/>
        </p:nvSpPr>
        <p:spPr>
          <a:xfrm>
            <a:off x="5771378" y="2346563"/>
            <a:ext cx="612600" cy="613200"/>
          </a:xfrm>
          <a:prstGeom prst="diamond">
            <a:avLst/>
          </a:prstGeom>
          <a:solidFill>
            <a:srgbClr val="D9D2E9"/>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08" name="Google Shape;308;p32"/>
          <p:cNvSpPr/>
          <p:nvPr/>
        </p:nvSpPr>
        <p:spPr>
          <a:xfrm>
            <a:off x="6406277" y="2535850"/>
            <a:ext cx="714600" cy="234600"/>
          </a:xfrm>
          <a:prstGeom prst="right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Tree>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Shape 789"/>
        <p:cNvGrpSpPr/>
        <p:nvPr/>
      </p:nvGrpSpPr>
      <p:grpSpPr>
        <a:xfrm>
          <a:off x="0" y="0"/>
          <a:ext cx="0" cy="0"/>
          <a:chOff x="0" y="0"/>
          <a:chExt cx="0" cy="0"/>
        </a:xfrm>
      </p:grpSpPr>
      <p:sp>
        <p:nvSpPr>
          <p:cNvPr id="790" name="Google Shape;790;p92"/>
          <p:cNvSpPr txBox="1">
            <a:spLocks noGrp="1"/>
          </p:cNvSpPr>
          <p:nvPr>
            <p:ph type="title"/>
          </p:nvPr>
        </p:nvSpPr>
        <p:spPr>
          <a:xfrm>
            <a:off x="471488" y="205383"/>
            <a:ext cx="5915100" cy="7458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chemeClr val="dk1"/>
              </a:buClr>
              <a:buSzPts val="3300"/>
              <a:buFont typeface="Century Gothic"/>
              <a:buNone/>
            </a:pPr>
            <a:r>
              <a:rPr lang="en-GB"/>
              <a:t>Bigram LM with feed-forward NNs</a:t>
            </a:r>
            <a:endParaRPr/>
          </a:p>
        </p:txBody>
      </p:sp>
      <p:sp>
        <p:nvSpPr>
          <p:cNvPr id="791" name="Google Shape;791;p92"/>
          <p:cNvSpPr txBox="1"/>
          <p:nvPr/>
        </p:nvSpPr>
        <p:spPr>
          <a:xfrm>
            <a:off x="497350" y="1143000"/>
            <a:ext cx="5915100" cy="877200"/>
          </a:xfrm>
          <a:prstGeom prst="rect">
            <a:avLst/>
          </a:prstGeom>
          <a:noFill/>
          <a:ln>
            <a:noFill/>
          </a:ln>
        </p:spPr>
        <p:txBody>
          <a:bodyPr spcFirstLastPara="1" wrap="square" lIns="91425" tIns="91425" rIns="91425" bIns="91425" anchor="t" anchorCtr="0">
            <a:spAutoFit/>
          </a:bodyPr>
          <a:lstStyle/>
          <a:p>
            <a:pPr marL="457200" lvl="0" indent="-342900" algn="l" rtl="0">
              <a:lnSpc>
                <a:spcPct val="150000"/>
              </a:lnSpc>
              <a:spcBef>
                <a:spcPts val="0"/>
              </a:spcBef>
              <a:spcAft>
                <a:spcPts val="0"/>
              </a:spcAft>
              <a:buClr>
                <a:schemeClr val="dk2"/>
              </a:buClr>
              <a:buSzPts val="1800"/>
              <a:buChar char="●"/>
            </a:pPr>
            <a:r>
              <a:rPr lang="en-GB" sz="1800">
                <a:solidFill>
                  <a:schemeClr val="dk2"/>
                </a:solidFill>
              </a:rPr>
              <a:t>Keep the Markov assumption</a:t>
            </a:r>
            <a:endParaRPr sz="1800">
              <a:solidFill>
                <a:schemeClr val="dk2"/>
              </a:solidFill>
            </a:endParaRPr>
          </a:p>
          <a:p>
            <a:pPr marL="457200" lvl="0" indent="-342900" algn="l" rtl="0">
              <a:lnSpc>
                <a:spcPct val="150000"/>
              </a:lnSpc>
              <a:spcBef>
                <a:spcPts val="0"/>
              </a:spcBef>
              <a:spcAft>
                <a:spcPts val="0"/>
              </a:spcAft>
              <a:buClr>
                <a:schemeClr val="dk2"/>
              </a:buClr>
              <a:buSzPts val="1800"/>
              <a:buChar char="●"/>
            </a:pPr>
            <a:r>
              <a:rPr lang="en-GB" sz="1800">
                <a:solidFill>
                  <a:schemeClr val="dk2"/>
                </a:solidFill>
              </a:rPr>
              <a:t>Learn a probability with distributed representations:</a:t>
            </a:r>
            <a:endParaRPr sz="1800">
              <a:solidFill>
                <a:schemeClr val="dk2"/>
              </a:solidFill>
            </a:endParaRPr>
          </a:p>
        </p:txBody>
      </p:sp>
      <p:pic>
        <p:nvPicPr>
          <p:cNvPr id="792" name="Google Shape;792;p92"/>
          <p:cNvPicPr preferRelativeResize="0"/>
          <p:nvPr/>
        </p:nvPicPr>
        <p:blipFill>
          <a:blip r:embed="rId3">
            <a:alphaModFix/>
          </a:blip>
          <a:stretch>
            <a:fillRect/>
          </a:stretch>
        </p:blipFill>
        <p:spPr>
          <a:xfrm>
            <a:off x="6112500" y="2143250"/>
            <a:ext cx="2818501" cy="2818501"/>
          </a:xfrm>
          <a:prstGeom prst="rect">
            <a:avLst/>
          </a:prstGeom>
          <a:noFill/>
          <a:ln>
            <a:noFill/>
          </a:ln>
        </p:spPr>
      </p:pic>
      <p:pic>
        <p:nvPicPr>
          <p:cNvPr id="793" name="Google Shape;793;p92"/>
          <p:cNvPicPr preferRelativeResize="0"/>
          <p:nvPr/>
        </p:nvPicPr>
        <p:blipFill rotWithShape="1">
          <a:blip r:embed="rId4">
            <a:alphaModFix/>
          </a:blip>
          <a:srcRect r="46712"/>
          <a:stretch/>
        </p:blipFill>
        <p:spPr>
          <a:xfrm>
            <a:off x="1048851" y="2058025"/>
            <a:ext cx="2333700" cy="346200"/>
          </a:xfrm>
          <a:prstGeom prst="rect">
            <a:avLst/>
          </a:prstGeom>
          <a:noFill/>
          <a:ln>
            <a:noFill/>
          </a:ln>
        </p:spPr>
      </p:pic>
    </p:spTree>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Shape 798"/>
        <p:cNvGrpSpPr/>
        <p:nvPr/>
      </p:nvGrpSpPr>
      <p:grpSpPr>
        <a:xfrm>
          <a:off x="0" y="0"/>
          <a:ext cx="0" cy="0"/>
          <a:chOff x="0" y="0"/>
          <a:chExt cx="0" cy="0"/>
        </a:xfrm>
      </p:grpSpPr>
      <p:sp>
        <p:nvSpPr>
          <p:cNvPr id="799" name="Google Shape;799;p93"/>
          <p:cNvSpPr txBox="1">
            <a:spLocks noGrp="1"/>
          </p:cNvSpPr>
          <p:nvPr>
            <p:ph type="title"/>
          </p:nvPr>
        </p:nvSpPr>
        <p:spPr>
          <a:xfrm>
            <a:off x="471488" y="205383"/>
            <a:ext cx="5915100" cy="7458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chemeClr val="dk1"/>
              </a:buClr>
              <a:buSzPts val="3300"/>
              <a:buFont typeface="Century Gothic"/>
              <a:buNone/>
            </a:pPr>
            <a:r>
              <a:rPr lang="en-GB"/>
              <a:t>Bigram LM with feed-forward NNs</a:t>
            </a:r>
            <a:endParaRPr/>
          </a:p>
        </p:txBody>
      </p:sp>
      <p:sp>
        <p:nvSpPr>
          <p:cNvPr id="800" name="Google Shape;800;p93"/>
          <p:cNvSpPr/>
          <p:nvPr/>
        </p:nvSpPr>
        <p:spPr>
          <a:xfrm>
            <a:off x="2117822" y="3777899"/>
            <a:ext cx="2061600" cy="1146600"/>
          </a:xfrm>
          <a:prstGeom prst="rect">
            <a:avLst/>
          </a:prstGeom>
          <a:blipFill rotWithShape="1">
            <a:blip r:embed="rId3">
              <a:alphaModFix/>
            </a:blip>
            <a:stretch>
              <a:fillRect/>
            </a:stretch>
          </a:blipFill>
          <a:ln w="9525" cap="flat" cmpd="sng">
            <a:solidFill>
              <a:srgbClr val="C55A11"/>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r>
              <a:rPr lang="en-GB" sz="1400">
                <a:latin typeface="Century Gothic"/>
                <a:ea typeface="Century Gothic"/>
                <a:cs typeface="Century Gothic"/>
                <a:sym typeface="Century Gothic"/>
              </a:rPr>
              <a:t> </a:t>
            </a:r>
            <a:endParaRPr sz="1100"/>
          </a:p>
        </p:txBody>
      </p:sp>
      <p:sp>
        <p:nvSpPr>
          <p:cNvPr id="801" name="Google Shape;801;p93"/>
          <p:cNvSpPr txBox="1"/>
          <p:nvPr/>
        </p:nvSpPr>
        <p:spPr>
          <a:xfrm>
            <a:off x="5470138" y="4727794"/>
            <a:ext cx="507600" cy="3462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GB" sz="1800">
                <a:solidFill>
                  <a:schemeClr val="dk1"/>
                </a:solidFill>
              </a:rPr>
              <a:t>the</a:t>
            </a:r>
            <a:endParaRPr sz="1100"/>
          </a:p>
        </p:txBody>
      </p:sp>
      <p:sp>
        <p:nvSpPr>
          <p:cNvPr id="802" name="Google Shape;802;p93"/>
          <p:cNvSpPr txBox="1"/>
          <p:nvPr/>
        </p:nvSpPr>
        <p:spPr>
          <a:xfrm>
            <a:off x="7750236" y="4727794"/>
            <a:ext cx="603600" cy="3462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GB" sz="1800">
                <a:solidFill>
                  <a:schemeClr val="dk1"/>
                </a:solidFill>
              </a:rPr>
              <a:t>dog</a:t>
            </a:r>
            <a:endParaRPr sz="1400">
              <a:solidFill>
                <a:schemeClr val="dk1"/>
              </a:solidFill>
            </a:endParaRPr>
          </a:p>
        </p:txBody>
      </p:sp>
      <p:sp>
        <p:nvSpPr>
          <p:cNvPr id="803" name="Google Shape;803;p93"/>
          <p:cNvSpPr/>
          <p:nvPr/>
        </p:nvSpPr>
        <p:spPr>
          <a:xfrm>
            <a:off x="4811402" y="4162993"/>
            <a:ext cx="1733700" cy="276900"/>
          </a:xfrm>
          <a:prstGeom prst="rect">
            <a:avLst/>
          </a:prstGeom>
          <a:blipFill rotWithShape="1">
            <a:blip r:embed="rId4">
              <a:alphaModFix/>
            </a:blip>
            <a:stretch>
              <a:fillRect b="-27268"/>
            </a:stretch>
          </a:blipFill>
          <a:ln w="9525" cap="flat" cmpd="sng">
            <a:solidFill>
              <a:srgbClr val="C55A11"/>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r>
              <a:rPr lang="en-GB" sz="1400">
                <a:latin typeface="Century Gothic"/>
                <a:ea typeface="Century Gothic"/>
                <a:cs typeface="Century Gothic"/>
                <a:sym typeface="Century Gothic"/>
              </a:rPr>
              <a:t> </a:t>
            </a:r>
            <a:endParaRPr sz="1100"/>
          </a:p>
        </p:txBody>
      </p:sp>
      <p:sp>
        <p:nvSpPr>
          <p:cNvPr id="804" name="Google Shape;804;p93"/>
          <p:cNvSpPr/>
          <p:nvPr/>
        </p:nvSpPr>
        <p:spPr>
          <a:xfrm>
            <a:off x="7126967" y="4162993"/>
            <a:ext cx="1733700" cy="276900"/>
          </a:xfrm>
          <a:prstGeom prst="rect">
            <a:avLst/>
          </a:prstGeom>
          <a:blipFill rotWithShape="1">
            <a:blip r:embed="rId5">
              <a:alphaModFix/>
            </a:blip>
            <a:stretch>
              <a:fillRect b="-27268"/>
            </a:stretch>
          </a:blipFill>
          <a:ln w="9525" cap="flat" cmpd="sng">
            <a:solidFill>
              <a:srgbClr val="C55A11"/>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r>
              <a:rPr lang="en-GB" sz="1400">
                <a:latin typeface="Century Gothic"/>
                <a:ea typeface="Century Gothic"/>
                <a:cs typeface="Century Gothic"/>
                <a:sym typeface="Century Gothic"/>
              </a:rPr>
              <a:t> </a:t>
            </a:r>
            <a:endParaRPr sz="1100"/>
          </a:p>
        </p:txBody>
      </p:sp>
      <p:cxnSp>
        <p:nvCxnSpPr>
          <p:cNvPr id="805" name="Google Shape;805;p93"/>
          <p:cNvCxnSpPr/>
          <p:nvPr/>
        </p:nvCxnSpPr>
        <p:spPr>
          <a:xfrm rot="10800000">
            <a:off x="5678247" y="4440094"/>
            <a:ext cx="0" cy="287700"/>
          </a:xfrm>
          <a:prstGeom prst="straightConnector1">
            <a:avLst/>
          </a:prstGeom>
          <a:noFill/>
          <a:ln w="19050" cap="flat" cmpd="sng">
            <a:solidFill>
              <a:srgbClr val="C55A11"/>
            </a:solidFill>
            <a:prstDash val="dot"/>
            <a:miter lim="800000"/>
            <a:headEnd type="none" w="sm" len="sm"/>
            <a:tailEnd type="triangle" w="med" len="med"/>
          </a:ln>
        </p:spPr>
      </p:cxnSp>
      <p:cxnSp>
        <p:nvCxnSpPr>
          <p:cNvPr id="806" name="Google Shape;806;p93"/>
          <p:cNvCxnSpPr/>
          <p:nvPr/>
        </p:nvCxnSpPr>
        <p:spPr>
          <a:xfrm rot="10800000">
            <a:off x="7993812" y="4440094"/>
            <a:ext cx="0" cy="287700"/>
          </a:xfrm>
          <a:prstGeom prst="straightConnector1">
            <a:avLst/>
          </a:prstGeom>
          <a:noFill/>
          <a:ln w="19050" cap="flat" cmpd="sng">
            <a:solidFill>
              <a:srgbClr val="C55A11"/>
            </a:solidFill>
            <a:prstDash val="dot"/>
            <a:miter lim="800000"/>
            <a:headEnd type="none" w="sm" len="sm"/>
            <a:tailEnd type="triangle" w="med" len="med"/>
          </a:ln>
        </p:spPr>
      </p:cxnSp>
      <p:cxnSp>
        <p:nvCxnSpPr>
          <p:cNvPr id="807" name="Google Shape;807;p93"/>
          <p:cNvCxnSpPr>
            <a:endCxn id="800" idx="3"/>
          </p:cNvCxnSpPr>
          <p:nvPr/>
        </p:nvCxnSpPr>
        <p:spPr>
          <a:xfrm rot="10800000">
            <a:off x="4179422" y="4351199"/>
            <a:ext cx="1290600" cy="520500"/>
          </a:xfrm>
          <a:prstGeom prst="straightConnector1">
            <a:avLst/>
          </a:prstGeom>
          <a:noFill/>
          <a:ln w="19050" cap="flat" cmpd="sng">
            <a:solidFill>
              <a:srgbClr val="C55A11"/>
            </a:solidFill>
            <a:prstDash val="dot"/>
            <a:miter lim="800000"/>
            <a:headEnd type="none" w="sm" len="sm"/>
            <a:tailEnd type="triangle" w="med" len="med"/>
          </a:ln>
        </p:spPr>
      </p:cxnSp>
      <p:cxnSp>
        <p:nvCxnSpPr>
          <p:cNvPr id="808" name="Google Shape;808;p93"/>
          <p:cNvCxnSpPr>
            <a:endCxn id="803" idx="1"/>
          </p:cNvCxnSpPr>
          <p:nvPr/>
        </p:nvCxnSpPr>
        <p:spPr>
          <a:xfrm>
            <a:off x="4189802" y="4301443"/>
            <a:ext cx="621600" cy="0"/>
          </a:xfrm>
          <a:prstGeom prst="straightConnector1">
            <a:avLst/>
          </a:prstGeom>
          <a:noFill/>
          <a:ln w="19050" cap="flat" cmpd="sng">
            <a:solidFill>
              <a:srgbClr val="C55A11"/>
            </a:solidFill>
            <a:prstDash val="dot"/>
            <a:miter lim="800000"/>
            <a:headEnd type="none" w="sm" len="sm"/>
            <a:tailEnd type="triangle" w="med" len="med"/>
          </a:ln>
        </p:spPr>
      </p:cxnSp>
      <p:sp>
        <p:nvSpPr>
          <p:cNvPr id="809" name="Google Shape;809;p93"/>
          <p:cNvSpPr/>
          <p:nvPr/>
        </p:nvSpPr>
        <p:spPr>
          <a:xfrm>
            <a:off x="5723933" y="3454291"/>
            <a:ext cx="2226900" cy="276900"/>
          </a:xfrm>
          <a:prstGeom prst="rect">
            <a:avLst/>
          </a:prstGeom>
          <a:blipFill rotWithShape="1">
            <a:blip r:embed="rId6">
              <a:alphaModFix/>
            </a:blip>
            <a:stretch>
              <a:fillRect b="-31249"/>
            </a:stretch>
          </a:blipFill>
          <a:ln w="9525" cap="flat" cmpd="sng">
            <a:solidFill>
              <a:srgbClr val="C55A11"/>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r>
              <a:rPr lang="en-GB" sz="1400">
                <a:latin typeface="Century Gothic"/>
                <a:ea typeface="Century Gothic"/>
                <a:cs typeface="Century Gothic"/>
                <a:sym typeface="Century Gothic"/>
              </a:rPr>
              <a:t> </a:t>
            </a:r>
            <a:endParaRPr sz="1100"/>
          </a:p>
        </p:txBody>
      </p:sp>
      <p:sp>
        <p:nvSpPr>
          <p:cNvPr id="810" name="Google Shape;810;p93"/>
          <p:cNvSpPr/>
          <p:nvPr/>
        </p:nvSpPr>
        <p:spPr>
          <a:xfrm>
            <a:off x="4845872" y="2823662"/>
            <a:ext cx="4014900" cy="276900"/>
          </a:xfrm>
          <a:prstGeom prst="rect">
            <a:avLst/>
          </a:prstGeom>
          <a:blipFill rotWithShape="1">
            <a:blip r:embed="rId7">
              <a:alphaModFix/>
            </a:blip>
            <a:stretch>
              <a:fillRect b="-24239"/>
            </a:stretch>
          </a:blipFill>
          <a:ln w="9525" cap="flat" cmpd="sng">
            <a:solidFill>
              <a:srgbClr val="C55A11"/>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r>
              <a:rPr lang="en-GB" sz="1400">
                <a:latin typeface="Century Gothic"/>
                <a:ea typeface="Century Gothic"/>
                <a:cs typeface="Century Gothic"/>
                <a:sym typeface="Century Gothic"/>
              </a:rPr>
              <a:t> </a:t>
            </a:r>
            <a:endParaRPr sz="1100"/>
          </a:p>
        </p:txBody>
      </p:sp>
      <p:cxnSp>
        <p:nvCxnSpPr>
          <p:cNvPr id="811" name="Google Shape;811;p93"/>
          <p:cNvCxnSpPr>
            <a:stCxn id="803" idx="0"/>
          </p:cNvCxnSpPr>
          <p:nvPr/>
        </p:nvCxnSpPr>
        <p:spPr>
          <a:xfrm rot="10800000" flipH="1">
            <a:off x="5678252" y="3832393"/>
            <a:ext cx="1068900" cy="330600"/>
          </a:xfrm>
          <a:prstGeom prst="straightConnector1">
            <a:avLst/>
          </a:prstGeom>
          <a:noFill/>
          <a:ln w="19050" cap="flat" cmpd="sng">
            <a:solidFill>
              <a:srgbClr val="C55A11"/>
            </a:solidFill>
            <a:prstDash val="solid"/>
            <a:miter lim="800000"/>
            <a:headEnd type="none" w="sm" len="sm"/>
            <a:tailEnd type="triangle" w="med" len="med"/>
          </a:ln>
        </p:spPr>
      </p:cxnSp>
      <p:cxnSp>
        <p:nvCxnSpPr>
          <p:cNvPr id="812" name="Google Shape;812;p93"/>
          <p:cNvCxnSpPr>
            <a:stCxn id="804" idx="0"/>
          </p:cNvCxnSpPr>
          <p:nvPr/>
        </p:nvCxnSpPr>
        <p:spPr>
          <a:xfrm rot="10800000">
            <a:off x="6837317" y="3832393"/>
            <a:ext cx="1156500" cy="330600"/>
          </a:xfrm>
          <a:prstGeom prst="straightConnector1">
            <a:avLst/>
          </a:prstGeom>
          <a:noFill/>
          <a:ln w="19050" cap="flat" cmpd="sng">
            <a:solidFill>
              <a:srgbClr val="C55A11"/>
            </a:solidFill>
            <a:prstDash val="solid"/>
            <a:miter lim="800000"/>
            <a:headEnd type="none" w="sm" len="sm"/>
            <a:tailEnd type="triangle" w="med" len="med"/>
          </a:ln>
        </p:spPr>
      </p:cxnSp>
      <p:cxnSp>
        <p:nvCxnSpPr>
          <p:cNvPr id="813" name="Google Shape;813;p93"/>
          <p:cNvCxnSpPr/>
          <p:nvPr/>
        </p:nvCxnSpPr>
        <p:spPr>
          <a:xfrm rot="10800000">
            <a:off x="6834668" y="3141127"/>
            <a:ext cx="2700" cy="270300"/>
          </a:xfrm>
          <a:prstGeom prst="straightConnector1">
            <a:avLst/>
          </a:prstGeom>
          <a:noFill/>
          <a:ln w="19050" cap="flat" cmpd="sng">
            <a:solidFill>
              <a:srgbClr val="C55A11"/>
            </a:solidFill>
            <a:prstDash val="solid"/>
            <a:miter lim="800000"/>
            <a:headEnd type="none" w="sm" len="sm"/>
            <a:tailEnd type="triangle" w="med" len="med"/>
          </a:ln>
        </p:spPr>
      </p:cxnSp>
      <p:sp>
        <p:nvSpPr>
          <p:cNvPr id="814" name="Google Shape;814;p93"/>
          <p:cNvSpPr txBox="1"/>
          <p:nvPr/>
        </p:nvSpPr>
        <p:spPr>
          <a:xfrm>
            <a:off x="7791725" y="2468750"/>
            <a:ext cx="1068900" cy="346200"/>
          </a:xfrm>
          <a:prstGeom prst="rect">
            <a:avLst/>
          </a:prstGeom>
          <a:noFill/>
          <a:ln>
            <a:noFill/>
          </a:ln>
        </p:spPr>
        <p:txBody>
          <a:bodyPr spcFirstLastPara="1" wrap="square" lIns="68575" tIns="34275" rIns="68575" bIns="34275" anchor="t" anchorCtr="0">
            <a:spAutoFit/>
          </a:bodyPr>
          <a:lstStyle/>
          <a:p>
            <a:pPr marL="0" marR="0" lvl="0" indent="0" algn="ctr" rtl="0">
              <a:spcBef>
                <a:spcPts val="0"/>
              </a:spcBef>
              <a:spcAft>
                <a:spcPts val="0"/>
              </a:spcAft>
              <a:buNone/>
            </a:pPr>
            <a:r>
              <a:rPr lang="en-GB" sz="1800">
                <a:solidFill>
                  <a:schemeClr val="dk1"/>
                </a:solidFill>
              </a:rPr>
              <a:t>laughed</a:t>
            </a:r>
            <a:endParaRPr sz="1800"/>
          </a:p>
        </p:txBody>
      </p:sp>
      <p:sp>
        <p:nvSpPr>
          <p:cNvPr id="815" name="Google Shape;815;p93"/>
          <p:cNvSpPr/>
          <p:nvPr/>
        </p:nvSpPr>
        <p:spPr>
          <a:xfrm>
            <a:off x="8247459" y="2823662"/>
            <a:ext cx="148800" cy="276900"/>
          </a:xfrm>
          <a:prstGeom prst="rect">
            <a:avLst/>
          </a:prstGeom>
          <a:solidFill>
            <a:srgbClr val="C55A11"/>
          </a:solidFill>
          <a:ln w="12700" cap="flat" cmpd="sng">
            <a:solidFill>
              <a:srgbClr val="C55A11"/>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entury Gothic"/>
              <a:ea typeface="Century Gothic"/>
              <a:cs typeface="Century Gothic"/>
              <a:sym typeface="Century Gothic"/>
            </a:endParaRPr>
          </a:p>
        </p:txBody>
      </p:sp>
      <p:sp>
        <p:nvSpPr>
          <p:cNvPr id="816" name="Google Shape;816;p93"/>
          <p:cNvSpPr txBox="1"/>
          <p:nvPr/>
        </p:nvSpPr>
        <p:spPr>
          <a:xfrm>
            <a:off x="497350" y="1143000"/>
            <a:ext cx="5915100" cy="877200"/>
          </a:xfrm>
          <a:prstGeom prst="rect">
            <a:avLst/>
          </a:prstGeom>
          <a:noFill/>
          <a:ln>
            <a:noFill/>
          </a:ln>
        </p:spPr>
        <p:txBody>
          <a:bodyPr spcFirstLastPara="1" wrap="square" lIns="91425" tIns="91425" rIns="91425" bIns="91425" anchor="t" anchorCtr="0">
            <a:spAutoFit/>
          </a:bodyPr>
          <a:lstStyle/>
          <a:p>
            <a:pPr marL="457200" lvl="0" indent="-342900" algn="l" rtl="0">
              <a:lnSpc>
                <a:spcPct val="150000"/>
              </a:lnSpc>
              <a:spcBef>
                <a:spcPts val="0"/>
              </a:spcBef>
              <a:spcAft>
                <a:spcPts val="0"/>
              </a:spcAft>
              <a:buClr>
                <a:schemeClr val="dk2"/>
              </a:buClr>
              <a:buSzPts val="1800"/>
              <a:buChar char="●"/>
            </a:pPr>
            <a:r>
              <a:rPr lang="en-GB" sz="1800">
                <a:solidFill>
                  <a:schemeClr val="dk2"/>
                </a:solidFill>
              </a:rPr>
              <a:t>Keep the Markov assumption</a:t>
            </a:r>
            <a:endParaRPr sz="1800">
              <a:solidFill>
                <a:schemeClr val="dk2"/>
              </a:solidFill>
            </a:endParaRPr>
          </a:p>
          <a:p>
            <a:pPr marL="457200" lvl="0" indent="-342900" algn="l" rtl="0">
              <a:lnSpc>
                <a:spcPct val="150000"/>
              </a:lnSpc>
              <a:spcBef>
                <a:spcPts val="0"/>
              </a:spcBef>
              <a:spcAft>
                <a:spcPts val="0"/>
              </a:spcAft>
              <a:buClr>
                <a:schemeClr val="dk2"/>
              </a:buClr>
              <a:buSzPts val="1800"/>
              <a:buChar char="●"/>
            </a:pPr>
            <a:r>
              <a:rPr lang="en-GB" sz="1800">
                <a:solidFill>
                  <a:schemeClr val="dk2"/>
                </a:solidFill>
              </a:rPr>
              <a:t>Learn a probability with distributed representations:</a:t>
            </a:r>
            <a:endParaRPr sz="1800">
              <a:solidFill>
                <a:schemeClr val="dk2"/>
              </a:solidFill>
            </a:endParaRPr>
          </a:p>
        </p:txBody>
      </p:sp>
      <p:pic>
        <p:nvPicPr>
          <p:cNvPr id="817" name="Google Shape;817;p93"/>
          <p:cNvPicPr preferRelativeResize="0"/>
          <p:nvPr/>
        </p:nvPicPr>
        <p:blipFill>
          <a:blip r:embed="rId8">
            <a:alphaModFix/>
          </a:blip>
          <a:stretch>
            <a:fillRect/>
          </a:stretch>
        </p:blipFill>
        <p:spPr>
          <a:xfrm>
            <a:off x="1048851" y="2058033"/>
            <a:ext cx="4379458" cy="346200"/>
          </a:xfrm>
          <a:prstGeom prst="rect">
            <a:avLst/>
          </a:prstGeom>
          <a:noFill/>
          <a:ln>
            <a:noFill/>
          </a:ln>
        </p:spPr>
      </p:pic>
      <p:pic>
        <p:nvPicPr>
          <p:cNvPr id="818" name="Google Shape;818;p93"/>
          <p:cNvPicPr preferRelativeResize="0"/>
          <p:nvPr/>
        </p:nvPicPr>
        <p:blipFill>
          <a:blip r:embed="rId9">
            <a:alphaModFix/>
          </a:blip>
          <a:stretch>
            <a:fillRect/>
          </a:stretch>
        </p:blipFill>
        <p:spPr>
          <a:xfrm>
            <a:off x="682950" y="2768091"/>
            <a:ext cx="2466624" cy="34620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0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01"/>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807"/>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808"/>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80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805"/>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806"/>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802"/>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804"/>
                                        </p:tgtEl>
                                        <p:attrNameLst>
                                          <p:attrName>style.visibility</p:attrName>
                                        </p:attrNameLst>
                                      </p:cBhvr>
                                      <p:to>
                                        <p:strVal val="visible"/>
                                      </p:to>
                                    </p:set>
                                  </p:childTnLst>
                                </p:cTn>
                              </p:par>
                              <p:par>
                                <p:cTn id="27" presetID="1" presetClass="exit" presetSubtype="0" fill="hold" nodeType="withEffect">
                                  <p:stCondLst>
                                    <p:cond delay="0"/>
                                  </p:stCondLst>
                                  <p:childTnLst>
                                    <p:set>
                                      <p:cBhvr>
                                        <p:cTn id="28" dur="1" fill="hold">
                                          <p:stCondLst>
                                            <p:cond delay="1"/>
                                          </p:stCondLst>
                                        </p:cTn>
                                        <p:tgtEl>
                                          <p:spTgt spid="808"/>
                                        </p:tgtEl>
                                        <p:attrNameLst>
                                          <p:attrName>style.visibility</p:attrName>
                                        </p:attrNameLst>
                                      </p:cBhvr>
                                      <p:to>
                                        <p:strVal val="hidden"/>
                                      </p:to>
                                    </p:set>
                                  </p:childTnLst>
                                </p:cTn>
                              </p:par>
                              <p:par>
                                <p:cTn id="29" presetID="1" presetClass="exit" presetSubtype="0" fill="hold" nodeType="withEffect">
                                  <p:stCondLst>
                                    <p:cond delay="0"/>
                                  </p:stCondLst>
                                  <p:childTnLst>
                                    <p:set>
                                      <p:cBhvr>
                                        <p:cTn id="30" dur="1" fill="hold">
                                          <p:stCondLst>
                                            <p:cond delay="1"/>
                                          </p:stCondLst>
                                        </p:cTn>
                                        <p:tgtEl>
                                          <p:spTgt spid="807"/>
                                        </p:tgtEl>
                                        <p:attrNameLst>
                                          <p:attrName>style.visibility</p:attrName>
                                        </p:attrNameLst>
                                      </p:cBhvr>
                                      <p:to>
                                        <p:strVal val="hidden"/>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809"/>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811"/>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812"/>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810"/>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813"/>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814"/>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8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Shape 823"/>
        <p:cNvGrpSpPr/>
        <p:nvPr/>
      </p:nvGrpSpPr>
      <p:grpSpPr>
        <a:xfrm>
          <a:off x="0" y="0"/>
          <a:ext cx="0" cy="0"/>
          <a:chOff x="0" y="0"/>
          <a:chExt cx="0" cy="0"/>
        </a:xfrm>
      </p:grpSpPr>
      <p:sp>
        <p:nvSpPr>
          <p:cNvPr id="824" name="Google Shape;824;p94"/>
          <p:cNvSpPr txBox="1">
            <a:spLocks noGrp="1"/>
          </p:cNvSpPr>
          <p:nvPr>
            <p:ph type="title"/>
          </p:nvPr>
        </p:nvSpPr>
        <p:spPr>
          <a:xfrm>
            <a:off x="471488" y="205383"/>
            <a:ext cx="5915100" cy="7458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chemeClr val="dk1"/>
              </a:buClr>
              <a:buSzPts val="3300"/>
              <a:buFont typeface="Century Gothic"/>
              <a:buNone/>
            </a:pPr>
            <a:r>
              <a:rPr lang="en-GB"/>
              <a:t>Bigram LM with feed-forward NNs</a:t>
            </a:r>
            <a:endParaRPr/>
          </a:p>
        </p:txBody>
      </p:sp>
      <p:sp>
        <p:nvSpPr>
          <p:cNvPr id="825" name="Google Shape;825;p94"/>
          <p:cNvSpPr txBox="1"/>
          <p:nvPr/>
        </p:nvSpPr>
        <p:spPr>
          <a:xfrm>
            <a:off x="497350" y="1143000"/>
            <a:ext cx="5915100" cy="877200"/>
          </a:xfrm>
          <a:prstGeom prst="rect">
            <a:avLst/>
          </a:prstGeom>
          <a:noFill/>
          <a:ln>
            <a:noFill/>
          </a:ln>
        </p:spPr>
        <p:txBody>
          <a:bodyPr spcFirstLastPara="1" wrap="square" lIns="91425" tIns="91425" rIns="91425" bIns="91425" anchor="t" anchorCtr="0">
            <a:spAutoFit/>
          </a:bodyPr>
          <a:lstStyle/>
          <a:p>
            <a:pPr marL="457200" lvl="0" indent="-342900" algn="l" rtl="0">
              <a:lnSpc>
                <a:spcPct val="150000"/>
              </a:lnSpc>
              <a:spcBef>
                <a:spcPts val="0"/>
              </a:spcBef>
              <a:spcAft>
                <a:spcPts val="0"/>
              </a:spcAft>
              <a:buClr>
                <a:schemeClr val="dk2"/>
              </a:buClr>
              <a:buSzPts val="1800"/>
              <a:buChar char="●"/>
            </a:pPr>
            <a:r>
              <a:rPr lang="en-GB" sz="1800">
                <a:solidFill>
                  <a:schemeClr val="dk2"/>
                </a:solidFill>
              </a:rPr>
              <a:t>Keep the Markov assumption</a:t>
            </a:r>
            <a:endParaRPr sz="1800">
              <a:solidFill>
                <a:schemeClr val="dk2"/>
              </a:solidFill>
            </a:endParaRPr>
          </a:p>
          <a:p>
            <a:pPr marL="457200" lvl="0" indent="-342900" algn="l" rtl="0">
              <a:lnSpc>
                <a:spcPct val="150000"/>
              </a:lnSpc>
              <a:spcBef>
                <a:spcPts val="0"/>
              </a:spcBef>
              <a:spcAft>
                <a:spcPts val="0"/>
              </a:spcAft>
              <a:buClr>
                <a:schemeClr val="dk2"/>
              </a:buClr>
              <a:buSzPts val="1800"/>
              <a:buChar char="●"/>
            </a:pPr>
            <a:r>
              <a:rPr lang="en-GB" sz="1800">
                <a:solidFill>
                  <a:schemeClr val="dk2"/>
                </a:solidFill>
              </a:rPr>
              <a:t>Learn a probability with distributed representations:</a:t>
            </a:r>
            <a:endParaRPr sz="1800">
              <a:solidFill>
                <a:schemeClr val="dk2"/>
              </a:solidFill>
            </a:endParaRPr>
          </a:p>
        </p:txBody>
      </p:sp>
      <p:pic>
        <p:nvPicPr>
          <p:cNvPr id="826" name="Google Shape;826;p94"/>
          <p:cNvPicPr preferRelativeResize="0"/>
          <p:nvPr/>
        </p:nvPicPr>
        <p:blipFill>
          <a:blip r:embed="rId3">
            <a:alphaModFix/>
          </a:blip>
          <a:stretch>
            <a:fillRect/>
          </a:stretch>
        </p:blipFill>
        <p:spPr>
          <a:xfrm>
            <a:off x="1048850" y="2058026"/>
            <a:ext cx="3776650" cy="298550"/>
          </a:xfrm>
          <a:prstGeom prst="rect">
            <a:avLst/>
          </a:prstGeom>
          <a:noFill/>
          <a:ln>
            <a:noFill/>
          </a:ln>
        </p:spPr>
      </p:pic>
      <p:pic>
        <p:nvPicPr>
          <p:cNvPr id="827" name="Google Shape;827;p94"/>
          <p:cNvPicPr preferRelativeResize="0"/>
          <p:nvPr/>
        </p:nvPicPr>
        <p:blipFill rotWithShape="1">
          <a:blip r:embed="rId4">
            <a:alphaModFix/>
          </a:blip>
          <a:srcRect b="65793"/>
          <a:stretch/>
        </p:blipFill>
        <p:spPr>
          <a:xfrm>
            <a:off x="998250" y="2409260"/>
            <a:ext cx="5893818" cy="366101"/>
          </a:xfrm>
          <a:prstGeom prst="rect">
            <a:avLst/>
          </a:prstGeom>
          <a:noFill/>
          <a:ln>
            <a:noFill/>
          </a:ln>
        </p:spPr>
      </p:pic>
      <p:pic>
        <p:nvPicPr>
          <p:cNvPr id="828" name="Google Shape;828;p94"/>
          <p:cNvPicPr preferRelativeResize="0"/>
          <p:nvPr/>
        </p:nvPicPr>
        <p:blipFill rotWithShape="1">
          <a:blip r:embed="rId4">
            <a:alphaModFix/>
          </a:blip>
          <a:srcRect t="31179" b="34613"/>
          <a:stretch/>
        </p:blipFill>
        <p:spPr>
          <a:xfrm>
            <a:off x="998250" y="2835503"/>
            <a:ext cx="5893818" cy="366101"/>
          </a:xfrm>
          <a:prstGeom prst="rect">
            <a:avLst/>
          </a:prstGeom>
          <a:noFill/>
          <a:ln>
            <a:noFill/>
          </a:ln>
        </p:spPr>
      </p:pic>
      <p:pic>
        <p:nvPicPr>
          <p:cNvPr id="829" name="Google Shape;829;p94"/>
          <p:cNvPicPr preferRelativeResize="0"/>
          <p:nvPr/>
        </p:nvPicPr>
        <p:blipFill rotWithShape="1">
          <a:blip r:embed="rId4">
            <a:alphaModFix/>
          </a:blip>
          <a:srcRect t="60641" b="5151"/>
          <a:stretch/>
        </p:blipFill>
        <p:spPr>
          <a:xfrm>
            <a:off x="998250" y="3261746"/>
            <a:ext cx="5893818" cy="366101"/>
          </a:xfrm>
          <a:prstGeom prst="rect">
            <a:avLst/>
          </a:prstGeom>
          <a:noFill/>
          <a:ln>
            <a:noFill/>
          </a:ln>
        </p:spPr>
      </p:pic>
      <p:sp>
        <p:nvSpPr>
          <p:cNvPr id="830" name="Google Shape;830;p94"/>
          <p:cNvSpPr txBox="1"/>
          <p:nvPr/>
        </p:nvSpPr>
        <p:spPr>
          <a:xfrm>
            <a:off x="6892075" y="2398440"/>
            <a:ext cx="1442700" cy="461700"/>
          </a:xfrm>
          <a:prstGeom prst="rect">
            <a:avLst/>
          </a:prstGeom>
          <a:noFill/>
          <a:ln>
            <a:noFill/>
          </a:ln>
        </p:spPr>
        <p:txBody>
          <a:bodyPr spcFirstLastPara="1" wrap="square" lIns="91425" tIns="91425" rIns="91425" bIns="91425" anchor="t" anchorCtr="0">
            <a:spAutoFit/>
          </a:bodyPr>
          <a:lstStyle/>
          <a:p>
            <a:pPr marL="0" lvl="0" indent="0" algn="l" rtl="0">
              <a:lnSpc>
                <a:spcPct val="150000"/>
              </a:lnSpc>
              <a:spcBef>
                <a:spcPts val="0"/>
              </a:spcBef>
              <a:spcAft>
                <a:spcPts val="1000"/>
              </a:spcAft>
              <a:buNone/>
            </a:pPr>
            <a:r>
              <a:rPr lang="en-GB" sz="1800">
                <a:solidFill>
                  <a:srgbClr val="00B0F0"/>
                </a:solidFill>
              </a:rPr>
              <a:t>Embedding</a:t>
            </a:r>
            <a:endParaRPr sz="1800">
              <a:solidFill>
                <a:srgbClr val="00B0F0"/>
              </a:solidFill>
            </a:endParaRPr>
          </a:p>
        </p:txBody>
      </p:sp>
      <p:sp>
        <p:nvSpPr>
          <p:cNvPr id="831" name="Google Shape;831;p94"/>
          <p:cNvSpPr txBox="1"/>
          <p:nvPr/>
        </p:nvSpPr>
        <p:spPr>
          <a:xfrm>
            <a:off x="6892075" y="2787675"/>
            <a:ext cx="1306800" cy="461700"/>
          </a:xfrm>
          <a:prstGeom prst="rect">
            <a:avLst/>
          </a:prstGeom>
          <a:noFill/>
          <a:ln>
            <a:noFill/>
          </a:ln>
        </p:spPr>
        <p:txBody>
          <a:bodyPr spcFirstLastPara="1" wrap="square" lIns="91425" tIns="91425" rIns="91425" bIns="91425" anchor="t" anchorCtr="0">
            <a:spAutoFit/>
          </a:bodyPr>
          <a:lstStyle/>
          <a:p>
            <a:pPr marL="0" lvl="0" indent="0" algn="l" rtl="0">
              <a:lnSpc>
                <a:spcPct val="150000"/>
              </a:lnSpc>
              <a:spcBef>
                <a:spcPts val="0"/>
              </a:spcBef>
              <a:spcAft>
                <a:spcPts val="1000"/>
              </a:spcAft>
              <a:buNone/>
            </a:pPr>
            <a:r>
              <a:rPr lang="en-GB" sz="1800">
                <a:solidFill>
                  <a:srgbClr val="00B0F0"/>
                </a:solidFill>
              </a:rPr>
              <a:t>Projection</a:t>
            </a:r>
            <a:endParaRPr sz="1800">
              <a:solidFill>
                <a:srgbClr val="00B0F0"/>
              </a:solidFill>
            </a:endParaRPr>
          </a:p>
        </p:txBody>
      </p:sp>
      <p:sp>
        <p:nvSpPr>
          <p:cNvPr id="832" name="Google Shape;832;p94"/>
          <p:cNvSpPr txBox="1"/>
          <p:nvPr/>
        </p:nvSpPr>
        <p:spPr>
          <a:xfrm>
            <a:off x="6892075" y="3219644"/>
            <a:ext cx="1306800" cy="461700"/>
          </a:xfrm>
          <a:prstGeom prst="rect">
            <a:avLst/>
          </a:prstGeom>
          <a:noFill/>
          <a:ln>
            <a:noFill/>
          </a:ln>
        </p:spPr>
        <p:txBody>
          <a:bodyPr spcFirstLastPara="1" wrap="square" lIns="91425" tIns="91425" rIns="91425" bIns="91425" anchor="t" anchorCtr="0">
            <a:spAutoFit/>
          </a:bodyPr>
          <a:lstStyle/>
          <a:p>
            <a:pPr marL="0" lvl="0" indent="0" algn="l" rtl="0">
              <a:lnSpc>
                <a:spcPct val="150000"/>
              </a:lnSpc>
              <a:spcBef>
                <a:spcPts val="0"/>
              </a:spcBef>
              <a:spcAft>
                <a:spcPts val="1000"/>
              </a:spcAft>
              <a:buNone/>
            </a:pPr>
            <a:r>
              <a:rPr lang="en-GB" sz="1800">
                <a:solidFill>
                  <a:srgbClr val="00B0F0"/>
                </a:solidFill>
              </a:rPr>
              <a:t>Probability</a:t>
            </a:r>
            <a:endParaRPr sz="1800">
              <a:solidFill>
                <a:srgbClr val="00B0F0"/>
              </a:solidFill>
            </a:endParaRPr>
          </a:p>
        </p:txBody>
      </p:sp>
      <p:sp>
        <p:nvSpPr>
          <p:cNvPr id="833" name="Google Shape;833;p94"/>
          <p:cNvSpPr txBox="1"/>
          <p:nvPr/>
        </p:nvSpPr>
        <p:spPr>
          <a:xfrm>
            <a:off x="497350" y="3810250"/>
            <a:ext cx="5915100" cy="461700"/>
          </a:xfrm>
          <a:prstGeom prst="rect">
            <a:avLst/>
          </a:prstGeom>
          <a:noFill/>
          <a:ln>
            <a:noFill/>
          </a:ln>
        </p:spPr>
        <p:txBody>
          <a:bodyPr spcFirstLastPara="1" wrap="square" lIns="91425" tIns="91425" rIns="91425" bIns="91425" anchor="t" anchorCtr="0">
            <a:spAutoFit/>
          </a:bodyPr>
          <a:lstStyle/>
          <a:p>
            <a:pPr marL="457200" lvl="0" indent="-342900" algn="l" rtl="0">
              <a:lnSpc>
                <a:spcPct val="150000"/>
              </a:lnSpc>
              <a:spcBef>
                <a:spcPts val="0"/>
              </a:spcBef>
              <a:spcAft>
                <a:spcPts val="0"/>
              </a:spcAft>
              <a:buClr>
                <a:schemeClr val="dk2"/>
              </a:buClr>
              <a:buSzPts val="1800"/>
              <a:buChar char="●"/>
            </a:pPr>
            <a:r>
              <a:rPr lang="en-GB" sz="1800">
                <a:solidFill>
                  <a:schemeClr val="dk2"/>
                </a:solidFill>
              </a:rPr>
              <a:t>Note: concatenate and project == project and sum</a:t>
            </a:r>
            <a:endParaRPr sz="1800">
              <a:solidFill>
                <a:schemeClr val="dk2"/>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2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3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828"/>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83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29"/>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8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Shape 837"/>
        <p:cNvGrpSpPr/>
        <p:nvPr/>
      </p:nvGrpSpPr>
      <p:grpSpPr>
        <a:xfrm>
          <a:off x="0" y="0"/>
          <a:ext cx="0" cy="0"/>
          <a:chOff x="0" y="0"/>
          <a:chExt cx="0" cy="0"/>
        </a:xfrm>
      </p:grpSpPr>
      <p:sp>
        <p:nvSpPr>
          <p:cNvPr id="838" name="Google Shape;838;p95"/>
          <p:cNvSpPr txBox="1">
            <a:spLocks noGrp="1"/>
          </p:cNvSpPr>
          <p:nvPr>
            <p:ph type="title"/>
          </p:nvPr>
        </p:nvSpPr>
        <p:spPr>
          <a:xfrm>
            <a:off x="471488" y="205383"/>
            <a:ext cx="5915100" cy="7458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chemeClr val="dk1"/>
              </a:buClr>
              <a:buSzPts val="3300"/>
              <a:buFont typeface="Century Gothic"/>
              <a:buNone/>
            </a:pPr>
            <a:r>
              <a:rPr lang="en-GB"/>
              <a:t>Loss function</a:t>
            </a:r>
            <a:endParaRPr/>
          </a:p>
        </p:txBody>
      </p:sp>
      <p:sp>
        <p:nvSpPr>
          <p:cNvPr id="840" name="Google Shape;840;p95"/>
          <p:cNvSpPr txBox="1"/>
          <p:nvPr/>
        </p:nvSpPr>
        <p:spPr>
          <a:xfrm>
            <a:off x="497350" y="1143000"/>
            <a:ext cx="5915100" cy="461700"/>
          </a:xfrm>
          <a:prstGeom prst="rect">
            <a:avLst/>
          </a:prstGeom>
          <a:noFill/>
          <a:ln>
            <a:noFill/>
          </a:ln>
        </p:spPr>
        <p:txBody>
          <a:bodyPr spcFirstLastPara="1" wrap="square" lIns="91425" tIns="91425" rIns="91425" bIns="91425" anchor="t" anchorCtr="0">
            <a:spAutoFit/>
          </a:bodyPr>
          <a:lstStyle/>
          <a:p>
            <a:pPr marL="457200" lvl="0" indent="-342900" algn="l" rtl="0">
              <a:lnSpc>
                <a:spcPct val="150000"/>
              </a:lnSpc>
              <a:spcBef>
                <a:spcPts val="0"/>
              </a:spcBef>
              <a:spcAft>
                <a:spcPts val="0"/>
              </a:spcAft>
              <a:buClr>
                <a:schemeClr val="dk2"/>
              </a:buClr>
              <a:buSzPts val="1800"/>
              <a:buChar char="●"/>
            </a:pPr>
            <a:r>
              <a:rPr lang="en-GB" sz="1800">
                <a:solidFill>
                  <a:schemeClr val="dk2"/>
                </a:solidFill>
              </a:rPr>
              <a:t>Minimize </a:t>
            </a:r>
            <a:r>
              <a:rPr lang="en-GB" sz="1800">
                <a:solidFill>
                  <a:srgbClr val="00B0F0"/>
                </a:solidFill>
              </a:rPr>
              <a:t>negative log-likelihood</a:t>
            </a:r>
            <a:endParaRPr sz="1800">
              <a:solidFill>
                <a:schemeClr val="dk2"/>
              </a:solidFill>
            </a:endParaRPr>
          </a:p>
        </p:txBody>
      </p:sp>
      <p:grpSp>
        <p:nvGrpSpPr>
          <p:cNvPr id="841" name="Google Shape;841;p95"/>
          <p:cNvGrpSpPr/>
          <p:nvPr/>
        </p:nvGrpSpPr>
        <p:grpSpPr>
          <a:xfrm>
            <a:off x="2749747" y="1674702"/>
            <a:ext cx="3644513" cy="840513"/>
            <a:chOff x="740188" y="1664325"/>
            <a:chExt cx="8286750" cy="1911125"/>
          </a:xfrm>
        </p:grpSpPr>
        <p:pic>
          <p:nvPicPr>
            <p:cNvPr id="842" name="Google Shape;842;p95"/>
            <p:cNvPicPr preferRelativeResize="0"/>
            <p:nvPr/>
          </p:nvPicPr>
          <p:blipFill rotWithShape="1">
            <a:blip r:embed="rId3">
              <a:alphaModFix/>
            </a:blip>
            <a:srcRect b="7842"/>
            <a:stretch/>
          </p:blipFill>
          <p:spPr>
            <a:xfrm>
              <a:off x="740188" y="1714500"/>
              <a:ext cx="8286750" cy="1860950"/>
            </a:xfrm>
            <a:prstGeom prst="rect">
              <a:avLst/>
            </a:prstGeom>
            <a:noFill/>
            <a:ln>
              <a:noFill/>
            </a:ln>
          </p:spPr>
        </p:pic>
        <p:sp>
          <p:nvSpPr>
            <p:cNvPr id="843" name="Google Shape;843;p95"/>
            <p:cNvSpPr/>
            <p:nvPr/>
          </p:nvSpPr>
          <p:spPr>
            <a:xfrm>
              <a:off x="2266211" y="1664325"/>
              <a:ext cx="533100" cy="167400"/>
            </a:xfrm>
            <a:prstGeom prst="rect">
              <a:avLst/>
            </a:pr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sp>
        <p:nvSpPr>
          <p:cNvPr id="844" name="Google Shape;844;p95"/>
          <p:cNvSpPr txBox="1"/>
          <p:nvPr/>
        </p:nvSpPr>
        <p:spPr>
          <a:xfrm>
            <a:off x="497350" y="2645650"/>
            <a:ext cx="6391200" cy="1293000"/>
          </a:xfrm>
          <a:prstGeom prst="rect">
            <a:avLst/>
          </a:prstGeom>
          <a:noFill/>
          <a:ln>
            <a:noFill/>
          </a:ln>
        </p:spPr>
        <p:txBody>
          <a:bodyPr spcFirstLastPara="1" wrap="square" lIns="91425" tIns="91425" rIns="91425" bIns="91425" anchor="t" anchorCtr="0">
            <a:spAutoFit/>
          </a:bodyPr>
          <a:lstStyle/>
          <a:p>
            <a:pPr marL="457200" lvl="0" indent="-342900" algn="l" rtl="0">
              <a:lnSpc>
                <a:spcPct val="150000"/>
              </a:lnSpc>
              <a:spcBef>
                <a:spcPts val="0"/>
              </a:spcBef>
              <a:spcAft>
                <a:spcPts val="0"/>
              </a:spcAft>
              <a:buClr>
                <a:schemeClr val="dk2"/>
              </a:buClr>
              <a:buSzPts val="1800"/>
              <a:buChar char="●"/>
            </a:pPr>
            <a:r>
              <a:rPr lang="en-GB" sz="1800">
                <a:solidFill>
                  <a:schemeClr val="dk2"/>
                </a:solidFill>
              </a:rPr>
              <a:t>Train with </a:t>
            </a:r>
            <a:r>
              <a:rPr lang="en-GB" sz="1800">
                <a:solidFill>
                  <a:srgbClr val="00B0F0"/>
                </a:solidFill>
              </a:rPr>
              <a:t>SGD</a:t>
            </a:r>
            <a:r>
              <a:rPr lang="en-GB" sz="1800">
                <a:solidFill>
                  <a:schemeClr val="dk2"/>
                </a:solidFill>
              </a:rPr>
              <a:t> (remember </a:t>
            </a:r>
            <a:r>
              <a:rPr lang="en-GB" sz="1800">
                <a:solidFill>
                  <a:srgbClr val="C55A11"/>
                </a:solidFill>
              </a:rPr>
              <a:t>back-propagation</a:t>
            </a:r>
            <a:r>
              <a:rPr lang="en-GB" sz="1800">
                <a:solidFill>
                  <a:schemeClr val="dk2"/>
                </a:solidFill>
              </a:rPr>
              <a:t>?)</a:t>
            </a:r>
            <a:endParaRPr sz="1800">
              <a:solidFill>
                <a:schemeClr val="dk2"/>
              </a:solidFill>
            </a:endParaRPr>
          </a:p>
          <a:p>
            <a:pPr marL="457200" lvl="0" indent="-342900" algn="l" rtl="0">
              <a:lnSpc>
                <a:spcPct val="150000"/>
              </a:lnSpc>
              <a:spcBef>
                <a:spcPts val="0"/>
              </a:spcBef>
              <a:spcAft>
                <a:spcPts val="0"/>
              </a:spcAft>
              <a:buClr>
                <a:schemeClr val="dk2"/>
              </a:buClr>
              <a:buSzPts val="1800"/>
              <a:buChar char="●"/>
            </a:pPr>
            <a:r>
              <a:rPr lang="en-GB" sz="1800">
                <a:solidFill>
                  <a:schemeClr val="dk2"/>
                </a:solidFill>
              </a:rPr>
              <a:t>When we learned about word vectors, we were basically training a language model</a:t>
            </a:r>
            <a:endParaRPr sz="1800">
              <a:solidFill>
                <a:schemeClr val="dk2"/>
              </a:solidFill>
            </a:endParaRPr>
          </a:p>
        </p:txBody>
      </p:sp>
    </p:spTree>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Shape 849"/>
        <p:cNvGrpSpPr/>
        <p:nvPr/>
      </p:nvGrpSpPr>
      <p:grpSpPr>
        <a:xfrm>
          <a:off x="0" y="0"/>
          <a:ext cx="0" cy="0"/>
          <a:chOff x="0" y="0"/>
          <a:chExt cx="0" cy="0"/>
        </a:xfrm>
      </p:grpSpPr>
      <p:sp>
        <p:nvSpPr>
          <p:cNvPr id="850" name="Google Shape;850;p96"/>
          <p:cNvSpPr txBox="1">
            <a:spLocks noGrp="1"/>
          </p:cNvSpPr>
          <p:nvPr>
            <p:ph type="title"/>
          </p:nvPr>
        </p:nvSpPr>
        <p:spPr>
          <a:xfrm>
            <a:off x="471488" y="205383"/>
            <a:ext cx="5915100" cy="7458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chemeClr val="dk1"/>
              </a:buClr>
              <a:buSzPts val="3300"/>
              <a:buFont typeface="Century Gothic"/>
              <a:buNone/>
            </a:pPr>
            <a:r>
              <a:rPr lang="en-GB"/>
              <a:t>Bigram LM with feed-forward NNs</a:t>
            </a:r>
            <a:endParaRPr/>
          </a:p>
        </p:txBody>
      </p:sp>
      <p:sp>
        <p:nvSpPr>
          <p:cNvPr id="851" name="Google Shape;851;p96"/>
          <p:cNvSpPr txBox="1"/>
          <p:nvPr/>
        </p:nvSpPr>
        <p:spPr>
          <a:xfrm>
            <a:off x="497350" y="1143000"/>
            <a:ext cx="5915100" cy="877200"/>
          </a:xfrm>
          <a:prstGeom prst="rect">
            <a:avLst/>
          </a:prstGeom>
          <a:noFill/>
          <a:ln>
            <a:noFill/>
          </a:ln>
        </p:spPr>
        <p:txBody>
          <a:bodyPr spcFirstLastPara="1" wrap="square" lIns="91425" tIns="91425" rIns="91425" bIns="91425" anchor="t" anchorCtr="0">
            <a:spAutoFit/>
          </a:bodyPr>
          <a:lstStyle/>
          <a:p>
            <a:pPr marL="457200" lvl="0" indent="-342900" algn="l" rtl="0">
              <a:lnSpc>
                <a:spcPct val="150000"/>
              </a:lnSpc>
              <a:spcBef>
                <a:spcPts val="0"/>
              </a:spcBef>
              <a:spcAft>
                <a:spcPts val="0"/>
              </a:spcAft>
              <a:buClr>
                <a:schemeClr val="dk2"/>
              </a:buClr>
              <a:buSzPts val="1800"/>
              <a:buChar char="●"/>
            </a:pPr>
            <a:r>
              <a:rPr lang="en-GB" sz="1800">
                <a:solidFill>
                  <a:schemeClr val="dk2"/>
                </a:solidFill>
              </a:rPr>
              <a:t>Keep the Markov assumption</a:t>
            </a:r>
            <a:endParaRPr sz="1800">
              <a:solidFill>
                <a:schemeClr val="dk2"/>
              </a:solidFill>
            </a:endParaRPr>
          </a:p>
          <a:p>
            <a:pPr marL="457200" lvl="0" indent="-342900" algn="l" rtl="0">
              <a:lnSpc>
                <a:spcPct val="150000"/>
              </a:lnSpc>
              <a:spcBef>
                <a:spcPts val="0"/>
              </a:spcBef>
              <a:spcAft>
                <a:spcPts val="0"/>
              </a:spcAft>
              <a:buClr>
                <a:schemeClr val="dk2"/>
              </a:buClr>
              <a:buSzPts val="1800"/>
              <a:buChar char="●"/>
            </a:pPr>
            <a:r>
              <a:rPr lang="en-GB" sz="1800">
                <a:solidFill>
                  <a:schemeClr val="dk2"/>
                </a:solidFill>
              </a:rPr>
              <a:t>Learn a probability with distributed representations:</a:t>
            </a:r>
            <a:endParaRPr sz="1800">
              <a:solidFill>
                <a:schemeClr val="dk2"/>
              </a:solidFill>
            </a:endParaRPr>
          </a:p>
        </p:txBody>
      </p:sp>
      <p:pic>
        <p:nvPicPr>
          <p:cNvPr id="852" name="Google Shape;852;p96"/>
          <p:cNvPicPr preferRelativeResize="0"/>
          <p:nvPr/>
        </p:nvPicPr>
        <p:blipFill>
          <a:blip r:embed="rId3">
            <a:alphaModFix/>
          </a:blip>
          <a:stretch>
            <a:fillRect/>
          </a:stretch>
        </p:blipFill>
        <p:spPr>
          <a:xfrm>
            <a:off x="1048850" y="2058026"/>
            <a:ext cx="3776650" cy="298550"/>
          </a:xfrm>
          <a:prstGeom prst="rect">
            <a:avLst/>
          </a:prstGeom>
          <a:noFill/>
          <a:ln>
            <a:noFill/>
          </a:ln>
        </p:spPr>
      </p:pic>
      <p:pic>
        <p:nvPicPr>
          <p:cNvPr id="853" name="Google Shape;853;p96"/>
          <p:cNvPicPr preferRelativeResize="0"/>
          <p:nvPr/>
        </p:nvPicPr>
        <p:blipFill rotWithShape="1">
          <a:blip r:embed="rId4">
            <a:alphaModFix/>
          </a:blip>
          <a:srcRect b="65793"/>
          <a:stretch/>
        </p:blipFill>
        <p:spPr>
          <a:xfrm>
            <a:off x="998250" y="2409260"/>
            <a:ext cx="5893818" cy="366101"/>
          </a:xfrm>
          <a:prstGeom prst="rect">
            <a:avLst/>
          </a:prstGeom>
          <a:noFill/>
          <a:ln>
            <a:noFill/>
          </a:ln>
        </p:spPr>
      </p:pic>
      <p:pic>
        <p:nvPicPr>
          <p:cNvPr id="854" name="Google Shape;854;p96"/>
          <p:cNvPicPr preferRelativeResize="0"/>
          <p:nvPr/>
        </p:nvPicPr>
        <p:blipFill rotWithShape="1">
          <a:blip r:embed="rId4">
            <a:alphaModFix/>
          </a:blip>
          <a:srcRect t="31179" b="34613"/>
          <a:stretch/>
        </p:blipFill>
        <p:spPr>
          <a:xfrm>
            <a:off x="998250" y="2835503"/>
            <a:ext cx="5893818" cy="366101"/>
          </a:xfrm>
          <a:prstGeom prst="rect">
            <a:avLst/>
          </a:prstGeom>
          <a:noFill/>
          <a:ln>
            <a:noFill/>
          </a:ln>
        </p:spPr>
      </p:pic>
      <p:pic>
        <p:nvPicPr>
          <p:cNvPr id="855" name="Google Shape;855;p96"/>
          <p:cNvPicPr preferRelativeResize="0"/>
          <p:nvPr/>
        </p:nvPicPr>
        <p:blipFill rotWithShape="1">
          <a:blip r:embed="rId4">
            <a:alphaModFix/>
          </a:blip>
          <a:srcRect t="60641" b="5151"/>
          <a:stretch/>
        </p:blipFill>
        <p:spPr>
          <a:xfrm>
            <a:off x="998250" y="3261746"/>
            <a:ext cx="5893818" cy="366101"/>
          </a:xfrm>
          <a:prstGeom prst="rect">
            <a:avLst/>
          </a:prstGeom>
          <a:noFill/>
          <a:ln>
            <a:noFill/>
          </a:ln>
        </p:spPr>
      </p:pic>
      <p:sp>
        <p:nvSpPr>
          <p:cNvPr id="856" name="Google Shape;856;p96"/>
          <p:cNvSpPr txBox="1"/>
          <p:nvPr/>
        </p:nvSpPr>
        <p:spPr>
          <a:xfrm>
            <a:off x="573550" y="3734050"/>
            <a:ext cx="5915100" cy="461700"/>
          </a:xfrm>
          <a:prstGeom prst="rect">
            <a:avLst/>
          </a:prstGeom>
          <a:noFill/>
          <a:ln>
            <a:noFill/>
          </a:ln>
        </p:spPr>
        <p:txBody>
          <a:bodyPr spcFirstLastPara="1" wrap="square" lIns="91425" tIns="91425" rIns="91425" bIns="91425" anchor="t" anchorCtr="0">
            <a:spAutoFit/>
          </a:bodyPr>
          <a:lstStyle/>
          <a:p>
            <a:pPr marL="0" lvl="0" indent="0" algn="l" rtl="0">
              <a:lnSpc>
                <a:spcPct val="150000"/>
              </a:lnSpc>
              <a:spcBef>
                <a:spcPts val="0"/>
              </a:spcBef>
              <a:spcAft>
                <a:spcPts val="1000"/>
              </a:spcAft>
              <a:buNone/>
            </a:pPr>
            <a:r>
              <a:rPr lang="en-GB" sz="1800">
                <a:solidFill>
                  <a:schemeClr val="dk2"/>
                </a:solidFill>
              </a:rPr>
              <a:t>Learnable parameters: </a:t>
            </a:r>
            <a:endParaRPr sz="1800">
              <a:solidFill>
                <a:schemeClr val="dk2"/>
              </a:solidFill>
            </a:endParaRPr>
          </a:p>
        </p:txBody>
      </p:sp>
      <p:sp>
        <p:nvSpPr>
          <p:cNvPr id="857" name="Google Shape;857;p96"/>
          <p:cNvSpPr txBox="1"/>
          <p:nvPr/>
        </p:nvSpPr>
        <p:spPr>
          <a:xfrm>
            <a:off x="6892075" y="2398440"/>
            <a:ext cx="1442700" cy="461700"/>
          </a:xfrm>
          <a:prstGeom prst="rect">
            <a:avLst/>
          </a:prstGeom>
          <a:noFill/>
          <a:ln>
            <a:noFill/>
          </a:ln>
        </p:spPr>
        <p:txBody>
          <a:bodyPr spcFirstLastPara="1" wrap="square" lIns="91425" tIns="91425" rIns="91425" bIns="91425" anchor="t" anchorCtr="0">
            <a:spAutoFit/>
          </a:bodyPr>
          <a:lstStyle/>
          <a:p>
            <a:pPr marL="0" lvl="0" indent="0" algn="l" rtl="0">
              <a:lnSpc>
                <a:spcPct val="150000"/>
              </a:lnSpc>
              <a:spcBef>
                <a:spcPts val="0"/>
              </a:spcBef>
              <a:spcAft>
                <a:spcPts val="1000"/>
              </a:spcAft>
              <a:buNone/>
            </a:pPr>
            <a:r>
              <a:rPr lang="en-GB" sz="1800">
                <a:solidFill>
                  <a:srgbClr val="00B0F0"/>
                </a:solidFill>
              </a:rPr>
              <a:t>Embedding</a:t>
            </a:r>
            <a:endParaRPr sz="1800">
              <a:solidFill>
                <a:srgbClr val="00B0F0"/>
              </a:solidFill>
            </a:endParaRPr>
          </a:p>
        </p:txBody>
      </p:sp>
      <p:sp>
        <p:nvSpPr>
          <p:cNvPr id="858" name="Google Shape;858;p96"/>
          <p:cNvSpPr txBox="1"/>
          <p:nvPr/>
        </p:nvSpPr>
        <p:spPr>
          <a:xfrm>
            <a:off x="6892075" y="2787675"/>
            <a:ext cx="1306800" cy="461700"/>
          </a:xfrm>
          <a:prstGeom prst="rect">
            <a:avLst/>
          </a:prstGeom>
          <a:noFill/>
          <a:ln>
            <a:noFill/>
          </a:ln>
        </p:spPr>
        <p:txBody>
          <a:bodyPr spcFirstLastPara="1" wrap="square" lIns="91425" tIns="91425" rIns="91425" bIns="91425" anchor="t" anchorCtr="0">
            <a:spAutoFit/>
          </a:bodyPr>
          <a:lstStyle/>
          <a:p>
            <a:pPr marL="0" lvl="0" indent="0" algn="l" rtl="0">
              <a:lnSpc>
                <a:spcPct val="150000"/>
              </a:lnSpc>
              <a:spcBef>
                <a:spcPts val="0"/>
              </a:spcBef>
              <a:spcAft>
                <a:spcPts val="1000"/>
              </a:spcAft>
              <a:buNone/>
            </a:pPr>
            <a:r>
              <a:rPr lang="en-GB" sz="1800">
                <a:solidFill>
                  <a:srgbClr val="00B0F0"/>
                </a:solidFill>
              </a:rPr>
              <a:t>Projection</a:t>
            </a:r>
            <a:endParaRPr sz="1800">
              <a:solidFill>
                <a:srgbClr val="00B0F0"/>
              </a:solidFill>
            </a:endParaRPr>
          </a:p>
        </p:txBody>
      </p:sp>
      <p:sp>
        <p:nvSpPr>
          <p:cNvPr id="859" name="Google Shape;859;p96"/>
          <p:cNvSpPr txBox="1"/>
          <p:nvPr/>
        </p:nvSpPr>
        <p:spPr>
          <a:xfrm>
            <a:off x="6892075" y="3219644"/>
            <a:ext cx="1306800" cy="461700"/>
          </a:xfrm>
          <a:prstGeom prst="rect">
            <a:avLst/>
          </a:prstGeom>
          <a:noFill/>
          <a:ln>
            <a:noFill/>
          </a:ln>
        </p:spPr>
        <p:txBody>
          <a:bodyPr spcFirstLastPara="1" wrap="square" lIns="91425" tIns="91425" rIns="91425" bIns="91425" anchor="t" anchorCtr="0">
            <a:spAutoFit/>
          </a:bodyPr>
          <a:lstStyle/>
          <a:p>
            <a:pPr marL="0" lvl="0" indent="0" algn="l" rtl="0">
              <a:lnSpc>
                <a:spcPct val="150000"/>
              </a:lnSpc>
              <a:spcBef>
                <a:spcPts val="0"/>
              </a:spcBef>
              <a:spcAft>
                <a:spcPts val="1000"/>
              </a:spcAft>
              <a:buNone/>
            </a:pPr>
            <a:r>
              <a:rPr lang="en-GB" sz="1800">
                <a:solidFill>
                  <a:srgbClr val="00B0F0"/>
                </a:solidFill>
              </a:rPr>
              <a:t>Probability</a:t>
            </a:r>
            <a:endParaRPr sz="1800">
              <a:solidFill>
                <a:srgbClr val="00B0F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5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Shape 864"/>
        <p:cNvGrpSpPr/>
        <p:nvPr/>
      </p:nvGrpSpPr>
      <p:grpSpPr>
        <a:xfrm>
          <a:off x="0" y="0"/>
          <a:ext cx="0" cy="0"/>
          <a:chOff x="0" y="0"/>
          <a:chExt cx="0" cy="0"/>
        </a:xfrm>
      </p:grpSpPr>
      <p:sp>
        <p:nvSpPr>
          <p:cNvPr id="865" name="Google Shape;865;p97"/>
          <p:cNvSpPr txBox="1">
            <a:spLocks noGrp="1"/>
          </p:cNvSpPr>
          <p:nvPr>
            <p:ph type="title"/>
          </p:nvPr>
        </p:nvSpPr>
        <p:spPr>
          <a:xfrm>
            <a:off x="471488" y="205383"/>
            <a:ext cx="5915100" cy="7458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chemeClr val="dk1"/>
              </a:buClr>
              <a:buSzPts val="3300"/>
              <a:buFont typeface="Century Gothic"/>
              <a:buNone/>
            </a:pPr>
            <a:r>
              <a:rPr lang="en-GB"/>
              <a:t>Bigram LM with feed-forward NNs</a:t>
            </a:r>
            <a:endParaRPr/>
          </a:p>
        </p:txBody>
      </p:sp>
      <p:sp>
        <p:nvSpPr>
          <p:cNvPr id="866" name="Google Shape;866;p97"/>
          <p:cNvSpPr txBox="1"/>
          <p:nvPr/>
        </p:nvSpPr>
        <p:spPr>
          <a:xfrm>
            <a:off x="497350" y="1143000"/>
            <a:ext cx="5915100" cy="877200"/>
          </a:xfrm>
          <a:prstGeom prst="rect">
            <a:avLst/>
          </a:prstGeom>
          <a:noFill/>
          <a:ln>
            <a:noFill/>
          </a:ln>
        </p:spPr>
        <p:txBody>
          <a:bodyPr spcFirstLastPara="1" wrap="square" lIns="91425" tIns="91425" rIns="91425" bIns="91425" anchor="t" anchorCtr="0">
            <a:spAutoFit/>
          </a:bodyPr>
          <a:lstStyle/>
          <a:p>
            <a:pPr marL="457200" lvl="0" indent="-342900" algn="l" rtl="0">
              <a:lnSpc>
                <a:spcPct val="150000"/>
              </a:lnSpc>
              <a:spcBef>
                <a:spcPts val="0"/>
              </a:spcBef>
              <a:spcAft>
                <a:spcPts val="0"/>
              </a:spcAft>
              <a:buClr>
                <a:schemeClr val="dk2"/>
              </a:buClr>
              <a:buSzPts val="1800"/>
              <a:buChar char="●"/>
            </a:pPr>
            <a:r>
              <a:rPr lang="en-GB" sz="1800">
                <a:solidFill>
                  <a:schemeClr val="dk2"/>
                </a:solidFill>
              </a:rPr>
              <a:t>Keep the Markov assumption</a:t>
            </a:r>
            <a:endParaRPr sz="1800">
              <a:solidFill>
                <a:schemeClr val="dk2"/>
              </a:solidFill>
            </a:endParaRPr>
          </a:p>
          <a:p>
            <a:pPr marL="457200" lvl="0" indent="-342900" algn="l" rtl="0">
              <a:lnSpc>
                <a:spcPct val="150000"/>
              </a:lnSpc>
              <a:spcBef>
                <a:spcPts val="0"/>
              </a:spcBef>
              <a:spcAft>
                <a:spcPts val="0"/>
              </a:spcAft>
              <a:buClr>
                <a:schemeClr val="dk2"/>
              </a:buClr>
              <a:buSzPts val="1800"/>
              <a:buChar char="●"/>
            </a:pPr>
            <a:r>
              <a:rPr lang="en-GB" sz="1800">
                <a:solidFill>
                  <a:schemeClr val="dk2"/>
                </a:solidFill>
              </a:rPr>
              <a:t>Learn a probability with distributed representations:</a:t>
            </a:r>
            <a:endParaRPr sz="1800">
              <a:solidFill>
                <a:schemeClr val="dk2"/>
              </a:solidFill>
            </a:endParaRPr>
          </a:p>
        </p:txBody>
      </p:sp>
      <p:pic>
        <p:nvPicPr>
          <p:cNvPr id="867" name="Google Shape;867;p97"/>
          <p:cNvPicPr preferRelativeResize="0"/>
          <p:nvPr/>
        </p:nvPicPr>
        <p:blipFill>
          <a:blip r:embed="rId3">
            <a:alphaModFix/>
          </a:blip>
          <a:stretch>
            <a:fillRect/>
          </a:stretch>
        </p:blipFill>
        <p:spPr>
          <a:xfrm>
            <a:off x="1048850" y="2058026"/>
            <a:ext cx="3776650" cy="298550"/>
          </a:xfrm>
          <a:prstGeom prst="rect">
            <a:avLst/>
          </a:prstGeom>
          <a:noFill/>
          <a:ln>
            <a:noFill/>
          </a:ln>
        </p:spPr>
      </p:pic>
      <p:pic>
        <p:nvPicPr>
          <p:cNvPr id="868" name="Google Shape;868;p97"/>
          <p:cNvPicPr preferRelativeResize="0"/>
          <p:nvPr/>
        </p:nvPicPr>
        <p:blipFill rotWithShape="1">
          <a:blip r:embed="rId4">
            <a:alphaModFix/>
          </a:blip>
          <a:srcRect b="65793"/>
          <a:stretch/>
        </p:blipFill>
        <p:spPr>
          <a:xfrm>
            <a:off x="998250" y="2409260"/>
            <a:ext cx="5893818" cy="366101"/>
          </a:xfrm>
          <a:prstGeom prst="rect">
            <a:avLst/>
          </a:prstGeom>
          <a:noFill/>
          <a:ln>
            <a:noFill/>
          </a:ln>
        </p:spPr>
      </p:pic>
      <p:pic>
        <p:nvPicPr>
          <p:cNvPr id="869" name="Google Shape;869;p97"/>
          <p:cNvPicPr preferRelativeResize="0"/>
          <p:nvPr/>
        </p:nvPicPr>
        <p:blipFill rotWithShape="1">
          <a:blip r:embed="rId4">
            <a:alphaModFix/>
          </a:blip>
          <a:srcRect t="31179" b="34613"/>
          <a:stretch/>
        </p:blipFill>
        <p:spPr>
          <a:xfrm>
            <a:off x="998250" y="2835503"/>
            <a:ext cx="5893818" cy="366101"/>
          </a:xfrm>
          <a:prstGeom prst="rect">
            <a:avLst/>
          </a:prstGeom>
          <a:noFill/>
          <a:ln>
            <a:noFill/>
          </a:ln>
        </p:spPr>
      </p:pic>
      <p:pic>
        <p:nvPicPr>
          <p:cNvPr id="870" name="Google Shape;870;p97"/>
          <p:cNvPicPr preferRelativeResize="0"/>
          <p:nvPr/>
        </p:nvPicPr>
        <p:blipFill rotWithShape="1">
          <a:blip r:embed="rId4">
            <a:alphaModFix/>
          </a:blip>
          <a:srcRect t="60641" b="5151"/>
          <a:stretch/>
        </p:blipFill>
        <p:spPr>
          <a:xfrm>
            <a:off x="998250" y="3261746"/>
            <a:ext cx="5893818" cy="366101"/>
          </a:xfrm>
          <a:prstGeom prst="rect">
            <a:avLst/>
          </a:prstGeom>
          <a:noFill/>
          <a:ln>
            <a:noFill/>
          </a:ln>
        </p:spPr>
      </p:pic>
      <p:sp>
        <p:nvSpPr>
          <p:cNvPr id="871" name="Google Shape;871;p97"/>
          <p:cNvSpPr txBox="1"/>
          <p:nvPr/>
        </p:nvSpPr>
        <p:spPr>
          <a:xfrm>
            <a:off x="573550" y="3734050"/>
            <a:ext cx="5915100" cy="461700"/>
          </a:xfrm>
          <a:prstGeom prst="rect">
            <a:avLst/>
          </a:prstGeom>
          <a:noFill/>
          <a:ln>
            <a:noFill/>
          </a:ln>
        </p:spPr>
        <p:txBody>
          <a:bodyPr spcFirstLastPara="1" wrap="square" lIns="91425" tIns="91425" rIns="91425" bIns="91425" anchor="t" anchorCtr="0">
            <a:spAutoFit/>
          </a:bodyPr>
          <a:lstStyle/>
          <a:p>
            <a:pPr marL="0" lvl="0" indent="0" algn="l" rtl="0">
              <a:lnSpc>
                <a:spcPct val="150000"/>
              </a:lnSpc>
              <a:spcBef>
                <a:spcPts val="0"/>
              </a:spcBef>
              <a:spcAft>
                <a:spcPts val="1000"/>
              </a:spcAft>
              <a:buNone/>
            </a:pPr>
            <a:r>
              <a:rPr lang="en-GB" sz="1800">
                <a:solidFill>
                  <a:schemeClr val="dk2"/>
                </a:solidFill>
              </a:rPr>
              <a:t>Learnable parameters: </a:t>
            </a:r>
            <a:endParaRPr sz="1800">
              <a:solidFill>
                <a:schemeClr val="dk2"/>
              </a:solidFill>
            </a:endParaRPr>
          </a:p>
        </p:txBody>
      </p:sp>
      <p:sp>
        <p:nvSpPr>
          <p:cNvPr id="872" name="Google Shape;872;p97"/>
          <p:cNvSpPr txBox="1"/>
          <p:nvPr/>
        </p:nvSpPr>
        <p:spPr>
          <a:xfrm>
            <a:off x="6892075" y="2398440"/>
            <a:ext cx="1442700" cy="461700"/>
          </a:xfrm>
          <a:prstGeom prst="rect">
            <a:avLst/>
          </a:prstGeom>
          <a:noFill/>
          <a:ln>
            <a:noFill/>
          </a:ln>
        </p:spPr>
        <p:txBody>
          <a:bodyPr spcFirstLastPara="1" wrap="square" lIns="91425" tIns="91425" rIns="91425" bIns="91425" anchor="t" anchorCtr="0">
            <a:spAutoFit/>
          </a:bodyPr>
          <a:lstStyle/>
          <a:p>
            <a:pPr marL="0" lvl="0" indent="0" algn="l" rtl="0">
              <a:lnSpc>
                <a:spcPct val="150000"/>
              </a:lnSpc>
              <a:spcBef>
                <a:spcPts val="0"/>
              </a:spcBef>
              <a:spcAft>
                <a:spcPts val="1000"/>
              </a:spcAft>
              <a:buNone/>
            </a:pPr>
            <a:r>
              <a:rPr lang="en-GB" sz="1800">
                <a:solidFill>
                  <a:srgbClr val="00B0F0"/>
                </a:solidFill>
              </a:rPr>
              <a:t>Embedding</a:t>
            </a:r>
            <a:endParaRPr sz="1800">
              <a:solidFill>
                <a:srgbClr val="00B0F0"/>
              </a:solidFill>
            </a:endParaRPr>
          </a:p>
        </p:txBody>
      </p:sp>
      <p:sp>
        <p:nvSpPr>
          <p:cNvPr id="873" name="Google Shape;873;p97"/>
          <p:cNvSpPr txBox="1"/>
          <p:nvPr/>
        </p:nvSpPr>
        <p:spPr>
          <a:xfrm>
            <a:off x="6892075" y="2787675"/>
            <a:ext cx="1306800" cy="461700"/>
          </a:xfrm>
          <a:prstGeom prst="rect">
            <a:avLst/>
          </a:prstGeom>
          <a:noFill/>
          <a:ln>
            <a:noFill/>
          </a:ln>
        </p:spPr>
        <p:txBody>
          <a:bodyPr spcFirstLastPara="1" wrap="square" lIns="91425" tIns="91425" rIns="91425" bIns="91425" anchor="t" anchorCtr="0">
            <a:spAutoFit/>
          </a:bodyPr>
          <a:lstStyle/>
          <a:p>
            <a:pPr marL="0" lvl="0" indent="0" algn="l" rtl="0">
              <a:lnSpc>
                <a:spcPct val="150000"/>
              </a:lnSpc>
              <a:spcBef>
                <a:spcPts val="0"/>
              </a:spcBef>
              <a:spcAft>
                <a:spcPts val="1000"/>
              </a:spcAft>
              <a:buNone/>
            </a:pPr>
            <a:r>
              <a:rPr lang="en-GB" sz="1800">
                <a:solidFill>
                  <a:srgbClr val="00B0F0"/>
                </a:solidFill>
              </a:rPr>
              <a:t>Projection</a:t>
            </a:r>
            <a:endParaRPr sz="1800">
              <a:solidFill>
                <a:srgbClr val="00B0F0"/>
              </a:solidFill>
            </a:endParaRPr>
          </a:p>
        </p:txBody>
      </p:sp>
      <p:sp>
        <p:nvSpPr>
          <p:cNvPr id="874" name="Google Shape;874;p97"/>
          <p:cNvSpPr txBox="1"/>
          <p:nvPr/>
        </p:nvSpPr>
        <p:spPr>
          <a:xfrm>
            <a:off x="6892075" y="3219644"/>
            <a:ext cx="1306800" cy="461700"/>
          </a:xfrm>
          <a:prstGeom prst="rect">
            <a:avLst/>
          </a:prstGeom>
          <a:noFill/>
          <a:ln>
            <a:noFill/>
          </a:ln>
        </p:spPr>
        <p:txBody>
          <a:bodyPr spcFirstLastPara="1" wrap="square" lIns="91425" tIns="91425" rIns="91425" bIns="91425" anchor="t" anchorCtr="0">
            <a:spAutoFit/>
          </a:bodyPr>
          <a:lstStyle/>
          <a:p>
            <a:pPr marL="0" lvl="0" indent="0" algn="l" rtl="0">
              <a:lnSpc>
                <a:spcPct val="150000"/>
              </a:lnSpc>
              <a:spcBef>
                <a:spcPts val="0"/>
              </a:spcBef>
              <a:spcAft>
                <a:spcPts val="1000"/>
              </a:spcAft>
              <a:buNone/>
            </a:pPr>
            <a:r>
              <a:rPr lang="en-GB" sz="1800">
                <a:solidFill>
                  <a:srgbClr val="00B0F0"/>
                </a:solidFill>
              </a:rPr>
              <a:t>Probability</a:t>
            </a:r>
            <a:endParaRPr sz="1800">
              <a:solidFill>
                <a:srgbClr val="00B0F0"/>
              </a:solidFill>
            </a:endParaRPr>
          </a:p>
        </p:txBody>
      </p:sp>
      <p:sp>
        <p:nvSpPr>
          <p:cNvPr id="875" name="Google Shape;875;p97"/>
          <p:cNvSpPr txBox="1"/>
          <p:nvPr/>
        </p:nvSpPr>
        <p:spPr>
          <a:xfrm>
            <a:off x="1174450" y="4427700"/>
            <a:ext cx="7893600" cy="623400"/>
          </a:xfrm>
          <a:prstGeom prst="rect">
            <a:avLst/>
          </a:prstGeom>
          <a:noFill/>
          <a:ln w="19050" cap="flat" cmpd="sng">
            <a:solidFill>
              <a:schemeClr val="accent2"/>
            </a:solidFill>
            <a:prstDash val="solid"/>
            <a:round/>
            <a:headEnd type="none" w="sm" len="sm"/>
            <a:tailEnd type="none" w="sm" len="sm"/>
          </a:ln>
        </p:spPr>
        <p:txBody>
          <a:bodyPr spcFirstLastPara="1" wrap="square" lIns="68575" tIns="34275" rIns="68575" bIns="34275" anchor="t" anchorCtr="0">
            <a:spAutoFit/>
          </a:bodyPr>
          <a:lstStyle/>
          <a:p>
            <a:pPr marL="0" marR="0" lvl="0" indent="0" algn="l" rtl="0">
              <a:spcBef>
                <a:spcPts val="0"/>
              </a:spcBef>
              <a:spcAft>
                <a:spcPts val="0"/>
              </a:spcAft>
              <a:buNone/>
            </a:pPr>
            <a:r>
              <a:rPr lang="en-GB" sz="1800">
                <a:solidFill>
                  <a:schemeClr val="dk1"/>
                </a:solidFill>
              </a:rPr>
              <a:t>We also get word representations, but they may not be of the same quality as those in skip-gram, since some “pressure” is taken of the representations</a:t>
            </a:r>
            <a:endParaRPr sz="1800"/>
          </a:p>
        </p:txBody>
      </p:sp>
      <p:pic>
        <p:nvPicPr>
          <p:cNvPr id="876" name="Google Shape;876;p97"/>
          <p:cNvPicPr preferRelativeResize="0"/>
          <p:nvPr/>
        </p:nvPicPr>
        <p:blipFill>
          <a:blip r:embed="rId5">
            <a:alphaModFix/>
          </a:blip>
          <a:stretch>
            <a:fillRect/>
          </a:stretch>
        </p:blipFill>
        <p:spPr>
          <a:xfrm>
            <a:off x="3144349" y="3770737"/>
            <a:ext cx="2708269" cy="393000"/>
          </a:xfrm>
          <a:prstGeom prst="rect">
            <a:avLst/>
          </a:prstGeom>
          <a:noFill/>
          <a:ln>
            <a:noFill/>
          </a:ln>
        </p:spPr>
      </p:pic>
      <p:cxnSp>
        <p:nvCxnSpPr>
          <p:cNvPr id="877" name="Google Shape;877;p97"/>
          <p:cNvCxnSpPr/>
          <p:nvPr/>
        </p:nvCxnSpPr>
        <p:spPr>
          <a:xfrm rot="10800000">
            <a:off x="3416906" y="4185275"/>
            <a:ext cx="0" cy="245400"/>
          </a:xfrm>
          <a:prstGeom prst="straightConnector1">
            <a:avLst/>
          </a:prstGeom>
          <a:noFill/>
          <a:ln w="19050" cap="flat" cmpd="sng">
            <a:solidFill>
              <a:schemeClr val="accent2"/>
            </a:solidFill>
            <a:prstDash val="solid"/>
            <a:round/>
            <a:headEnd type="none" w="sm" len="sm"/>
            <a:tailEnd type="triangle" w="sm" len="sm"/>
          </a:ln>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7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7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Shape 882"/>
        <p:cNvGrpSpPr/>
        <p:nvPr/>
      </p:nvGrpSpPr>
      <p:grpSpPr>
        <a:xfrm>
          <a:off x="0" y="0"/>
          <a:ext cx="0" cy="0"/>
          <a:chOff x="0" y="0"/>
          <a:chExt cx="0" cy="0"/>
        </a:xfrm>
      </p:grpSpPr>
      <p:sp>
        <p:nvSpPr>
          <p:cNvPr id="883" name="Google Shape;883;p98"/>
          <p:cNvSpPr txBox="1">
            <a:spLocks noGrp="1"/>
          </p:cNvSpPr>
          <p:nvPr>
            <p:ph type="title"/>
          </p:nvPr>
        </p:nvSpPr>
        <p:spPr>
          <a:xfrm>
            <a:off x="471488" y="205383"/>
            <a:ext cx="5915100" cy="7458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chemeClr val="dk1"/>
              </a:buClr>
              <a:buSzPts val="3300"/>
              <a:buFont typeface="Century Gothic"/>
              <a:buNone/>
            </a:pPr>
            <a:r>
              <a:rPr lang="en-GB"/>
              <a:t>Bigram LM with feed-forward NNs</a:t>
            </a:r>
            <a:endParaRPr/>
          </a:p>
        </p:txBody>
      </p:sp>
      <p:sp>
        <p:nvSpPr>
          <p:cNvPr id="884" name="Google Shape;884;p98"/>
          <p:cNvSpPr txBox="1"/>
          <p:nvPr/>
        </p:nvSpPr>
        <p:spPr>
          <a:xfrm>
            <a:off x="497350" y="1143000"/>
            <a:ext cx="5915100" cy="877200"/>
          </a:xfrm>
          <a:prstGeom prst="rect">
            <a:avLst/>
          </a:prstGeom>
          <a:noFill/>
          <a:ln>
            <a:noFill/>
          </a:ln>
        </p:spPr>
        <p:txBody>
          <a:bodyPr spcFirstLastPara="1" wrap="square" lIns="91425" tIns="91425" rIns="91425" bIns="91425" anchor="t" anchorCtr="0">
            <a:spAutoFit/>
          </a:bodyPr>
          <a:lstStyle/>
          <a:p>
            <a:pPr marL="457200" lvl="0" indent="-342900" algn="l" rtl="0">
              <a:lnSpc>
                <a:spcPct val="150000"/>
              </a:lnSpc>
              <a:spcBef>
                <a:spcPts val="0"/>
              </a:spcBef>
              <a:spcAft>
                <a:spcPts val="0"/>
              </a:spcAft>
              <a:buClr>
                <a:schemeClr val="dk2"/>
              </a:buClr>
              <a:buSzPts val="1800"/>
              <a:buChar char="●"/>
            </a:pPr>
            <a:r>
              <a:rPr lang="en-GB" sz="1800">
                <a:solidFill>
                  <a:schemeClr val="dk2"/>
                </a:solidFill>
              </a:rPr>
              <a:t>Keep the Markov assumption</a:t>
            </a:r>
            <a:endParaRPr sz="1800">
              <a:solidFill>
                <a:schemeClr val="dk2"/>
              </a:solidFill>
            </a:endParaRPr>
          </a:p>
          <a:p>
            <a:pPr marL="457200" lvl="0" indent="-342900" algn="l" rtl="0">
              <a:lnSpc>
                <a:spcPct val="150000"/>
              </a:lnSpc>
              <a:spcBef>
                <a:spcPts val="0"/>
              </a:spcBef>
              <a:spcAft>
                <a:spcPts val="0"/>
              </a:spcAft>
              <a:buClr>
                <a:schemeClr val="dk2"/>
              </a:buClr>
              <a:buSzPts val="1800"/>
              <a:buChar char="●"/>
            </a:pPr>
            <a:r>
              <a:rPr lang="en-GB" sz="1800">
                <a:solidFill>
                  <a:schemeClr val="dk2"/>
                </a:solidFill>
              </a:rPr>
              <a:t>Learn a probability with distributed representations:</a:t>
            </a:r>
            <a:endParaRPr sz="1800">
              <a:solidFill>
                <a:schemeClr val="dk2"/>
              </a:solidFill>
            </a:endParaRPr>
          </a:p>
        </p:txBody>
      </p:sp>
      <p:pic>
        <p:nvPicPr>
          <p:cNvPr id="885" name="Google Shape;885;p98"/>
          <p:cNvPicPr preferRelativeResize="0"/>
          <p:nvPr/>
        </p:nvPicPr>
        <p:blipFill>
          <a:blip r:embed="rId3">
            <a:alphaModFix/>
          </a:blip>
          <a:stretch>
            <a:fillRect/>
          </a:stretch>
        </p:blipFill>
        <p:spPr>
          <a:xfrm>
            <a:off x="1048850" y="2058026"/>
            <a:ext cx="3776650" cy="298550"/>
          </a:xfrm>
          <a:prstGeom prst="rect">
            <a:avLst/>
          </a:prstGeom>
          <a:noFill/>
          <a:ln>
            <a:noFill/>
          </a:ln>
        </p:spPr>
      </p:pic>
      <p:pic>
        <p:nvPicPr>
          <p:cNvPr id="886" name="Google Shape;886;p98"/>
          <p:cNvPicPr preferRelativeResize="0"/>
          <p:nvPr/>
        </p:nvPicPr>
        <p:blipFill rotWithShape="1">
          <a:blip r:embed="rId4">
            <a:alphaModFix/>
          </a:blip>
          <a:srcRect b="65793"/>
          <a:stretch/>
        </p:blipFill>
        <p:spPr>
          <a:xfrm>
            <a:off x="998250" y="2409260"/>
            <a:ext cx="5893818" cy="366101"/>
          </a:xfrm>
          <a:prstGeom prst="rect">
            <a:avLst/>
          </a:prstGeom>
          <a:noFill/>
          <a:ln>
            <a:noFill/>
          </a:ln>
        </p:spPr>
      </p:pic>
      <p:pic>
        <p:nvPicPr>
          <p:cNvPr id="887" name="Google Shape;887;p98"/>
          <p:cNvPicPr preferRelativeResize="0"/>
          <p:nvPr/>
        </p:nvPicPr>
        <p:blipFill rotWithShape="1">
          <a:blip r:embed="rId4">
            <a:alphaModFix/>
          </a:blip>
          <a:srcRect t="31179" b="34613"/>
          <a:stretch/>
        </p:blipFill>
        <p:spPr>
          <a:xfrm>
            <a:off x="998250" y="2835503"/>
            <a:ext cx="5893818" cy="366101"/>
          </a:xfrm>
          <a:prstGeom prst="rect">
            <a:avLst/>
          </a:prstGeom>
          <a:noFill/>
          <a:ln>
            <a:noFill/>
          </a:ln>
        </p:spPr>
      </p:pic>
      <p:pic>
        <p:nvPicPr>
          <p:cNvPr id="888" name="Google Shape;888;p98"/>
          <p:cNvPicPr preferRelativeResize="0"/>
          <p:nvPr/>
        </p:nvPicPr>
        <p:blipFill rotWithShape="1">
          <a:blip r:embed="rId4">
            <a:alphaModFix/>
          </a:blip>
          <a:srcRect t="60641" b="5151"/>
          <a:stretch/>
        </p:blipFill>
        <p:spPr>
          <a:xfrm>
            <a:off x="998250" y="3261746"/>
            <a:ext cx="5893818" cy="366101"/>
          </a:xfrm>
          <a:prstGeom prst="rect">
            <a:avLst/>
          </a:prstGeom>
          <a:noFill/>
          <a:ln>
            <a:noFill/>
          </a:ln>
        </p:spPr>
      </p:pic>
      <p:sp>
        <p:nvSpPr>
          <p:cNvPr id="889" name="Google Shape;889;p98"/>
          <p:cNvSpPr txBox="1"/>
          <p:nvPr/>
        </p:nvSpPr>
        <p:spPr>
          <a:xfrm>
            <a:off x="573550" y="3734050"/>
            <a:ext cx="5915100" cy="461700"/>
          </a:xfrm>
          <a:prstGeom prst="rect">
            <a:avLst/>
          </a:prstGeom>
          <a:noFill/>
          <a:ln>
            <a:noFill/>
          </a:ln>
        </p:spPr>
        <p:txBody>
          <a:bodyPr spcFirstLastPara="1" wrap="square" lIns="91425" tIns="91425" rIns="91425" bIns="91425" anchor="t" anchorCtr="0">
            <a:spAutoFit/>
          </a:bodyPr>
          <a:lstStyle/>
          <a:p>
            <a:pPr marL="0" lvl="0" indent="0" algn="l" rtl="0">
              <a:lnSpc>
                <a:spcPct val="150000"/>
              </a:lnSpc>
              <a:spcBef>
                <a:spcPts val="0"/>
              </a:spcBef>
              <a:spcAft>
                <a:spcPts val="1000"/>
              </a:spcAft>
              <a:buNone/>
            </a:pPr>
            <a:r>
              <a:rPr lang="en-GB" sz="1800">
                <a:solidFill>
                  <a:schemeClr val="dk2"/>
                </a:solidFill>
              </a:rPr>
              <a:t>Learnable parameters: </a:t>
            </a:r>
            <a:endParaRPr sz="1800">
              <a:solidFill>
                <a:schemeClr val="dk2"/>
              </a:solidFill>
            </a:endParaRPr>
          </a:p>
        </p:txBody>
      </p:sp>
      <p:sp>
        <p:nvSpPr>
          <p:cNvPr id="890" name="Google Shape;890;p98"/>
          <p:cNvSpPr txBox="1"/>
          <p:nvPr/>
        </p:nvSpPr>
        <p:spPr>
          <a:xfrm>
            <a:off x="6892075" y="2398440"/>
            <a:ext cx="1442700" cy="461700"/>
          </a:xfrm>
          <a:prstGeom prst="rect">
            <a:avLst/>
          </a:prstGeom>
          <a:noFill/>
          <a:ln>
            <a:noFill/>
          </a:ln>
        </p:spPr>
        <p:txBody>
          <a:bodyPr spcFirstLastPara="1" wrap="square" lIns="91425" tIns="91425" rIns="91425" bIns="91425" anchor="t" anchorCtr="0">
            <a:spAutoFit/>
          </a:bodyPr>
          <a:lstStyle/>
          <a:p>
            <a:pPr marL="0" lvl="0" indent="0" algn="l" rtl="0">
              <a:lnSpc>
                <a:spcPct val="150000"/>
              </a:lnSpc>
              <a:spcBef>
                <a:spcPts val="0"/>
              </a:spcBef>
              <a:spcAft>
                <a:spcPts val="1000"/>
              </a:spcAft>
              <a:buNone/>
            </a:pPr>
            <a:r>
              <a:rPr lang="en-GB" sz="1800">
                <a:solidFill>
                  <a:srgbClr val="00B0F0"/>
                </a:solidFill>
              </a:rPr>
              <a:t>Embedding</a:t>
            </a:r>
            <a:endParaRPr sz="1800">
              <a:solidFill>
                <a:srgbClr val="00B0F0"/>
              </a:solidFill>
            </a:endParaRPr>
          </a:p>
        </p:txBody>
      </p:sp>
      <p:sp>
        <p:nvSpPr>
          <p:cNvPr id="891" name="Google Shape;891;p98"/>
          <p:cNvSpPr txBox="1"/>
          <p:nvPr/>
        </p:nvSpPr>
        <p:spPr>
          <a:xfrm>
            <a:off x="6892075" y="2787675"/>
            <a:ext cx="1306800" cy="461700"/>
          </a:xfrm>
          <a:prstGeom prst="rect">
            <a:avLst/>
          </a:prstGeom>
          <a:noFill/>
          <a:ln>
            <a:noFill/>
          </a:ln>
        </p:spPr>
        <p:txBody>
          <a:bodyPr spcFirstLastPara="1" wrap="square" lIns="91425" tIns="91425" rIns="91425" bIns="91425" anchor="t" anchorCtr="0">
            <a:spAutoFit/>
          </a:bodyPr>
          <a:lstStyle/>
          <a:p>
            <a:pPr marL="0" lvl="0" indent="0" algn="l" rtl="0">
              <a:lnSpc>
                <a:spcPct val="150000"/>
              </a:lnSpc>
              <a:spcBef>
                <a:spcPts val="0"/>
              </a:spcBef>
              <a:spcAft>
                <a:spcPts val="1000"/>
              </a:spcAft>
              <a:buNone/>
            </a:pPr>
            <a:r>
              <a:rPr lang="en-GB" sz="1800">
                <a:solidFill>
                  <a:srgbClr val="00B0F0"/>
                </a:solidFill>
              </a:rPr>
              <a:t>Projection</a:t>
            </a:r>
            <a:endParaRPr sz="1800">
              <a:solidFill>
                <a:srgbClr val="00B0F0"/>
              </a:solidFill>
            </a:endParaRPr>
          </a:p>
        </p:txBody>
      </p:sp>
      <p:sp>
        <p:nvSpPr>
          <p:cNvPr id="892" name="Google Shape;892;p98"/>
          <p:cNvSpPr txBox="1"/>
          <p:nvPr/>
        </p:nvSpPr>
        <p:spPr>
          <a:xfrm>
            <a:off x="6892075" y="3219644"/>
            <a:ext cx="1306800" cy="461700"/>
          </a:xfrm>
          <a:prstGeom prst="rect">
            <a:avLst/>
          </a:prstGeom>
          <a:noFill/>
          <a:ln>
            <a:noFill/>
          </a:ln>
        </p:spPr>
        <p:txBody>
          <a:bodyPr spcFirstLastPara="1" wrap="square" lIns="91425" tIns="91425" rIns="91425" bIns="91425" anchor="t" anchorCtr="0">
            <a:spAutoFit/>
          </a:bodyPr>
          <a:lstStyle/>
          <a:p>
            <a:pPr marL="0" lvl="0" indent="0" algn="l" rtl="0">
              <a:lnSpc>
                <a:spcPct val="150000"/>
              </a:lnSpc>
              <a:spcBef>
                <a:spcPts val="0"/>
              </a:spcBef>
              <a:spcAft>
                <a:spcPts val="1000"/>
              </a:spcAft>
              <a:buNone/>
            </a:pPr>
            <a:r>
              <a:rPr lang="en-GB" sz="1800">
                <a:solidFill>
                  <a:srgbClr val="00B0F0"/>
                </a:solidFill>
              </a:rPr>
              <a:t>Probability</a:t>
            </a:r>
            <a:endParaRPr sz="1800">
              <a:solidFill>
                <a:srgbClr val="00B0F0"/>
              </a:solidFill>
            </a:endParaRPr>
          </a:p>
        </p:txBody>
      </p:sp>
      <p:pic>
        <p:nvPicPr>
          <p:cNvPr id="893" name="Google Shape;893;p98"/>
          <p:cNvPicPr preferRelativeResize="0"/>
          <p:nvPr/>
        </p:nvPicPr>
        <p:blipFill>
          <a:blip r:embed="rId5">
            <a:alphaModFix/>
          </a:blip>
          <a:stretch>
            <a:fillRect/>
          </a:stretch>
        </p:blipFill>
        <p:spPr>
          <a:xfrm>
            <a:off x="3144338" y="3770725"/>
            <a:ext cx="2708290" cy="393000"/>
          </a:xfrm>
          <a:prstGeom prst="rect">
            <a:avLst/>
          </a:prstGeom>
          <a:noFill/>
          <a:ln>
            <a:noFill/>
          </a:ln>
        </p:spPr>
      </p:pic>
      <p:sp>
        <p:nvSpPr>
          <p:cNvPr id="894" name="Google Shape;894;p98"/>
          <p:cNvSpPr txBox="1"/>
          <p:nvPr/>
        </p:nvSpPr>
        <p:spPr>
          <a:xfrm>
            <a:off x="573550" y="4163725"/>
            <a:ext cx="5915100" cy="461700"/>
          </a:xfrm>
          <a:prstGeom prst="rect">
            <a:avLst/>
          </a:prstGeom>
          <a:noFill/>
          <a:ln>
            <a:noFill/>
          </a:ln>
        </p:spPr>
        <p:txBody>
          <a:bodyPr spcFirstLastPara="1" wrap="square" lIns="91425" tIns="91425" rIns="91425" bIns="91425" anchor="t" anchorCtr="0">
            <a:spAutoFit/>
          </a:bodyPr>
          <a:lstStyle/>
          <a:p>
            <a:pPr marL="0" lvl="0" indent="0" algn="l" rtl="0">
              <a:lnSpc>
                <a:spcPct val="150000"/>
              </a:lnSpc>
              <a:spcBef>
                <a:spcPts val="0"/>
              </a:spcBef>
              <a:spcAft>
                <a:spcPts val="1000"/>
              </a:spcAft>
              <a:buNone/>
            </a:pPr>
            <a:r>
              <a:rPr lang="en-GB" sz="1800">
                <a:solidFill>
                  <a:srgbClr val="FF0000"/>
                </a:solidFill>
              </a:rPr>
              <a:t>Linear dependency on the horizon!</a:t>
            </a:r>
            <a:endParaRPr sz="1800">
              <a:solidFill>
                <a:srgbClr val="FF0000"/>
              </a:solidFill>
            </a:endParaRPr>
          </a:p>
        </p:txBody>
      </p:sp>
      <p:sp>
        <p:nvSpPr>
          <p:cNvPr id="895" name="Google Shape;895;p98"/>
          <p:cNvSpPr txBox="1"/>
          <p:nvPr/>
        </p:nvSpPr>
        <p:spPr>
          <a:xfrm>
            <a:off x="573550" y="4582740"/>
            <a:ext cx="5915100" cy="461700"/>
          </a:xfrm>
          <a:prstGeom prst="rect">
            <a:avLst/>
          </a:prstGeom>
          <a:noFill/>
          <a:ln>
            <a:noFill/>
          </a:ln>
        </p:spPr>
        <p:txBody>
          <a:bodyPr spcFirstLastPara="1" wrap="square" lIns="91425" tIns="91425" rIns="91425" bIns="91425" anchor="t" anchorCtr="0">
            <a:spAutoFit/>
          </a:bodyPr>
          <a:lstStyle/>
          <a:p>
            <a:pPr marL="0" lvl="0" indent="0" algn="l" rtl="0">
              <a:lnSpc>
                <a:spcPct val="150000"/>
              </a:lnSpc>
              <a:spcBef>
                <a:spcPts val="0"/>
              </a:spcBef>
              <a:spcAft>
                <a:spcPts val="1000"/>
              </a:spcAft>
              <a:buNone/>
            </a:pPr>
            <a:r>
              <a:rPr lang="en-GB" sz="1800">
                <a:solidFill>
                  <a:schemeClr val="dk2"/>
                </a:solidFill>
              </a:rPr>
              <a:t>Also, each word is processed by </a:t>
            </a:r>
            <a:r>
              <a:rPr lang="en-GB" sz="1800">
                <a:solidFill>
                  <a:srgbClr val="FF0000"/>
                </a:solidFill>
              </a:rPr>
              <a:t>different weights</a:t>
            </a:r>
            <a:endParaRPr sz="1800">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9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9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Shape 900"/>
        <p:cNvGrpSpPr/>
        <p:nvPr/>
      </p:nvGrpSpPr>
      <p:grpSpPr>
        <a:xfrm>
          <a:off x="0" y="0"/>
          <a:ext cx="0" cy="0"/>
          <a:chOff x="0" y="0"/>
          <a:chExt cx="0" cy="0"/>
        </a:xfrm>
      </p:grpSpPr>
      <p:sp>
        <p:nvSpPr>
          <p:cNvPr id="901" name="Google Shape;901;p99"/>
          <p:cNvSpPr txBox="1">
            <a:spLocks noGrp="1"/>
          </p:cNvSpPr>
          <p:nvPr>
            <p:ph type="title"/>
          </p:nvPr>
        </p:nvSpPr>
        <p:spPr>
          <a:xfrm>
            <a:off x="471488" y="205383"/>
            <a:ext cx="5915100" cy="7458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chemeClr val="dk1"/>
              </a:buClr>
              <a:buSzPts val="3300"/>
              <a:buFont typeface="Century Gothic"/>
              <a:buNone/>
            </a:pPr>
            <a:r>
              <a:rPr lang="en-GB"/>
              <a:t>Advantages</a:t>
            </a:r>
            <a:endParaRPr/>
          </a:p>
        </p:txBody>
      </p:sp>
      <p:sp>
        <p:nvSpPr>
          <p:cNvPr id="902" name="Google Shape;902;p99"/>
          <p:cNvSpPr txBox="1"/>
          <p:nvPr/>
        </p:nvSpPr>
        <p:spPr>
          <a:xfrm>
            <a:off x="497350" y="990600"/>
            <a:ext cx="8025000" cy="3370800"/>
          </a:xfrm>
          <a:prstGeom prst="rect">
            <a:avLst/>
          </a:prstGeom>
          <a:noFill/>
          <a:ln>
            <a:noFill/>
          </a:ln>
        </p:spPr>
        <p:txBody>
          <a:bodyPr spcFirstLastPara="1" wrap="square" lIns="91425" tIns="91425" rIns="91425" bIns="91425" anchor="t" anchorCtr="0">
            <a:spAutoFit/>
          </a:bodyPr>
          <a:lstStyle/>
          <a:p>
            <a:pPr marL="457200" lvl="0" indent="-342900" algn="l" rtl="0">
              <a:lnSpc>
                <a:spcPct val="150000"/>
              </a:lnSpc>
              <a:spcBef>
                <a:spcPts val="0"/>
              </a:spcBef>
              <a:spcAft>
                <a:spcPts val="0"/>
              </a:spcAft>
              <a:buClr>
                <a:schemeClr val="dk2"/>
              </a:buClr>
              <a:buSzPts val="1800"/>
              <a:buChar char="●"/>
            </a:pPr>
            <a:r>
              <a:rPr lang="en-GB" sz="1800">
                <a:solidFill>
                  <a:schemeClr val="dk2"/>
                </a:solidFill>
              </a:rPr>
              <a:t>If we see in the training set</a:t>
            </a:r>
            <a:br>
              <a:rPr lang="en-GB" sz="1800">
                <a:solidFill>
                  <a:schemeClr val="dk2"/>
                </a:solidFill>
              </a:rPr>
            </a:br>
            <a:r>
              <a:rPr lang="en-GB" sz="1800" i="1">
                <a:solidFill>
                  <a:srgbClr val="00B0F0"/>
                </a:solidFill>
              </a:rPr>
              <a:t>The cat is walking in the bedroom</a:t>
            </a:r>
            <a:endParaRPr sz="1800">
              <a:solidFill>
                <a:srgbClr val="00B0F0"/>
              </a:solidFill>
            </a:endParaRPr>
          </a:p>
          <a:p>
            <a:pPr marL="457200" lvl="0" indent="-342900" algn="l" rtl="0">
              <a:lnSpc>
                <a:spcPct val="150000"/>
              </a:lnSpc>
              <a:spcBef>
                <a:spcPts val="0"/>
              </a:spcBef>
              <a:spcAft>
                <a:spcPts val="0"/>
              </a:spcAft>
              <a:buClr>
                <a:schemeClr val="dk2"/>
              </a:buClr>
              <a:buSzPts val="1800"/>
              <a:buChar char="●"/>
            </a:pPr>
            <a:r>
              <a:rPr lang="en-GB" sz="1800">
                <a:solidFill>
                  <a:schemeClr val="dk2"/>
                </a:solidFill>
              </a:rPr>
              <a:t>We can hope to learn (</a:t>
            </a:r>
            <a:r>
              <a:rPr lang="en-GB" sz="1800">
                <a:solidFill>
                  <a:srgbClr val="C55A11"/>
                </a:solidFill>
              </a:rPr>
              <a:t>why?</a:t>
            </a:r>
            <a:r>
              <a:rPr lang="en-GB" sz="1800">
                <a:solidFill>
                  <a:schemeClr val="dk2"/>
                </a:solidFill>
              </a:rPr>
              <a:t>)</a:t>
            </a:r>
            <a:br>
              <a:rPr lang="en-GB" sz="1800">
                <a:solidFill>
                  <a:schemeClr val="dk2"/>
                </a:solidFill>
              </a:rPr>
            </a:br>
            <a:r>
              <a:rPr lang="en-GB" sz="1800" i="1">
                <a:solidFill>
                  <a:srgbClr val="00B0F0"/>
                </a:solidFill>
              </a:rPr>
              <a:t>A dog was running through a room</a:t>
            </a:r>
            <a:endParaRPr sz="1800">
              <a:solidFill>
                <a:srgbClr val="00B0F0"/>
              </a:solidFill>
            </a:endParaRPr>
          </a:p>
          <a:p>
            <a:pPr marL="457200" lvl="0" indent="-342900" algn="l" rtl="0">
              <a:lnSpc>
                <a:spcPct val="150000"/>
              </a:lnSpc>
              <a:spcBef>
                <a:spcPts val="0"/>
              </a:spcBef>
              <a:spcAft>
                <a:spcPts val="0"/>
              </a:spcAft>
              <a:buClr>
                <a:schemeClr val="dk2"/>
              </a:buClr>
              <a:buSzPts val="1800"/>
              <a:buChar char="●"/>
            </a:pPr>
            <a:r>
              <a:rPr lang="en-GB" sz="1800">
                <a:solidFill>
                  <a:schemeClr val="dk2"/>
                </a:solidFill>
              </a:rPr>
              <a:t>We don’t care if specific n-grams appeared before</a:t>
            </a:r>
            <a:endParaRPr sz="1800">
              <a:solidFill>
                <a:schemeClr val="dk2"/>
              </a:solidFill>
            </a:endParaRPr>
          </a:p>
          <a:p>
            <a:pPr marL="457200" lvl="0" indent="-342900" algn="l" rtl="0">
              <a:lnSpc>
                <a:spcPct val="150000"/>
              </a:lnSpc>
              <a:spcBef>
                <a:spcPts val="0"/>
              </a:spcBef>
              <a:spcAft>
                <a:spcPts val="0"/>
              </a:spcAft>
              <a:buClr>
                <a:schemeClr val="dk2"/>
              </a:buClr>
              <a:buSzPts val="1800"/>
              <a:buChar char="●"/>
            </a:pPr>
            <a:r>
              <a:rPr lang="en-GB" sz="1800">
                <a:solidFill>
                  <a:schemeClr val="dk2"/>
                </a:solidFill>
              </a:rPr>
              <a:t>The number of parameters is </a:t>
            </a:r>
            <a:r>
              <a:rPr lang="en-GB" sz="1800">
                <a:solidFill>
                  <a:srgbClr val="C55A11"/>
                </a:solidFill>
              </a:rPr>
              <a:t>O(k)</a:t>
            </a:r>
            <a:r>
              <a:rPr lang="en-GB" sz="1800">
                <a:solidFill>
                  <a:schemeClr val="dk2"/>
                </a:solidFill>
              </a:rPr>
              <a:t> where k is the horizon (k-grams)</a:t>
            </a:r>
            <a:endParaRPr sz="1800">
              <a:solidFill>
                <a:schemeClr val="dk2"/>
              </a:solidFill>
            </a:endParaRPr>
          </a:p>
          <a:p>
            <a:pPr marL="914400" lvl="1" indent="-342900" algn="l" rtl="0">
              <a:lnSpc>
                <a:spcPct val="150000"/>
              </a:lnSpc>
              <a:spcBef>
                <a:spcPts val="0"/>
              </a:spcBef>
              <a:spcAft>
                <a:spcPts val="0"/>
              </a:spcAft>
              <a:buClr>
                <a:schemeClr val="dk2"/>
              </a:buClr>
              <a:buSzPts val="1800"/>
              <a:buChar char="○"/>
            </a:pPr>
            <a:r>
              <a:rPr lang="en-GB" sz="1800">
                <a:solidFill>
                  <a:schemeClr val="dk2"/>
                </a:solidFill>
              </a:rPr>
              <a:t>What did we pay before?</a:t>
            </a:r>
            <a:endParaRPr sz="1800">
              <a:solidFill>
                <a:schemeClr val="dk2"/>
              </a:solidFill>
            </a:endParaRPr>
          </a:p>
          <a:p>
            <a:pPr marL="457200" lvl="0" indent="-342900" algn="l" rtl="0">
              <a:lnSpc>
                <a:spcPct val="150000"/>
              </a:lnSpc>
              <a:spcBef>
                <a:spcPts val="0"/>
              </a:spcBef>
              <a:spcAft>
                <a:spcPts val="0"/>
              </a:spcAft>
              <a:buClr>
                <a:schemeClr val="dk2"/>
              </a:buClr>
              <a:buSzPts val="1800"/>
              <a:buChar char="●"/>
            </a:pPr>
            <a:r>
              <a:rPr lang="en-GB" sz="1800">
                <a:solidFill>
                  <a:schemeClr val="dk2"/>
                </a:solidFill>
              </a:rPr>
              <a:t>Complex decision boundaries, scalable, allows over-parameterization</a:t>
            </a:r>
            <a:endParaRPr sz="1800">
              <a:solidFill>
                <a:schemeClr val="dk2"/>
              </a:solidFill>
            </a:endParaRPr>
          </a:p>
        </p:txBody>
      </p:sp>
      <p:sp>
        <p:nvSpPr>
          <p:cNvPr id="903" name="Google Shape;903;p99"/>
          <p:cNvSpPr txBox="1"/>
          <p:nvPr/>
        </p:nvSpPr>
        <p:spPr>
          <a:xfrm>
            <a:off x="2389050" y="4437500"/>
            <a:ext cx="4365900" cy="461700"/>
          </a:xfrm>
          <a:prstGeom prst="rect">
            <a:avLst/>
          </a:prstGeom>
          <a:noFill/>
          <a:ln>
            <a:noFill/>
          </a:ln>
        </p:spPr>
        <p:txBody>
          <a:bodyPr spcFirstLastPara="1" wrap="square" lIns="91425" tIns="91425" rIns="91425" bIns="91425" anchor="t" anchorCtr="0">
            <a:spAutoFit/>
          </a:bodyPr>
          <a:lstStyle/>
          <a:p>
            <a:pPr marL="0" lvl="0" indent="0" algn="ctr" rtl="0">
              <a:lnSpc>
                <a:spcPct val="150000"/>
              </a:lnSpc>
              <a:spcBef>
                <a:spcPts val="0"/>
              </a:spcBef>
              <a:spcAft>
                <a:spcPts val="1000"/>
              </a:spcAft>
              <a:buNone/>
            </a:pPr>
            <a:r>
              <a:rPr lang="en-GB" sz="1800">
                <a:solidFill>
                  <a:srgbClr val="CC0000"/>
                </a:solidFill>
              </a:rPr>
              <a:t>But we still have our Markov assumption</a:t>
            </a:r>
            <a:endParaRPr sz="1800">
              <a:solidFill>
                <a:srgbClr val="CC0000"/>
              </a:solidFill>
            </a:endParaRPr>
          </a:p>
        </p:txBody>
      </p:sp>
    </p:spTree>
  </p:cSld>
  <p:clrMapOvr>
    <a:masterClrMapping/>
  </p:clrMapOvr>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Shape 923"/>
        <p:cNvGrpSpPr/>
        <p:nvPr/>
      </p:nvGrpSpPr>
      <p:grpSpPr>
        <a:xfrm>
          <a:off x="0" y="0"/>
          <a:ext cx="0" cy="0"/>
          <a:chOff x="0" y="0"/>
          <a:chExt cx="0" cy="0"/>
        </a:xfrm>
      </p:grpSpPr>
      <p:sp>
        <p:nvSpPr>
          <p:cNvPr id="924" name="Google Shape;924;p101"/>
          <p:cNvSpPr txBox="1">
            <a:spLocks noGrp="1"/>
          </p:cNvSpPr>
          <p:nvPr>
            <p:ph type="title"/>
          </p:nvPr>
        </p:nvSpPr>
        <p:spPr>
          <a:xfrm>
            <a:off x="471488" y="205383"/>
            <a:ext cx="5915100" cy="7458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chemeClr val="dk1"/>
              </a:buClr>
              <a:buSzPts val="3300"/>
              <a:buFont typeface="Century Gothic"/>
              <a:buNone/>
            </a:pPr>
            <a:r>
              <a:rPr lang="en-GB"/>
              <a:t>RNN motivation</a:t>
            </a:r>
            <a:endParaRPr/>
          </a:p>
        </p:txBody>
      </p:sp>
      <p:sp>
        <p:nvSpPr>
          <p:cNvPr id="925" name="Google Shape;925;p101"/>
          <p:cNvSpPr txBox="1">
            <a:spLocks noGrp="1"/>
          </p:cNvSpPr>
          <p:nvPr>
            <p:ph type="body" idx="1"/>
          </p:nvPr>
        </p:nvSpPr>
        <p:spPr>
          <a:xfrm>
            <a:off x="471500" y="1103116"/>
            <a:ext cx="5915100" cy="497100"/>
          </a:xfrm>
          <a:prstGeom prst="rect">
            <a:avLst/>
          </a:prstGeom>
          <a:noFill/>
          <a:ln>
            <a:noFill/>
          </a:ln>
        </p:spPr>
        <p:txBody>
          <a:bodyPr spcFirstLastPara="1" wrap="square" lIns="68575" tIns="34275" rIns="68575" bIns="34275" anchor="t" anchorCtr="0">
            <a:normAutofit/>
          </a:bodyPr>
          <a:lstStyle/>
          <a:p>
            <a:pPr marL="0" lvl="0" indent="0" algn="l" rtl="0">
              <a:lnSpc>
                <a:spcPct val="90000"/>
              </a:lnSpc>
              <a:spcBef>
                <a:spcPts val="0"/>
              </a:spcBef>
              <a:spcAft>
                <a:spcPts val="1200"/>
              </a:spcAft>
              <a:buNone/>
            </a:pPr>
            <a:r>
              <a:rPr lang="en-GB"/>
              <a:t>Apply the same function iteratively, and save the state</a:t>
            </a:r>
            <a:endParaRPr/>
          </a:p>
        </p:txBody>
      </p:sp>
      <p:sp>
        <p:nvSpPr>
          <p:cNvPr id="926" name="Google Shape;926;p101"/>
          <p:cNvSpPr txBox="1"/>
          <p:nvPr/>
        </p:nvSpPr>
        <p:spPr>
          <a:xfrm>
            <a:off x="438196" y="3955374"/>
            <a:ext cx="507600" cy="3462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GB" sz="1800">
                <a:solidFill>
                  <a:schemeClr val="dk1"/>
                </a:solidFill>
              </a:rPr>
              <a:t>the</a:t>
            </a:r>
            <a:endParaRPr sz="1800"/>
          </a:p>
        </p:txBody>
      </p:sp>
      <p:sp>
        <p:nvSpPr>
          <p:cNvPr id="927" name="Google Shape;927;p101"/>
          <p:cNvSpPr txBox="1"/>
          <p:nvPr/>
        </p:nvSpPr>
        <p:spPr>
          <a:xfrm>
            <a:off x="2634927" y="3938112"/>
            <a:ext cx="603600" cy="3462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GB" sz="1800">
                <a:solidFill>
                  <a:schemeClr val="dk1"/>
                </a:solidFill>
              </a:rPr>
              <a:t>dog</a:t>
            </a:r>
            <a:endParaRPr sz="1800">
              <a:solidFill>
                <a:schemeClr val="dk1"/>
              </a:solidFill>
            </a:endParaRPr>
          </a:p>
        </p:txBody>
      </p:sp>
      <p:sp>
        <p:nvSpPr>
          <p:cNvPr id="928" name="Google Shape;928;p101"/>
          <p:cNvSpPr/>
          <p:nvPr/>
        </p:nvSpPr>
        <p:spPr>
          <a:xfrm>
            <a:off x="254695" y="3396083"/>
            <a:ext cx="886800" cy="226800"/>
          </a:xfrm>
          <a:prstGeom prst="rect">
            <a:avLst/>
          </a:prstGeom>
          <a:noFill/>
          <a:ln w="19050" cap="flat" cmpd="sng">
            <a:solidFill>
              <a:srgbClr val="C55A11"/>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1">
              <a:spcBef>
                <a:spcPts val="0"/>
              </a:spcBef>
              <a:spcAft>
                <a:spcPts val="0"/>
              </a:spcAft>
              <a:buNone/>
            </a:pPr>
            <a:endParaRPr sz="1200">
              <a:solidFill>
                <a:srgbClr val="C55A11"/>
              </a:solidFill>
              <a:latin typeface="Century Gothic"/>
              <a:ea typeface="Century Gothic"/>
              <a:cs typeface="Century Gothic"/>
              <a:sym typeface="Century Gothic"/>
            </a:endParaRPr>
          </a:p>
        </p:txBody>
      </p:sp>
      <p:cxnSp>
        <p:nvCxnSpPr>
          <p:cNvPr id="929" name="Google Shape;929;p101"/>
          <p:cNvCxnSpPr/>
          <p:nvPr/>
        </p:nvCxnSpPr>
        <p:spPr>
          <a:xfrm rot="10800000">
            <a:off x="646305" y="3667674"/>
            <a:ext cx="0" cy="287700"/>
          </a:xfrm>
          <a:prstGeom prst="straightConnector1">
            <a:avLst/>
          </a:prstGeom>
          <a:noFill/>
          <a:ln w="19050" cap="flat" cmpd="sng">
            <a:solidFill>
              <a:srgbClr val="C55A11"/>
            </a:solidFill>
            <a:prstDash val="dot"/>
            <a:miter lim="800000"/>
            <a:headEnd type="none" w="sm" len="sm"/>
            <a:tailEnd type="triangle" w="med" len="med"/>
          </a:ln>
        </p:spPr>
      </p:cxnSp>
      <p:cxnSp>
        <p:nvCxnSpPr>
          <p:cNvPr id="930" name="Google Shape;930;p101"/>
          <p:cNvCxnSpPr/>
          <p:nvPr/>
        </p:nvCxnSpPr>
        <p:spPr>
          <a:xfrm rot="10800000">
            <a:off x="2878503" y="3650412"/>
            <a:ext cx="0" cy="287700"/>
          </a:xfrm>
          <a:prstGeom prst="straightConnector1">
            <a:avLst/>
          </a:prstGeom>
          <a:noFill/>
          <a:ln w="19050" cap="flat" cmpd="sng">
            <a:solidFill>
              <a:srgbClr val="C55A11"/>
            </a:solidFill>
            <a:prstDash val="dot"/>
            <a:miter lim="800000"/>
            <a:headEnd type="none" w="sm" len="sm"/>
            <a:tailEnd type="triangle" w="med" len="med"/>
          </a:ln>
        </p:spPr>
      </p:cxnSp>
      <p:sp>
        <p:nvSpPr>
          <p:cNvPr id="931" name="Google Shape;931;p101"/>
          <p:cNvSpPr/>
          <p:nvPr/>
        </p:nvSpPr>
        <p:spPr>
          <a:xfrm>
            <a:off x="1633871" y="2761234"/>
            <a:ext cx="606000" cy="226800"/>
          </a:xfrm>
          <a:prstGeom prst="rect">
            <a:avLst/>
          </a:prstGeom>
          <a:noFill/>
          <a:ln w="19050" cap="flat" cmpd="sng">
            <a:solidFill>
              <a:srgbClr val="C55A11"/>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1">
              <a:spcBef>
                <a:spcPts val="0"/>
              </a:spcBef>
              <a:spcAft>
                <a:spcPts val="0"/>
              </a:spcAft>
              <a:buNone/>
            </a:pPr>
            <a:endParaRPr sz="1200">
              <a:solidFill>
                <a:srgbClr val="C55A11"/>
              </a:solidFill>
              <a:latin typeface="Century Gothic"/>
              <a:ea typeface="Century Gothic"/>
              <a:cs typeface="Century Gothic"/>
              <a:sym typeface="Century Gothic"/>
            </a:endParaRPr>
          </a:p>
        </p:txBody>
      </p:sp>
      <p:sp>
        <p:nvSpPr>
          <p:cNvPr id="932" name="Google Shape;932;p101"/>
          <p:cNvSpPr/>
          <p:nvPr/>
        </p:nvSpPr>
        <p:spPr>
          <a:xfrm>
            <a:off x="1315561" y="2218044"/>
            <a:ext cx="1255200" cy="227400"/>
          </a:xfrm>
          <a:prstGeom prst="rect">
            <a:avLst/>
          </a:prstGeom>
          <a:noFill/>
          <a:ln w="19050" cap="flat" cmpd="sng">
            <a:solidFill>
              <a:srgbClr val="C55A11"/>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1">
              <a:spcBef>
                <a:spcPts val="0"/>
              </a:spcBef>
              <a:spcAft>
                <a:spcPts val="0"/>
              </a:spcAft>
              <a:buNone/>
            </a:pPr>
            <a:endParaRPr sz="1200">
              <a:solidFill>
                <a:srgbClr val="C55A11"/>
              </a:solidFill>
              <a:latin typeface="Century Gothic"/>
              <a:ea typeface="Century Gothic"/>
              <a:cs typeface="Century Gothic"/>
              <a:sym typeface="Century Gothic"/>
            </a:endParaRPr>
          </a:p>
        </p:txBody>
      </p:sp>
      <p:cxnSp>
        <p:nvCxnSpPr>
          <p:cNvPr id="933" name="Google Shape;933;p101"/>
          <p:cNvCxnSpPr/>
          <p:nvPr/>
        </p:nvCxnSpPr>
        <p:spPr>
          <a:xfrm rot="10800000" flipH="1">
            <a:off x="698109" y="3044343"/>
            <a:ext cx="1238700" cy="330600"/>
          </a:xfrm>
          <a:prstGeom prst="straightConnector1">
            <a:avLst/>
          </a:prstGeom>
          <a:noFill/>
          <a:ln w="19050" cap="flat" cmpd="sng">
            <a:solidFill>
              <a:srgbClr val="C55A11"/>
            </a:solidFill>
            <a:prstDash val="solid"/>
            <a:miter lim="800000"/>
            <a:headEnd type="none" w="sm" len="sm"/>
            <a:tailEnd type="triangle" w="med" len="med"/>
          </a:ln>
        </p:spPr>
      </p:cxnSp>
      <p:cxnSp>
        <p:nvCxnSpPr>
          <p:cNvPr id="934" name="Google Shape;934;p101"/>
          <p:cNvCxnSpPr/>
          <p:nvPr/>
        </p:nvCxnSpPr>
        <p:spPr>
          <a:xfrm rot="10800000">
            <a:off x="1936880" y="3040938"/>
            <a:ext cx="986700" cy="330600"/>
          </a:xfrm>
          <a:prstGeom prst="straightConnector1">
            <a:avLst/>
          </a:prstGeom>
          <a:noFill/>
          <a:ln w="19050" cap="flat" cmpd="sng">
            <a:solidFill>
              <a:srgbClr val="C55A11"/>
            </a:solidFill>
            <a:prstDash val="solid"/>
            <a:miter lim="800000"/>
            <a:headEnd type="none" w="sm" len="sm"/>
            <a:tailEnd type="triangle" w="med" len="med"/>
          </a:ln>
        </p:spPr>
      </p:cxnSp>
      <p:cxnSp>
        <p:nvCxnSpPr>
          <p:cNvPr id="935" name="Google Shape;935;p101"/>
          <p:cNvCxnSpPr/>
          <p:nvPr/>
        </p:nvCxnSpPr>
        <p:spPr>
          <a:xfrm rot="10800000">
            <a:off x="1936807" y="2457653"/>
            <a:ext cx="2700" cy="270300"/>
          </a:xfrm>
          <a:prstGeom prst="straightConnector1">
            <a:avLst/>
          </a:prstGeom>
          <a:noFill/>
          <a:ln w="19050" cap="flat" cmpd="sng">
            <a:solidFill>
              <a:srgbClr val="C55A11"/>
            </a:solidFill>
            <a:prstDash val="solid"/>
            <a:miter lim="800000"/>
            <a:headEnd type="none" w="sm" len="sm"/>
            <a:tailEnd type="triangle" w="med" len="med"/>
          </a:ln>
        </p:spPr>
      </p:cxnSp>
      <p:sp>
        <p:nvSpPr>
          <p:cNvPr id="936" name="Google Shape;936;p101"/>
          <p:cNvSpPr/>
          <p:nvPr/>
        </p:nvSpPr>
        <p:spPr>
          <a:xfrm>
            <a:off x="2232202" y="2223146"/>
            <a:ext cx="118500" cy="220200"/>
          </a:xfrm>
          <a:prstGeom prst="rect">
            <a:avLst/>
          </a:prstGeom>
          <a:solidFill>
            <a:srgbClr val="C55A11"/>
          </a:solidFill>
          <a:ln w="19050" cap="flat" cmpd="sng">
            <a:solidFill>
              <a:srgbClr val="C55A11"/>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1">
              <a:spcBef>
                <a:spcPts val="0"/>
              </a:spcBef>
              <a:spcAft>
                <a:spcPts val="0"/>
              </a:spcAft>
              <a:buNone/>
            </a:pPr>
            <a:endParaRPr sz="1200">
              <a:solidFill>
                <a:schemeClr val="lt1"/>
              </a:solidFill>
              <a:latin typeface="Century Gothic"/>
              <a:ea typeface="Century Gothic"/>
              <a:cs typeface="Century Gothic"/>
              <a:sym typeface="Century Gothic"/>
            </a:endParaRPr>
          </a:p>
        </p:txBody>
      </p:sp>
      <p:sp>
        <p:nvSpPr>
          <p:cNvPr id="937" name="Google Shape;937;p101"/>
          <p:cNvSpPr/>
          <p:nvPr/>
        </p:nvSpPr>
        <p:spPr>
          <a:xfrm>
            <a:off x="2474012" y="3416227"/>
            <a:ext cx="886800" cy="226800"/>
          </a:xfrm>
          <a:prstGeom prst="rect">
            <a:avLst/>
          </a:prstGeom>
          <a:noFill/>
          <a:ln w="19050" cap="flat" cmpd="sng">
            <a:solidFill>
              <a:srgbClr val="C55A11"/>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1">
              <a:spcBef>
                <a:spcPts val="0"/>
              </a:spcBef>
              <a:spcAft>
                <a:spcPts val="0"/>
              </a:spcAft>
              <a:buNone/>
            </a:pPr>
            <a:endParaRPr sz="1200">
              <a:solidFill>
                <a:srgbClr val="C55A11"/>
              </a:solidFill>
              <a:latin typeface="Century Gothic"/>
              <a:ea typeface="Century Gothic"/>
              <a:cs typeface="Century Gothic"/>
              <a:sym typeface="Century Gothic"/>
            </a:endParaRPr>
          </a:p>
        </p:txBody>
      </p:sp>
      <p:sp>
        <p:nvSpPr>
          <p:cNvPr id="938" name="Google Shape;938;p101"/>
          <p:cNvSpPr txBox="1"/>
          <p:nvPr/>
        </p:nvSpPr>
        <p:spPr>
          <a:xfrm>
            <a:off x="4427710" y="3955374"/>
            <a:ext cx="507600" cy="3462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GB" sz="1800">
                <a:solidFill>
                  <a:schemeClr val="dk1"/>
                </a:solidFill>
              </a:rPr>
              <a:t>the</a:t>
            </a:r>
            <a:endParaRPr sz="1800"/>
          </a:p>
        </p:txBody>
      </p:sp>
      <p:sp>
        <p:nvSpPr>
          <p:cNvPr id="939" name="Google Shape;939;p101"/>
          <p:cNvSpPr/>
          <p:nvPr/>
        </p:nvSpPr>
        <p:spPr>
          <a:xfrm>
            <a:off x="4238091" y="3396083"/>
            <a:ext cx="886800" cy="226800"/>
          </a:xfrm>
          <a:prstGeom prst="rect">
            <a:avLst/>
          </a:prstGeom>
          <a:noFill/>
          <a:ln w="19050" cap="flat" cmpd="sng">
            <a:solidFill>
              <a:srgbClr val="C55A11"/>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1">
              <a:spcBef>
                <a:spcPts val="0"/>
              </a:spcBef>
              <a:spcAft>
                <a:spcPts val="0"/>
              </a:spcAft>
              <a:buNone/>
            </a:pPr>
            <a:endParaRPr sz="1200">
              <a:solidFill>
                <a:srgbClr val="C55A11"/>
              </a:solidFill>
              <a:latin typeface="Century Gothic"/>
              <a:ea typeface="Century Gothic"/>
              <a:cs typeface="Century Gothic"/>
              <a:sym typeface="Century Gothic"/>
            </a:endParaRPr>
          </a:p>
        </p:txBody>
      </p:sp>
      <p:cxnSp>
        <p:nvCxnSpPr>
          <p:cNvPr id="940" name="Google Shape;940;p101"/>
          <p:cNvCxnSpPr/>
          <p:nvPr/>
        </p:nvCxnSpPr>
        <p:spPr>
          <a:xfrm rot="10800000">
            <a:off x="4681505" y="3667674"/>
            <a:ext cx="0" cy="287700"/>
          </a:xfrm>
          <a:prstGeom prst="straightConnector1">
            <a:avLst/>
          </a:prstGeom>
          <a:noFill/>
          <a:ln w="19050" cap="flat" cmpd="sng">
            <a:solidFill>
              <a:srgbClr val="C55A11"/>
            </a:solidFill>
            <a:prstDash val="dot"/>
            <a:miter lim="800000"/>
            <a:headEnd type="none" w="sm" len="sm"/>
            <a:tailEnd type="triangle" w="med" len="med"/>
          </a:ln>
        </p:spPr>
      </p:cxnSp>
      <p:sp>
        <p:nvSpPr>
          <p:cNvPr id="941" name="Google Shape;941;p101"/>
          <p:cNvSpPr/>
          <p:nvPr/>
        </p:nvSpPr>
        <p:spPr>
          <a:xfrm>
            <a:off x="4378544" y="2744361"/>
            <a:ext cx="606000" cy="226800"/>
          </a:xfrm>
          <a:prstGeom prst="rect">
            <a:avLst/>
          </a:prstGeom>
          <a:noFill/>
          <a:ln w="19050" cap="flat" cmpd="sng">
            <a:solidFill>
              <a:srgbClr val="C55A11"/>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1">
              <a:spcBef>
                <a:spcPts val="0"/>
              </a:spcBef>
              <a:spcAft>
                <a:spcPts val="0"/>
              </a:spcAft>
              <a:buNone/>
            </a:pPr>
            <a:endParaRPr sz="1200">
              <a:solidFill>
                <a:srgbClr val="C55A11"/>
              </a:solidFill>
              <a:latin typeface="Century Gothic"/>
              <a:ea typeface="Century Gothic"/>
              <a:cs typeface="Century Gothic"/>
              <a:sym typeface="Century Gothic"/>
            </a:endParaRPr>
          </a:p>
        </p:txBody>
      </p:sp>
      <p:sp>
        <p:nvSpPr>
          <p:cNvPr id="942" name="Google Shape;942;p101"/>
          <p:cNvSpPr/>
          <p:nvPr/>
        </p:nvSpPr>
        <p:spPr>
          <a:xfrm>
            <a:off x="4053875" y="2214473"/>
            <a:ext cx="1255200" cy="227400"/>
          </a:xfrm>
          <a:prstGeom prst="rect">
            <a:avLst/>
          </a:prstGeom>
          <a:noFill/>
          <a:ln w="19050" cap="flat" cmpd="sng">
            <a:solidFill>
              <a:srgbClr val="C55A11"/>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1">
              <a:spcBef>
                <a:spcPts val="0"/>
              </a:spcBef>
              <a:spcAft>
                <a:spcPts val="0"/>
              </a:spcAft>
              <a:buNone/>
            </a:pPr>
            <a:endParaRPr sz="1200">
              <a:solidFill>
                <a:srgbClr val="C55A11"/>
              </a:solidFill>
              <a:latin typeface="Century Gothic"/>
              <a:ea typeface="Century Gothic"/>
              <a:cs typeface="Century Gothic"/>
              <a:sym typeface="Century Gothic"/>
            </a:endParaRPr>
          </a:p>
        </p:txBody>
      </p:sp>
      <p:cxnSp>
        <p:nvCxnSpPr>
          <p:cNvPr id="943" name="Google Shape;943;p101"/>
          <p:cNvCxnSpPr/>
          <p:nvPr/>
        </p:nvCxnSpPr>
        <p:spPr>
          <a:xfrm rot="10800000">
            <a:off x="4680143" y="2457653"/>
            <a:ext cx="2700" cy="270300"/>
          </a:xfrm>
          <a:prstGeom prst="straightConnector1">
            <a:avLst/>
          </a:prstGeom>
          <a:noFill/>
          <a:ln w="19050" cap="flat" cmpd="sng">
            <a:solidFill>
              <a:srgbClr val="C55A11"/>
            </a:solidFill>
            <a:prstDash val="solid"/>
            <a:miter lim="800000"/>
            <a:headEnd type="none" w="sm" len="sm"/>
            <a:tailEnd type="triangle" w="med" len="med"/>
          </a:ln>
        </p:spPr>
      </p:cxnSp>
      <p:cxnSp>
        <p:nvCxnSpPr>
          <p:cNvPr id="944" name="Google Shape;944;p101"/>
          <p:cNvCxnSpPr>
            <a:endCxn id="941" idx="2"/>
          </p:cNvCxnSpPr>
          <p:nvPr/>
        </p:nvCxnSpPr>
        <p:spPr>
          <a:xfrm rot="10800000">
            <a:off x="4681544" y="2971161"/>
            <a:ext cx="1200" cy="393600"/>
          </a:xfrm>
          <a:prstGeom prst="straightConnector1">
            <a:avLst/>
          </a:prstGeom>
          <a:noFill/>
          <a:ln w="19050" cap="flat" cmpd="sng">
            <a:solidFill>
              <a:srgbClr val="C55A11"/>
            </a:solidFill>
            <a:prstDash val="solid"/>
            <a:miter lim="800000"/>
            <a:headEnd type="none" w="sm" len="sm"/>
            <a:tailEnd type="triangle" w="med" len="med"/>
          </a:ln>
        </p:spPr>
      </p:cxnSp>
      <p:sp>
        <p:nvSpPr>
          <p:cNvPr id="945" name="Google Shape;945;p101"/>
          <p:cNvSpPr/>
          <p:nvPr/>
        </p:nvSpPr>
        <p:spPr>
          <a:xfrm>
            <a:off x="4945499" y="2218017"/>
            <a:ext cx="118500" cy="220200"/>
          </a:xfrm>
          <a:prstGeom prst="rect">
            <a:avLst/>
          </a:prstGeom>
          <a:solidFill>
            <a:srgbClr val="C55A11"/>
          </a:solidFill>
          <a:ln w="19050" cap="flat" cmpd="sng">
            <a:solidFill>
              <a:srgbClr val="C55A11"/>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1">
              <a:spcBef>
                <a:spcPts val="0"/>
              </a:spcBef>
              <a:spcAft>
                <a:spcPts val="0"/>
              </a:spcAft>
              <a:buNone/>
            </a:pPr>
            <a:endParaRPr sz="1200">
              <a:solidFill>
                <a:schemeClr val="lt1"/>
              </a:solidFill>
              <a:latin typeface="Century Gothic"/>
              <a:ea typeface="Century Gothic"/>
              <a:cs typeface="Century Gothic"/>
              <a:sym typeface="Century Gothic"/>
            </a:endParaRPr>
          </a:p>
        </p:txBody>
      </p:sp>
      <p:sp>
        <p:nvSpPr>
          <p:cNvPr id="946" name="Google Shape;946;p101"/>
          <p:cNvSpPr txBox="1"/>
          <p:nvPr/>
        </p:nvSpPr>
        <p:spPr>
          <a:xfrm>
            <a:off x="5814229" y="3961408"/>
            <a:ext cx="615900" cy="346200"/>
          </a:xfrm>
          <a:prstGeom prst="rect">
            <a:avLst/>
          </a:prstGeom>
          <a:noFill/>
          <a:ln>
            <a:noFill/>
          </a:ln>
        </p:spPr>
        <p:txBody>
          <a:bodyPr spcFirstLastPara="1" wrap="square" lIns="68575" tIns="34275" rIns="68575" bIns="34275" anchor="t" anchorCtr="0">
            <a:spAutoFit/>
          </a:bodyPr>
          <a:lstStyle/>
          <a:p>
            <a:pPr marL="0" marR="0" lvl="0" indent="0" algn="r" rtl="1">
              <a:spcBef>
                <a:spcPts val="0"/>
              </a:spcBef>
              <a:spcAft>
                <a:spcPts val="0"/>
              </a:spcAft>
              <a:buNone/>
            </a:pPr>
            <a:r>
              <a:rPr lang="en-GB" sz="1800">
                <a:solidFill>
                  <a:schemeClr val="dk1"/>
                </a:solidFill>
              </a:rPr>
              <a:t>dog</a:t>
            </a:r>
            <a:endParaRPr sz="1800">
              <a:solidFill>
                <a:schemeClr val="dk1"/>
              </a:solidFill>
            </a:endParaRPr>
          </a:p>
        </p:txBody>
      </p:sp>
      <p:sp>
        <p:nvSpPr>
          <p:cNvPr id="947" name="Google Shape;947;p101"/>
          <p:cNvSpPr/>
          <p:nvPr/>
        </p:nvSpPr>
        <p:spPr>
          <a:xfrm>
            <a:off x="5744900" y="3402117"/>
            <a:ext cx="886800" cy="226800"/>
          </a:xfrm>
          <a:prstGeom prst="rect">
            <a:avLst/>
          </a:prstGeom>
          <a:noFill/>
          <a:ln w="19050" cap="flat" cmpd="sng">
            <a:solidFill>
              <a:srgbClr val="C55A11"/>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200">
              <a:solidFill>
                <a:srgbClr val="C55A11"/>
              </a:solidFill>
              <a:latin typeface="Century Gothic"/>
              <a:ea typeface="Century Gothic"/>
              <a:cs typeface="Century Gothic"/>
              <a:sym typeface="Century Gothic"/>
            </a:endParaRPr>
          </a:p>
        </p:txBody>
      </p:sp>
      <p:cxnSp>
        <p:nvCxnSpPr>
          <p:cNvPr id="948" name="Google Shape;948;p101"/>
          <p:cNvCxnSpPr/>
          <p:nvPr/>
        </p:nvCxnSpPr>
        <p:spPr>
          <a:xfrm rot="10800000">
            <a:off x="6188314" y="3673708"/>
            <a:ext cx="0" cy="287700"/>
          </a:xfrm>
          <a:prstGeom prst="straightConnector1">
            <a:avLst/>
          </a:prstGeom>
          <a:noFill/>
          <a:ln w="19050" cap="flat" cmpd="sng">
            <a:solidFill>
              <a:srgbClr val="C55A11"/>
            </a:solidFill>
            <a:prstDash val="dot"/>
            <a:miter lim="800000"/>
            <a:headEnd type="none" w="sm" len="sm"/>
            <a:tailEnd type="triangle" w="med" len="med"/>
          </a:ln>
        </p:spPr>
      </p:cxnSp>
      <p:sp>
        <p:nvSpPr>
          <p:cNvPr id="949" name="Google Shape;949;p101"/>
          <p:cNvSpPr/>
          <p:nvPr/>
        </p:nvSpPr>
        <p:spPr>
          <a:xfrm>
            <a:off x="5885353" y="2750395"/>
            <a:ext cx="606000" cy="226800"/>
          </a:xfrm>
          <a:prstGeom prst="rect">
            <a:avLst/>
          </a:prstGeom>
          <a:noFill/>
          <a:ln w="19050" cap="flat" cmpd="sng">
            <a:solidFill>
              <a:srgbClr val="C55A11"/>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1">
              <a:spcBef>
                <a:spcPts val="0"/>
              </a:spcBef>
              <a:spcAft>
                <a:spcPts val="0"/>
              </a:spcAft>
              <a:buNone/>
            </a:pPr>
            <a:endParaRPr sz="1200">
              <a:solidFill>
                <a:srgbClr val="C55A11"/>
              </a:solidFill>
              <a:latin typeface="Century Gothic"/>
              <a:ea typeface="Century Gothic"/>
              <a:cs typeface="Century Gothic"/>
              <a:sym typeface="Century Gothic"/>
            </a:endParaRPr>
          </a:p>
        </p:txBody>
      </p:sp>
      <p:sp>
        <p:nvSpPr>
          <p:cNvPr id="950" name="Google Shape;950;p101"/>
          <p:cNvSpPr/>
          <p:nvPr/>
        </p:nvSpPr>
        <p:spPr>
          <a:xfrm>
            <a:off x="5560684" y="2220506"/>
            <a:ext cx="1255200" cy="227400"/>
          </a:xfrm>
          <a:prstGeom prst="rect">
            <a:avLst/>
          </a:prstGeom>
          <a:noFill/>
          <a:ln w="19050" cap="flat" cmpd="sng">
            <a:solidFill>
              <a:srgbClr val="C55A11"/>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200">
              <a:solidFill>
                <a:srgbClr val="C55A11"/>
              </a:solidFill>
              <a:latin typeface="Century Gothic"/>
              <a:ea typeface="Century Gothic"/>
              <a:cs typeface="Century Gothic"/>
              <a:sym typeface="Century Gothic"/>
            </a:endParaRPr>
          </a:p>
        </p:txBody>
      </p:sp>
      <p:cxnSp>
        <p:nvCxnSpPr>
          <p:cNvPr id="951" name="Google Shape;951;p101"/>
          <p:cNvCxnSpPr/>
          <p:nvPr/>
        </p:nvCxnSpPr>
        <p:spPr>
          <a:xfrm rot="10800000">
            <a:off x="6186951" y="2463686"/>
            <a:ext cx="2700" cy="270300"/>
          </a:xfrm>
          <a:prstGeom prst="straightConnector1">
            <a:avLst/>
          </a:prstGeom>
          <a:noFill/>
          <a:ln w="19050" cap="flat" cmpd="sng">
            <a:solidFill>
              <a:srgbClr val="C55A11"/>
            </a:solidFill>
            <a:prstDash val="solid"/>
            <a:miter lim="800000"/>
            <a:headEnd type="none" w="sm" len="sm"/>
            <a:tailEnd type="triangle" w="med" len="med"/>
          </a:ln>
        </p:spPr>
      </p:cxnSp>
      <p:cxnSp>
        <p:nvCxnSpPr>
          <p:cNvPr id="952" name="Google Shape;952;p101"/>
          <p:cNvCxnSpPr>
            <a:endCxn id="949" idx="2"/>
          </p:cNvCxnSpPr>
          <p:nvPr/>
        </p:nvCxnSpPr>
        <p:spPr>
          <a:xfrm rot="10800000">
            <a:off x="6188353" y="2977195"/>
            <a:ext cx="1200" cy="393600"/>
          </a:xfrm>
          <a:prstGeom prst="straightConnector1">
            <a:avLst/>
          </a:prstGeom>
          <a:noFill/>
          <a:ln w="19050" cap="flat" cmpd="sng">
            <a:solidFill>
              <a:srgbClr val="C55A11"/>
            </a:solidFill>
            <a:prstDash val="solid"/>
            <a:miter lim="800000"/>
            <a:headEnd type="none" w="sm" len="sm"/>
            <a:tailEnd type="triangle" w="med" len="med"/>
          </a:ln>
        </p:spPr>
      </p:cxnSp>
      <p:sp>
        <p:nvSpPr>
          <p:cNvPr id="953" name="Google Shape;953;p101"/>
          <p:cNvSpPr/>
          <p:nvPr/>
        </p:nvSpPr>
        <p:spPr>
          <a:xfrm>
            <a:off x="5820217" y="2238507"/>
            <a:ext cx="118500" cy="220200"/>
          </a:xfrm>
          <a:prstGeom prst="rect">
            <a:avLst/>
          </a:prstGeom>
          <a:solidFill>
            <a:srgbClr val="C55A11"/>
          </a:solidFill>
          <a:ln w="19050" cap="flat" cmpd="sng">
            <a:solidFill>
              <a:srgbClr val="C55A11"/>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200">
              <a:solidFill>
                <a:schemeClr val="lt1"/>
              </a:solidFill>
              <a:latin typeface="Century Gothic"/>
              <a:ea typeface="Century Gothic"/>
              <a:cs typeface="Century Gothic"/>
              <a:sym typeface="Century Gothic"/>
            </a:endParaRPr>
          </a:p>
        </p:txBody>
      </p:sp>
      <p:cxnSp>
        <p:nvCxnSpPr>
          <p:cNvPr id="954" name="Google Shape;954;p101"/>
          <p:cNvCxnSpPr>
            <a:stCxn id="941" idx="3"/>
            <a:endCxn id="949" idx="1"/>
          </p:cNvCxnSpPr>
          <p:nvPr/>
        </p:nvCxnSpPr>
        <p:spPr>
          <a:xfrm>
            <a:off x="4984544" y="2857761"/>
            <a:ext cx="900900" cy="6000"/>
          </a:xfrm>
          <a:prstGeom prst="straightConnector1">
            <a:avLst/>
          </a:prstGeom>
          <a:noFill/>
          <a:ln w="19050" cap="flat" cmpd="sng">
            <a:solidFill>
              <a:srgbClr val="0070C0"/>
            </a:solidFill>
            <a:prstDash val="dot"/>
            <a:miter lim="800000"/>
            <a:headEnd type="none" w="sm" len="sm"/>
            <a:tailEnd type="triangle" w="med" len="med"/>
          </a:ln>
        </p:spPr>
      </p:cxnSp>
      <p:sp>
        <p:nvSpPr>
          <p:cNvPr id="955" name="Google Shape;955;p101"/>
          <p:cNvSpPr txBox="1"/>
          <p:nvPr/>
        </p:nvSpPr>
        <p:spPr>
          <a:xfrm>
            <a:off x="7230986" y="3955374"/>
            <a:ext cx="1001700" cy="346200"/>
          </a:xfrm>
          <a:prstGeom prst="rect">
            <a:avLst/>
          </a:prstGeom>
          <a:noFill/>
          <a:ln>
            <a:noFill/>
          </a:ln>
        </p:spPr>
        <p:txBody>
          <a:bodyPr spcFirstLastPara="1" wrap="square" lIns="68575" tIns="34275" rIns="68575" bIns="34275" anchor="t" anchorCtr="0">
            <a:spAutoFit/>
          </a:bodyPr>
          <a:lstStyle/>
          <a:p>
            <a:pPr marL="0" marR="0" lvl="0" indent="0" algn="r" rtl="1">
              <a:spcBef>
                <a:spcPts val="0"/>
              </a:spcBef>
              <a:spcAft>
                <a:spcPts val="0"/>
              </a:spcAft>
              <a:buNone/>
            </a:pPr>
            <a:r>
              <a:rPr lang="en-GB" sz="1800">
                <a:solidFill>
                  <a:schemeClr val="dk1"/>
                </a:solidFill>
              </a:rPr>
              <a:t>laughed</a:t>
            </a:r>
            <a:endParaRPr sz="1800">
              <a:solidFill>
                <a:schemeClr val="dk1"/>
              </a:solidFill>
            </a:endParaRPr>
          </a:p>
        </p:txBody>
      </p:sp>
      <p:sp>
        <p:nvSpPr>
          <p:cNvPr id="956" name="Google Shape;956;p101"/>
          <p:cNvSpPr/>
          <p:nvPr/>
        </p:nvSpPr>
        <p:spPr>
          <a:xfrm>
            <a:off x="7317642" y="3396082"/>
            <a:ext cx="886800" cy="226800"/>
          </a:xfrm>
          <a:prstGeom prst="rect">
            <a:avLst/>
          </a:prstGeom>
          <a:noFill/>
          <a:ln w="19050" cap="flat" cmpd="sng">
            <a:solidFill>
              <a:srgbClr val="C55A11"/>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1">
              <a:spcBef>
                <a:spcPts val="0"/>
              </a:spcBef>
              <a:spcAft>
                <a:spcPts val="0"/>
              </a:spcAft>
              <a:buNone/>
            </a:pPr>
            <a:endParaRPr sz="1200">
              <a:solidFill>
                <a:srgbClr val="C55A11"/>
              </a:solidFill>
              <a:latin typeface="Century Gothic"/>
              <a:ea typeface="Century Gothic"/>
              <a:cs typeface="Century Gothic"/>
              <a:sym typeface="Century Gothic"/>
            </a:endParaRPr>
          </a:p>
        </p:txBody>
      </p:sp>
      <p:cxnSp>
        <p:nvCxnSpPr>
          <p:cNvPr id="957" name="Google Shape;957;p101"/>
          <p:cNvCxnSpPr/>
          <p:nvPr/>
        </p:nvCxnSpPr>
        <p:spPr>
          <a:xfrm rot="10800000">
            <a:off x="7761056" y="3667673"/>
            <a:ext cx="0" cy="287700"/>
          </a:xfrm>
          <a:prstGeom prst="straightConnector1">
            <a:avLst/>
          </a:prstGeom>
          <a:noFill/>
          <a:ln w="19050" cap="flat" cmpd="sng">
            <a:solidFill>
              <a:srgbClr val="C55A11"/>
            </a:solidFill>
            <a:prstDash val="dot"/>
            <a:miter lim="800000"/>
            <a:headEnd type="none" w="sm" len="sm"/>
            <a:tailEnd type="triangle" w="med" len="med"/>
          </a:ln>
        </p:spPr>
      </p:cxnSp>
      <p:sp>
        <p:nvSpPr>
          <p:cNvPr id="958" name="Google Shape;958;p101"/>
          <p:cNvSpPr/>
          <p:nvPr/>
        </p:nvSpPr>
        <p:spPr>
          <a:xfrm>
            <a:off x="7458095" y="2744360"/>
            <a:ext cx="606000" cy="226800"/>
          </a:xfrm>
          <a:prstGeom prst="rect">
            <a:avLst/>
          </a:prstGeom>
          <a:noFill/>
          <a:ln w="19050" cap="flat" cmpd="sng">
            <a:solidFill>
              <a:srgbClr val="C55A11"/>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1">
              <a:spcBef>
                <a:spcPts val="0"/>
              </a:spcBef>
              <a:spcAft>
                <a:spcPts val="0"/>
              </a:spcAft>
              <a:buNone/>
            </a:pPr>
            <a:endParaRPr sz="1200">
              <a:solidFill>
                <a:srgbClr val="C55A11"/>
              </a:solidFill>
              <a:latin typeface="Century Gothic"/>
              <a:ea typeface="Century Gothic"/>
              <a:cs typeface="Century Gothic"/>
              <a:sym typeface="Century Gothic"/>
            </a:endParaRPr>
          </a:p>
        </p:txBody>
      </p:sp>
      <p:sp>
        <p:nvSpPr>
          <p:cNvPr id="959" name="Google Shape;959;p101"/>
          <p:cNvSpPr/>
          <p:nvPr/>
        </p:nvSpPr>
        <p:spPr>
          <a:xfrm>
            <a:off x="7133426" y="2214472"/>
            <a:ext cx="1255200" cy="227400"/>
          </a:xfrm>
          <a:prstGeom prst="rect">
            <a:avLst/>
          </a:prstGeom>
          <a:noFill/>
          <a:ln w="19050" cap="flat" cmpd="sng">
            <a:solidFill>
              <a:srgbClr val="C55A11"/>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1">
              <a:spcBef>
                <a:spcPts val="0"/>
              </a:spcBef>
              <a:spcAft>
                <a:spcPts val="0"/>
              </a:spcAft>
              <a:buNone/>
            </a:pPr>
            <a:endParaRPr sz="1200">
              <a:solidFill>
                <a:srgbClr val="C55A11"/>
              </a:solidFill>
              <a:latin typeface="Century Gothic"/>
              <a:ea typeface="Century Gothic"/>
              <a:cs typeface="Century Gothic"/>
              <a:sym typeface="Century Gothic"/>
            </a:endParaRPr>
          </a:p>
        </p:txBody>
      </p:sp>
      <p:cxnSp>
        <p:nvCxnSpPr>
          <p:cNvPr id="960" name="Google Shape;960;p101"/>
          <p:cNvCxnSpPr/>
          <p:nvPr/>
        </p:nvCxnSpPr>
        <p:spPr>
          <a:xfrm rot="10800000">
            <a:off x="7759694" y="2457652"/>
            <a:ext cx="2700" cy="270300"/>
          </a:xfrm>
          <a:prstGeom prst="straightConnector1">
            <a:avLst/>
          </a:prstGeom>
          <a:noFill/>
          <a:ln w="19050" cap="flat" cmpd="sng">
            <a:solidFill>
              <a:srgbClr val="C55A11"/>
            </a:solidFill>
            <a:prstDash val="solid"/>
            <a:miter lim="800000"/>
            <a:headEnd type="none" w="sm" len="sm"/>
            <a:tailEnd type="triangle" w="med" len="med"/>
          </a:ln>
        </p:spPr>
      </p:cxnSp>
      <p:cxnSp>
        <p:nvCxnSpPr>
          <p:cNvPr id="961" name="Google Shape;961;p101"/>
          <p:cNvCxnSpPr>
            <a:endCxn id="958" idx="2"/>
          </p:cNvCxnSpPr>
          <p:nvPr/>
        </p:nvCxnSpPr>
        <p:spPr>
          <a:xfrm rot="10800000">
            <a:off x="7761095" y="2971160"/>
            <a:ext cx="1200" cy="393600"/>
          </a:xfrm>
          <a:prstGeom prst="straightConnector1">
            <a:avLst/>
          </a:prstGeom>
          <a:noFill/>
          <a:ln w="19050" cap="flat" cmpd="sng">
            <a:solidFill>
              <a:srgbClr val="C55A11"/>
            </a:solidFill>
            <a:prstDash val="solid"/>
            <a:miter lim="800000"/>
            <a:headEnd type="none" w="sm" len="sm"/>
            <a:tailEnd type="triangle" w="med" len="med"/>
          </a:ln>
        </p:spPr>
      </p:cxnSp>
      <p:sp>
        <p:nvSpPr>
          <p:cNvPr id="962" name="Google Shape;962;p101"/>
          <p:cNvSpPr/>
          <p:nvPr/>
        </p:nvSpPr>
        <p:spPr>
          <a:xfrm>
            <a:off x="8049797" y="2229515"/>
            <a:ext cx="118500" cy="220200"/>
          </a:xfrm>
          <a:prstGeom prst="rect">
            <a:avLst/>
          </a:prstGeom>
          <a:solidFill>
            <a:srgbClr val="C55A11"/>
          </a:solidFill>
          <a:ln w="19050" cap="flat" cmpd="sng">
            <a:solidFill>
              <a:srgbClr val="C55A11"/>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200">
              <a:solidFill>
                <a:schemeClr val="lt1"/>
              </a:solidFill>
              <a:latin typeface="Century Gothic"/>
              <a:ea typeface="Century Gothic"/>
              <a:cs typeface="Century Gothic"/>
              <a:sym typeface="Century Gothic"/>
            </a:endParaRPr>
          </a:p>
        </p:txBody>
      </p:sp>
      <p:cxnSp>
        <p:nvCxnSpPr>
          <p:cNvPr id="963" name="Google Shape;963;p101"/>
          <p:cNvCxnSpPr/>
          <p:nvPr/>
        </p:nvCxnSpPr>
        <p:spPr>
          <a:xfrm>
            <a:off x="6516443" y="2869868"/>
            <a:ext cx="900900" cy="6000"/>
          </a:xfrm>
          <a:prstGeom prst="straightConnector1">
            <a:avLst/>
          </a:prstGeom>
          <a:noFill/>
          <a:ln w="19050" cap="flat" cmpd="sng">
            <a:solidFill>
              <a:srgbClr val="0070C0"/>
            </a:solidFill>
            <a:prstDash val="dot"/>
            <a:miter lim="800000"/>
            <a:headEnd type="none" w="sm" len="sm"/>
            <a:tailEnd type="triangle" w="med" len="med"/>
          </a:ln>
        </p:spPr>
      </p:cxnSp>
      <p:cxnSp>
        <p:nvCxnSpPr>
          <p:cNvPr id="964" name="Google Shape;964;p101"/>
          <p:cNvCxnSpPr/>
          <p:nvPr/>
        </p:nvCxnSpPr>
        <p:spPr>
          <a:xfrm>
            <a:off x="3132755" y="2832119"/>
            <a:ext cx="822300" cy="0"/>
          </a:xfrm>
          <a:prstGeom prst="straightConnector1">
            <a:avLst/>
          </a:prstGeom>
          <a:noFill/>
          <a:ln w="19050" cap="flat" cmpd="sng">
            <a:solidFill>
              <a:srgbClr val="C55A11"/>
            </a:solidFill>
            <a:prstDash val="solid"/>
            <a:miter lim="800000"/>
            <a:headEnd type="none" w="sm" len="sm"/>
            <a:tailEnd type="triangle" w="med" len="med"/>
          </a:ln>
        </p:spPr>
      </p:cxnSp>
      <p:cxnSp>
        <p:nvCxnSpPr>
          <p:cNvPr id="965" name="Google Shape;965;p101"/>
          <p:cNvCxnSpPr/>
          <p:nvPr/>
        </p:nvCxnSpPr>
        <p:spPr>
          <a:xfrm>
            <a:off x="8078504" y="2857760"/>
            <a:ext cx="900900" cy="6000"/>
          </a:xfrm>
          <a:prstGeom prst="straightConnector1">
            <a:avLst/>
          </a:prstGeom>
          <a:noFill/>
          <a:ln w="19050" cap="flat" cmpd="sng">
            <a:solidFill>
              <a:srgbClr val="0070C0"/>
            </a:solidFill>
            <a:prstDash val="dot"/>
            <a:miter lim="800000"/>
            <a:headEnd type="none" w="sm" len="sm"/>
            <a:tailEnd type="triangle" w="med" len="med"/>
          </a:ln>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6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42"/>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945"/>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943"/>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941"/>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944"/>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939"/>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940"/>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93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946"/>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947"/>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948"/>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949"/>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952"/>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954"/>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951"/>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953"/>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950"/>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955"/>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956"/>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957"/>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958"/>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959"/>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960"/>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961"/>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962"/>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963"/>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nodeType="clickEffect">
                                  <p:stCondLst>
                                    <p:cond delay="0"/>
                                  </p:stCondLst>
                                  <p:childTnLst>
                                    <p:set>
                                      <p:cBhvr>
                                        <p:cTn id="68" dur="1" fill="hold">
                                          <p:stCondLst>
                                            <p:cond delay="0"/>
                                          </p:stCondLst>
                                        </p:cTn>
                                        <p:tgtEl>
                                          <p:spTgt spid="96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8093</TotalTime>
  <Words>12826</Words>
  <Application>Microsoft Macintosh PowerPoint</Application>
  <PresentationFormat>On-screen Show (16:9)</PresentationFormat>
  <Paragraphs>1648</Paragraphs>
  <Slides>199</Slides>
  <Notes>161</Notes>
  <HiddenSlides>0</HiddenSlides>
  <MMClips>1</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199</vt:i4>
      </vt:variant>
    </vt:vector>
  </HeadingPairs>
  <TitlesOfParts>
    <vt:vector size="207" baseType="lpstr">
      <vt:lpstr>Century Gothic</vt:lpstr>
      <vt:lpstr>Arial</vt:lpstr>
      <vt:lpstr>Calibri</vt:lpstr>
      <vt:lpstr>Cambria Math</vt:lpstr>
      <vt:lpstr>Wingdings</vt:lpstr>
      <vt:lpstr>Times New Roman</vt:lpstr>
      <vt:lpstr>Roboto Light</vt:lpstr>
      <vt:lpstr>Simple Light</vt:lpstr>
      <vt:lpstr>Natural Language Processing</vt:lpstr>
      <vt:lpstr>Announcements</vt:lpstr>
      <vt:lpstr>Today’s Plan</vt:lpstr>
      <vt:lpstr>Word Vectors: Recap</vt:lpstr>
      <vt:lpstr>Word representation – discrete vectors</vt:lpstr>
      <vt:lpstr>One-Hot Word Vectors: Pros &amp; Cons </vt:lpstr>
      <vt:lpstr>One-Hot Word Vectors: Pros &amp; Cons </vt:lpstr>
      <vt:lpstr>One-Hot Word Vectors: Pros &amp; Cons </vt:lpstr>
      <vt:lpstr>One-Hot Word Vectors: Pros &amp; Cons </vt:lpstr>
      <vt:lpstr>Distributional Semantics</vt:lpstr>
      <vt:lpstr>Co-occurrence Matrix</vt:lpstr>
      <vt:lpstr>Co-occurrence Matrix: Pros &amp; Cons </vt:lpstr>
      <vt:lpstr>Co-occurrence Matrix: Pros &amp; Cons </vt:lpstr>
      <vt:lpstr>Co-occurrence Matrix: Pros &amp; Cons </vt:lpstr>
      <vt:lpstr>Co-occurrence Matrix: Pros &amp; Cons </vt:lpstr>
      <vt:lpstr>Skipgram (word2vec): Recap</vt:lpstr>
      <vt:lpstr>Supervised learning - reminder</vt:lpstr>
      <vt:lpstr>Self-Supervised Learning</vt:lpstr>
      <vt:lpstr>Self-Supervised Learning</vt:lpstr>
      <vt:lpstr>Self-Supervised Learning</vt:lpstr>
      <vt:lpstr>Word2Vec (Skipgram)</vt:lpstr>
      <vt:lpstr>Word2Vec (Skipgram)</vt:lpstr>
      <vt:lpstr>Word2Vec (Skipgram)</vt:lpstr>
      <vt:lpstr>Word2Vec (Skipgram)</vt:lpstr>
      <vt:lpstr>Word2Vec (Skipgram)</vt:lpstr>
      <vt:lpstr>Skipgram: Neural Network</vt:lpstr>
      <vt:lpstr>Skipgram: Neural Network</vt:lpstr>
      <vt:lpstr>Skipgram: Visual Demo</vt:lpstr>
      <vt:lpstr>Word2Vec (Skipgram)</vt:lpstr>
      <vt:lpstr>Word2Vec (Skipgram)</vt:lpstr>
      <vt:lpstr>Word2Vec (Skipgram)</vt:lpstr>
      <vt:lpstr>Word2Vec (Skipgram)</vt:lpstr>
      <vt:lpstr>Skipgram vs. Co-occurrence Matrix</vt:lpstr>
      <vt:lpstr>Skipgram: Additional Points</vt:lpstr>
      <vt:lpstr>Skipgram: Additional Points</vt:lpstr>
      <vt:lpstr>Skipgram: Additional Points</vt:lpstr>
      <vt:lpstr>Skipgram with Negative Sampling</vt:lpstr>
      <vt:lpstr>Word2Vec (Skipgram)</vt:lpstr>
      <vt:lpstr>Skipgram: Loss Gradient</vt:lpstr>
      <vt:lpstr>Skipgram: Loss Gradient</vt:lpstr>
      <vt:lpstr>Skipgram with negative sampling</vt:lpstr>
      <vt:lpstr>Negative Sampling</vt:lpstr>
      <vt:lpstr>Negative Sampling</vt:lpstr>
      <vt:lpstr>Negative Sampling</vt:lpstr>
      <vt:lpstr>Skipgram with negative sampling</vt:lpstr>
      <vt:lpstr>Skipgram with negative sampling</vt:lpstr>
      <vt:lpstr>Skipgram with negative sampling</vt:lpstr>
      <vt:lpstr>Skipgram with negative sampling</vt:lpstr>
      <vt:lpstr>Skipgram with negative sampling</vt:lpstr>
      <vt:lpstr>Contrastive learning</vt:lpstr>
      <vt:lpstr>Word2Vec as a Neural Network</vt:lpstr>
      <vt:lpstr>Word2Vec as a Neural Network</vt:lpstr>
      <vt:lpstr>Word2Vec as a Neural Network</vt:lpstr>
      <vt:lpstr>Skipgram with Negative Sampling: Neural Network</vt:lpstr>
      <vt:lpstr>Word Representation: Key Takeaways</vt:lpstr>
      <vt:lpstr>Word Representation: Key Takeaways</vt:lpstr>
      <vt:lpstr>Word Representation: Key Takeaways</vt:lpstr>
      <vt:lpstr>Relation to matrix factorization</vt:lpstr>
      <vt:lpstr>Recall: Skipgram vs. Co-occurrence Matrix</vt:lpstr>
      <vt:lpstr>Recall: Skipgram vs. Co-occurrence Matrix</vt:lpstr>
      <vt:lpstr>Recall: Skipgram vs. Co-occurrence Matrix</vt:lpstr>
      <vt:lpstr>Matrix Factorization</vt:lpstr>
      <vt:lpstr>Matrix Factorization</vt:lpstr>
      <vt:lpstr>Matrix Factorization</vt:lpstr>
      <vt:lpstr>Matrix Factorization</vt:lpstr>
      <vt:lpstr>Matrix Factorization</vt:lpstr>
      <vt:lpstr>Matrix Factorization</vt:lpstr>
      <vt:lpstr>Matrix Factorization</vt:lpstr>
      <vt:lpstr>Matrix Factorization</vt:lpstr>
      <vt:lpstr>GloVe Word Embeddings [Pennington, Socher, Manning 2014]</vt:lpstr>
      <vt:lpstr>GloVe Word Embeddings [Pennington, Socher, Manning 2014]</vt:lpstr>
      <vt:lpstr>GloVe Word Embeddings [Pennington, Socher, Manning 2014]</vt:lpstr>
      <vt:lpstr>GloVe Word Embeddings [Pennington, Socher, Manning 2014]</vt:lpstr>
      <vt:lpstr>Evaluating word embeddings</vt:lpstr>
      <vt:lpstr>Evaluation</vt:lpstr>
      <vt:lpstr>Evaluation</vt:lpstr>
      <vt:lpstr>Intrinsic evaluation – word analogies</vt:lpstr>
      <vt:lpstr>PowerPoint Presentation</vt:lpstr>
      <vt:lpstr>PowerPoint Presentation</vt:lpstr>
      <vt:lpstr>PowerPoint Presentation</vt:lpstr>
      <vt:lpstr>PowerPoint Presentation</vt:lpstr>
      <vt:lpstr>PowerPoint Presentation</vt:lpstr>
      <vt:lpstr>PowerPoint Presentation</vt:lpstr>
      <vt:lpstr>Word analogies evaluation</vt:lpstr>
      <vt:lpstr>Human correlation intrinsic evaluation</vt:lpstr>
      <vt:lpstr>Human correlation intrinsic evaluation</vt:lpstr>
      <vt:lpstr>Extrinsic evaluation</vt:lpstr>
      <vt:lpstr>Extrinsic evaluation</vt:lpstr>
      <vt:lpstr>Word Representations: Summary</vt:lpstr>
      <vt:lpstr>Language Modeling</vt:lpstr>
      <vt:lpstr>Motivation:  You Might Have Heard about Language Models</vt:lpstr>
      <vt:lpstr>Language modeling</vt:lpstr>
      <vt:lpstr>Language modeling</vt:lpstr>
      <vt:lpstr>Applications</vt:lpstr>
      <vt:lpstr>Applications</vt:lpstr>
      <vt:lpstr>Applications</vt:lpstr>
      <vt:lpstr>Philosophical</vt:lpstr>
      <vt:lpstr>PowerPoint Presentation</vt:lpstr>
      <vt:lpstr>Philosophical</vt:lpstr>
      <vt:lpstr>PowerPoint Presentation</vt:lpstr>
      <vt:lpstr>The Chinese Room Argument (Searle, 1980)</vt:lpstr>
      <vt:lpstr>Plan</vt:lpstr>
      <vt:lpstr>Problem definition</vt:lpstr>
      <vt:lpstr>Problem definition</vt:lpstr>
      <vt:lpstr>A naïve method</vt:lpstr>
      <vt:lpstr>A naïve method</vt:lpstr>
      <vt:lpstr>A naïve method</vt:lpstr>
      <vt:lpstr>A naïve method</vt:lpstr>
      <vt:lpstr>Plan</vt:lpstr>
      <vt:lpstr>Reminder: N-grams</vt:lpstr>
      <vt:lpstr>Berkeley restaurant project sentences</vt:lpstr>
      <vt:lpstr>Bigram counts</vt:lpstr>
      <vt:lpstr>Bigram counts</vt:lpstr>
      <vt:lpstr>Bigram probabilities</vt:lpstr>
      <vt:lpstr>What do we learn from bigrams?</vt:lpstr>
      <vt:lpstr>What do we learn from bigrams?</vt:lpstr>
      <vt:lpstr>N-gram Language Models</vt:lpstr>
      <vt:lpstr>Markov processes</vt:lpstr>
      <vt:lpstr>Markov processes</vt:lpstr>
      <vt:lpstr>Markov processes</vt:lpstr>
      <vt:lpstr>Markov processes</vt:lpstr>
      <vt:lpstr>Markov processes</vt:lpstr>
      <vt:lpstr>Second-order Markov processes</vt:lpstr>
      <vt:lpstr>Second-order Markov processes</vt:lpstr>
      <vt:lpstr>Trigram language model</vt:lpstr>
      <vt:lpstr>Trigram language model</vt:lpstr>
      <vt:lpstr>Trigram language model: Example</vt:lpstr>
      <vt:lpstr>Trigram language model: Example</vt:lpstr>
      <vt:lpstr>Trigram language model: Example</vt:lpstr>
      <vt:lpstr>Trigram language model</vt:lpstr>
      <vt:lpstr>Estimation</vt:lpstr>
      <vt:lpstr>Estimation</vt:lpstr>
      <vt:lpstr>Estimation</vt:lpstr>
      <vt:lpstr>Estimation</vt:lpstr>
      <vt:lpstr>Estimation</vt:lpstr>
      <vt:lpstr>Plan</vt:lpstr>
      <vt:lpstr>Intrinsic Evaluation: Perplexity</vt:lpstr>
      <vt:lpstr>Intrinsic Evaluation: Perplexity</vt:lpstr>
      <vt:lpstr>Intrinsic Evaluation: Perplexity</vt:lpstr>
      <vt:lpstr>Perplexity: Intuition (1)</vt:lpstr>
      <vt:lpstr>Perplexity: Intuition (1)</vt:lpstr>
      <vt:lpstr>Perplexity: Intuition (1)</vt:lpstr>
      <vt:lpstr>Perplexity: Intuition (2)</vt:lpstr>
      <vt:lpstr>Perplexity: Intuition (2)</vt:lpstr>
      <vt:lpstr>Perplexity: Intuition (2)</vt:lpstr>
      <vt:lpstr>Some values of perplexity</vt:lpstr>
      <vt:lpstr>Some values of perplexity</vt:lpstr>
      <vt:lpstr>Some values of perplexity</vt:lpstr>
      <vt:lpstr>Some values of perplexity</vt:lpstr>
      <vt:lpstr>Perplexity: Demonstration</vt:lpstr>
      <vt:lpstr>Extrinsic Evaluation</vt:lpstr>
      <vt:lpstr>Seq2Seq (structured prediction)</vt:lpstr>
      <vt:lpstr>Seq2Seq (structured prediction)</vt:lpstr>
      <vt:lpstr>Generating text with an n-gram LM</vt:lpstr>
      <vt:lpstr>Generating text with an n-gram LM</vt:lpstr>
      <vt:lpstr>Generating text with an n-gram LM</vt:lpstr>
      <vt:lpstr>Generating text with an n-gram LM</vt:lpstr>
      <vt:lpstr>Generation by Next Token Prediction</vt:lpstr>
      <vt:lpstr>PowerPoint Presentation</vt:lpstr>
      <vt:lpstr>PowerPoint Presentation</vt:lpstr>
      <vt:lpstr>PowerPoint Presentation</vt:lpstr>
      <vt:lpstr>PowerPoint Presentation</vt:lpstr>
      <vt:lpstr>Plan</vt:lpstr>
      <vt:lpstr>Estimating parameters</vt:lpstr>
      <vt:lpstr>Estimating parameters</vt:lpstr>
      <vt:lpstr>Linear interpolation – best of all worlds</vt:lpstr>
      <vt:lpstr>Linear interpolation – best of all worlds</vt:lpstr>
      <vt:lpstr>Better linear interpolation</vt:lpstr>
      <vt:lpstr>Better linear interpolation</vt:lpstr>
      <vt:lpstr>Better linear interpolation</vt:lpstr>
      <vt:lpstr>Better linear interpolation</vt:lpstr>
      <vt:lpstr>Better linear interpolation</vt:lpstr>
      <vt:lpstr>Better linear interpolation</vt:lpstr>
      <vt:lpstr>Unknown words</vt:lpstr>
      <vt:lpstr>Unknown words</vt:lpstr>
      <vt:lpstr>Language Modeling: Summary So Far</vt:lpstr>
      <vt:lpstr>In-class exercise: CircuLanguage</vt:lpstr>
      <vt:lpstr>Interactive Questions Time</vt:lpstr>
      <vt:lpstr>In-class exercise: CircuModel</vt:lpstr>
      <vt:lpstr>Plan</vt:lpstr>
      <vt:lpstr>Problem</vt:lpstr>
      <vt:lpstr>Language modeling with NNs</vt:lpstr>
      <vt:lpstr>NN motivation 1</vt:lpstr>
      <vt:lpstr>NN motivation 2</vt:lpstr>
      <vt:lpstr>NN reminder – single neuron</vt:lpstr>
      <vt:lpstr>PowerPoint Presentation</vt:lpstr>
      <vt:lpstr>NN reminder – matrix notation</vt:lpstr>
      <vt:lpstr>NN reminder – multi-layer network</vt:lpstr>
      <vt:lpstr>Reminder: Skipgram: Neural Network</vt:lpstr>
      <vt:lpstr>Reminder:  Skipgram with Negative Sampling: Neural Network</vt:lpstr>
      <vt:lpstr>Bigram LM with feed-forward NNs</vt:lpstr>
      <vt:lpstr>Bigram LM with feed-forward NNs</vt:lpstr>
      <vt:lpstr>Bigram LM with feed-forward NNs</vt:lpstr>
      <vt:lpstr>Loss function</vt:lpstr>
      <vt:lpstr>Bigram LM with feed-forward NNs</vt:lpstr>
      <vt:lpstr>Bigram LM with feed-forward NNs</vt:lpstr>
      <vt:lpstr>Bigram LM with feed-forward NNs</vt:lpstr>
      <vt:lpstr>Advantages</vt:lpstr>
      <vt:lpstr>RNN motivation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Tal Wagner</cp:lastModifiedBy>
  <cp:revision>54</cp:revision>
  <dcterms:modified xsi:type="dcterms:W3CDTF">2026-10-22T19:57:29Z</dcterms:modified>
</cp:coreProperties>
</file>